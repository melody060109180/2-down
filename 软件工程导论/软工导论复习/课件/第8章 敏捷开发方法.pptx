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9"/>
  </p:notesMasterIdLst>
  <p:sldIdLst>
    <p:sldId id="256" r:id="rId2"/>
    <p:sldId id="332" r:id="rId3"/>
    <p:sldId id="678" r:id="rId4"/>
    <p:sldId id="653" r:id="rId5"/>
    <p:sldId id="630" r:id="rId6"/>
    <p:sldId id="646" r:id="rId7"/>
    <p:sldId id="647" r:id="rId8"/>
    <p:sldId id="648" r:id="rId9"/>
    <p:sldId id="669" r:id="rId10"/>
    <p:sldId id="649" r:id="rId11"/>
    <p:sldId id="650" r:id="rId12"/>
    <p:sldId id="651" r:id="rId13"/>
    <p:sldId id="670" r:id="rId14"/>
    <p:sldId id="674" r:id="rId15"/>
    <p:sldId id="652" r:id="rId16"/>
    <p:sldId id="672" r:id="rId17"/>
    <p:sldId id="654" r:id="rId18"/>
    <p:sldId id="675" r:id="rId19"/>
    <p:sldId id="655" r:id="rId20"/>
    <p:sldId id="656" r:id="rId21"/>
    <p:sldId id="657" r:id="rId22"/>
    <p:sldId id="658" r:id="rId23"/>
    <p:sldId id="660" r:id="rId24"/>
    <p:sldId id="661" r:id="rId25"/>
    <p:sldId id="662" r:id="rId26"/>
    <p:sldId id="659" r:id="rId27"/>
    <p:sldId id="663" r:id="rId28"/>
    <p:sldId id="664" r:id="rId29"/>
    <p:sldId id="665" r:id="rId30"/>
    <p:sldId id="666" r:id="rId31"/>
    <p:sldId id="676" r:id="rId32"/>
    <p:sldId id="677" r:id="rId33"/>
    <p:sldId id="667" r:id="rId34"/>
    <p:sldId id="668" r:id="rId35"/>
    <p:sldId id="679" r:id="rId36"/>
    <p:sldId id="671" r:id="rId37"/>
    <p:sldId id="426"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300"/>
    <a:srgbClr val="CC6600"/>
    <a:srgbClr val="FF9900"/>
    <a:srgbClr val="FFFF00"/>
    <a:srgbClr val="4E8F00"/>
    <a:srgbClr val="008000"/>
    <a:srgbClr val="CC9900"/>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主题样式 2 - 强调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20" autoAdjust="0"/>
    <p:restoredTop sz="94660"/>
  </p:normalViewPr>
  <p:slideViewPr>
    <p:cSldViewPr snapToGrid="0">
      <p:cViewPr varScale="1">
        <p:scale>
          <a:sx n="82" d="100"/>
          <a:sy n="82" d="100"/>
        </p:scale>
        <p:origin x="1627" y="72"/>
      </p:cViewPr>
      <p:guideLst>
        <p:guide orient="horz" pos="2160"/>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A6D237-0A8C-41AD-A549-C316A052396E}" type="datetimeFigureOut">
              <a:rPr lang="zh-CN" altLang="en-US" smtClean="0"/>
              <a:t>2025/2/6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2A3D49-478E-4229-8803-539C598C7A39}" type="slidenum">
              <a:rPr lang="zh-CN" altLang="en-US" smtClean="0"/>
              <a:t>‹#›</a:t>
            </a:fld>
            <a:endParaRPr lang="zh-CN" altLang="en-US"/>
          </a:p>
        </p:txBody>
      </p:sp>
    </p:spTree>
    <p:extLst>
      <p:ext uri="{BB962C8B-B14F-4D97-AF65-F5344CB8AC3E}">
        <p14:creationId xmlns:p14="http://schemas.microsoft.com/office/powerpoint/2010/main" val="131566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8" name="图片 7" descr="深蓝色的天空中漂浮着朵朵白云" title="幻灯片设计图片"/>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0" y="2057400"/>
            <a:ext cx="1117854" cy="3886200"/>
          </a:xfrm>
          <a:prstGeom prst="rect">
            <a:avLst/>
          </a:prstGeom>
        </p:spPr>
      </p:pic>
      <p:sp>
        <p:nvSpPr>
          <p:cNvPr id="9" name="矩形 8"/>
          <p:cNvSpPr/>
          <p:nvPr/>
        </p:nvSpPr>
        <p:spPr>
          <a:xfrm>
            <a:off x="1200150" y="0"/>
            <a:ext cx="3771900" cy="5943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Microsoft YaHei UI" panose="020B0503020204020204" pitchFamily="34" charset="-122"/>
            </a:endParaRPr>
          </a:p>
        </p:txBody>
      </p:sp>
      <p:pic>
        <p:nvPicPr>
          <p:cNvPr id="10" name="图片 9" descr="植物出芽特写" title="幻灯片设计图片"/>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5054347" y="2057400"/>
            <a:ext cx="1545575" cy="3886200"/>
          </a:xfrm>
          <a:prstGeom prst="rect">
            <a:avLst/>
          </a:prstGeom>
        </p:spPr>
      </p:pic>
      <p:pic>
        <p:nvPicPr>
          <p:cNvPr id="11" name="图片 10" descr="波形" title="幻灯片设计图片"/>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6682217" y="2057400"/>
            <a:ext cx="2462022" cy="3886200"/>
          </a:xfrm>
          <a:prstGeom prst="rect">
            <a:avLst/>
          </a:prstGeom>
        </p:spPr>
      </p:pic>
      <p:sp>
        <p:nvSpPr>
          <p:cNvPr id="2" name="标题 1"/>
          <p:cNvSpPr>
            <a:spLocks noGrp="1"/>
          </p:cNvSpPr>
          <p:nvPr>
            <p:ph type="ctrTitle"/>
          </p:nvPr>
        </p:nvSpPr>
        <p:spPr>
          <a:xfrm>
            <a:off x="1268730" y="303347"/>
            <a:ext cx="3634740" cy="2387600"/>
          </a:xfrm>
        </p:spPr>
        <p:txBody>
          <a:bodyPr anchor="b">
            <a:normAutofit/>
          </a:bodyPr>
          <a:lstStyle>
            <a:lvl1pPr algn="l" latinLnBrk="0">
              <a:lnSpc>
                <a:spcPct val="90000"/>
              </a:lnSpc>
              <a:defRPr lang="zh-CN" sz="4400">
                <a:solidFill>
                  <a:schemeClr val="bg1"/>
                </a:solidFill>
              </a:defRPr>
            </a:lvl1pPr>
          </a:lstStyle>
          <a:p>
            <a:r>
              <a:rPr lang="zh-CN" altLang="en-US" dirty="0"/>
              <a:t>单击此处编辑母版标题样式</a:t>
            </a:r>
            <a:endParaRPr lang="zh-CN" dirty="0"/>
          </a:p>
        </p:txBody>
      </p:sp>
      <p:sp>
        <p:nvSpPr>
          <p:cNvPr id="3" name="副标题 2"/>
          <p:cNvSpPr>
            <a:spLocks noGrp="1"/>
          </p:cNvSpPr>
          <p:nvPr>
            <p:ph type="subTitle" idx="1"/>
          </p:nvPr>
        </p:nvSpPr>
        <p:spPr>
          <a:xfrm>
            <a:off x="1313833" y="5381894"/>
            <a:ext cx="3634740" cy="448056"/>
          </a:xfrm>
        </p:spPr>
        <p:txBody>
          <a:bodyPr>
            <a:normAutofit/>
          </a:bodyPr>
          <a:lstStyle>
            <a:lvl1pPr marL="0" indent="0" algn="l" latinLnBrk="0">
              <a:spcBef>
                <a:spcPts val="0"/>
              </a:spcBef>
              <a:buNone/>
              <a:defRPr lang="zh-CN" sz="1800">
                <a:solidFill>
                  <a:schemeClr val="bg1"/>
                </a:solidFill>
              </a:defRPr>
            </a:lvl1pPr>
            <a:lvl2pPr marL="342900" indent="0" algn="ctr" latinLnBrk="0">
              <a:buNone/>
              <a:defRPr lang="zh-CN" sz="1500"/>
            </a:lvl2pPr>
            <a:lvl3pPr marL="685800" indent="0" algn="ctr" latinLnBrk="0">
              <a:buNone/>
              <a:defRPr lang="zh-CN" sz="1350"/>
            </a:lvl3pPr>
            <a:lvl4pPr marL="1028700" indent="0" algn="ctr" latinLnBrk="0">
              <a:buNone/>
              <a:defRPr lang="zh-CN" sz="1200"/>
            </a:lvl4pPr>
            <a:lvl5pPr marL="1371600" indent="0" algn="ctr" latinLnBrk="0">
              <a:buNone/>
              <a:defRPr lang="zh-CN" sz="1200"/>
            </a:lvl5pPr>
            <a:lvl6pPr marL="1714500" indent="0" algn="ctr" latinLnBrk="0">
              <a:buNone/>
              <a:defRPr lang="zh-CN" sz="1200"/>
            </a:lvl6pPr>
            <a:lvl7pPr marL="2057400" indent="0" algn="ctr" latinLnBrk="0">
              <a:buNone/>
              <a:defRPr lang="zh-CN" sz="1200"/>
            </a:lvl7pPr>
            <a:lvl8pPr marL="2400300" indent="0" algn="ctr" latinLnBrk="0">
              <a:buNone/>
              <a:defRPr lang="zh-CN" sz="1200"/>
            </a:lvl8pPr>
            <a:lvl9pPr marL="2743200" indent="0" algn="ctr" latinLnBrk="0">
              <a:buNone/>
              <a:defRPr lang="zh-CN" sz="1200"/>
            </a:lvl9pPr>
          </a:lstStyle>
          <a:p>
            <a:r>
              <a:rPr lang="zh-CN" altLang="en-US" dirty="0"/>
              <a:t>单击此处编辑母版副标题样式</a:t>
            </a:r>
            <a:endParaRPr lang="zh-CN" dirty="0"/>
          </a:p>
        </p:txBody>
      </p:sp>
    </p:spTree>
    <p:extLst>
      <p:ext uri="{BB962C8B-B14F-4D97-AF65-F5344CB8AC3E}">
        <p14:creationId xmlns:p14="http://schemas.microsoft.com/office/powerpoint/2010/main" val="69873102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章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83314" y="173261"/>
            <a:ext cx="7785026" cy="902005"/>
          </a:xfrm>
        </p:spPr>
        <p:txBody>
          <a:bodyPr>
            <a:normAutofit/>
          </a:bodyPr>
          <a:lstStyle>
            <a:lvl1pPr>
              <a:defRPr sz="3200">
                <a:latin typeface="Arial" panose="020B0604020202020204" pitchFamily="34" charset="0"/>
                <a:cs typeface="Arial" panose="020B0604020202020204" pitchFamily="34" charset="0"/>
              </a:defRPr>
            </a:lvl1pPr>
          </a:lstStyle>
          <a:p>
            <a:r>
              <a:rPr lang="zh-CN" altLang="en-US" dirty="0"/>
              <a:t>单击此处编辑母版标题样式</a:t>
            </a:r>
            <a:endParaRPr lang="zh-CN" dirty="0"/>
          </a:p>
        </p:txBody>
      </p:sp>
      <p:sp>
        <p:nvSpPr>
          <p:cNvPr id="3" name="内容占位符 2"/>
          <p:cNvSpPr>
            <a:spLocks noGrp="1"/>
          </p:cNvSpPr>
          <p:nvPr>
            <p:ph idx="1"/>
          </p:nvPr>
        </p:nvSpPr>
        <p:spPr>
          <a:xfrm>
            <a:off x="1228288" y="1413933"/>
            <a:ext cx="6688045" cy="4772751"/>
          </a:xfrm>
        </p:spPr>
        <p:txBody>
          <a:bodyPr/>
          <a:lstStyle>
            <a:lvl1pPr marL="0" indent="0">
              <a:lnSpc>
                <a:spcPct val="150000"/>
              </a:lnSpc>
              <a:buNone/>
              <a:defRPr sz="2400">
                <a:latin typeface="Arial" panose="020B0604020202020204" pitchFamily="34" charset="0"/>
                <a:cs typeface="Arial" panose="020B0604020202020204" pitchFamily="34" charset="0"/>
              </a:defRPr>
            </a:lvl1pPr>
            <a:lvl2pPr>
              <a:lnSpc>
                <a:spcPct val="150000"/>
              </a:lnSpc>
              <a:defRPr sz="2000">
                <a:latin typeface="Arial" panose="020B0604020202020204" pitchFamily="34" charset="0"/>
                <a:cs typeface="Arial" panose="020B0604020202020204" pitchFamily="34" charset="0"/>
              </a:defRPr>
            </a:lvl2pPr>
          </a:lstStyle>
          <a:p>
            <a:pPr lvl="0"/>
            <a:r>
              <a:rPr lang="zh-CN" altLang="en-US" dirty="0"/>
              <a:t>单击此处编辑母版文本样式</a:t>
            </a:r>
          </a:p>
          <a:p>
            <a:pPr lvl="1"/>
            <a:r>
              <a:rPr lang="zh-CN" altLang="en-US" dirty="0"/>
              <a:t> 第二级</a:t>
            </a:r>
          </a:p>
        </p:txBody>
      </p:sp>
      <p:sp>
        <p:nvSpPr>
          <p:cNvPr id="4" name="日期占位符 3"/>
          <p:cNvSpPr>
            <a:spLocks noGrp="1"/>
          </p:cNvSpPr>
          <p:nvPr>
            <p:ph type="dt" sz="half" idx="10"/>
          </p:nvPr>
        </p:nvSpPr>
        <p:spPr>
          <a:xfrm>
            <a:off x="457200" y="6629400"/>
            <a:ext cx="616623" cy="228600"/>
          </a:xfrm>
        </p:spPr>
        <p:txBody>
          <a:bodyPr/>
          <a:lstStyle>
            <a:lvl1pPr>
              <a:defRPr sz="800"/>
            </a:lvl1pPr>
          </a:lstStyle>
          <a:p>
            <a:fld id="{C69415A0-FAE7-FB41-9F48-9F24B7034EC9}" type="datetime1">
              <a:rPr lang="zh-CN" altLang="en-US" smtClean="0"/>
              <a:t>2025/2/6</a:t>
            </a:fld>
            <a:endParaRPr lang="en-US" dirty="0"/>
          </a:p>
        </p:txBody>
      </p:sp>
      <p:sp>
        <p:nvSpPr>
          <p:cNvPr id="5" name="页脚占位符 4"/>
          <p:cNvSpPr>
            <a:spLocks noGrp="1"/>
          </p:cNvSpPr>
          <p:nvPr>
            <p:ph type="ftr" sz="quarter" idx="11"/>
          </p:nvPr>
        </p:nvSpPr>
        <p:spPr/>
        <p:txBody>
          <a:bodyPr/>
          <a:lstStyle>
            <a:lvl1pPr algn="r">
              <a:defRPr sz="800"/>
            </a:lvl1pPr>
          </a:lstStyle>
          <a:p>
            <a:r>
              <a:rPr lang="zh-CN" altLang="en-US"/>
              <a:t>重庆大学大数据与软件学院</a:t>
            </a:r>
            <a:endParaRPr lang="zh-CN" altLang="en-US" dirty="0"/>
          </a:p>
        </p:txBody>
      </p:sp>
      <p:sp>
        <p:nvSpPr>
          <p:cNvPr id="6" name="幻灯片编号占位符 5"/>
          <p:cNvSpPr>
            <a:spLocks noGrp="1"/>
          </p:cNvSpPr>
          <p:nvPr>
            <p:ph type="sldNum" sz="quarter" idx="12"/>
          </p:nvPr>
        </p:nvSpPr>
        <p:spPr>
          <a:xfrm>
            <a:off x="0" y="6629400"/>
            <a:ext cx="457200" cy="228600"/>
          </a:xfrm>
        </p:spPr>
        <p:txBody>
          <a:bodyPr/>
          <a:lstStyle>
            <a:lvl1pPr>
              <a:defRPr sz="800"/>
            </a:lvl1pPr>
          </a:lstStyle>
          <a:p>
            <a:fld id="{9CD8D479-8942-46E8-A226-A4E01F7A105C}" type="slidenum">
              <a:rPr lang="en-US" altLang="zh-CN" smtClean="0"/>
              <a:pPr/>
              <a:t>‹#›</a:t>
            </a:fld>
            <a:endParaRPr lang="zh-CN" altLang="en-US" dirty="0"/>
          </a:p>
        </p:txBody>
      </p:sp>
    </p:spTree>
    <p:extLst>
      <p:ext uri="{BB962C8B-B14F-4D97-AF65-F5344CB8AC3E}">
        <p14:creationId xmlns:p14="http://schemas.microsoft.com/office/powerpoint/2010/main" val="340511684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1228288" y="1413933"/>
            <a:ext cx="6688045" cy="4772751"/>
          </a:xfrm>
        </p:spPr>
        <p:txBody>
          <a:bodyPr/>
          <a:lstStyle>
            <a:lvl1pPr marL="0" indent="0">
              <a:lnSpc>
                <a:spcPct val="150000"/>
              </a:lnSpc>
              <a:buNone/>
              <a:defRPr sz="2200">
                <a:latin typeface="Arial" panose="020B0604020202020204" pitchFamily="34" charset="0"/>
                <a:ea typeface="微软雅黑" panose="020B0503020204020204" pitchFamily="34" charset="-122"/>
                <a:cs typeface="Arial" panose="020B0604020202020204" pitchFamily="34" charset="0"/>
              </a:defRPr>
            </a:lvl1pPr>
            <a:lvl2pPr>
              <a:lnSpc>
                <a:spcPct val="150000"/>
              </a:lnSpc>
              <a:defRPr sz="2000">
                <a:latin typeface="Arial" panose="020B0604020202020204" pitchFamily="34" charset="0"/>
                <a:ea typeface="微软雅黑" panose="020B0503020204020204" pitchFamily="34" charset="-122"/>
                <a:cs typeface="Arial" panose="020B0604020202020204" pitchFamily="34" charset="0"/>
              </a:defRPr>
            </a:lvl2pPr>
            <a:lvl3pPr>
              <a:lnSpc>
                <a:spcPct val="130000"/>
              </a:lnSpc>
              <a:defRPr sz="1600">
                <a:solidFill>
                  <a:schemeClr val="accent2">
                    <a:lumMod val="75000"/>
                  </a:schemeClr>
                </a:solidFill>
                <a:latin typeface="Arial" panose="020B0604020202020204" pitchFamily="34" charset="0"/>
                <a:cs typeface="Arial" panose="020B0604020202020204" pitchFamily="34" charset="0"/>
              </a:defRPr>
            </a:lvl3pPr>
          </a:lstStyle>
          <a:p>
            <a:pPr lvl="0"/>
            <a:r>
              <a:rPr lang="zh-CN" altLang="en-US" dirty="0"/>
              <a:t>单击此处编辑母版文本样式</a:t>
            </a:r>
          </a:p>
          <a:p>
            <a:pPr lvl="1"/>
            <a:r>
              <a:rPr lang="zh-CN" altLang="en-US" dirty="0"/>
              <a:t> 第二级</a:t>
            </a:r>
            <a:endParaRPr lang="en-US" altLang="zh-CN" dirty="0"/>
          </a:p>
          <a:p>
            <a:pPr lvl="1"/>
            <a:r>
              <a:rPr lang="zh-CN" altLang="en-US" dirty="0"/>
              <a:t> 第二级</a:t>
            </a:r>
            <a:endParaRPr lang="en-US" altLang="zh-CN" dirty="0"/>
          </a:p>
          <a:p>
            <a:pPr lvl="2"/>
            <a:r>
              <a:rPr lang="zh-CN" altLang="en-US" dirty="0"/>
              <a:t> 第三级</a:t>
            </a:r>
          </a:p>
        </p:txBody>
      </p:sp>
      <p:sp>
        <p:nvSpPr>
          <p:cNvPr id="4" name="日期占位符 3"/>
          <p:cNvSpPr>
            <a:spLocks noGrp="1"/>
          </p:cNvSpPr>
          <p:nvPr>
            <p:ph type="dt" sz="half" idx="10"/>
          </p:nvPr>
        </p:nvSpPr>
        <p:spPr>
          <a:xfrm>
            <a:off x="426040" y="6629400"/>
            <a:ext cx="647783" cy="228600"/>
          </a:xfrm>
        </p:spPr>
        <p:txBody>
          <a:bodyPr/>
          <a:lstStyle>
            <a:lvl1pPr>
              <a:defRPr sz="800"/>
            </a:lvl1pPr>
          </a:lstStyle>
          <a:p>
            <a:fld id="{B2CB8352-4891-804B-8CB8-EAFD4E57CF78}" type="datetime1">
              <a:rPr lang="zh-CN" altLang="en-US" smtClean="0"/>
              <a:t>2025/2/6</a:t>
            </a:fld>
            <a:endParaRPr lang="en-US" dirty="0"/>
          </a:p>
        </p:txBody>
      </p:sp>
      <p:sp>
        <p:nvSpPr>
          <p:cNvPr id="6" name="幻灯片编号占位符 5"/>
          <p:cNvSpPr>
            <a:spLocks noGrp="1"/>
          </p:cNvSpPr>
          <p:nvPr>
            <p:ph type="sldNum" sz="quarter" idx="12"/>
          </p:nvPr>
        </p:nvSpPr>
        <p:spPr>
          <a:xfrm>
            <a:off x="-1" y="6629400"/>
            <a:ext cx="426041" cy="228600"/>
          </a:xfrm>
        </p:spPr>
        <p:txBody>
          <a:bodyPr/>
          <a:lstStyle>
            <a:lvl1pPr>
              <a:defRPr sz="800"/>
            </a:lvl1pPr>
          </a:lstStyle>
          <a:p>
            <a:fld id="{9CD8D479-8942-46E8-A226-A4E01F7A105C}" type="slidenum">
              <a:rPr lang="en-US" altLang="zh-CN" smtClean="0"/>
              <a:pPr/>
              <a:t>‹#›</a:t>
            </a:fld>
            <a:endParaRPr lang="zh-CN" altLang="en-US" dirty="0"/>
          </a:p>
        </p:txBody>
      </p:sp>
      <p:sp>
        <p:nvSpPr>
          <p:cNvPr id="7" name="动作按钮: 第一张 6">
            <a:hlinkClick r:id="rId2" action="ppaction://hlinksldjump" highlightClick="1"/>
          </p:cNvPr>
          <p:cNvSpPr/>
          <p:nvPr userDrawn="1"/>
        </p:nvSpPr>
        <p:spPr>
          <a:xfrm>
            <a:off x="8888729" y="6623694"/>
            <a:ext cx="235393" cy="220133"/>
          </a:xfrm>
          <a:prstGeom prst="actionButtonHome">
            <a:avLst/>
          </a:prstGeom>
          <a:no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1"/>
          <p:cNvSpPr>
            <a:spLocks noGrp="1"/>
          </p:cNvSpPr>
          <p:nvPr>
            <p:ph type="title"/>
          </p:nvPr>
        </p:nvSpPr>
        <p:spPr>
          <a:xfrm>
            <a:off x="683314" y="173261"/>
            <a:ext cx="7785026" cy="902005"/>
          </a:xfrm>
        </p:spPr>
        <p:txBody>
          <a:bodyPr>
            <a:normAutofit/>
          </a:bodyPr>
          <a:lstStyle>
            <a:lvl1pPr>
              <a:defRPr sz="3200">
                <a:latin typeface="Arial" panose="020B0604020202020204" pitchFamily="34" charset="0"/>
                <a:cs typeface="Arial" panose="020B0604020202020204" pitchFamily="34" charset="0"/>
              </a:defRPr>
            </a:lvl1pPr>
          </a:lstStyle>
          <a:p>
            <a:r>
              <a:rPr lang="zh-CN" altLang="en-US" dirty="0"/>
              <a:t>单击此处编辑母版标题样式</a:t>
            </a:r>
            <a:endParaRPr lang="zh-CN" dirty="0"/>
          </a:p>
        </p:txBody>
      </p:sp>
      <p:sp>
        <p:nvSpPr>
          <p:cNvPr id="5" name="页脚占位符 4"/>
          <p:cNvSpPr>
            <a:spLocks noGrp="1"/>
          </p:cNvSpPr>
          <p:nvPr>
            <p:ph type="ftr" sz="quarter" idx="11"/>
          </p:nvPr>
        </p:nvSpPr>
        <p:spPr/>
        <p:txBody>
          <a:bodyPr/>
          <a:lstStyle>
            <a:lvl1pPr algn="r">
              <a:defRPr sz="800"/>
            </a:lvl1pPr>
          </a:lstStyle>
          <a:p>
            <a:r>
              <a:rPr lang="zh-CN" altLang="en-US"/>
              <a:t>重庆大学大数据与软件学院</a:t>
            </a:r>
            <a:endParaRPr lang="zh-CN" altLang="en-US" dirty="0"/>
          </a:p>
        </p:txBody>
      </p:sp>
    </p:spTree>
    <p:extLst>
      <p:ext uri="{BB962C8B-B14F-4D97-AF65-F5344CB8AC3E}">
        <p14:creationId xmlns:p14="http://schemas.microsoft.com/office/powerpoint/2010/main" val="337204420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矩形 7"/>
          <p:cNvSpPr/>
          <p:nvPr/>
        </p:nvSpPr>
        <p:spPr>
          <a:xfrm>
            <a:off x="1200149" y="2059146"/>
            <a:ext cx="5399772" cy="3886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Microsoft YaHei UI" panose="020B0503020204020204" pitchFamily="34" charset="-122"/>
            </a:endParaRPr>
          </a:p>
        </p:txBody>
      </p:sp>
      <p:sp>
        <p:nvSpPr>
          <p:cNvPr id="2" name="标题 1"/>
          <p:cNvSpPr>
            <a:spLocks noGrp="1"/>
          </p:cNvSpPr>
          <p:nvPr>
            <p:ph type="title"/>
          </p:nvPr>
        </p:nvSpPr>
        <p:spPr>
          <a:xfrm>
            <a:off x="1313833" y="2263915"/>
            <a:ext cx="5212080" cy="2079486"/>
          </a:xfrm>
        </p:spPr>
        <p:txBody>
          <a:bodyPr anchor="b"/>
          <a:lstStyle>
            <a:lvl1pPr latinLnBrk="0">
              <a:defRPr lang="zh-CN" sz="4500">
                <a:solidFill>
                  <a:schemeClr val="bg1"/>
                </a:solidFill>
              </a:defRPr>
            </a:lvl1pPr>
          </a:lstStyle>
          <a:p>
            <a:r>
              <a:rPr lang="zh-CN" altLang="en-US" dirty="0"/>
              <a:t>单击此处编辑母版标题样式</a:t>
            </a:r>
            <a:endParaRPr lang="zh-CN" dirty="0"/>
          </a:p>
        </p:txBody>
      </p:sp>
      <p:sp>
        <p:nvSpPr>
          <p:cNvPr id="3" name="文本占位符 2"/>
          <p:cNvSpPr>
            <a:spLocks noGrp="1"/>
          </p:cNvSpPr>
          <p:nvPr>
            <p:ph type="body" idx="1"/>
          </p:nvPr>
        </p:nvSpPr>
        <p:spPr>
          <a:xfrm>
            <a:off x="1313833" y="5381894"/>
            <a:ext cx="5212080" cy="449523"/>
          </a:xfrm>
        </p:spPr>
        <p:txBody>
          <a:bodyPr/>
          <a:lstStyle>
            <a:lvl1pPr marL="0" indent="0" latinLnBrk="0">
              <a:spcBef>
                <a:spcPts val="0"/>
              </a:spcBef>
              <a:buNone/>
              <a:defRPr lang="zh-CN" sz="1800">
                <a:solidFill>
                  <a:schemeClr val="bg1"/>
                </a:solidFill>
              </a:defRPr>
            </a:lvl1pPr>
            <a:lvl2pPr marL="342900" indent="0" latinLnBrk="0">
              <a:buNone/>
              <a:defRPr lang="zh-CN" sz="1500"/>
            </a:lvl2pPr>
            <a:lvl3pPr marL="685800" indent="0" latinLnBrk="0">
              <a:buNone/>
              <a:defRPr lang="zh-CN" sz="1350"/>
            </a:lvl3pPr>
            <a:lvl4pPr marL="1028700" indent="0" latinLnBrk="0">
              <a:buNone/>
              <a:defRPr lang="zh-CN" sz="1200"/>
            </a:lvl4pPr>
            <a:lvl5pPr marL="1371600" indent="0" latinLnBrk="0">
              <a:buNone/>
              <a:defRPr lang="zh-CN" sz="1200"/>
            </a:lvl5pPr>
            <a:lvl6pPr marL="1714500" indent="0" latinLnBrk="0">
              <a:buNone/>
              <a:defRPr lang="zh-CN" sz="1200"/>
            </a:lvl6pPr>
            <a:lvl7pPr marL="2057400" indent="0" latinLnBrk="0">
              <a:buNone/>
              <a:defRPr lang="zh-CN" sz="1200"/>
            </a:lvl7pPr>
            <a:lvl8pPr marL="2400300" indent="0" latinLnBrk="0">
              <a:buNone/>
              <a:defRPr lang="zh-CN" sz="1200"/>
            </a:lvl8pPr>
            <a:lvl9pPr marL="2743200" indent="0" latinLnBrk="0">
              <a:buNone/>
              <a:defRPr lang="zh-CN" sz="1200"/>
            </a:lvl9pPr>
          </a:lstStyle>
          <a:p>
            <a:pPr lvl="0"/>
            <a:r>
              <a:rPr lang="zh-CN" altLang="en-US"/>
              <a:t>单击此处编辑母版文本样式</a:t>
            </a:r>
          </a:p>
        </p:txBody>
      </p:sp>
      <p:pic>
        <p:nvPicPr>
          <p:cNvPr id="9" name="图片 8" descr="波形" title="幻灯片设计图片"/>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6682217" y="2059146"/>
            <a:ext cx="2462022" cy="3886200"/>
          </a:xfrm>
          <a:prstGeom prst="rect">
            <a:avLst/>
          </a:prstGeom>
        </p:spPr>
      </p:pic>
      <p:pic>
        <p:nvPicPr>
          <p:cNvPr id="11" name="图片 10" descr="绿色植物特写" title="幻灯片设计图片"/>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0" y="2059146"/>
            <a:ext cx="1117854" cy="3886200"/>
          </a:xfrm>
          <a:prstGeom prst="rect">
            <a:avLst/>
          </a:prstGeom>
        </p:spPr>
      </p:pic>
    </p:spTree>
    <p:extLst>
      <p:ext uri="{BB962C8B-B14F-4D97-AF65-F5344CB8AC3E}">
        <p14:creationId xmlns:p14="http://schemas.microsoft.com/office/powerpoint/2010/main" val="128989429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extLst>
    <p:ext uri="{DCECCB84-F9BA-43D5-87BE-67443E8EF086}">
      <p15:sldGuideLst xmlns:p15="http://schemas.microsoft.com/office/powerpoint/2012/main">
        <p15:guide id="1" orient="horz" pos="3768">
          <p15:clr>
            <a:srgbClr val="FDE53C"/>
          </p15:clr>
        </p15:guide>
        <p15:guide id="2" orient="horz" pos="1296">
          <p15:clr>
            <a:srgbClr val="FDE53C"/>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矩形 9"/>
          <p:cNvSpPr/>
          <p:nvPr/>
        </p:nvSpPr>
        <p:spPr>
          <a:xfrm>
            <a:off x="0" y="6629400"/>
            <a:ext cx="1124712" cy="228600"/>
          </a:xfrm>
          <a:prstGeom prst="rect">
            <a:avLst/>
          </a:prstGeom>
          <a:gradFill>
            <a:gsLst>
              <a:gs pos="0">
                <a:schemeClr val="accent1">
                  <a:lumMod val="15000"/>
                  <a:lumOff val="85000"/>
                </a:schemeClr>
              </a:gs>
              <a:gs pos="100000">
                <a:schemeClr val="accent1">
                  <a:lumMod val="15000"/>
                  <a:lumOff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Microsoft YaHei UI" panose="020B0503020204020204" pitchFamily="34" charset="-122"/>
            </a:endParaRPr>
          </a:p>
        </p:txBody>
      </p:sp>
      <p:sp>
        <p:nvSpPr>
          <p:cNvPr id="11" name="矩形 10"/>
          <p:cNvSpPr/>
          <p:nvPr/>
        </p:nvSpPr>
        <p:spPr>
          <a:xfrm>
            <a:off x="1207008" y="6629400"/>
            <a:ext cx="7936992" cy="228600"/>
          </a:xfrm>
          <a:prstGeom prst="rect">
            <a:avLst/>
          </a:prstGeom>
          <a:gradFill>
            <a:gsLst>
              <a:gs pos="0">
                <a:schemeClr val="accent1">
                  <a:lumMod val="35000"/>
                  <a:lumOff val="65000"/>
                </a:schemeClr>
              </a:gs>
              <a:gs pos="100000">
                <a:schemeClr val="accent1">
                  <a:lumMod val="35000"/>
                  <a:lumOff val="6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accent1">
                  <a:lumMod val="75000"/>
                </a:schemeClr>
              </a:solidFill>
              <a:ea typeface="Microsoft YaHei UI" panose="020B0503020204020204" pitchFamily="34" charset="-122"/>
            </a:endParaRPr>
          </a:p>
        </p:txBody>
      </p:sp>
      <p:sp>
        <p:nvSpPr>
          <p:cNvPr id="2" name="标题占位符 1"/>
          <p:cNvSpPr>
            <a:spLocks noGrp="1"/>
          </p:cNvSpPr>
          <p:nvPr>
            <p:ph type="title"/>
          </p:nvPr>
        </p:nvSpPr>
        <p:spPr>
          <a:xfrm>
            <a:off x="1057520" y="276087"/>
            <a:ext cx="7028962" cy="1183566"/>
          </a:xfrm>
          <a:prstGeom prst="rect">
            <a:avLst/>
          </a:prstGeom>
        </p:spPr>
        <p:txBody>
          <a:bodyPr vert="horz" lIns="91440" tIns="45720" rIns="91440" bIns="45720" rtlCol="0" anchor="b">
            <a:normAutofit/>
          </a:bodyPr>
          <a:lstStyle/>
          <a:p>
            <a:r>
              <a:rPr lang="zh-CN" dirty="0"/>
              <a:t>单击此处编辑母版标题样式</a:t>
            </a:r>
          </a:p>
        </p:txBody>
      </p:sp>
      <p:sp>
        <p:nvSpPr>
          <p:cNvPr id="3" name="文本占位符 2"/>
          <p:cNvSpPr>
            <a:spLocks noGrp="1"/>
          </p:cNvSpPr>
          <p:nvPr>
            <p:ph type="body" idx="1"/>
          </p:nvPr>
        </p:nvSpPr>
        <p:spPr>
          <a:xfrm>
            <a:off x="1057520" y="1566001"/>
            <a:ext cx="7028961" cy="4620682"/>
          </a:xfrm>
          <a:prstGeom prst="rect">
            <a:avLst/>
          </a:prstGeom>
        </p:spPr>
        <p:txBody>
          <a:bodyPr vert="horz" lIns="91440" tIns="45720" rIns="91440" bIns="45720" rtlCol="0">
            <a:normAutofit/>
          </a:bodyPr>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6" name="幻灯片编号占位符 5"/>
          <p:cNvSpPr>
            <a:spLocks noGrp="1"/>
          </p:cNvSpPr>
          <p:nvPr>
            <p:ph type="sldNum" sz="quarter" idx="4"/>
          </p:nvPr>
        </p:nvSpPr>
        <p:spPr>
          <a:xfrm>
            <a:off x="0" y="6629400"/>
            <a:ext cx="307802" cy="228600"/>
          </a:xfrm>
          <a:prstGeom prst="rect">
            <a:avLst/>
          </a:prstGeom>
        </p:spPr>
        <p:txBody>
          <a:bodyPr vert="horz" lIns="91440" tIns="45720" rIns="91440" bIns="45720" rtlCol="0" anchor="ctr"/>
          <a:lstStyle>
            <a:lvl1pPr algn="r" latinLnBrk="0">
              <a:defRPr lang="zh-CN" sz="600">
                <a:solidFill>
                  <a:schemeClr val="accent1">
                    <a:lumMod val="75000"/>
                  </a:schemeClr>
                </a:solidFill>
                <a:ea typeface="Microsoft YaHei UI" panose="020B0503020204020204" pitchFamily="34" charset="-122"/>
              </a:defRPr>
            </a:lvl1pPr>
          </a:lstStyle>
          <a:p>
            <a:fld id="{9CD8D479-8942-46E8-A226-A4E01F7A105C}" type="slidenum">
              <a:rPr lang="en-US" altLang="zh-CN" smtClean="0"/>
              <a:pPr/>
              <a:t>‹#›</a:t>
            </a:fld>
            <a:endParaRPr lang="en-US" altLang="zh-CN" dirty="0"/>
          </a:p>
        </p:txBody>
      </p:sp>
      <p:sp>
        <p:nvSpPr>
          <p:cNvPr id="4" name="日期占位符 3"/>
          <p:cNvSpPr>
            <a:spLocks noGrp="1"/>
          </p:cNvSpPr>
          <p:nvPr>
            <p:ph type="dt" sz="half" idx="2"/>
          </p:nvPr>
        </p:nvSpPr>
        <p:spPr>
          <a:xfrm>
            <a:off x="323326" y="6629400"/>
            <a:ext cx="750497" cy="228600"/>
          </a:xfrm>
          <a:prstGeom prst="rect">
            <a:avLst/>
          </a:prstGeom>
        </p:spPr>
        <p:txBody>
          <a:bodyPr vert="horz" lIns="91440" tIns="45720" rIns="91440" bIns="45720" rtlCol="0" anchor="ctr"/>
          <a:lstStyle>
            <a:lvl1pPr algn="r" latinLnBrk="0">
              <a:defRPr lang="zh-CN" sz="600">
                <a:solidFill>
                  <a:schemeClr val="accent1">
                    <a:lumMod val="75000"/>
                  </a:schemeClr>
                </a:solidFill>
                <a:ea typeface="Microsoft YaHei UI" panose="020B0503020204020204" pitchFamily="34" charset="-122"/>
              </a:defRPr>
            </a:lvl1pPr>
          </a:lstStyle>
          <a:p>
            <a:fld id="{9FB283A0-CB17-A043-9B7A-AF1BF540E167}" type="datetime1">
              <a:rPr lang="zh-CN" altLang="en-US" smtClean="0"/>
              <a:t>2025/2/6</a:t>
            </a:fld>
            <a:endParaRPr lang="en-US" altLang="zh-CN" dirty="0"/>
          </a:p>
        </p:txBody>
      </p:sp>
      <p:sp>
        <p:nvSpPr>
          <p:cNvPr id="5" name="页脚占位符 4"/>
          <p:cNvSpPr>
            <a:spLocks noGrp="1"/>
          </p:cNvSpPr>
          <p:nvPr>
            <p:ph type="ftr" sz="quarter" idx="3"/>
          </p:nvPr>
        </p:nvSpPr>
        <p:spPr>
          <a:xfrm>
            <a:off x="1228288" y="6629400"/>
            <a:ext cx="6858194" cy="228600"/>
          </a:xfrm>
          <a:prstGeom prst="rect">
            <a:avLst/>
          </a:prstGeom>
        </p:spPr>
        <p:txBody>
          <a:bodyPr vert="horz" lIns="91440" tIns="45720" rIns="91440" bIns="45720" rtlCol="0" anchor="ctr"/>
          <a:lstStyle>
            <a:lvl1pPr algn="l" latinLnBrk="0">
              <a:defRPr lang="zh-CN" sz="600">
                <a:solidFill>
                  <a:schemeClr val="accent1">
                    <a:lumMod val="75000"/>
                  </a:schemeClr>
                </a:solidFill>
                <a:ea typeface="Microsoft YaHei UI" panose="020B0503020204020204" pitchFamily="34" charset="-122"/>
              </a:defRPr>
            </a:lvl1pPr>
          </a:lstStyle>
          <a:p>
            <a:r>
              <a:rPr lang="zh-CN" altLang="en-US"/>
              <a:t>重庆大学大数据与软件学院</a:t>
            </a:r>
            <a:endParaRPr lang="zh-CN" altLang="en-US" dirty="0"/>
          </a:p>
        </p:txBody>
      </p:sp>
    </p:spTree>
    <p:extLst>
      <p:ext uri="{BB962C8B-B14F-4D97-AF65-F5344CB8AC3E}">
        <p14:creationId xmlns:p14="http://schemas.microsoft.com/office/powerpoint/2010/main" val="2866046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Lst>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txStyles>
    <p:titleStyle>
      <a:lvl1pPr algn="l" defTabSz="685800" rtl="0" eaLnBrk="1" latinLnBrk="0" hangingPunct="1">
        <a:spcBef>
          <a:spcPct val="0"/>
        </a:spcBef>
        <a:buNone/>
        <a:defRPr lang="zh-CN" sz="2550" kern="1200">
          <a:solidFill>
            <a:schemeClr val="accent1"/>
          </a:solidFill>
          <a:latin typeface="+mj-lt"/>
          <a:ea typeface="Microsoft YaHei UI" panose="020B0503020204020204" pitchFamily="34" charset="-122"/>
          <a:cs typeface="+mj-cs"/>
        </a:defRPr>
      </a:lvl1pPr>
    </p:titleStyle>
    <p:bodyStyle>
      <a:lvl1pPr marL="157734" indent="-157734" algn="l" defTabSz="685800" rtl="0" eaLnBrk="1" latinLnBrk="0" hangingPunct="1">
        <a:lnSpc>
          <a:spcPct val="90000"/>
        </a:lnSpc>
        <a:spcBef>
          <a:spcPts val="825"/>
        </a:spcBef>
        <a:buFont typeface="Arial" panose="020B0604020202020204" pitchFamily="34" charset="0"/>
        <a:buChar char="•"/>
        <a:defRPr lang="zh-CN" sz="1650" kern="1200">
          <a:solidFill>
            <a:schemeClr val="tx1"/>
          </a:solidFill>
          <a:latin typeface="+mn-lt"/>
          <a:ea typeface="Microsoft YaHei UI" panose="020B0503020204020204" pitchFamily="34" charset="-122"/>
          <a:cs typeface="+mn-cs"/>
        </a:defRPr>
      </a:lvl1pPr>
      <a:lvl2pPr marL="329184" indent="-116586" algn="l" defTabSz="685800" rtl="0" eaLnBrk="1" latinLnBrk="0" hangingPunct="1">
        <a:lnSpc>
          <a:spcPct val="90000"/>
        </a:lnSpc>
        <a:spcBef>
          <a:spcPts val="300"/>
        </a:spcBef>
        <a:buFont typeface="Arial" panose="020B0604020202020204" pitchFamily="34" charset="0"/>
        <a:buChar char="•"/>
        <a:defRPr lang="zh-CN" sz="1350" kern="1200">
          <a:solidFill>
            <a:schemeClr val="tx1"/>
          </a:solidFill>
          <a:latin typeface="+mn-lt"/>
          <a:ea typeface="Microsoft YaHei UI" panose="020B0503020204020204" pitchFamily="34" charset="-122"/>
          <a:cs typeface="+mn-cs"/>
        </a:defRPr>
      </a:lvl2pPr>
      <a:lvl3pPr marL="5074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p:bodyStyle>
    <p:otherStyle>
      <a:defPPr>
        <a:defRPr lang="zh-CN"/>
      </a:defPPr>
      <a:lvl1pPr marL="0" algn="l" defTabSz="685800" rtl="0" eaLnBrk="1" latinLnBrk="0" hangingPunct="1">
        <a:defRPr lang="zh-CN" sz="1350" kern="1200">
          <a:solidFill>
            <a:schemeClr val="tx1"/>
          </a:solidFill>
          <a:latin typeface="+mn-lt"/>
          <a:ea typeface="+mn-ea"/>
          <a:cs typeface="+mn-cs"/>
        </a:defRPr>
      </a:lvl1pPr>
      <a:lvl2pPr marL="342900" algn="l" defTabSz="685800" rtl="0" eaLnBrk="1" latinLnBrk="0" hangingPunct="1">
        <a:defRPr lang="zh-CN" sz="1350" kern="1200">
          <a:solidFill>
            <a:schemeClr val="tx1"/>
          </a:solidFill>
          <a:latin typeface="+mn-lt"/>
          <a:ea typeface="+mn-ea"/>
          <a:cs typeface="+mn-cs"/>
        </a:defRPr>
      </a:lvl2pPr>
      <a:lvl3pPr marL="685800" algn="l" defTabSz="685800" rtl="0" eaLnBrk="1" latinLnBrk="0" hangingPunct="1">
        <a:defRPr lang="zh-CN" sz="1350" kern="1200">
          <a:solidFill>
            <a:schemeClr val="tx1"/>
          </a:solidFill>
          <a:latin typeface="+mn-lt"/>
          <a:ea typeface="+mn-ea"/>
          <a:cs typeface="+mn-cs"/>
        </a:defRPr>
      </a:lvl3pPr>
      <a:lvl4pPr marL="1028700" algn="l" defTabSz="685800" rtl="0" eaLnBrk="1" latinLnBrk="0" hangingPunct="1">
        <a:defRPr lang="zh-CN" sz="1350" kern="1200">
          <a:solidFill>
            <a:schemeClr val="tx1"/>
          </a:solidFill>
          <a:latin typeface="+mn-lt"/>
          <a:ea typeface="+mn-ea"/>
          <a:cs typeface="+mn-cs"/>
        </a:defRPr>
      </a:lvl4pPr>
      <a:lvl5pPr marL="1371600" algn="l" defTabSz="685800" rtl="0" eaLnBrk="1" latinLnBrk="0" hangingPunct="1">
        <a:defRPr lang="zh-CN" sz="1350" kern="1200">
          <a:solidFill>
            <a:schemeClr val="tx1"/>
          </a:solidFill>
          <a:latin typeface="+mn-lt"/>
          <a:ea typeface="+mn-ea"/>
          <a:cs typeface="+mn-cs"/>
        </a:defRPr>
      </a:lvl5pPr>
      <a:lvl6pPr marL="1714500" algn="l" defTabSz="685800" rtl="0" eaLnBrk="1" latinLnBrk="0" hangingPunct="1">
        <a:defRPr lang="zh-CN" sz="1350" kern="1200">
          <a:solidFill>
            <a:schemeClr val="tx1"/>
          </a:solidFill>
          <a:latin typeface="+mn-lt"/>
          <a:ea typeface="+mn-ea"/>
          <a:cs typeface="+mn-cs"/>
        </a:defRPr>
      </a:lvl6pPr>
      <a:lvl7pPr marL="2057400" algn="l" defTabSz="685800" rtl="0" eaLnBrk="1" latinLnBrk="0" hangingPunct="1">
        <a:defRPr lang="zh-CN" sz="1350" kern="1200">
          <a:solidFill>
            <a:schemeClr val="tx1"/>
          </a:solidFill>
          <a:latin typeface="+mn-lt"/>
          <a:ea typeface="+mn-ea"/>
          <a:cs typeface="+mn-cs"/>
        </a:defRPr>
      </a:lvl7pPr>
      <a:lvl8pPr marL="2400300" algn="l" defTabSz="685800" rtl="0" eaLnBrk="1" latinLnBrk="0" hangingPunct="1">
        <a:defRPr lang="zh-CN" sz="1350" kern="1200">
          <a:solidFill>
            <a:schemeClr val="tx1"/>
          </a:solidFill>
          <a:latin typeface="+mn-lt"/>
          <a:ea typeface="+mn-ea"/>
          <a:cs typeface="+mn-cs"/>
        </a:defRPr>
      </a:lvl8pPr>
      <a:lvl9pPr marL="2743200" algn="l" defTabSz="685800" rtl="0" eaLnBrk="1" latinLnBrk="0" hangingPunct="1">
        <a:defRPr lang="zh-CN"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3.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3.xml"/><Relationship Id="rId4" Type="http://schemas.openxmlformats.org/officeDocument/2006/relationships/image" Target="../media/image26.jpeg"/></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268730" y="1115365"/>
            <a:ext cx="3634740" cy="962631"/>
          </a:xfrm>
        </p:spPr>
        <p:txBody>
          <a:bodyPr>
            <a:normAutofit/>
          </a:bodyPr>
          <a:lstStyle/>
          <a:p>
            <a:r>
              <a:rPr lang="zh-CN" altLang="en-US" sz="4400" dirty="0">
                <a:latin typeface="Arial" panose="020B0604020202020204" pitchFamily="34" charset="0"/>
                <a:cs typeface="Arial" panose="020B0604020202020204" pitchFamily="34" charset="0"/>
              </a:rPr>
              <a:t>软件工程导论</a:t>
            </a:r>
            <a:endParaRPr lang="zh-CN" altLang="en-US" sz="4400" dirty="0"/>
          </a:p>
        </p:txBody>
      </p:sp>
      <p:sp>
        <p:nvSpPr>
          <p:cNvPr id="5" name="矩形 4"/>
          <p:cNvSpPr/>
          <p:nvPr/>
        </p:nvSpPr>
        <p:spPr>
          <a:xfrm>
            <a:off x="1268730" y="2229450"/>
            <a:ext cx="3634740" cy="499496"/>
          </a:xfrm>
          <a:prstGeom prst="rect">
            <a:avLst/>
          </a:prstGeom>
        </p:spPr>
        <p:txBody>
          <a:bodyPr wrap="square">
            <a:spAutoFit/>
          </a:bodyPr>
          <a:lstStyle/>
          <a:p>
            <a:pPr marL="285750" indent="-285750" algn="r">
              <a:lnSpc>
                <a:spcPct val="150000"/>
              </a:lnSpc>
              <a:buFont typeface="Arial" panose="020B0604020202020204" pitchFamily="34" charset="0"/>
              <a:buChar char="•"/>
            </a:pPr>
            <a:r>
              <a:rPr lang="zh-CN" altLang="zh-CN" sz="2000" dirty="0">
                <a:solidFill>
                  <a:schemeClr val="bg1"/>
                </a:solidFill>
                <a:latin typeface="华文中宋" panose="02010600040101010101" pitchFamily="2" charset="-122"/>
                <a:ea typeface="华文中宋" panose="02010600040101010101" pitchFamily="2" charset="-122"/>
              </a:rPr>
              <a:t>第</a:t>
            </a:r>
            <a:r>
              <a:rPr lang="en-US" altLang="zh-CN" sz="2000" dirty="0">
                <a:solidFill>
                  <a:schemeClr val="bg1"/>
                </a:solidFill>
                <a:latin typeface="华文中宋" panose="02010600040101010101" pitchFamily="2" charset="-122"/>
                <a:ea typeface="华文中宋" panose="02010600040101010101" pitchFamily="2" charset="-122"/>
              </a:rPr>
              <a:t>8</a:t>
            </a:r>
            <a:r>
              <a:rPr lang="zh-CN" altLang="zh-CN" sz="2000" dirty="0">
                <a:solidFill>
                  <a:schemeClr val="bg1"/>
                </a:solidFill>
                <a:latin typeface="华文中宋" panose="02010600040101010101" pitchFamily="2" charset="-122"/>
                <a:ea typeface="华文中宋" panose="02010600040101010101" pitchFamily="2" charset="-122"/>
              </a:rPr>
              <a:t>章</a:t>
            </a:r>
            <a:r>
              <a:rPr lang="en-US" altLang="zh-CN" sz="2000" dirty="0">
                <a:solidFill>
                  <a:schemeClr val="bg1"/>
                </a:solidFill>
                <a:latin typeface="华文中宋" panose="02010600040101010101" pitchFamily="2" charset="-122"/>
                <a:ea typeface="华文中宋" panose="02010600040101010101" pitchFamily="2" charset="-122"/>
              </a:rPr>
              <a:t>  </a:t>
            </a:r>
            <a:r>
              <a:rPr lang="zh-CN" altLang="en-US" sz="2000" dirty="0">
                <a:solidFill>
                  <a:schemeClr val="bg1"/>
                </a:solidFill>
                <a:latin typeface="华文中宋" panose="02010600040101010101" pitchFamily="2" charset="-122"/>
                <a:ea typeface="华文中宋" panose="02010600040101010101" pitchFamily="2" charset="-122"/>
              </a:rPr>
              <a:t>敏捷开发方法</a:t>
            </a:r>
            <a:endParaRPr lang="en-US" altLang="zh-CN" sz="2000" dirty="0">
              <a:solidFill>
                <a:schemeClr val="bg1"/>
              </a:solidFill>
              <a:latin typeface="华文中宋" panose="02010600040101010101" pitchFamily="2" charset="-122"/>
              <a:ea typeface="华文中宋" panose="02010600040101010101" pitchFamily="2" charset="-122"/>
            </a:endParaRPr>
          </a:p>
        </p:txBody>
      </p:sp>
      <p:sp>
        <p:nvSpPr>
          <p:cNvPr id="7" name="副标题 2"/>
          <p:cNvSpPr>
            <a:spLocks noGrp="1"/>
          </p:cNvSpPr>
          <p:nvPr>
            <p:ph type="subTitle" idx="1"/>
          </p:nvPr>
        </p:nvSpPr>
        <p:spPr>
          <a:xfrm>
            <a:off x="1268730" y="4945463"/>
            <a:ext cx="3634740" cy="942871"/>
          </a:xfrm>
        </p:spPr>
        <p:txBody>
          <a:bodyPr>
            <a:normAutofit/>
          </a:bodyPr>
          <a:lstStyle/>
          <a:p>
            <a:r>
              <a:rPr lang="zh-CN" altLang="en-US" sz="1600" dirty="0"/>
              <a:t>重庆大学大数据与软件学院 </a:t>
            </a:r>
            <a:r>
              <a:rPr lang="en-US" altLang="zh-CN" sz="1600" dirty="0"/>
              <a:t>• </a:t>
            </a:r>
            <a:r>
              <a:rPr lang="zh-CN" altLang="en-US" sz="1600" dirty="0"/>
              <a:t>本科课程</a:t>
            </a:r>
            <a:endParaRPr lang="en-US" altLang="zh-CN" sz="1600" dirty="0"/>
          </a:p>
          <a:p>
            <a:endParaRPr lang="en-US" altLang="zh-CN" sz="1600" dirty="0"/>
          </a:p>
          <a:p>
            <a:r>
              <a:rPr lang="zh-CN" altLang="en-US" sz="1600" dirty="0"/>
              <a:t>讲授：胡健</a:t>
            </a:r>
          </a:p>
          <a:p>
            <a:endParaRPr lang="en-US" altLang="zh-CN" dirty="0"/>
          </a:p>
          <a:p>
            <a:endParaRPr lang="en-US" altLang="zh-CN" sz="1800" dirty="0"/>
          </a:p>
        </p:txBody>
      </p:sp>
    </p:spTree>
    <p:extLst>
      <p:ext uri="{BB962C8B-B14F-4D97-AF65-F5344CB8AC3E}">
        <p14:creationId xmlns:p14="http://schemas.microsoft.com/office/powerpoint/2010/main" val="264063452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87450" y="0"/>
            <a:ext cx="5400675" cy="5949950"/>
          </a:xfrm>
          <a:prstGeom prst="rect">
            <a:avLst/>
          </a:prstGeom>
          <a:solidFill>
            <a:srgbClr val="8BAA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 name="Rectangle 3"/>
          <p:cNvSpPr txBox="1">
            <a:spLocks noChangeArrowheads="1"/>
          </p:cNvSpPr>
          <p:nvPr/>
        </p:nvSpPr>
        <p:spPr>
          <a:xfrm>
            <a:off x="1463675" y="765175"/>
            <a:ext cx="4837113" cy="5111750"/>
          </a:xfrm>
          <a:prstGeom prst="rect">
            <a:avLst/>
          </a:prstGeom>
        </p:spPr>
        <p:txBody>
          <a:bodyPr>
            <a:normAutofit/>
          </a:bodyPr>
          <a:lstStyle>
            <a:lvl1pPr marL="0" indent="0" algn="l" defTabSz="685783" rtl="0" eaLnBrk="1" latinLnBrk="0" hangingPunct="1">
              <a:lnSpc>
                <a:spcPct val="90000"/>
              </a:lnSpc>
              <a:spcBef>
                <a:spcPts val="0"/>
              </a:spcBef>
              <a:buFont typeface="Arial" panose="020B0604020202020204" pitchFamily="34" charset="0"/>
              <a:buNone/>
              <a:defRPr lang="zh-CN" sz="1350" kern="1200">
                <a:solidFill>
                  <a:schemeClr val="bg1"/>
                </a:solidFill>
                <a:latin typeface="+mn-lt"/>
                <a:ea typeface="Microsoft YaHei UI" panose="020B0503020204020204" pitchFamily="34" charset="-122"/>
                <a:cs typeface="+mn-cs"/>
              </a:defRPr>
            </a:lvl1pPr>
            <a:lvl2pPr marL="342892" indent="0" algn="ctr" defTabSz="685783" rtl="0" eaLnBrk="1" latinLnBrk="0" hangingPunct="1">
              <a:lnSpc>
                <a:spcPct val="90000"/>
              </a:lnSpc>
              <a:spcBef>
                <a:spcPts val="300"/>
              </a:spcBef>
              <a:buFont typeface="Arial" panose="020B0604020202020204" pitchFamily="34" charset="0"/>
              <a:buNone/>
              <a:defRPr lang="zh-CN" sz="1500" kern="1200">
                <a:solidFill>
                  <a:schemeClr val="tx1"/>
                </a:solidFill>
                <a:latin typeface="+mn-lt"/>
                <a:ea typeface="Microsoft YaHei UI" panose="020B0503020204020204" pitchFamily="34" charset="-122"/>
                <a:cs typeface="+mn-cs"/>
              </a:defRPr>
            </a:lvl2pPr>
            <a:lvl3pPr marL="685783" indent="0" algn="ctr" defTabSz="685783" rtl="0" eaLnBrk="1" latinLnBrk="0" hangingPunct="1">
              <a:lnSpc>
                <a:spcPct val="90000"/>
              </a:lnSpc>
              <a:spcBef>
                <a:spcPts val="300"/>
              </a:spcBef>
              <a:buFont typeface="Arial" panose="020B0604020202020204" pitchFamily="34" charset="0"/>
              <a:buNone/>
              <a:defRPr lang="zh-CN" sz="1350" kern="1200">
                <a:solidFill>
                  <a:schemeClr val="tx1"/>
                </a:solidFill>
                <a:latin typeface="+mn-lt"/>
                <a:ea typeface="Microsoft YaHei UI" panose="020B0503020204020204" pitchFamily="34" charset="-122"/>
                <a:cs typeface="+mn-cs"/>
              </a:defRPr>
            </a:lvl3pPr>
            <a:lvl4pPr marL="1028675"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icrosoft YaHei UI" panose="020B0503020204020204" pitchFamily="34" charset="-122"/>
                <a:cs typeface="+mn-cs"/>
              </a:defRPr>
            </a:lvl4pPr>
            <a:lvl5pPr marL="1371566"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icrosoft YaHei UI" panose="020B0503020204020204" pitchFamily="34" charset="-122"/>
                <a:cs typeface="+mn-cs"/>
              </a:defRPr>
            </a:lvl5pPr>
            <a:lvl6pPr marL="1714457"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6pPr>
            <a:lvl7pPr marL="2057348"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7pPr>
            <a:lvl8pPr marL="2400240"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8pPr>
            <a:lvl9pPr marL="2743132"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9pPr>
          </a:lstStyle>
          <a:p>
            <a:pPr marL="210307" indent="-210307" defTabSz="914377" fontAlgn="auto">
              <a:lnSpc>
                <a:spcPct val="110000"/>
              </a:lnSpc>
              <a:spcBef>
                <a:spcPct val="50000"/>
              </a:spcBef>
              <a:spcAft>
                <a:spcPts val="0"/>
              </a:spcAft>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1</a:t>
            </a:r>
            <a:r>
              <a:rPr lang="zh-CN" altLang="en-US" sz="2000" dirty="0">
                <a:latin typeface="Arial" panose="020B0604020202020204" pitchFamily="34" charset="0"/>
                <a:cs typeface="Arial" panose="020B0604020202020204" pitchFamily="34" charset="0"/>
              </a:rPr>
              <a:t>章   软件工程概述</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6</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zh-CN" sz="2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Arial" panose="020B0604020202020204" pitchFamily="34" charset="0"/>
                <a:cs typeface="Arial" panose="020B0604020202020204" pitchFamily="34" charset="0"/>
              </a:rPr>
              <a:t>	</a:t>
            </a:r>
            <a:endParaRPr lang="en-US" altLang="zh-CN" sz="16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Arial" panose="020B0604020202020204" pitchFamily="34" charset="0"/>
              <a:cs typeface="Arial" panose="020B0604020202020204" pitchFamily="34" charset="0"/>
            </a:endParaRPr>
          </a:p>
          <a:p>
            <a:pPr marL="210307" indent="-210307" defTabSz="914377" fontAlgn="auto">
              <a:lnSpc>
                <a:spcPct val="110000"/>
              </a:lnSpc>
              <a:spcBef>
                <a:spcPct val="50000"/>
              </a:spcBef>
              <a:spcAft>
                <a:spcPts val="0"/>
              </a:spcAft>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2</a:t>
            </a:r>
            <a:r>
              <a:rPr lang="zh-CN" altLang="en-US" sz="2000" dirty="0">
                <a:latin typeface="Arial" panose="020B0604020202020204" pitchFamily="34" charset="0"/>
                <a:cs typeface="Arial" panose="020B0604020202020204" pitchFamily="34" charset="0"/>
              </a:rPr>
              <a:t>章   软件需求分析</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6</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endParaRPr lang="en-US" altLang="zh-CN" sz="2000" dirty="0">
              <a:solidFill>
                <a:schemeClr val="accent1">
                  <a:lumMod val="75000"/>
                </a:schemeClr>
              </a:solidFill>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3</a:t>
            </a:r>
            <a:r>
              <a:rPr lang="zh-CN" altLang="en-US" sz="2000" dirty="0">
                <a:latin typeface="Arial" panose="020B0604020202020204" pitchFamily="34" charset="0"/>
                <a:cs typeface="Arial" panose="020B0604020202020204" pitchFamily="34" charset="0"/>
              </a:rPr>
              <a:t>章   软件设计</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6</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4</a:t>
            </a:r>
            <a:r>
              <a:rPr lang="zh-CN" altLang="en-US" sz="2000" dirty="0">
                <a:latin typeface="Arial" panose="020B0604020202020204" pitchFamily="34" charset="0"/>
                <a:cs typeface="Arial" panose="020B0604020202020204" pitchFamily="34" charset="0"/>
              </a:rPr>
              <a:t>章   编码及实现</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2</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20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5</a:t>
            </a:r>
            <a:r>
              <a:rPr lang="zh-CN" altLang="en-US" sz="2000" dirty="0">
                <a:latin typeface="Arial" panose="020B0604020202020204" pitchFamily="34" charset="0"/>
                <a:cs typeface="Arial" panose="020B0604020202020204" pitchFamily="34" charset="0"/>
              </a:rPr>
              <a:t>章   软件测试</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6</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6</a:t>
            </a:r>
            <a:r>
              <a:rPr lang="zh-CN" altLang="en-US" sz="2000" dirty="0">
                <a:latin typeface="Arial" panose="020B0604020202020204" pitchFamily="34" charset="0"/>
                <a:cs typeface="Arial" panose="020B0604020202020204" pitchFamily="34" charset="0"/>
              </a:rPr>
              <a:t>章   软件维护</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2</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7</a:t>
            </a:r>
            <a:r>
              <a:rPr altLang="en-US" sz="2000" dirty="0">
                <a:latin typeface="Arial" panose="020B0604020202020204" pitchFamily="34" charset="0"/>
                <a:cs typeface="Arial" panose="020B0604020202020204" pitchFamily="34" charset="0"/>
              </a:rPr>
              <a:t>章   </a:t>
            </a:r>
            <a:r>
              <a:rPr lang="zh-CN" altLang="en-US" sz="2000" dirty="0">
                <a:latin typeface="Arial" panose="020B0604020202020204" pitchFamily="34" charset="0"/>
                <a:cs typeface="Arial" panose="020B0604020202020204" pitchFamily="34" charset="0"/>
              </a:rPr>
              <a:t>面向对象技术</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10</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endParaRPr lang="en-US" altLang="zh-CN" sz="2000" dirty="0">
              <a:solidFill>
                <a:schemeClr val="accent1">
                  <a:lumMod val="75000"/>
                </a:schemeClr>
              </a:solidFill>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第</a:t>
            </a:r>
            <a:r>
              <a:rPr lang="en-US" altLang="zh-CN" sz="2000" dirty="0">
                <a:ln w="12700" cmpd="sng">
                  <a:noFill/>
                  <a:prstDash val="solid"/>
                </a:ln>
                <a:solidFill>
                  <a:srgbClr val="FFFC00"/>
                </a:solidFill>
                <a:latin typeface="Arial" panose="020B0604020202020204" pitchFamily="34" charset="0"/>
                <a:cs typeface="Arial" panose="020B0604020202020204" pitchFamily="34" charset="0"/>
              </a:rPr>
              <a:t>8</a:t>
            </a: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章   </a:t>
            </a:r>
            <a:r>
              <a:rPr lang="zh-CN" altLang="en-US" sz="2400" b="1" dirty="0">
                <a:ln w="12700" cmpd="sng">
                  <a:noFill/>
                  <a:prstDash val="solid"/>
                </a:ln>
                <a:solidFill>
                  <a:srgbClr val="FFFC00"/>
                </a:solidFill>
                <a:latin typeface="Arial" panose="020B0604020202020204" pitchFamily="34" charset="0"/>
                <a:cs typeface="Arial" panose="020B0604020202020204" pitchFamily="34" charset="0"/>
              </a:rPr>
              <a:t>敏捷开发方法</a:t>
            </a: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a:t>
            </a:r>
            <a:r>
              <a:rPr lang="en-US" altLang="zh-CN" sz="2000" dirty="0">
                <a:ln w="12700" cmpd="sng">
                  <a:noFill/>
                  <a:prstDash val="solid"/>
                </a:ln>
                <a:solidFill>
                  <a:srgbClr val="FFFC00"/>
                </a:solidFill>
                <a:latin typeface="Arial" panose="020B0604020202020204" pitchFamily="34" charset="0"/>
                <a:cs typeface="Arial" panose="020B0604020202020204" pitchFamily="34" charset="0"/>
              </a:rPr>
              <a:t>2</a:t>
            </a: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651324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007C846A-D9E2-1984-1EE0-9138781437D1}"/>
              </a:ext>
            </a:extLst>
          </p:cNvPr>
          <p:cNvSpPr>
            <a:spLocks noGrp="1"/>
          </p:cNvSpPr>
          <p:nvPr>
            <p:ph type="dt" sz="half" idx="10"/>
          </p:nvPr>
        </p:nvSpPr>
        <p:spPr/>
        <p:txBody>
          <a:bodyPr/>
          <a:lstStyle/>
          <a:p>
            <a:fld id="{B2CB8352-4891-804B-8CB8-EAFD4E57CF78}" type="datetime1">
              <a:rPr lang="zh-CN" altLang="en-US" smtClean="0"/>
              <a:t>2025/2/6</a:t>
            </a:fld>
            <a:endParaRPr lang="en-US" dirty="0"/>
          </a:p>
        </p:txBody>
      </p:sp>
      <p:sp>
        <p:nvSpPr>
          <p:cNvPr id="4" name="灯片编号占位符 3">
            <a:extLst>
              <a:ext uri="{FF2B5EF4-FFF2-40B4-BE49-F238E27FC236}">
                <a16:creationId xmlns:a16="http://schemas.microsoft.com/office/drawing/2014/main" id="{1C7C441F-6073-3A07-4F0E-A7EBEDF4272A}"/>
              </a:ext>
            </a:extLst>
          </p:cNvPr>
          <p:cNvSpPr>
            <a:spLocks noGrp="1"/>
          </p:cNvSpPr>
          <p:nvPr>
            <p:ph type="sldNum" sz="quarter" idx="12"/>
          </p:nvPr>
        </p:nvSpPr>
        <p:spPr/>
        <p:txBody>
          <a:bodyPr/>
          <a:lstStyle/>
          <a:p>
            <a:fld id="{9CD8D479-8942-46E8-A226-A4E01F7A105C}" type="slidenum">
              <a:rPr lang="en-US" altLang="zh-CN" smtClean="0"/>
              <a:pPr/>
              <a:t>3</a:t>
            </a:fld>
            <a:endParaRPr lang="zh-CN" altLang="en-US" dirty="0"/>
          </a:p>
        </p:txBody>
      </p:sp>
      <p:sp>
        <p:nvSpPr>
          <p:cNvPr id="6" name="页脚占位符 5">
            <a:extLst>
              <a:ext uri="{FF2B5EF4-FFF2-40B4-BE49-F238E27FC236}">
                <a16:creationId xmlns:a16="http://schemas.microsoft.com/office/drawing/2014/main" id="{35ECE5E4-6B9E-3AE7-98FF-20DAD5D851C8}"/>
              </a:ext>
            </a:extLst>
          </p:cNvPr>
          <p:cNvSpPr>
            <a:spLocks noGrp="1"/>
          </p:cNvSpPr>
          <p:nvPr>
            <p:ph type="ftr" sz="quarter" idx="11"/>
          </p:nvPr>
        </p:nvSpPr>
        <p:spPr/>
        <p:txBody>
          <a:bodyPr/>
          <a:lstStyle/>
          <a:p>
            <a:r>
              <a:rPr lang="zh-CN" altLang="en-US"/>
              <a:t>重庆大学大数据与软件学院</a:t>
            </a:r>
            <a:endParaRPr lang="zh-CN" altLang="en-US" dirty="0"/>
          </a:p>
        </p:txBody>
      </p:sp>
      <p:sp>
        <p:nvSpPr>
          <p:cNvPr id="7" name="Rectangle 7">
            <a:extLst>
              <a:ext uri="{FF2B5EF4-FFF2-40B4-BE49-F238E27FC236}">
                <a16:creationId xmlns:a16="http://schemas.microsoft.com/office/drawing/2014/main" id="{94843A1C-2538-3FE9-B8FF-D7EDC45BA483}"/>
              </a:ext>
            </a:extLst>
          </p:cNvPr>
          <p:cNvSpPr txBox="1">
            <a:spLocks noChangeArrowheads="1"/>
          </p:cNvSpPr>
          <p:nvPr/>
        </p:nvSpPr>
        <p:spPr>
          <a:xfrm>
            <a:off x="1458491" y="1748118"/>
            <a:ext cx="6688045" cy="3751749"/>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indent="-342900">
              <a:buFont typeface="Arial" panose="020B0604020202020204" pitchFamily="34" charset="0"/>
              <a:buChar char="•"/>
            </a:pPr>
            <a:r>
              <a:rPr lang="zh-CN" altLang="en-US" dirty="0">
                <a:solidFill>
                  <a:srgbClr val="000000"/>
                </a:solidFill>
                <a:latin typeface="微软雅黑" panose="020B0503020204020204" pitchFamily="34" charset="-122"/>
                <a:sym typeface="微软雅黑" panose="020B0503020204020204" pitchFamily="34" charset="-122"/>
              </a:rPr>
              <a:t>瀑布模型</a:t>
            </a:r>
            <a:r>
              <a:rPr lang="zh-CN" altLang="en-US" sz="1900" dirty="0">
                <a:solidFill>
                  <a:srgbClr val="000000"/>
                </a:solidFill>
                <a:latin typeface="微软雅黑" panose="020B0503020204020204" pitchFamily="34" charset="-122"/>
                <a:sym typeface="微软雅黑" panose="020B0503020204020204" pitchFamily="34" charset="-122"/>
              </a:rPr>
              <a:t>（</a:t>
            </a:r>
            <a:r>
              <a:rPr lang="en-US" altLang="zh-CN" sz="1900" dirty="0">
                <a:solidFill>
                  <a:srgbClr val="000000"/>
                </a:solidFill>
                <a:latin typeface="微软雅黑" panose="020B0503020204020204" pitchFamily="34" charset="-122"/>
                <a:sym typeface="微软雅黑" panose="020B0503020204020204" pitchFamily="34" charset="-122"/>
              </a:rPr>
              <a:t>Waterfall Model</a:t>
            </a:r>
            <a:r>
              <a:rPr lang="zh-CN" altLang="en-US" sz="1900" dirty="0">
                <a:solidFill>
                  <a:srgbClr val="000000"/>
                </a:solidFill>
                <a:latin typeface="微软雅黑" panose="020B0503020204020204" pitchFamily="34" charset="-122"/>
                <a:sym typeface="微软雅黑" panose="020B0503020204020204" pitchFamily="34" charset="-122"/>
              </a:rPr>
              <a:t>）</a:t>
            </a:r>
            <a:endParaRPr lang="en-US" altLang="zh-CN" sz="1900" dirty="0">
              <a:solidFill>
                <a:srgbClr val="000000"/>
              </a:solidFill>
              <a:latin typeface="微软雅黑" panose="020B0503020204020204" pitchFamily="34" charset="-122"/>
              <a:sym typeface="微软雅黑" panose="020B0503020204020204" pitchFamily="34" charset="-122"/>
            </a:endParaRPr>
          </a:p>
          <a:p>
            <a:pPr marL="342900" indent="-342900">
              <a:buFont typeface="Arial" panose="020B0604020202020204" pitchFamily="34" charset="0"/>
              <a:buChar char="•"/>
            </a:pPr>
            <a:r>
              <a:rPr lang="zh-CN" altLang="en-US" dirty="0">
                <a:solidFill>
                  <a:srgbClr val="000000"/>
                </a:solidFill>
                <a:latin typeface="微软雅黑" panose="020B0503020204020204" pitchFamily="34" charset="-122"/>
                <a:sym typeface="微软雅黑" panose="020B0503020204020204" pitchFamily="34" charset="-122"/>
              </a:rPr>
              <a:t>快速原型模型（</a:t>
            </a:r>
            <a:r>
              <a:rPr lang="en-US" altLang="zh-CN" dirty="0">
                <a:solidFill>
                  <a:srgbClr val="000000"/>
                </a:solidFill>
                <a:latin typeface="微软雅黑" panose="020B0503020204020204" pitchFamily="34" charset="-122"/>
                <a:sym typeface="微软雅黑" panose="020B0503020204020204" pitchFamily="34" charset="-122"/>
              </a:rPr>
              <a:t>Rapid Prototype Model</a:t>
            </a:r>
            <a:r>
              <a:rPr lang="zh-CN" altLang="en-US" dirty="0">
                <a:solidFill>
                  <a:srgbClr val="000000"/>
                </a:solidFill>
                <a:latin typeface="微软雅黑" panose="020B0503020204020204" pitchFamily="34" charset="-122"/>
                <a:sym typeface="微软雅黑" panose="020B0503020204020204" pitchFamily="34" charset="-122"/>
              </a:rPr>
              <a:t>）</a:t>
            </a:r>
            <a:endParaRPr lang="en-US" altLang="zh-CN" dirty="0">
              <a:solidFill>
                <a:srgbClr val="000000"/>
              </a:solidFill>
              <a:latin typeface="微软雅黑" panose="020B0503020204020204" pitchFamily="34" charset="-122"/>
              <a:sym typeface="微软雅黑" panose="020B0503020204020204" pitchFamily="34" charset="-122"/>
            </a:endParaRPr>
          </a:p>
          <a:p>
            <a:pPr marL="342900" indent="-342900">
              <a:buFont typeface="Arial" panose="020B0604020202020204" pitchFamily="34" charset="0"/>
              <a:buChar char="•"/>
            </a:pPr>
            <a:r>
              <a:rPr lang="zh-CN" altLang="en-US" dirty="0">
                <a:solidFill>
                  <a:srgbClr val="000000"/>
                </a:solidFill>
                <a:latin typeface="微软雅黑" panose="020B0503020204020204" pitchFamily="34" charset="-122"/>
                <a:sym typeface="微软雅黑" panose="020B0503020204020204" pitchFamily="34" charset="-122"/>
              </a:rPr>
              <a:t>增量模型（</a:t>
            </a:r>
            <a:r>
              <a:rPr lang="en-US" altLang="zh-CN" dirty="0">
                <a:solidFill>
                  <a:srgbClr val="000000"/>
                </a:solidFill>
                <a:latin typeface="微软雅黑" panose="020B0503020204020204" pitchFamily="34" charset="-122"/>
                <a:sym typeface="微软雅黑" panose="020B0503020204020204" pitchFamily="34" charset="-122"/>
              </a:rPr>
              <a:t>Incremental Model</a:t>
            </a:r>
            <a:r>
              <a:rPr lang="zh-CN" altLang="en-US" dirty="0">
                <a:solidFill>
                  <a:srgbClr val="000000"/>
                </a:solidFill>
                <a:latin typeface="微软雅黑" panose="020B0503020204020204" pitchFamily="34" charset="-122"/>
                <a:sym typeface="微软雅黑" panose="020B0503020204020204" pitchFamily="34" charset="-122"/>
              </a:rPr>
              <a:t>）</a:t>
            </a:r>
            <a:endParaRPr lang="en-US" altLang="zh-CN" dirty="0">
              <a:solidFill>
                <a:srgbClr val="000000"/>
              </a:solidFill>
              <a:latin typeface="微软雅黑" panose="020B0503020204020204" pitchFamily="34" charset="-122"/>
              <a:sym typeface="微软雅黑" panose="020B0503020204020204" pitchFamily="34" charset="-122"/>
            </a:endParaRPr>
          </a:p>
          <a:p>
            <a:pPr marL="342900" indent="-342900">
              <a:buFont typeface="Arial" panose="020B0604020202020204" pitchFamily="34" charset="0"/>
              <a:buChar char="•"/>
            </a:pPr>
            <a:r>
              <a:rPr lang="zh-CN" altLang="en-US" dirty="0">
                <a:solidFill>
                  <a:srgbClr val="000000"/>
                </a:solidFill>
                <a:latin typeface="微软雅黑" panose="020B0503020204020204" pitchFamily="34" charset="-122"/>
                <a:sym typeface="微软雅黑" panose="020B0503020204020204" pitchFamily="34" charset="-122"/>
              </a:rPr>
              <a:t>螺旋模型（</a:t>
            </a:r>
            <a:r>
              <a:rPr lang="en-US" altLang="zh-CN" dirty="0">
                <a:solidFill>
                  <a:srgbClr val="000000"/>
                </a:solidFill>
                <a:latin typeface="微软雅黑" panose="020B0503020204020204" pitchFamily="34" charset="-122"/>
                <a:sym typeface="微软雅黑" panose="020B0503020204020204" pitchFamily="34" charset="-122"/>
              </a:rPr>
              <a:t>Spiral Model</a:t>
            </a:r>
            <a:r>
              <a:rPr lang="zh-CN" altLang="en-US" dirty="0">
                <a:solidFill>
                  <a:srgbClr val="000000"/>
                </a:solidFill>
                <a:latin typeface="微软雅黑" panose="020B0503020204020204" pitchFamily="34" charset="-122"/>
                <a:sym typeface="微软雅黑" panose="020B0503020204020204" pitchFamily="34" charset="-122"/>
              </a:rPr>
              <a:t>）</a:t>
            </a:r>
            <a:endParaRPr lang="en-US" altLang="zh-CN" dirty="0">
              <a:solidFill>
                <a:srgbClr val="000000"/>
              </a:solidFill>
              <a:latin typeface="微软雅黑" panose="020B0503020204020204" pitchFamily="34" charset="-122"/>
              <a:sym typeface="微软雅黑" panose="020B0503020204020204" pitchFamily="34" charset="-122"/>
            </a:endParaRPr>
          </a:p>
          <a:p>
            <a:pPr marL="342900" indent="-342900">
              <a:buFont typeface="Arial" panose="020B0604020202020204" pitchFamily="34" charset="0"/>
              <a:buChar char="•"/>
            </a:pPr>
            <a:r>
              <a:rPr lang="zh-CN" altLang="en-US" dirty="0">
                <a:solidFill>
                  <a:srgbClr val="000000"/>
                </a:solidFill>
                <a:latin typeface="微软雅黑" panose="020B0503020204020204" pitchFamily="34" charset="-122"/>
                <a:sym typeface="微软雅黑" panose="020B0503020204020204" pitchFamily="34" charset="-122"/>
              </a:rPr>
              <a:t>喷泉模型（</a:t>
            </a:r>
            <a:r>
              <a:rPr lang="en-US" altLang="zh-CN" dirty="0">
                <a:solidFill>
                  <a:srgbClr val="000000"/>
                </a:solidFill>
                <a:latin typeface="微软雅黑" panose="020B0503020204020204" pitchFamily="34" charset="-122"/>
                <a:sym typeface="微软雅黑" panose="020B0503020204020204" pitchFamily="34" charset="-122"/>
              </a:rPr>
              <a:t>fountain model</a:t>
            </a:r>
            <a:r>
              <a:rPr lang="zh-CN" altLang="en-US" dirty="0">
                <a:solidFill>
                  <a:srgbClr val="000000"/>
                </a:solidFill>
                <a:latin typeface="微软雅黑" panose="020B0503020204020204" pitchFamily="34" charset="-122"/>
                <a:sym typeface="微软雅黑" panose="020B0503020204020204" pitchFamily="34" charset="-122"/>
              </a:rPr>
              <a:t>）</a:t>
            </a:r>
            <a:endParaRPr lang="en-US" altLang="zh-CN" dirty="0">
              <a:solidFill>
                <a:srgbClr val="000000"/>
              </a:solidFill>
              <a:latin typeface="微软雅黑" panose="020B0503020204020204" pitchFamily="34" charset="-122"/>
              <a:sym typeface="微软雅黑" panose="020B0503020204020204" pitchFamily="34" charset="-122"/>
            </a:endParaRPr>
          </a:p>
          <a:p>
            <a:pPr marL="342900" indent="-342900">
              <a:buFont typeface="Arial" panose="020B0604020202020204" pitchFamily="34" charset="0"/>
              <a:buChar char="•"/>
            </a:pPr>
            <a:r>
              <a:rPr lang="en-US" altLang="zh-CN" dirty="0">
                <a:solidFill>
                  <a:srgbClr val="000000"/>
                </a:solidFill>
                <a:latin typeface="微软雅黑" panose="020B0503020204020204" pitchFamily="34" charset="-122"/>
                <a:sym typeface="微软雅黑" panose="020B0503020204020204" pitchFamily="34" charset="-122"/>
              </a:rPr>
              <a:t>……</a:t>
            </a:r>
          </a:p>
          <a:p>
            <a:pPr marL="342900" indent="-342900">
              <a:buFont typeface="Arial" panose="020B0604020202020204" pitchFamily="34" charset="0"/>
              <a:buChar char="•"/>
            </a:pPr>
            <a:endParaRPr lang="zh-CN" altLang="en-US" dirty="0">
              <a:latin typeface="微软雅黑" panose="020B0503020204020204" pitchFamily="34" charset="-122"/>
              <a:sym typeface="微软雅黑" panose="020B0503020204020204" pitchFamily="34" charset="-122"/>
            </a:endParaRPr>
          </a:p>
          <a:p>
            <a:pPr marL="342900" indent="-342900">
              <a:buFont typeface="Arial" panose="020B0604020202020204" pitchFamily="34" charset="0"/>
              <a:buChar char="•"/>
            </a:pPr>
            <a:endParaRPr lang="zh-CN" altLang="en-US" dirty="0"/>
          </a:p>
          <a:p>
            <a:pPr marL="849313" indent="-849313"/>
            <a:endParaRPr lang="zh-CN" altLang="en-US" dirty="0">
              <a:sym typeface="微软雅黑" panose="020B0503020204020204" pitchFamily="34" charset="-122"/>
            </a:endParaRPr>
          </a:p>
        </p:txBody>
      </p:sp>
      <p:sp>
        <p:nvSpPr>
          <p:cNvPr id="9" name="Rectangle 2">
            <a:extLst>
              <a:ext uri="{FF2B5EF4-FFF2-40B4-BE49-F238E27FC236}">
                <a16:creationId xmlns:a16="http://schemas.microsoft.com/office/drawing/2014/main" id="{E20BC0B7-0487-3449-D275-D12E38B13946}"/>
              </a:ext>
            </a:extLst>
          </p:cNvPr>
          <p:cNvSpPr>
            <a:spLocks noGrp="1" noChangeArrowheads="1"/>
          </p:cNvSpPr>
          <p:nvPr>
            <p:ph type="title"/>
          </p:nvPr>
        </p:nvSpPr>
        <p:spPr>
          <a:xfrm>
            <a:off x="683314" y="348911"/>
            <a:ext cx="7785026" cy="646845"/>
          </a:xfrm>
        </p:spPr>
        <p:txBody>
          <a:bodyPr>
            <a:normAutofit/>
          </a:bodyPr>
          <a:lstStyle/>
          <a:p>
            <a:r>
              <a:rPr lang="zh-CN" altLang="en-US" sz="2800" dirty="0">
                <a:solidFill>
                  <a:srgbClr val="4E8F00"/>
                </a:solidFill>
              </a:rPr>
              <a:t>典型的软件开发模型</a:t>
            </a:r>
          </a:p>
        </p:txBody>
      </p:sp>
      <p:sp>
        <p:nvSpPr>
          <p:cNvPr id="10" name="矩形 9">
            <a:extLst>
              <a:ext uri="{FF2B5EF4-FFF2-40B4-BE49-F238E27FC236}">
                <a16:creationId xmlns:a16="http://schemas.microsoft.com/office/drawing/2014/main" id="{EE025D24-AA36-14C2-DBF0-CECDF7077EE7}"/>
              </a:ext>
            </a:extLst>
          </p:cNvPr>
          <p:cNvSpPr/>
          <p:nvPr/>
        </p:nvSpPr>
        <p:spPr>
          <a:xfrm>
            <a:off x="457200" y="6036434"/>
            <a:ext cx="8247860" cy="369332"/>
          </a:xfrm>
          <a:prstGeom prst="rect">
            <a:avLst/>
          </a:prstGeom>
          <a:solidFill>
            <a:schemeClr val="accent6">
              <a:lumMod val="60000"/>
              <a:lumOff val="40000"/>
            </a:schemeClr>
          </a:solidFill>
        </p:spPr>
        <p:txBody>
          <a:bodyPr wrap="square">
            <a:spAutoFit/>
          </a:bodyPr>
          <a:lstStyle/>
          <a:p>
            <a:pPr marL="0" lvl="1">
              <a:spcBef>
                <a:spcPts val="600"/>
              </a:spcBef>
            </a:pPr>
            <a:r>
              <a:rPr lang="en-US" altLang="zh-CN" dirty="0">
                <a:solidFill>
                  <a:srgbClr val="000000"/>
                </a:solidFill>
                <a:latin typeface="Microsoft YaHei" panose="020B0503020204020204" pitchFamily="34" charset="-122"/>
                <a:ea typeface="Microsoft YaHei" panose="020B0503020204020204" pitchFamily="34" charset="-122"/>
                <a:sym typeface="微软雅黑" panose="020B0503020204020204" pitchFamily="34" charset="-122"/>
              </a:rPr>
              <a:t>SLC</a:t>
            </a:r>
            <a:r>
              <a:rPr lang="zh-CN" altLang="en-US" dirty="0">
                <a:solidFill>
                  <a:srgbClr val="000000"/>
                </a:solidFill>
                <a:latin typeface="Microsoft YaHei" panose="020B0503020204020204" pitchFamily="34" charset="-122"/>
                <a:ea typeface="Microsoft YaHei" panose="020B0503020204020204" pitchFamily="34" charset="-122"/>
                <a:sym typeface="微软雅黑" panose="020B0503020204020204" pitchFamily="34" charset="-122"/>
              </a:rPr>
              <a:t>：软件计划 ▻ 需求分析 ▻ 软件设计 ▻ 编码 ▻ 测试 ▻ 维护与运行  ▻退役</a:t>
            </a:r>
            <a:endParaRPr lang="en-US" altLang="zh-CN" sz="2200" dirty="0">
              <a:solidFill>
                <a:srgbClr val="000000"/>
              </a:solidFill>
              <a:latin typeface="Microsoft YaHei" panose="020B0503020204020204" pitchFamily="34" charset="-122"/>
              <a:ea typeface="Microsoft YaHei"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82729228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fade">
                                      <p:cBhvr>
                                        <p:cTn id="13" dur="1000"/>
                                        <p:tgtEl>
                                          <p:spTgt spid="7">
                                            <p:txEl>
                                              <p:pRg st="1" end="1"/>
                                            </p:txEl>
                                          </p:spTgt>
                                        </p:tgtEl>
                                      </p:cBhvr>
                                    </p:animEffect>
                                    <p:anim calcmode="lin" valueType="num">
                                      <p:cBhvr>
                                        <p:cTn id="14"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1000"/>
                                        <p:tgtEl>
                                          <p:spTgt spid="7">
                                            <p:txEl>
                                              <p:pRg st="2" end="2"/>
                                            </p:txEl>
                                          </p:spTgt>
                                        </p:tgtEl>
                                      </p:cBhvr>
                                    </p:animEffect>
                                    <p:anim calcmode="lin" valueType="num">
                                      <p:cBhvr>
                                        <p:cTn id="2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Effect transition="in" filter="fade">
                                      <p:cBhvr>
                                        <p:cTn id="25" dur="1000"/>
                                        <p:tgtEl>
                                          <p:spTgt spid="7">
                                            <p:txEl>
                                              <p:pRg st="3" end="3"/>
                                            </p:txEl>
                                          </p:spTgt>
                                        </p:tgtEl>
                                      </p:cBhvr>
                                    </p:animEffect>
                                    <p:anim calcmode="lin" valueType="num">
                                      <p:cBhvr>
                                        <p:cTn id="2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nodeType="after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Effect transition="in" filter="fade">
                                      <p:cBhvr>
                                        <p:cTn id="31" dur="1000"/>
                                        <p:tgtEl>
                                          <p:spTgt spid="7">
                                            <p:txEl>
                                              <p:pRg st="4" end="4"/>
                                            </p:txEl>
                                          </p:spTgt>
                                        </p:tgtEl>
                                      </p:cBhvr>
                                    </p:animEffect>
                                    <p:anim calcmode="lin" valueType="num">
                                      <p:cBhvr>
                                        <p:cTn id="3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nodeType="after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Effect transition="in" filter="fade">
                                      <p:cBhvr>
                                        <p:cTn id="37" dur="1000"/>
                                        <p:tgtEl>
                                          <p:spTgt spid="7">
                                            <p:txEl>
                                              <p:pRg st="5" end="5"/>
                                            </p:txEl>
                                          </p:spTgt>
                                        </p:tgtEl>
                                      </p:cBhvr>
                                    </p:animEffect>
                                    <p:anim calcmode="lin" valueType="num">
                                      <p:cBhvr>
                                        <p:cTn id="38"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2" presetClass="entr" presetSubtype="4" fill="hold" grpId="0" nodeType="after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zh-CN" altLang="en-US" sz="2800" dirty="0">
                <a:solidFill>
                  <a:srgbClr val="4E8F00"/>
                </a:solidFill>
              </a:rPr>
              <a:t>建模误区</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a:t>
            </a:fld>
            <a:endParaRPr lang="zh-CN" altLang="en-US"/>
          </a:p>
        </p:txBody>
      </p:sp>
      <p:sp>
        <p:nvSpPr>
          <p:cNvPr id="11" name="Rectangle 3">
            <a:extLst>
              <a:ext uri="{FF2B5EF4-FFF2-40B4-BE49-F238E27FC236}">
                <a16:creationId xmlns:a16="http://schemas.microsoft.com/office/drawing/2014/main" id="{3CA6F544-5F85-E644-A40A-30274229A4E4}"/>
              </a:ext>
            </a:extLst>
          </p:cNvPr>
          <p:cNvSpPr txBox="1">
            <a:spLocks noChangeArrowheads="1"/>
          </p:cNvSpPr>
          <p:nvPr/>
        </p:nvSpPr>
        <p:spPr>
          <a:xfrm>
            <a:off x="1360950" y="1703162"/>
            <a:ext cx="6858194" cy="4607831"/>
          </a:xfrm>
          <a:prstGeom prst="rect">
            <a:avLst/>
          </a:prstGeom>
          <a:ln>
            <a:noFill/>
          </a:ln>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lgn="just" defTabSz="801688" fontAlgn="base">
              <a:spcBef>
                <a:spcPct val="0"/>
              </a:spcBef>
              <a:spcAft>
                <a:spcPct val="0"/>
              </a:spcAft>
              <a:buClr>
                <a:schemeClr val="bg2">
                  <a:lumMod val="50000"/>
                </a:schemeClr>
              </a:buClr>
              <a:buSzPct val="100000"/>
            </a:pPr>
            <a:r>
              <a:rPr lang="zh-CN" altLang="en-US" sz="2000" dirty="0"/>
              <a:t>误区一：建模就等于是写文档</a:t>
            </a:r>
            <a:endParaRPr lang="en-US" altLang="zh-CN" sz="2000" dirty="0"/>
          </a:p>
          <a:p>
            <a:pPr algn="just" defTabSz="801688" fontAlgn="base">
              <a:spcBef>
                <a:spcPct val="0"/>
              </a:spcBef>
              <a:spcAft>
                <a:spcPct val="0"/>
              </a:spcAft>
              <a:buClr>
                <a:schemeClr val="bg2">
                  <a:lumMod val="50000"/>
                </a:schemeClr>
              </a:buClr>
              <a:buSzPct val="100000"/>
            </a:pPr>
            <a:r>
              <a:rPr lang="zh-CN" altLang="en-US" sz="2000" dirty="0"/>
              <a:t>误区二：从开始阶段你可以考虑到所有的一切</a:t>
            </a:r>
            <a:endParaRPr lang="en-US" altLang="zh-CN" sz="2000" dirty="0"/>
          </a:p>
          <a:p>
            <a:pPr algn="just" defTabSz="801688" fontAlgn="base">
              <a:spcBef>
                <a:spcPct val="0"/>
              </a:spcBef>
              <a:spcAft>
                <a:spcPct val="0"/>
              </a:spcAft>
              <a:buClr>
                <a:schemeClr val="bg2">
                  <a:lumMod val="50000"/>
                </a:schemeClr>
              </a:buClr>
              <a:buSzPct val="100000"/>
            </a:pPr>
            <a:r>
              <a:rPr lang="zh-CN" altLang="en-US" sz="2000" dirty="0"/>
              <a:t>误区三：建模意味着需要一个重量级的软件开发过程</a:t>
            </a:r>
            <a:endParaRPr lang="en-US" altLang="zh-CN" sz="2000" dirty="0"/>
          </a:p>
          <a:p>
            <a:pPr algn="just" defTabSz="801688" fontAlgn="base">
              <a:spcBef>
                <a:spcPct val="0"/>
              </a:spcBef>
              <a:spcAft>
                <a:spcPct val="0"/>
              </a:spcAft>
              <a:buClr>
                <a:schemeClr val="bg2">
                  <a:lumMod val="50000"/>
                </a:schemeClr>
              </a:buClr>
              <a:buSzPct val="100000"/>
            </a:pPr>
            <a:r>
              <a:rPr lang="zh-CN" altLang="en-US" sz="2000" dirty="0"/>
              <a:t>误区四：必须“冻结”需求</a:t>
            </a:r>
            <a:endParaRPr lang="en-US" altLang="zh-CN" sz="2000" dirty="0"/>
          </a:p>
          <a:p>
            <a:pPr algn="just" defTabSz="801688" fontAlgn="base">
              <a:spcBef>
                <a:spcPct val="0"/>
              </a:spcBef>
              <a:spcAft>
                <a:spcPct val="0"/>
              </a:spcAft>
              <a:buClr>
                <a:schemeClr val="bg2">
                  <a:lumMod val="50000"/>
                </a:schemeClr>
              </a:buClr>
              <a:buSzPct val="100000"/>
            </a:pPr>
            <a:r>
              <a:rPr lang="zh-CN" altLang="en-US" sz="2000" dirty="0"/>
              <a:t>误区五：设计是不可更改的</a:t>
            </a:r>
            <a:endParaRPr lang="en-US" altLang="zh-CN" sz="2000" dirty="0"/>
          </a:p>
          <a:p>
            <a:pPr algn="just" defTabSz="801688" fontAlgn="base">
              <a:spcBef>
                <a:spcPct val="0"/>
              </a:spcBef>
              <a:spcAft>
                <a:spcPct val="0"/>
              </a:spcAft>
              <a:buClr>
                <a:schemeClr val="bg2">
                  <a:lumMod val="50000"/>
                </a:schemeClr>
              </a:buClr>
              <a:buSzPct val="100000"/>
            </a:pPr>
            <a:r>
              <a:rPr lang="zh-CN" altLang="en-US" sz="2000" dirty="0"/>
              <a:t>误区六：必须使用</a:t>
            </a:r>
            <a:r>
              <a:rPr lang="en-US" altLang="zh-CN" sz="2000" dirty="0"/>
              <a:t>CASE</a:t>
            </a:r>
            <a:r>
              <a:rPr lang="zh-CN" altLang="en-US" sz="2000" dirty="0"/>
              <a:t>工具</a:t>
            </a:r>
            <a:endParaRPr lang="en-US" altLang="zh-CN" sz="2000" dirty="0"/>
          </a:p>
          <a:p>
            <a:pPr algn="just" defTabSz="801688" fontAlgn="base">
              <a:spcBef>
                <a:spcPct val="0"/>
              </a:spcBef>
              <a:spcAft>
                <a:spcPct val="0"/>
              </a:spcAft>
              <a:buClr>
                <a:schemeClr val="bg2">
                  <a:lumMod val="50000"/>
                </a:schemeClr>
              </a:buClr>
              <a:buSzPct val="100000"/>
            </a:pPr>
            <a:r>
              <a:rPr lang="zh-CN" altLang="en-US" sz="2000" dirty="0"/>
              <a:t>误区七：建模是在浪费时间</a:t>
            </a:r>
            <a:endParaRPr lang="en-US" altLang="zh-CN" sz="2000" dirty="0"/>
          </a:p>
          <a:p>
            <a:pPr algn="just" defTabSz="801688" fontAlgn="base">
              <a:spcBef>
                <a:spcPct val="0"/>
              </a:spcBef>
              <a:spcAft>
                <a:spcPct val="0"/>
              </a:spcAft>
              <a:buClr>
                <a:schemeClr val="bg2">
                  <a:lumMod val="50000"/>
                </a:schemeClr>
              </a:buClr>
              <a:buSzPct val="100000"/>
            </a:pPr>
            <a:r>
              <a:rPr lang="zh-CN" altLang="en-US" sz="2000" dirty="0"/>
              <a:t>误区八：数据模型（</a:t>
            </a:r>
            <a:r>
              <a:rPr lang="en-US" altLang="zh-CN" sz="2000" dirty="0"/>
              <a:t>Data Model</a:t>
            </a:r>
            <a:r>
              <a:rPr lang="zh-CN" altLang="en-US" sz="2000" dirty="0"/>
              <a:t>）就是一切</a:t>
            </a:r>
            <a:endParaRPr lang="en-US" altLang="zh-CN" sz="2000" dirty="0"/>
          </a:p>
          <a:p>
            <a:pPr algn="just" defTabSz="801688" fontAlgn="base">
              <a:spcBef>
                <a:spcPct val="0"/>
              </a:spcBef>
              <a:spcAft>
                <a:spcPct val="0"/>
              </a:spcAft>
              <a:buClr>
                <a:schemeClr val="bg2">
                  <a:lumMod val="50000"/>
                </a:schemeClr>
              </a:buClr>
              <a:buSzPct val="100000"/>
            </a:pPr>
            <a:r>
              <a:rPr lang="zh-CN" altLang="en-US" sz="2000" dirty="0"/>
              <a:t>误区九：所有的开发人员都知道如何建模</a:t>
            </a:r>
            <a:endParaRPr lang="en-US" altLang="zh-CN" sz="2000" dirty="0"/>
          </a:p>
          <a:p>
            <a:pPr marL="342900" lvl="0" indent="-342900" defTabSz="801688" fontAlgn="base">
              <a:spcBef>
                <a:spcPct val="0"/>
              </a:spcBef>
              <a:spcAft>
                <a:spcPct val="0"/>
              </a:spcAft>
              <a:buClr>
                <a:schemeClr val="bg2">
                  <a:lumMod val="50000"/>
                </a:schemeClr>
              </a:buClr>
              <a:buSzPct val="100000"/>
              <a:buFont typeface="+mj-ea"/>
              <a:buAutoNum type="circleNumDbPlain"/>
            </a:pPr>
            <a:endParaRPr lang="zh-CN" altLang="en-US" sz="1400" b="1" dirty="0">
              <a:solidFill>
                <a:schemeClr val="tx2"/>
              </a:solidFill>
              <a:latin typeface="华文细黑" panose="02010600040101010101" pitchFamily="2" charset="-122"/>
              <a:ea typeface="华文细黑" panose="02010600040101010101" pitchFamily="2" charset="-122"/>
            </a:endParaRPr>
          </a:p>
          <a:p>
            <a:pPr>
              <a:buFont typeface="Wingdings" pitchFamily="2" charset="2"/>
              <a:buNone/>
            </a:pPr>
            <a:endParaRPr lang="zh-CN" altLang="en-US" sz="1400" dirty="0">
              <a:solidFill>
                <a:schemeClr val="tx2"/>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09118962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0" name="Group 5">
            <a:extLst>
              <a:ext uri="{FF2B5EF4-FFF2-40B4-BE49-F238E27FC236}">
                <a16:creationId xmlns:a16="http://schemas.microsoft.com/office/drawing/2014/main" id="{94154A7F-A48B-2749-83BF-836BFA7007BB}"/>
              </a:ext>
            </a:extLst>
          </p:cNvPr>
          <p:cNvGrpSpPr>
            <a:grpSpLocks/>
          </p:cNvGrpSpPr>
          <p:nvPr/>
        </p:nvGrpSpPr>
        <p:grpSpPr bwMode="auto">
          <a:xfrm rot="-1431635">
            <a:off x="851507" y="1053784"/>
            <a:ext cx="8402637" cy="4398962"/>
            <a:chOff x="2703" y="1350"/>
            <a:chExt cx="398" cy="595"/>
          </a:xfrm>
        </p:grpSpPr>
        <p:sp>
          <p:nvSpPr>
            <p:cNvPr id="31" name="AutoShape 6">
              <a:extLst>
                <a:ext uri="{FF2B5EF4-FFF2-40B4-BE49-F238E27FC236}">
                  <a16:creationId xmlns:a16="http://schemas.microsoft.com/office/drawing/2014/main" id="{174C2EBD-6EFC-EF4A-A1B6-6636CE4EC12C}"/>
                </a:ext>
              </a:extLst>
            </p:cNvPr>
            <p:cNvSpPr>
              <a:spLocks noChangeArrowheads="1"/>
            </p:cNvSpPr>
            <p:nvPr/>
          </p:nvSpPr>
          <p:spPr bwMode="auto">
            <a:xfrm rot="-5400000">
              <a:off x="2605" y="1448"/>
              <a:ext cx="595" cy="398"/>
            </a:xfrm>
            <a:prstGeom prst="flowChartMerge">
              <a:avLst/>
            </a:prstGeom>
            <a:gradFill rotWithShape="1">
              <a:gsLst>
                <a:gs pos="0">
                  <a:srgbClr val="CCFFFF">
                    <a:alpha val="0"/>
                  </a:srgbClr>
                </a:gs>
                <a:gs pos="100000">
                  <a:srgbClr val="4E616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32" name="AutoShape 7">
              <a:extLst>
                <a:ext uri="{FF2B5EF4-FFF2-40B4-BE49-F238E27FC236}">
                  <a16:creationId xmlns:a16="http://schemas.microsoft.com/office/drawing/2014/main" id="{0FDE484D-1480-1749-9F4A-D57317B4BFB8}"/>
                </a:ext>
              </a:extLst>
            </p:cNvPr>
            <p:cNvSpPr>
              <a:spLocks noChangeArrowheads="1"/>
            </p:cNvSpPr>
            <p:nvPr/>
          </p:nvSpPr>
          <p:spPr bwMode="auto">
            <a:xfrm rot="16200000">
              <a:off x="2879" y="1604"/>
              <a:ext cx="357" cy="87"/>
            </a:xfrm>
            <a:prstGeom prst="flowChartMerge">
              <a:avLst/>
            </a:prstGeom>
            <a:gradFill rotWithShape="1">
              <a:gsLst>
                <a:gs pos="0">
                  <a:schemeClr val="accent2">
                    <a:alpha val="0"/>
                  </a:schemeClr>
                </a:gs>
                <a:gs pos="100000">
                  <a:schemeClr val="accent2">
                    <a:gamma/>
                    <a:shade val="38039"/>
                    <a:invGamma/>
                  </a:schemeClr>
                </a:gs>
              </a:gsLst>
              <a:lin ang="5400000" scaled="1"/>
            </a:gradFill>
            <a:ln w="9525" algn="ctr">
              <a:noFill/>
              <a:miter lim="800000"/>
              <a:headEnd/>
              <a:tailEnd/>
            </a:ln>
            <a:effectLst/>
          </p:spPr>
          <p:txBody>
            <a:bodyPr wrap="none" anchor="ctr"/>
            <a:lstStyle/>
            <a:p>
              <a:pPr>
                <a:lnSpc>
                  <a:spcPct val="140000"/>
                </a:lnSpc>
                <a:buClr>
                  <a:srgbClr val="FFFFFF"/>
                </a:buClr>
                <a:buSzPct val="100000"/>
                <a:buFont typeface="Wingdings" pitchFamily="2" charset="2"/>
                <a:buChar char="•"/>
                <a:defRPr/>
              </a:pPr>
              <a:endParaRPr lang="en-US" altLang="zh-CN">
                <a:solidFill>
                  <a:srgbClr val="000000"/>
                </a:solidFill>
                <a:latin typeface="FrutigerNext LT Regular"/>
                <a:cs typeface="Arial" pitchFamily="34" charset="0"/>
              </a:endParaRPr>
            </a:p>
          </p:txBody>
        </p:sp>
      </p:grpSp>
      <p:sp>
        <p:nvSpPr>
          <p:cNvPr id="4098" name="Rectangle 2"/>
          <p:cNvSpPr>
            <a:spLocks noGrp="1" noChangeArrowheads="1"/>
          </p:cNvSpPr>
          <p:nvPr>
            <p:ph type="title"/>
          </p:nvPr>
        </p:nvSpPr>
        <p:spPr>
          <a:xfrm>
            <a:off x="683314" y="348911"/>
            <a:ext cx="7785026" cy="646845"/>
          </a:xfrm>
        </p:spPr>
        <p:txBody>
          <a:bodyPr>
            <a:normAutofit/>
          </a:bodyPr>
          <a:lstStyle/>
          <a:p>
            <a:r>
              <a:rPr lang="zh-CN" altLang="en-US" sz="2800" dirty="0">
                <a:solidFill>
                  <a:srgbClr val="4E8F00"/>
                </a:solidFill>
                <a:sym typeface="微软雅黑" panose="020B0503020204020204" pitchFamily="34" charset="-122"/>
              </a:rPr>
              <a:t>敏捷开发的起源</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a:t>
            </a:fld>
            <a:endParaRPr lang="zh-CN" altLang="en-US"/>
          </a:p>
        </p:txBody>
      </p:sp>
      <p:grpSp>
        <p:nvGrpSpPr>
          <p:cNvPr id="2" name="组合 1">
            <a:extLst>
              <a:ext uri="{FF2B5EF4-FFF2-40B4-BE49-F238E27FC236}">
                <a16:creationId xmlns:a16="http://schemas.microsoft.com/office/drawing/2014/main" id="{3374AE38-881D-E14A-92E6-7BB63EB7E88C}"/>
              </a:ext>
            </a:extLst>
          </p:cNvPr>
          <p:cNvGrpSpPr/>
          <p:nvPr/>
        </p:nvGrpSpPr>
        <p:grpSpPr>
          <a:xfrm>
            <a:off x="428625" y="1641928"/>
            <a:ext cx="8543926" cy="4732338"/>
            <a:chOff x="428625" y="1641928"/>
            <a:chExt cx="8543926" cy="4732338"/>
          </a:xfrm>
        </p:grpSpPr>
        <p:sp>
          <p:nvSpPr>
            <p:cNvPr id="8" name="Line 8">
              <a:extLst>
                <a:ext uri="{FF2B5EF4-FFF2-40B4-BE49-F238E27FC236}">
                  <a16:creationId xmlns:a16="http://schemas.microsoft.com/office/drawing/2014/main" id="{1F8CEFC5-42DA-9649-9EE3-AB21A11DBF23}"/>
                </a:ext>
              </a:extLst>
            </p:cNvPr>
            <p:cNvSpPr>
              <a:spLocks noChangeShapeType="1"/>
            </p:cNvSpPr>
            <p:nvPr/>
          </p:nvSpPr>
          <p:spPr bwMode="auto">
            <a:xfrm flipV="1">
              <a:off x="433389" y="5966277"/>
              <a:ext cx="8539162" cy="0"/>
            </a:xfrm>
            <a:prstGeom prst="line">
              <a:avLst/>
            </a:prstGeom>
            <a:noFill/>
            <a:ln w="25400">
              <a:solidFill>
                <a:schemeClr val="tx1"/>
              </a:solidFill>
              <a:round/>
              <a:headEnd/>
              <a:tailEnd type="stealth" w="med" len="med"/>
            </a:ln>
          </p:spPr>
          <p:txBody>
            <a:bodyPr lIns="73025" tIns="36512" rIns="73025" bIns="36512"/>
            <a:lstStyle/>
            <a:p>
              <a:pPr>
                <a:lnSpc>
                  <a:spcPct val="140000"/>
                </a:lnSpc>
                <a:buClr>
                  <a:srgbClr val="FFFFFF"/>
                </a:buClr>
                <a:buSzPct val="100000"/>
                <a:buFont typeface="Wingdings" pitchFamily="2" charset="2"/>
                <a:buChar char="•"/>
                <a:defRPr/>
              </a:pPr>
              <a:endParaRPr lang="zh-CN" altLang="en-US">
                <a:solidFill>
                  <a:srgbClr val="000000"/>
                </a:solidFill>
                <a:latin typeface="FrutigerNext LT Regular" pitchFamily="34" charset="0"/>
                <a:ea typeface="+mn-ea"/>
              </a:endParaRPr>
            </a:p>
          </p:txBody>
        </p:sp>
        <p:sp>
          <p:nvSpPr>
            <p:cNvPr id="11" name="Text Box 9">
              <a:extLst>
                <a:ext uri="{FF2B5EF4-FFF2-40B4-BE49-F238E27FC236}">
                  <a16:creationId xmlns:a16="http://schemas.microsoft.com/office/drawing/2014/main" id="{40EA35AB-C651-F44D-BF34-36574517B95E}"/>
                </a:ext>
              </a:extLst>
            </p:cNvPr>
            <p:cNvSpPr txBox="1">
              <a:spLocks noChangeArrowheads="1"/>
            </p:cNvSpPr>
            <p:nvPr/>
          </p:nvSpPr>
          <p:spPr bwMode="auto">
            <a:xfrm>
              <a:off x="1130300" y="6063116"/>
              <a:ext cx="1460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000000"/>
                  </a:solidFill>
                  <a:latin typeface="FrutigerNext LT Regular"/>
                  <a:ea typeface="华文细黑" panose="02010600040101010101" pitchFamily="2" charset="-122"/>
                </a:rPr>
                <a:t>上个世纪</a:t>
              </a:r>
              <a:r>
                <a:rPr lang="en-US" altLang="zh-CN" b="1">
                  <a:solidFill>
                    <a:srgbClr val="000000"/>
                  </a:solidFill>
                  <a:latin typeface="FrutigerNext LT Regular"/>
                  <a:ea typeface="华文细黑" panose="02010600040101010101" pitchFamily="2" charset="-122"/>
                </a:rPr>
                <a:t>90</a:t>
              </a:r>
              <a:r>
                <a:rPr lang="zh-CN" altLang="en-US" b="1">
                  <a:solidFill>
                    <a:srgbClr val="000000"/>
                  </a:solidFill>
                  <a:latin typeface="FrutigerNext LT Regular"/>
                  <a:ea typeface="华文细黑" panose="02010600040101010101" pitchFamily="2" charset="-122"/>
                </a:rPr>
                <a:t>年代</a:t>
              </a:r>
              <a:endParaRPr lang="en-US" altLang="zh-CN" b="1">
                <a:solidFill>
                  <a:srgbClr val="000000"/>
                </a:solidFill>
                <a:latin typeface="FrutigerNext LT Regular"/>
                <a:ea typeface="华文细黑" panose="02010600040101010101" pitchFamily="2" charset="-122"/>
              </a:endParaRPr>
            </a:p>
          </p:txBody>
        </p:sp>
        <p:sp>
          <p:nvSpPr>
            <p:cNvPr id="15" name="Text Box 10">
              <a:extLst>
                <a:ext uri="{FF2B5EF4-FFF2-40B4-BE49-F238E27FC236}">
                  <a16:creationId xmlns:a16="http://schemas.microsoft.com/office/drawing/2014/main" id="{D8E003EE-3101-BD46-A367-69B68DCF8E2A}"/>
                </a:ext>
              </a:extLst>
            </p:cNvPr>
            <p:cNvSpPr txBox="1">
              <a:spLocks noChangeArrowheads="1"/>
            </p:cNvSpPr>
            <p:nvPr/>
          </p:nvSpPr>
          <p:spPr bwMode="auto">
            <a:xfrm>
              <a:off x="4421188" y="6036128"/>
              <a:ext cx="8477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r>
                <a:rPr lang="en-US" altLang="zh-CN" sz="1600" b="1">
                  <a:solidFill>
                    <a:srgbClr val="000000"/>
                  </a:solidFill>
                </a:rPr>
                <a:t>2001</a:t>
              </a:r>
              <a:r>
                <a:rPr lang="zh-CN" altLang="en-US" sz="1600" b="1">
                  <a:solidFill>
                    <a:srgbClr val="000000"/>
                  </a:solidFill>
                </a:rPr>
                <a:t>年</a:t>
              </a:r>
            </a:p>
          </p:txBody>
        </p:sp>
        <p:sp>
          <p:nvSpPr>
            <p:cNvPr id="16" name="Text Box 11">
              <a:extLst>
                <a:ext uri="{FF2B5EF4-FFF2-40B4-BE49-F238E27FC236}">
                  <a16:creationId xmlns:a16="http://schemas.microsoft.com/office/drawing/2014/main" id="{F3CDBF9A-2C20-394B-AF4C-CC50F09027F8}"/>
                </a:ext>
              </a:extLst>
            </p:cNvPr>
            <p:cNvSpPr txBox="1">
              <a:spLocks noChangeArrowheads="1"/>
            </p:cNvSpPr>
            <p:nvPr/>
          </p:nvSpPr>
          <p:spPr bwMode="auto">
            <a:xfrm>
              <a:off x="7229475" y="6036128"/>
              <a:ext cx="12604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r>
                <a:rPr lang="en-US" altLang="zh-CN" sz="1600" b="1">
                  <a:solidFill>
                    <a:srgbClr val="000000"/>
                  </a:solidFill>
                </a:rPr>
                <a:t>2004</a:t>
              </a:r>
              <a:r>
                <a:rPr lang="zh-CN" altLang="en-US" sz="1600" b="1">
                  <a:solidFill>
                    <a:srgbClr val="000000"/>
                  </a:solidFill>
                </a:rPr>
                <a:t>年以后</a:t>
              </a:r>
            </a:p>
          </p:txBody>
        </p:sp>
        <p:sp>
          <p:nvSpPr>
            <p:cNvPr id="17" name="Rectangle 13">
              <a:extLst>
                <a:ext uri="{FF2B5EF4-FFF2-40B4-BE49-F238E27FC236}">
                  <a16:creationId xmlns:a16="http://schemas.microsoft.com/office/drawing/2014/main" id="{3A24BD1D-2718-7D47-A393-EFE0FA7ED9E8}"/>
                </a:ext>
              </a:extLst>
            </p:cNvPr>
            <p:cNvSpPr>
              <a:spLocks noChangeArrowheads="1"/>
            </p:cNvSpPr>
            <p:nvPr/>
          </p:nvSpPr>
          <p:spPr bwMode="auto">
            <a:xfrm>
              <a:off x="3314700" y="2364241"/>
              <a:ext cx="2573338" cy="2730268"/>
            </a:xfrm>
            <a:prstGeom prst="rect">
              <a:avLst/>
            </a:prstGeom>
            <a:solidFill>
              <a:srgbClr val="CCECFF">
                <a:alpha val="50000"/>
              </a:srgbClr>
            </a:solidFill>
            <a:ln w="9525" algn="ctr">
              <a:noFill/>
              <a:miter lim="800000"/>
              <a:headEnd/>
              <a:tailEnd/>
            </a:ln>
            <a:effectLst>
              <a:outerShdw dist="107763" dir="18900000" algn="ctr" rotWithShape="0">
                <a:srgbClr val="808080">
                  <a:alpha val="50000"/>
                </a:srgbClr>
              </a:outerShdw>
            </a:effectLst>
          </p:spPr>
          <p:txBody>
            <a:bodyPr wrap="none" anchor="ctr"/>
            <a:lstStyle/>
            <a:p>
              <a:pPr>
                <a:defRPr/>
              </a:pPr>
              <a:endParaRPr lang="zh-CN" altLang="en-US" sz="1800">
                <a:solidFill>
                  <a:srgbClr val="000000"/>
                </a:solidFill>
                <a:latin typeface="Arial" charset="0"/>
              </a:endParaRPr>
            </a:p>
            <a:p>
              <a:pPr>
                <a:defRPr/>
              </a:pPr>
              <a:endParaRPr lang="zh-CN" altLang="en-US" sz="1800">
                <a:solidFill>
                  <a:srgbClr val="000000"/>
                </a:solidFill>
                <a:latin typeface="Arial" charset="0"/>
              </a:endParaRPr>
            </a:p>
          </p:txBody>
        </p:sp>
        <p:sp>
          <p:nvSpPr>
            <p:cNvPr id="18" name="Line 35">
              <a:extLst>
                <a:ext uri="{FF2B5EF4-FFF2-40B4-BE49-F238E27FC236}">
                  <a16:creationId xmlns:a16="http://schemas.microsoft.com/office/drawing/2014/main" id="{E54F12B1-3D3C-BA47-838E-E6646F92F8F2}"/>
                </a:ext>
              </a:extLst>
            </p:cNvPr>
            <p:cNvSpPr>
              <a:spLocks noChangeShapeType="1"/>
            </p:cNvSpPr>
            <p:nvPr/>
          </p:nvSpPr>
          <p:spPr bwMode="auto">
            <a:xfrm flipV="1">
              <a:off x="428625" y="1641928"/>
              <a:ext cx="20638" cy="4322763"/>
            </a:xfrm>
            <a:prstGeom prst="line">
              <a:avLst/>
            </a:prstGeom>
            <a:noFill/>
            <a:ln w="25400">
              <a:solidFill>
                <a:schemeClr val="tx1"/>
              </a:solidFill>
              <a:round/>
              <a:headEnd/>
              <a:tailEnd type="stealth" w="med" len="med"/>
            </a:ln>
          </p:spPr>
          <p:txBody>
            <a:bodyPr lIns="73025" tIns="36512" rIns="73025" bIns="36512"/>
            <a:lstStyle/>
            <a:p>
              <a:pPr>
                <a:lnSpc>
                  <a:spcPct val="140000"/>
                </a:lnSpc>
                <a:buClr>
                  <a:srgbClr val="FFFFFF"/>
                </a:buClr>
                <a:buSzPct val="100000"/>
                <a:buFont typeface="Wingdings" pitchFamily="2" charset="2"/>
                <a:buChar char="•"/>
                <a:defRPr/>
              </a:pPr>
              <a:endParaRPr lang="zh-CN" altLang="en-US">
                <a:solidFill>
                  <a:srgbClr val="000000"/>
                </a:solidFill>
                <a:latin typeface="FrutigerNext LT Regular" pitchFamily="34" charset="0"/>
                <a:ea typeface="+mn-ea"/>
              </a:endParaRPr>
            </a:p>
          </p:txBody>
        </p:sp>
        <p:sp>
          <p:nvSpPr>
            <p:cNvPr id="19" name="Rectangle 36">
              <a:extLst>
                <a:ext uri="{FF2B5EF4-FFF2-40B4-BE49-F238E27FC236}">
                  <a16:creationId xmlns:a16="http://schemas.microsoft.com/office/drawing/2014/main" id="{34E775A9-C256-2C45-A5DB-62172AB1EB2D}"/>
                </a:ext>
              </a:extLst>
            </p:cNvPr>
            <p:cNvSpPr>
              <a:spLocks noChangeArrowheads="1"/>
            </p:cNvSpPr>
            <p:nvPr/>
          </p:nvSpPr>
          <p:spPr bwMode="auto">
            <a:xfrm>
              <a:off x="661988" y="3248864"/>
              <a:ext cx="2341562" cy="2460848"/>
            </a:xfrm>
            <a:prstGeom prst="rect">
              <a:avLst/>
            </a:prstGeom>
            <a:solidFill>
              <a:schemeClr val="accent1">
                <a:alpha val="50000"/>
              </a:schemeClr>
            </a:solidFill>
            <a:ln w="9525" algn="ctr">
              <a:noFill/>
              <a:miter lim="800000"/>
              <a:headEnd/>
              <a:tailEnd/>
            </a:ln>
            <a:effectLst>
              <a:outerShdw dist="107763" dir="18900000" algn="ctr" rotWithShape="0">
                <a:srgbClr val="808080">
                  <a:alpha val="50000"/>
                </a:srgbClr>
              </a:outerShdw>
            </a:effectLst>
          </p:spPr>
          <p:txBody>
            <a:bodyPr wrap="none" anchor="ctr"/>
            <a:lstStyle/>
            <a:p>
              <a:pPr>
                <a:defRPr/>
              </a:pPr>
              <a:endParaRPr lang="zh-CN" altLang="en-US" sz="1800">
                <a:solidFill>
                  <a:srgbClr val="000000"/>
                </a:solidFill>
                <a:latin typeface="Arial" charset="0"/>
              </a:endParaRPr>
            </a:p>
            <a:p>
              <a:pPr>
                <a:defRPr/>
              </a:pPr>
              <a:endParaRPr lang="zh-CN" altLang="en-US" sz="1800" b="1">
                <a:solidFill>
                  <a:srgbClr val="000000"/>
                </a:solidFill>
                <a:latin typeface="Arial" charset="0"/>
              </a:endParaRPr>
            </a:p>
          </p:txBody>
        </p:sp>
        <p:sp>
          <p:nvSpPr>
            <p:cNvPr id="20" name="Rectangle 37">
              <a:extLst>
                <a:ext uri="{FF2B5EF4-FFF2-40B4-BE49-F238E27FC236}">
                  <a16:creationId xmlns:a16="http://schemas.microsoft.com/office/drawing/2014/main" id="{6AC7C86F-C786-074C-8446-57D979F20FCE}"/>
                </a:ext>
              </a:extLst>
            </p:cNvPr>
            <p:cNvSpPr>
              <a:spLocks noChangeArrowheads="1"/>
            </p:cNvSpPr>
            <p:nvPr/>
          </p:nvSpPr>
          <p:spPr bwMode="auto">
            <a:xfrm>
              <a:off x="905945" y="3330865"/>
              <a:ext cx="2339975" cy="345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40000"/>
                </a:spcBef>
                <a:buFont typeface="Wingdings" pitchFamily="2" charset="2"/>
                <a:buNone/>
              </a:pPr>
              <a:r>
                <a:rPr lang="zh-CN" altLang="en-US" sz="1600" dirty="0">
                  <a:solidFill>
                    <a:srgbClr val="000000"/>
                  </a:solidFill>
                  <a:latin typeface="FrutigerNext LT Regular"/>
                </a:rPr>
                <a:t>萌芽</a:t>
              </a:r>
              <a:r>
                <a:rPr lang="en-US" altLang="zh-CN" sz="1600" dirty="0">
                  <a:solidFill>
                    <a:srgbClr val="000000"/>
                  </a:solidFill>
                  <a:latin typeface="FrutigerNext LT Regular"/>
                </a:rPr>
                <a:t>—</a:t>
              </a:r>
              <a:r>
                <a:rPr lang="zh-CN" altLang="en-US" sz="1600" dirty="0">
                  <a:solidFill>
                    <a:srgbClr val="000000"/>
                  </a:solidFill>
                  <a:latin typeface="FrutigerNext LT Regular"/>
                </a:rPr>
                <a:t>产生敏捷方法</a:t>
              </a:r>
              <a:endParaRPr lang="en-US" altLang="zh-CN" sz="1600" dirty="0">
                <a:solidFill>
                  <a:srgbClr val="FF0000"/>
                </a:solidFill>
              </a:endParaRPr>
            </a:p>
          </p:txBody>
        </p:sp>
        <p:sp>
          <p:nvSpPr>
            <p:cNvPr id="21" name="Rectangle 59">
              <a:extLst>
                <a:ext uri="{FF2B5EF4-FFF2-40B4-BE49-F238E27FC236}">
                  <a16:creationId xmlns:a16="http://schemas.microsoft.com/office/drawing/2014/main" id="{BD9A6B04-C421-3649-A3B1-366B2D9C6AA6}"/>
                </a:ext>
              </a:extLst>
            </p:cNvPr>
            <p:cNvSpPr>
              <a:spLocks noChangeArrowheads="1"/>
            </p:cNvSpPr>
            <p:nvPr/>
          </p:nvSpPr>
          <p:spPr bwMode="auto">
            <a:xfrm>
              <a:off x="6202363" y="1787978"/>
              <a:ext cx="2339975" cy="1667259"/>
            </a:xfrm>
            <a:prstGeom prst="rect">
              <a:avLst/>
            </a:prstGeom>
            <a:solidFill>
              <a:srgbClr val="79EBF7">
                <a:alpha val="50000"/>
              </a:srgbClr>
            </a:solidFill>
            <a:ln w="9525" algn="ctr">
              <a:noFill/>
              <a:miter lim="800000"/>
              <a:headEnd/>
              <a:tailEnd/>
            </a:ln>
            <a:effectLst>
              <a:outerShdw dist="107763" dir="18900000" algn="ctr" rotWithShape="0">
                <a:srgbClr val="808080">
                  <a:alpha val="50000"/>
                </a:srgbClr>
              </a:outerShdw>
            </a:effectLst>
          </p:spPr>
          <p:txBody>
            <a:bodyPr wrap="none" anchor="ctr"/>
            <a:lstStyle/>
            <a:p>
              <a:pPr>
                <a:defRPr/>
              </a:pPr>
              <a:endParaRPr lang="zh-CN" altLang="en-US" sz="1800">
                <a:solidFill>
                  <a:srgbClr val="000000"/>
                </a:solidFill>
                <a:latin typeface="Arial" charset="0"/>
              </a:endParaRPr>
            </a:p>
            <a:p>
              <a:pPr>
                <a:defRPr/>
              </a:pPr>
              <a:endParaRPr lang="zh-CN" altLang="en-US" sz="1800">
                <a:solidFill>
                  <a:srgbClr val="000000"/>
                </a:solidFill>
                <a:latin typeface="Arial" charset="0"/>
              </a:endParaRPr>
            </a:p>
          </p:txBody>
        </p:sp>
        <p:pic>
          <p:nvPicPr>
            <p:cNvPr id="22" name="Picture 71" descr="dian">
              <a:extLst>
                <a:ext uri="{FF2B5EF4-FFF2-40B4-BE49-F238E27FC236}">
                  <a16:creationId xmlns:a16="http://schemas.microsoft.com/office/drawing/2014/main" id="{908CAF68-6ED9-C842-89D1-87731F06B4B9}"/>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470275" y="2476953"/>
              <a:ext cx="157163"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72" descr="dian2">
              <a:extLst>
                <a:ext uri="{FF2B5EF4-FFF2-40B4-BE49-F238E27FC236}">
                  <a16:creationId xmlns:a16="http://schemas.microsoft.com/office/drawing/2014/main" id="{CC589F2F-C96B-444B-90C6-83398741D4F3}"/>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278563" y="1973716"/>
              <a:ext cx="15716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73" descr="dian3">
              <a:extLst>
                <a:ext uri="{FF2B5EF4-FFF2-40B4-BE49-F238E27FC236}">
                  <a16:creationId xmlns:a16="http://schemas.microsoft.com/office/drawing/2014/main" id="{1094C2A5-58F5-C847-A9E2-E5B03E507307}"/>
                </a:ext>
              </a:extLst>
            </p:cNvPr>
            <p:cNvPicPr>
              <a:picLocks noChangeAspect="1" noChangeArrowheads="1"/>
            </p:cNvPicPr>
            <p:nvPr/>
          </p:nvPicPr>
          <p:blipFill>
            <a:blip r:embed="rId4">
              <a:clrChange>
                <a:clrFrom>
                  <a:srgbClr val="FDFFFF"/>
                </a:clrFrom>
                <a:clrTo>
                  <a:srgbClr val="FDFFFF">
                    <a:alpha val="0"/>
                  </a:srgbClr>
                </a:clrTo>
              </a:clrChange>
              <a:extLst>
                <a:ext uri="{28A0092B-C50C-407E-A947-70E740481C1C}">
                  <a14:useLocalDpi xmlns:a14="http://schemas.microsoft.com/office/drawing/2010/main" val="0"/>
                </a:ext>
              </a:extLst>
            </a:blip>
            <a:srcRect/>
            <a:stretch>
              <a:fillRect/>
            </a:stretch>
          </p:blipFill>
          <p:spPr bwMode="auto">
            <a:xfrm>
              <a:off x="715445" y="3423499"/>
              <a:ext cx="168275" cy="16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 Box 74">
              <a:extLst>
                <a:ext uri="{FF2B5EF4-FFF2-40B4-BE49-F238E27FC236}">
                  <a16:creationId xmlns:a16="http://schemas.microsoft.com/office/drawing/2014/main" id="{29B4E587-D606-8C4A-BF18-6572EDF1DBAC}"/>
                </a:ext>
              </a:extLst>
            </p:cNvPr>
            <p:cNvSpPr txBox="1">
              <a:spLocks noChangeArrowheads="1"/>
            </p:cNvSpPr>
            <p:nvPr/>
          </p:nvSpPr>
          <p:spPr bwMode="auto">
            <a:xfrm>
              <a:off x="898525" y="3696146"/>
              <a:ext cx="2027238" cy="1872757"/>
            </a:xfrm>
            <a:prstGeom prst="rect">
              <a:avLst/>
            </a:prstGeom>
            <a:noFill/>
            <a:ln w="12700" algn="ctr">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50000"/>
                </a:spcBef>
                <a:buClr>
                  <a:srgbClr val="FFFFFF"/>
                </a:buClr>
                <a:buSzPct val="100000"/>
                <a:buFont typeface="Wingdings" pitchFamily="2" charset="2"/>
                <a:buNone/>
              </a:pPr>
              <a:r>
                <a:rPr lang="zh-CN" altLang="en-US" b="1" dirty="0">
                  <a:solidFill>
                    <a:srgbClr val="000000"/>
                  </a:solidFill>
                  <a:latin typeface="FrutigerNext LT Regular"/>
                  <a:ea typeface="华文细黑" panose="02010600040101010101" pitchFamily="2" charset="-122"/>
                </a:rPr>
                <a:t>敏捷方法是从上个世纪</a:t>
              </a:r>
              <a:r>
                <a:rPr lang="en-US" altLang="zh-CN" b="1" dirty="0">
                  <a:solidFill>
                    <a:srgbClr val="000000"/>
                  </a:solidFill>
                  <a:latin typeface="FrutigerNext LT Regular"/>
                  <a:ea typeface="华文细黑" panose="02010600040101010101" pitchFamily="2" charset="-122"/>
                </a:rPr>
                <a:t>90</a:t>
              </a:r>
              <a:r>
                <a:rPr lang="zh-CN" altLang="en-US" b="1" dirty="0">
                  <a:solidFill>
                    <a:srgbClr val="000000"/>
                  </a:solidFill>
                  <a:latin typeface="FrutigerNext LT Regular"/>
                  <a:ea typeface="华文细黑" panose="02010600040101010101" pitchFamily="2" charset="-122"/>
                </a:rPr>
                <a:t>年代开始发展起来的一组方法学的总称，包括极限编程等等。这些方法学之间有一些差异，但是差异不是特别大</a:t>
              </a:r>
            </a:p>
          </p:txBody>
        </p:sp>
        <p:sp>
          <p:nvSpPr>
            <p:cNvPr id="26" name="Rectangle 75">
              <a:extLst>
                <a:ext uri="{FF2B5EF4-FFF2-40B4-BE49-F238E27FC236}">
                  <a16:creationId xmlns:a16="http://schemas.microsoft.com/office/drawing/2014/main" id="{5D68B9DC-19D8-AE40-81DC-4FCE9C9A34CF}"/>
                </a:ext>
              </a:extLst>
            </p:cNvPr>
            <p:cNvSpPr>
              <a:spLocks noChangeArrowheads="1"/>
            </p:cNvSpPr>
            <p:nvPr/>
          </p:nvSpPr>
          <p:spPr bwMode="auto">
            <a:xfrm>
              <a:off x="3611563" y="2340428"/>
              <a:ext cx="2338387"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40000"/>
                </a:spcBef>
                <a:buFont typeface="Wingdings" pitchFamily="2" charset="2"/>
                <a:buNone/>
              </a:pPr>
              <a:r>
                <a:rPr lang="zh-CN" altLang="en-US" sz="1600" dirty="0">
                  <a:solidFill>
                    <a:srgbClr val="000000"/>
                  </a:solidFill>
                  <a:latin typeface="FrutigerNext LT Regular"/>
                </a:rPr>
                <a:t>正规</a:t>
              </a:r>
              <a:r>
                <a:rPr lang="en-US" altLang="zh-CN" sz="1600" dirty="0">
                  <a:solidFill>
                    <a:srgbClr val="000000"/>
                  </a:solidFill>
                  <a:latin typeface="FrutigerNext LT Regular"/>
                </a:rPr>
                <a:t>—</a:t>
              </a:r>
              <a:r>
                <a:rPr lang="zh-CN" altLang="en-US" sz="1600" dirty="0">
                  <a:solidFill>
                    <a:srgbClr val="000000"/>
                  </a:solidFill>
                  <a:latin typeface="FrutigerNext LT Regular"/>
                </a:rPr>
                <a:t>成立敏捷联盟</a:t>
              </a:r>
              <a:endParaRPr lang="zh-CN" altLang="en-US" sz="1600" dirty="0">
                <a:solidFill>
                  <a:srgbClr val="FF0000"/>
                </a:solidFill>
              </a:endParaRPr>
            </a:p>
          </p:txBody>
        </p:sp>
        <p:sp>
          <p:nvSpPr>
            <p:cNvPr id="27" name="Text Box 76">
              <a:extLst>
                <a:ext uri="{FF2B5EF4-FFF2-40B4-BE49-F238E27FC236}">
                  <a16:creationId xmlns:a16="http://schemas.microsoft.com/office/drawing/2014/main" id="{1D0DC952-ACD9-1645-B45E-50DEF7DB942A}"/>
                </a:ext>
              </a:extLst>
            </p:cNvPr>
            <p:cNvSpPr txBox="1">
              <a:spLocks noChangeArrowheads="1"/>
            </p:cNvSpPr>
            <p:nvPr/>
          </p:nvSpPr>
          <p:spPr bwMode="auto">
            <a:xfrm>
              <a:off x="3719188" y="2677496"/>
              <a:ext cx="1935488" cy="2174378"/>
            </a:xfrm>
            <a:prstGeom prst="rect">
              <a:avLst/>
            </a:prstGeom>
            <a:noFill/>
            <a:ln w="12700" algn="ctr">
              <a:solidFill>
                <a:srgbClr val="33CCCC"/>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50000"/>
                </a:spcBef>
                <a:buClr>
                  <a:srgbClr val="FFFFFF"/>
                </a:buClr>
                <a:buSzPct val="100000"/>
                <a:buFont typeface="Wingdings" pitchFamily="2" charset="2"/>
                <a:buNone/>
              </a:pPr>
              <a:r>
                <a:rPr lang="zh-CN" altLang="en-US" b="1" dirty="0">
                  <a:solidFill>
                    <a:srgbClr val="000000"/>
                  </a:solidFill>
                  <a:latin typeface="FrutigerNext LT Regular"/>
                  <a:ea typeface="华文细黑" panose="02010600040101010101" pitchFamily="2" charset="-122"/>
                </a:rPr>
                <a:t>每种方法学的领导人共同起草了敏捷软件开发宣言，总结出方法之间的共同点，最终就是</a:t>
              </a:r>
              <a:r>
                <a:rPr lang="zh-CN" altLang="en-US" b="1" dirty="0">
                  <a:solidFill>
                    <a:srgbClr val="000000"/>
                  </a:solidFill>
                  <a:highlight>
                    <a:srgbClr val="FFFF00"/>
                  </a:highlight>
                  <a:latin typeface="FrutigerNext LT Regular"/>
                  <a:ea typeface="华文细黑" panose="02010600040101010101" pitchFamily="2" charset="-122"/>
                </a:rPr>
                <a:t>价值</a:t>
              </a:r>
              <a:r>
                <a:rPr lang="zh-CN" altLang="en-US" b="1" dirty="0">
                  <a:solidFill>
                    <a:srgbClr val="000000"/>
                  </a:solidFill>
                  <a:latin typeface="FrutigerNext LT Regular"/>
                  <a:ea typeface="华文细黑" panose="02010600040101010101" pitchFamily="2" charset="-122"/>
                </a:rPr>
                <a:t>，并且用</a:t>
              </a:r>
              <a:r>
                <a:rPr lang="zh-CN" altLang="en-US" b="1" dirty="0">
                  <a:solidFill>
                    <a:srgbClr val="000000"/>
                  </a:solidFill>
                  <a:highlight>
                    <a:srgbClr val="FFFF00"/>
                  </a:highlight>
                  <a:latin typeface="FrutigerNext LT Regular"/>
                  <a:ea typeface="华文细黑" panose="02010600040101010101" pitchFamily="2" charset="-122"/>
                </a:rPr>
                <a:t>敏捷</a:t>
              </a:r>
              <a:r>
                <a:rPr lang="zh-CN" altLang="en-US" b="1" dirty="0">
                  <a:solidFill>
                    <a:srgbClr val="000000"/>
                  </a:solidFill>
                  <a:latin typeface="FrutigerNext LT Regular"/>
                  <a:ea typeface="华文细黑" panose="02010600040101010101" pitchFamily="2" charset="-122"/>
                </a:rPr>
                <a:t>这个词给这种方法学一个统称</a:t>
              </a:r>
            </a:p>
          </p:txBody>
        </p:sp>
        <p:sp>
          <p:nvSpPr>
            <p:cNvPr id="28" name="Rectangle 77">
              <a:extLst>
                <a:ext uri="{FF2B5EF4-FFF2-40B4-BE49-F238E27FC236}">
                  <a16:creationId xmlns:a16="http://schemas.microsoft.com/office/drawing/2014/main" id="{7D1D471D-519E-354E-B143-9363902AA861}"/>
                </a:ext>
              </a:extLst>
            </p:cNvPr>
            <p:cNvSpPr>
              <a:spLocks noChangeArrowheads="1"/>
            </p:cNvSpPr>
            <p:nvPr/>
          </p:nvSpPr>
          <p:spPr bwMode="auto">
            <a:xfrm>
              <a:off x="6437313" y="1829253"/>
              <a:ext cx="2338387"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40000"/>
                </a:spcBef>
                <a:buFont typeface="Wingdings" pitchFamily="2" charset="2"/>
                <a:buNone/>
              </a:pPr>
              <a:r>
                <a:rPr lang="zh-CN" altLang="en-US" sz="1600">
                  <a:solidFill>
                    <a:srgbClr val="000000"/>
                  </a:solidFill>
                  <a:latin typeface="FrutigerNext LT Regular"/>
                </a:rPr>
                <a:t>发展</a:t>
              </a:r>
              <a:r>
                <a:rPr lang="en-US" altLang="zh-CN" sz="1600">
                  <a:solidFill>
                    <a:srgbClr val="000000"/>
                  </a:solidFill>
                  <a:latin typeface="FrutigerNext LT Regular"/>
                </a:rPr>
                <a:t>—</a:t>
              </a:r>
              <a:r>
                <a:rPr lang="zh-CN" altLang="en-US" sz="1600">
                  <a:solidFill>
                    <a:srgbClr val="000000"/>
                  </a:solidFill>
                  <a:latin typeface="FrutigerNext LT Regular"/>
                </a:rPr>
                <a:t>开始广为流行</a:t>
              </a:r>
              <a:endParaRPr lang="zh-CN" altLang="en-US" sz="1600">
                <a:solidFill>
                  <a:srgbClr val="FF0000"/>
                </a:solidFill>
              </a:endParaRPr>
            </a:p>
          </p:txBody>
        </p:sp>
        <p:sp>
          <p:nvSpPr>
            <p:cNvPr id="29" name="Text Box 78">
              <a:extLst>
                <a:ext uri="{FF2B5EF4-FFF2-40B4-BE49-F238E27FC236}">
                  <a16:creationId xmlns:a16="http://schemas.microsoft.com/office/drawing/2014/main" id="{B6099533-1EBB-204E-9682-C4C491E49EF2}"/>
                </a:ext>
              </a:extLst>
            </p:cNvPr>
            <p:cNvSpPr txBox="1">
              <a:spLocks noChangeArrowheads="1"/>
            </p:cNvSpPr>
            <p:nvPr/>
          </p:nvSpPr>
          <p:spPr bwMode="auto">
            <a:xfrm>
              <a:off x="6435725" y="2181678"/>
              <a:ext cx="2027238" cy="1000125"/>
            </a:xfrm>
            <a:prstGeom prst="rect">
              <a:avLst/>
            </a:prstGeom>
            <a:noFill/>
            <a:ln w="12700" algn="ctr">
              <a:solidFill>
                <a:srgbClr val="33CC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50000"/>
                </a:spcBef>
                <a:buClr>
                  <a:srgbClr val="FFFFFF"/>
                </a:buClr>
                <a:buSzPct val="100000"/>
                <a:buFont typeface="Wingdings" pitchFamily="2" charset="2"/>
                <a:buNone/>
              </a:pPr>
              <a:r>
                <a:rPr lang="en-US" altLang="zh-CN" b="1" dirty="0">
                  <a:solidFill>
                    <a:srgbClr val="000000"/>
                  </a:solidFill>
                  <a:latin typeface="FrutigerNext LT Regular"/>
                  <a:ea typeface="华文细黑" panose="02010600040101010101" pitchFamily="2" charset="-122"/>
                </a:rPr>
                <a:t>500</a:t>
              </a:r>
              <a:r>
                <a:rPr lang="zh-CN" altLang="en-US" b="1" dirty="0">
                  <a:solidFill>
                    <a:srgbClr val="000000"/>
                  </a:solidFill>
                  <a:latin typeface="FrutigerNext LT Regular"/>
                  <a:ea typeface="华文细黑" panose="02010600040101010101" pitchFamily="2" charset="-122"/>
                </a:rPr>
                <a:t>强公司中众多公司应用敏捷</a:t>
              </a:r>
              <a:r>
                <a:rPr lang="en-US" altLang="zh-CN" b="1" dirty="0">
                  <a:solidFill>
                    <a:srgbClr val="000000"/>
                  </a:solidFill>
                  <a:latin typeface="FrutigerNext LT Regular"/>
                  <a:ea typeface="华文细黑" panose="02010600040101010101" pitchFamily="2" charset="-122"/>
                </a:rPr>
                <a:t>;</a:t>
              </a:r>
              <a:r>
                <a:rPr lang="zh-CN" altLang="en-US" b="1" dirty="0">
                  <a:solidFill>
                    <a:srgbClr val="000000"/>
                  </a:solidFill>
                  <a:latin typeface="FrutigerNext LT Regular"/>
                  <a:ea typeface="华文细黑" panose="02010600040101010101" pitchFamily="2" charset="-122"/>
                </a:rPr>
                <a:t> 如</a:t>
              </a:r>
              <a:r>
                <a:rPr lang="en-US" altLang="zh-CN" b="1" dirty="0">
                  <a:solidFill>
                    <a:srgbClr val="000000"/>
                  </a:solidFill>
                  <a:latin typeface="FrutigerNext LT Regular"/>
                  <a:ea typeface="华文细黑" panose="02010600040101010101" pitchFamily="2" charset="-122"/>
                </a:rPr>
                <a:t>HP,</a:t>
              </a:r>
              <a:r>
                <a:rPr lang="zh-CN" altLang="en-US" b="1" dirty="0">
                  <a:solidFill>
                    <a:srgbClr val="000000"/>
                  </a:solidFill>
                  <a:latin typeface="FrutigerNext LT Regular"/>
                  <a:ea typeface="华文细黑" panose="02010600040101010101" pitchFamily="2" charset="-122"/>
                </a:rPr>
                <a:t> </a:t>
              </a:r>
              <a:r>
                <a:rPr lang="en-US" altLang="zh-CN" b="1" dirty="0">
                  <a:solidFill>
                    <a:srgbClr val="000000"/>
                  </a:solidFill>
                  <a:latin typeface="FrutigerNext LT Regular"/>
                  <a:ea typeface="华文细黑" panose="02010600040101010101" pitchFamily="2" charset="-122"/>
                </a:rPr>
                <a:t>Microsoft,</a:t>
              </a:r>
              <a:r>
                <a:rPr lang="zh-CN" altLang="en-US" b="1" dirty="0">
                  <a:solidFill>
                    <a:srgbClr val="000000"/>
                  </a:solidFill>
                  <a:latin typeface="FrutigerNext LT Regular"/>
                  <a:ea typeface="华文细黑" panose="02010600040101010101" pitchFamily="2" charset="-122"/>
                </a:rPr>
                <a:t> </a:t>
              </a:r>
              <a:r>
                <a:rPr lang="en-US" altLang="zh-CN" b="1" dirty="0">
                  <a:solidFill>
                    <a:srgbClr val="000000"/>
                  </a:solidFill>
                  <a:latin typeface="FrutigerNext LT Regular"/>
                  <a:ea typeface="华文细黑" panose="02010600040101010101" pitchFamily="2" charset="-122"/>
                </a:rPr>
                <a:t>IBM</a:t>
              </a:r>
              <a:r>
                <a:rPr lang="zh-CN" altLang="en-US" b="1" dirty="0">
                  <a:solidFill>
                    <a:srgbClr val="000000"/>
                  </a:solidFill>
                  <a:latin typeface="FrutigerNext LT Regular"/>
                  <a:ea typeface="华文细黑" panose="02010600040101010101" pitchFamily="2" charset="-122"/>
                </a:rPr>
                <a:t>等</a:t>
              </a:r>
            </a:p>
          </p:txBody>
        </p:sp>
      </p:grpSp>
    </p:spTree>
    <p:extLst>
      <p:ext uri="{BB962C8B-B14F-4D97-AF65-F5344CB8AC3E}">
        <p14:creationId xmlns:p14="http://schemas.microsoft.com/office/powerpoint/2010/main" val="106935210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12" fill="hold" nodeType="after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additive="base">
                                        <p:cTn id="13" dur="500" fill="hold"/>
                                        <p:tgtEl>
                                          <p:spTgt spid="30"/>
                                        </p:tgtEl>
                                        <p:attrNameLst>
                                          <p:attrName>ppt_x</p:attrName>
                                        </p:attrNameLst>
                                      </p:cBhvr>
                                      <p:tavLst>
                                        <p:tav tm="0">
                                          <p:val>
                                            <p:strVal val="0-#ppt_w/2"/>
                                          </p:val>
                                        </p:tav>
                                        <p:tav tm="100000">
                                          <p:val>
                                            <p:strVal val="#ppt_x"/>
                                          </p:val>
                                        </p:tav>
                                      </p:tavLst>
                                    </p:anim>
                                    <p:anim calcmode="lin" valueType="num">
                                      <p:cBhvr additive="base">
                                        <p:cTn id="1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zh-CN" altLang="en-US" sz="2800" dirty="0">
                <a:solidFill>
                  <a:srgbClr val="4E8F00"/>
                </a:solidFill>
                <a:sym typeface="微软雅黑" panose="020B0503020204020204" pitchFamily="34" charset="-122"/>
              </a:rPr>
              <a:t>什么是敏捷开发？</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a:t>
            </a:fld>
            <a:endParaRPr lang="zh-CN" altLang="en-US"/>
          </a:p>
        </p:txBody>
      </p:sp>
      <p:sp>
        <p:nvSpPr>
          <p:cNvPr id="33" name="Rectangle 7">
            <a:extLst>
              <a:ext uri="{FF2B5EF4-FFF2-40B4-BE49-F238E27FC236}">
                <a16:creationId xmlns:a16="http://schemas.microsoft.com/office/drawing/2014/main" id="{39C4CCF3-470D-C548-8832-AD027A6A79A1}"/>
              </a:ext>
            </a:extLst>
          </p:cNvPr>
          <p:cNvSpPr txBox="1">
            <a:spLocks noChangeArrowheads="1"/>
          </p:cNvSpPr>
          <p:nvPr/>
        </p:nvSpPr>
        <p:spPr>
          <a:xfrm>
            <a:off x="1073823" y="1182030"/>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endParaRPr lang="zh-CN" altLang="en-US" sz="2400" dirty="0">
              <a:solidFill>
                <a:srgbClr val="CC6600"/>
              </a:solidFill>
              <a:sym typeface="微软雅黑" panose="020B0503020204020204" pitchFamily="34" charset="-122"/>
            </a:endParaRPr>
          </a:p>
        </p:txBody>
      </p:sp>
      <p:sp>
        <p:nvSpPr>
          <p:cNvPr id="34" name="Rectangle 3">
            <a:extLst>
              <a:ext uri="{FF2B5EF4-FFF2-40B4-BE49-F238E27FC236}">
                <a16:creationId xmlns:a16="http://schemas.microsoft.com/office/drawing/2014/main" id="{DD65F328-4D6F-B64F-A164-62D9B6A6DBA5}"/>
              </a:ext>
            </a:extLst>
          </p:cNvPr>
          <p:cNvSpPr>
            <a:spLocks noGrp="1" noChangeArrowheads="1"/>
          </p:cNvSpPr>
          <p:nvPr>
            <p:ph idx="1"/>
          </p:nvPr>
        </p:nvSpPr>
        <p:spPr>
          <a:xfrm>
            <a:off x="1080323" y="1118050"/>
            <a:ext cx="7388017" cy="2292284"/>
          </a:xfrm>
        </p:spPr>
        <p:txBody>
          <a:bodyPr>
            <a:normAutofit fontScale="77500" lnSpcReduction="20000"/>
          </a:bodyPr>
          <a:lstStyle/>
          <a:p>
            <a:r>
              <a:rPr lang="zh-CN" altLang="en-US" dirty="0">
                <a:solidFill>
                  <a:schemeClr val="tx2"/>
                </a:solidFill>
              </a:rPr>
              <a:t>敏捷开发</a:t>
            </a:r>
            <a:r>
              <a:rPr lang="zh-CN" altLang="zh-CN" dirty="0">
                <a:solidFill>
                  <a:schemeClr val="tx2"/>
                </a:solidFill>
                <a:latin typeface="微软雅黑" panose="020B0503020204020204" pitchFamily="34" charset="-122"/>
              </a:rPr>
              <a:t>（</a:t>
            </a:r>
            <a:r>
              <a:rPr lang="zh-CN" altLang="en-US" dirty="0">
                <a:solidFill>
                  <a:schemeClr val="tx2"/>
                </a:solidFill>
                <a:latin typeface="微软雅黑" panose="020B0503020204020204" pitchFamily="34" charset="-122"/>
              </a:rPr>
              <a:t>A</a:t>
            </a:r>
            <a:r>
              <a:rPr lang="zh-CN" altLang="zh-CN" dirty="0">
                <a:solidFill>
                  <a:schemeClr val="tx2"/>
                </a:solidFill>
                <a:latin typeface="微软雅黑" panose="020B0503020204020204" pitchFamily="34" charset="-122"/>
              </a:rPr>
              <a:t>gile </a:t>
            </a:r>
            <a:r>
              <a:rPr lang="zh-CN" altLang="en-US" dirty="0">
                <a:solidFill>
                  <a:schemeClr val="tx2"/>
                </a:solidFill>
                <a:latin typeface="微软雅黑" panose="020B0503020204020204" pitchFamily="34" charset="-122"/>
              </a:rPr>
              <a:t>D</a:t>
            </a:r>
            <a:r>
              <a:rPr lang="zh-CN" altLang="zh-CN" dirty="0">
                <a:solidFill>
                  <a:schemeClr val="tx2"/>
                </a:solidFill>
                <a:latin typeface="微软雅黑" panose="020B0503020204020204" pitchFamily="34" charset="-122"/>
              </a:rPr>
              <a:t>evelopment）</a:t>
            </a:r>
            <a:r>
              <a:rPr lang="zh-CN" altLang="en-US" dirty="0">
                <a:solidFill>
                  <a:schemeClr val="tx2"/>
                </a:solidFill>
              </a:rPr>
              <a:t>以</a:t>
            </a:r>
            <a:r>
              <a:rPr lang="zh-CN" altLang="en-US" dirty="0">
                <a:solidFill>
                  <a:schemeClr val="tx2"/>
                </a:solidFill>
                <a:highlight>
                  <a:srgbClr val="FFFF00"/>
                </a:highlight>
              </a:rPr>
              <a:t>用户的需求进化</a:t>
            </a:r>
            <a:r>
              <a:rPr lang="zh-CN" altLang="en-US" dirty="0">
                <a:solidFill>
                  <a:schemeClr val="tx2"/>
                </a:solidFill>
              </a:rPr>
              <a:t>为核心，采用</a:t>
            </a:r>
            <a:r>
              <a:rPr lang="zh-CN" altLang="en-US" dirty="0">
                <a:solidFill>
                  <a:schemeClr val="tx2"/>
                </a:solidFill>
                <a:highlight>
                  <a:srgbClr val="FFFF00"/>
                </a:highlight>
              </a:rPr>
              <a:t>迭代、循序渐进</a:t>
            </a:r>
            <a:r>
              <a:rPr lang="zh-CN" altLang="en-US" dirty="0">
                <a:solidFill>
                  <a:schemeClr val="tx2"/>
                </a:solidFill>
              </a:rPr>
              <a:t>的方法进行软件开发。</a:t>
            </a:r>
            <a:endParaRPr lang="en-US" altLang="zh-CN" dirty="0">
              <a:solidFill>
                <a:schemeClr val="tx2"/>
              </a:solidFill>
            </a:endParaRPr>
          </a:p>
          <a:p>
            <a:r>
              <a:rPr lang="zh-CN" altLang="en-US" dirty="0">
                <a:solidFill>
                  <a:schemeClr val="tx2"/>
                </a:solidFill>
              </a:rPr>
              <a:t>在敏捷开发中，软件项目在构建初期被切分成多个子项目，各个子项目的成果都经过测试，具备可视、可集成和可运行使用的特征。换言之，</a:t>
            </a:r>
            <a:r>
              <a:rPr lang="zh-CN" altLang="en-US" dirty="0">
                <a:solidFill>
                  <a:schemeClr val="tx2"/>
                </a:solidFill>
                <a:highlight>
                  <a:srgbClr val="FFFF00"/>
                </a:highlight>
              </a:rPr>
              <a:t>就是把一个大项目分为多个相互联系，但也可独立运行的小项目，并分别完成，在此过程中软件一直处于可使用状态。</a:t>
            </a:r>
            <a:endParaRPr lang="zh-CN" altLang="en-US" sz="1900" dirty="0">
              <a:solidFill>
                <a:schemeClr val="tx2"/>
              </a:solidFill>
              <a:highlight>
                <a:srgbClr val="FFFF00"/>
              </a:highlight>
              <a:latin typeface="微软雅黑" panose="020B0503020204020204" pitchFamily="34" charset="-122"/>
            </a:endParaRPr>
          </a:p>
        </p:txBody>
      </p:sp>
      <p:grpSp>
        <p:nvGrpSpPr>
          <p:cNvPr id="3" name="组合 2">
            <a:extLst>
              <a:ext uri="{FF2B5EF4-FFF2-40B4-BE49-F238E27FC236}">
                <a16:creationId xmlns:a16="http://schemas.microsoft.com/office/drawing/2014/main" id="{90DBF14E-6FB1-7840-97D0-FEB21C0F16DA}"/>
              </a:ext>
            </a:extLst>
          </p:cNvPr>
          <p:cNvGrpSpPr/>
          <p:nvPr/>
        </p:nvGrpSpPr>
        <p:grpSpPr>
          <a:xfrm>
            <a:off x="1073823" y="3824474"/>
            <a:ext cx="7590597" cy="2409303"/>
            <a:chOff x="1073823" y="3824474"/>
            <a:chExt cx="7590597" cy="2409303"/>
          </a:xfrm>
        </p:grpSpPr>
        <p:grpSp>
          <p:nvGrpSpPr>
            <p:cNvPr id="2" name="组合 1">
              <a:extLst>
                <a:ext uri="{FF2B5EF4-FFF2-40B4-BE49-F238E27FC236}">
                  <a16:creationId xmlns:a16="http://schemas.microsoft.com/office/drawing/2014/main" id="{503B324E-1A24-DF45-A084-0CB7E1F205BF}"/>
                </a:ext>
              </a:extLst>
            </p:cNvPr>
            <p:cNvGrpSpPr/>
            <p:nvPr/>
          </p:nvGrpSpPr>
          <p:grpSpPr>
            <a:xfrm>
              <a:off x="1073823" y="3824474"/>
              <a:ext cx="2634597" cy="2409303"/>
              <a:chOff x="1422853" y="2394350"/>
              <a:chExt cx="4065588" cy="3717925"/>
            </a:xfrm>
          </p:grpSpPr>
          <p:sp>
            <p:nvSpPr>
              <p:cNvPr id="35" name="AutoShape 42">
                <a:extLst>
                  <a:ext uri="{FF2B5EF4-FFF2-40B4-BE49-F238E27FC236}">
                    <a16:creationId xmlns:a16="http://schemas.microsoft.com/office/drawing/2014/main" id="{2CE312E2-BB10-5B4D-BC4E-1E2F049CD050}"/>
                  </a:ext>
                </a:extLst>
              </p:cNvPr>
              <p:cNvSpPr>
                <a:spLocks noChangeArrowheads="1"/>
              </p:cNvSpPr>
              <p:nvPr/>
            </p:nvSpPr>
            <p:spPr bwMode="auto">
              <a:xfrm>
                <a:off x="2305503" y="4464450"/>
                <a:ext cx="914400"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36" name="AutoShape 43">
                <a:extLst>
                  <a:ext uri="{FF2B5EF4-FFF2-40B4-BE49-F238E27FC236}">
                    <a16:creationId xmlns:a16="http://schemas.microsoft.com/office/drawing/2014/main" id="{F9ADE7E3-86E1-A541-A9B1-E9C9F8EC58A3}"/>
                  </a:ext>
                </a:extLst>
              </p:cNvPr>
              <p:cNvSpPr>
                <a:spLocks noChangeArrowheads="1"/>
              </p:cNvSpPr>
              <p:nvPr/>
            </p:nvSpPr>
            <p:spPr bwMode="auto">
              <a:xfrm>
                <a:off x="3061153" y="4464450"/>
                <a:ext cx="915988"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37" name="AutoShape 44">
                <a:extLst>
                  <a:ext uri="{FF2B5EF4-FFF2-40B4-BE49-F238E27FC236}">
                    <a16:creationId xmlns:a16="http://schemas.microsoft.com/office/drawing/2014/main" id="{A2E09A5D-927A-B347-BA10-D6714FCE9F9C}"/>
                  </a:ext>
                </a:extLst>
              </p:cNvPr>
              <p:cNvSpPr>
                <a:spLocks noChangeArrowheads="1"/>
              </p:cNvSpPr>
              <p:nvPr/>
            </p:nvSpPr>
            <p:spPr bwMode="auto">
              <a:xfrm>
                <a:off x="3816803" y="4464450"/>
                <a:ext cx="915988"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38" name="AutoShape 45">
                <a:extLst>
                  <a:ext uri="{FF2B5EF4-FFF2-40B4-BE49-F238E27FC236}">
                    <a16:creationId xmlns:a16="http://schemas.microsoft.com/office/drawing/2014/main" id="{734A03A3-F80F-CB45-AB69-F45F835A6F4C}"/>
                  </a:ext>
                </a:extLst>
              </p:cNvPr>
              <p:cNvSpPr>
                <a:spLocks noChangeArrowheads="1"/>
              </p:cNvSpPr>
              <p:nvPr/>
            </p:nvSpPr>
            <p:spPr bwMode="auto">
              <a:xfrm>
                <a:off x="4574041" y="4464450"/>
                <a:ext cx="914400" cy="844550"/>
              </a:xfrm>
              <a:prstGeom prst="cube">
                <a:avLst>
                  <a:gd name="adj" fmla="val 2500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39" name="AutoShape 46">
                <a:extLst>
                  <a:ext uri="{FF2B5EF4-FFF2-40B4-BE49-F238E27FC236}">
                    <a16:creationId xmlns:a16="http://schemas.microsoft.com/office/drawing/2014/main" id="{2C725188-2647-9541-B0A9-A1EA607029E9}"/>
                  </a:ext>
                </a:extLst>
              </p:cNvPr>
              <p:cNvSpPr>
                <a:spLocks noChangeArrowheads="1"/>
              </p:cNvSpPr>
              <p:nvPr/>
            </p:nvSpPr>
            <p:spPr bwMode="auto">
              <a:xfrm>
                <a:off x="2305503" y="3773888"/>
                <a:ext cx="914400" cy="846137"/>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40" name="AutoShape 47">
                <a:extLst>
                  <a:ext uri="{FF2B5EF4-FFF2-40B4-BE49-F238E27FC236}">
                    <a16:creationId xmlns:a16="http://schemas.microsoft.com/office/drawing/2014/main" id="{DF3BE933-53D1-9E4B-8F61-57AB9EB44E2C}"/>
                  </a:ext>
                </a:extLst>
              </p:cNvPr>
              <p:cNvSpPr>
                <a:spLocks noChangeArrowheads="1"/>
              </p:cNvSpPr>
              <p:nvPr/>
            </p:nvSpPr>
            <p:spPr bwMode="auto">
              <a:xfrm>
                <a:off x="3061153" y="3773888"/>
                <a:ext cx="915988" cy="846137"/>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41" name="AutoShape 48">
                <a:extLst>
                  <a:ext uri="{FF2B5EF4-FFF2-40B4-BE49-F238E27FC236}">
                    <a16:creationId xmlns:a16="http://schemas.microsoft.com/office/drawing/2014/main" id="{91D521CB-351A-6B4D-928B-C6FD2CFC53D8}"/>
                  </a:ext>
                </a:extLst>
              </p:cNvPr>
              <p:cNvSpPr>
                <a:spLocks noChangeArrowheads="1"/>
              </p:cNvSpPr>
              <p:nvPr/>
            </p:nvSpPr>
            <p:spPr bwMode="auto">
              <a:xfrm>
                <a:off x="3816803" y="3773888"/>
                <a:ext cx="915988" cy="846137"/>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42" name="AutoShape 49">
                <a:extLst>
                  <a:ext uri="{FF2B5EF4-FFF2-40B4-BE49-F238E27FC236}">
                    <a16:creationId xmlns:a16="http://schemas.microsoft.com/office/drawing/2014/main" id="{92ADC757-30EE-D14E-8CFC-F1269E30D24E}"/>
                  </a:ext>
                </a:extLst>
              </p:cNvPr>
              <p:cNvSpPr>
                <a:spLocks noChangeArrowheads="1"/>
              </p:cNvSpPr>
              <p:nvPr/>
            </p:nvSpPr>
            <p:spPr bwMode="auto">
              <a:xfrm>
                <a:off x="4574041" y="3773888"/>
                <a:ext cx="914400" cy="846137"/>
              </a:xfrm>
              <a:prstGeom prst="cube">
                <a:avLst>
                  <a:gd name="adj" fmla="val 2500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43" name="AutoShape 50">
                <a:extLst>
                  <a:ext uri="{FF2B5EF4-FFF2-40B4-BE49-F238E27FC236}">
                    <a16:creationId xmlns:a16="http://schemas.microsoft.com/office/drawing/2014/main" id="{75B817D8-AAAB-1341-ACE8-A39DAD3E7A6A}"/>
                  </a:ext>
                </a:extLst>
              </p:cNvPr>
              <p:cNvSpPr>
                <a:spLocks noChangeArrowheads="1"/>
              </p:cNvSpPr>
              <p:nvPr/>
            </p:nvSpPr>
            <p:spPr bwMode="auto">
              <a:xfrm>
                <a:off x="2305503" y="3084913"/>
                <a:ext cx="914400"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44" name="AutoShape 51">
                <a:extLst>
                  <a:ext uri="{FF2B5EF4-FFF2-40B4-BE49-F238E27FC236}">
                    <a16:creationId xmlns:a16="http://schemas.microsoft.com/office/drawing/2014/main" id="{BB879EFE-4DB9-2841-9187-78FE0A68937C}"/>
                  </a:ext>
                </a:extLst>
              </p:cNvPr>
              <p:cNvSpPr>
                <a:spLocks noChangeArrowheads="1"/>
              </p:cNvSpPr>
              <p:nvPr/>
            </p:nvSpPr>
            <p:spPr bwMode="auto">
              <a:xfrm>
                <a:off x="3061153" y="3084913"/>
                <a:ext cx="915988"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45" name="AutoShape 52">
                <a:extLst>
                  <a:ext uri="{FF2B5EF4-FFF2-40B4-BE49-F238E27FC236}">
                    <a16:creationId xmlns:a16="http://schemas.microsoft.com/office/drawing/2014/main" id="{08392983-98EB-C445-B098-464A339A5523}"/>
                  </a:ext>
                </a:extLst>
              </p:cNvPr>
              <p:cNvSpPr>
                <a:spLocks noChangeArrowheads="1"/>
              </p:cNvSpPr>
              <p:nvPr/>
            </p:nvSpPr>
            <p:spPr bwMode="auto">
              <a:xfrm>
                <a:off x="3816803" y="3084913"/>
                <a:ext cx="915988"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46" name="AutoShape 53">
                <a:extLst>
                  <a:ext uri="{FF2B5EF4-FFF2-40B4-BE49-F238E27FC236}">
                    <a16:creationId xmlns:a16="http://schemas.microsoft.com/office/drawing/2014/main" id="{AE8A8375-0083-034C-A50F-EF651B6125B6}"/>
                  </a:ext>
                </a:extLst>
              </p:cNvPr>
              <p:cNvSpPr>
                <a:spLocks noChangeArrowheads="1"/>
              </p:cNvSpPr>
              <p:nvPr/>
            </p:nvSpPr>
            <p:spPr bwMode="auto">
              <a:xfrm>
                <a:off x="4574041" y="3084913"/>
                <a:ext cx="914400" cy="844550"/>
              </a:xfrm>
              <a:prstGeom prst="cube">
                <a:avLst>
                  <a:gd name="adj" fmla="val 25000"/>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47" name="AutoShape 54">
                <a:extLst>
                  <a:ext uri="{FF2B5EF4-FFF2-40B4-BE49-F238E27FC236}">
                    <a16:creationId xmlns:a16="http://schemas.microsoft.com/office/drawing/2014/main" id="{22A752B5-1A63-AA48-A2DB-30767B39CBBD}"/>
                  </a:ext>
                </a:extLst>
              </p:cNvPr>
              <p:cNvSpPr>
                <a:spLocks noChangeArrowheads="1"/>
              </p:cNvSpPr>
              <p:nvPr/>
            </p:nvSpPr>
            <p:spPr bwMode="auto">
              <a:xfrm>
                <a:off x="2305503" y="2394350"/>
                <a:ext cx="914400" cy="844550"/>
              </a:xfrm>
              <a:prstGeom prst="cube">
                <a:avLst>
                  <a:gd name="adj" fmla="val 25000"/>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48" name="AutoShape 55">
                <a:extLst>
                  <a:ext uri="{FF2B5EF4-FFF2-40B4-BE49-F238E27FC236}">
                    <a16:creationId xmlns:a16="http://schemas.microsoft.com/office/drawing/2014/main" id="{CFF27ED0-0D65-7B46-8E2E-6FAE41B8D5B3}"/>
                  </a:ext>
                </a:extLst>
              </p:cNvPr>
              <p:cNvSpPr>
                <a:spLocks noChangeArrowheads="1"/>
              </p:cNvSpPr>
              <p:nvPr/>
            </p:nvSpPr>
            <p:spPr bwMode="auto">
              <a:xfrm>
                <a:off x="3061153" y="2394350"/>
                <a:ext cx="915988" cy="844550"/>
              </a:xfrm>
              <a:prstGeom prst="cube">
                <a:avLst>
                  <a:gd name="adj" fmla="val 25000"/>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49" name="AutoShape 56">
                <a:extLst>
                  <a:ext uri="{FF2B5EF4-FFF2-40B4-BE49-F238E27FC236}">
                    <a16:creationId xmlns:a16="http://schemas.microsoft.com/office/drawing/2014/main" id="{D09FE33F-EEA5-AA46-8BC0-85C40C8198D3}"/>
                  </a:ext>
                </a:extLst>
              </p:cNvPr>
              <p:cNvSpPr>
                <a:spLocks noChangeArrowheads="1"/>
              </p:cNvSpPr>
              <p:nvPr/>
            </p:nvSpPr>
            <p:spPr bwMode="auto">
              <a:xfrm>
                <a:off x="3816803" y="2394350"/>
                <a:ext cx="915988" cy="844550"/>
              </a:xfrm>
              <a:prstGeom prst="cube">
                <a:avLst>
                  <a:gd name="adj" fmla="val 25000"/>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50" name="AutoShape 57">
                <a:extLst>
                  <a:ext uri="{FF2B5EF4-FFF2-40B4-BE49-F238E27FC236}">
                    <a16:creationId xmlns:a16="http://schemas.microsoft.com/office/drawing/2014/main" id="{79DC4ABE-C7CD-3A4C-8E32-7DAE8541288E}"/>
                  </a:ext>
                </a:extLst>
              </p:cNvPr>
              <p:cNvSpPr>
                <a:spLocks noChangeArrowheads="1"/>
              </p:cNvSpPr>
              <p:nvPr/>
            </p:nvSpPr>
            <p:spPr bwMode="auto">
              <a:xfrm>
                <a:off x="4574041" y="2394350"/>
                <a:ext cx="914400" cy="844550"/>
              </a:xfrm>
              <a:prstGeom prst="cube">
                <a:avLst>
                  <a:gd name="adj" fmla="val 25000"/>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51" name="AutoShape 58">
                <a:extLst>
                  <a:ext uri="{FF2B5EF4-FFF2-40B4-BE49-F238E27FC236}">
                    <a16:creationId xmlns:a16="http://schemas.microsoft.com/office/drawing/2014/main" id="{2910B1AB-8736-C34E-B3DE-ED2ED6347E72}"/>
                  </a:ext>
                </a:extLst>
              </p:cNvPr>
              <p:cNvSpPr>
                <a:spLocks noChangeArrowheads="1"/>
              </p:cNvSpPr>
              <p:nvPr/>
            </p:nvSpPr>
            <p:spPr bwMode="auto">
              <a:xfrm>
                <a:off x="2011816" y="4732738"/>
                <a:ext cx="914400"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52" name="AutoShape 59">
                <a:extLst>
                  <a:ext uri="{FF2B5EF4-FFF2-40B4-BE49-F238E27FC236}">
                    <a16:creationId xmlns:a16="http://schemas.microsoft.com/office/drawing/2014/main" id="{A80D5911-CA6B-A54F-B929-C3F05D581EB7}"/>
                  </a:ext>
                </a:extLst>
              </p:cNvPr>
              <p:cNvSpPr>
                <a:spLocks noChangeArrowheads="1"/>
              </p:cNvSpPr>
              <p:nvPr/>
            </p:nvSpPr>
            <p:spPr bwMode="auto">
              <a:xfrm>
                <a:off x="2765878" y="4732738"/>
                <a:ext cx="917575"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53" name="AutoShape 60">
                <a:extLst>
                  <a:ext uri="{FF2B5EF4-FFF2-40B4-BE49-F238E27FC236}">
                    <a16:creationId xmlns:a16="http://schemas.microsoft.com/office/drawing/2014/main" id="{473F5D23-9C72-4748-B8EE-D8A0A2C3D6EB}"/>
                  </a:ext>
                </a:extLst>
              </p:cNvPr>
              <p:cNvSpPr>
                <a:spLocks noChangeArrowheads="1"/>
              </p:cNvSpPr>
              <p:nvPr/>
            </p:nvSpPr>
            <p:spPr bwMode="auto">
              <a:xfrm>
                <a:off x="3523116" y="4732738"/>
                <a:ext cx="914400"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54" name="AutoShape 61">
                <a:extLst>
                  <a:ext uri="{FF2B5EF4-FFF2-40B4-BE49-F238E27FC236}">
                    <a16:creationId xmlns:a16="http://schemas.microsoft.com/office/drawing/2014/main" id="{C9CC66AE-464E-A34F-A780-D6297ABB5C1F}"/>
                  </a:ext>
                </a:extLst>
              </p:cNvPr>
              <p:cNvSpPr>
                <a:spLocks noChangeArrowheads="1"/>
              </p:cNvSpPr>
              <p:nvPr/>
            </p:nvSpPr>
            <p:spPr bwMode="auto">
              <a:xfrm>
                <a:off x="4280353" y="4732738"/>
                <a:ext cx="914400" cy="844550"/>
              </a:xfrm>
              <a:prstGeom prst="cube">
                <a:avLst>
                  <a:gd name="adj" fmla="val 2500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55" name="AutoShape 62">
                <a:extLst>
                  <a:ext uri="{FF2B5EF4-FFF2-40B4-BE49-F238E27FC236}">
                    <a16:creationId xmlns:a16="http://schemas.microsoft.com/office/drawing/2014/main" id="{9A2522E9-64B3-C848-B361-36375A196005}"/>
                  </a:ext>
                </a:extLst>
              </p:cNvPr>
              <p:cNvSpPr>
                <a:spLocks noChangeArrowheads="1"/>
              </p:cNvSpPr>
              <p:nvPr/>
            </p:nvSpPr>
            <p:spPr bwMode="auto">
              <a:xfrm>
                <a:off x="2011816" y="4042175"/>
                <a:ext cx="914400"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56" name="AutoShape 63">
                <a:extLst>
                  <a:ext uri="{FF2B5EF4-FFF2-40B4-BE49-F238E27FC236}">
                    <a16:creationId xmlns:a16="http://schemas.microsoft.com/office/drawing/2014/main" id="{5BF33A68-C765-8343-AE06-DA8D818E5EF2}"/>
                  </a:ext>
                </a:extLst>
              </p:cNvPr>
              <p:cNvSpPr>
                <a:spLocks noChangeArrowheads="1"/>
              </p:cNvSpPr>
              <p:nvPr/>
            </p:nvSpPr>
            <p:spPr bwMode="auto">
              <a:xfrm>
                <a:off x="2765878" y="4042175"/>
                <a:ext cx="917575"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57" name="AutoShape 64">
                <a:extLst>
                  <a:ext uri="{FF2B5EF4-FFF2-40B4-BE49-F238E27FC236}">
                    <a16:creationId xmlns:a16="http://schemas.microsoft.com/office/drawing/2014/main" id="{01F3D9A0-4029-CE4C-A9C1-64D77BC4C3FC}"/>
                  </a:ext>
                </a:extLst>
              </p:cNvPr>
              <p:cNvSpPr>
                <a:spLocks noChangeArrowheads="1"/>
              </p:cNvSpPr>
              <p:nvPr/>
            </p:nvSpPr>
            <p:spPr bwMode="auto">
              <a:xfrm>
                <a:off x="3523116" y="4042175"/>
                <a:ext cx="914400"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58" name="AutoShape 65">
                <a:extLst>
                  <a:ext uri="{FF2B5EF4-FFF2-40B4-BE49-F238E27FC236}">
                    <a16:creationId xmlns:a16="http://schemas.microsoft.com/office/drawing/2014/main" id="{A694EA9E-DDA1-A147-B17F-91C79E7EF159}"/>
                  </a:ext>
                </a:extLst>
              </p:cNvPr>
              <p:cNvSpPr>
                <a:spLocks noChangeArrowheads="1"/>
              </p:cNvSpPr>
              <p:nvPr/>
            </p:nvSpPr>
            <p:spPr bwMode="auto">
              <a:xfrm>
                <a:off x="4280353" y="4042175"/>
                <a:ext cx="914400" cy="844550"/>
              </a:xfrm>
              <a:prstGeom prst="cube">
                <a:avLst>
                  <a:gd name="adj" fmla="val 25000"/>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59" name="AutoShape 66">
                <a:extLst>
                  <a:ext uri="{FF2B5EF4-FFF2-40B4-BE49-F238E27FC236}">
                    <a16:creationId xmlns:a16="http://schemas.microsoft.com/office/drawing/2014/main" id="{B25B23F7-5226-9041-A368-21152CDFB6EC}"/>
                  </a:ext>
                </a:extLst>
              </p:cNvPr>
              <p:cNvSpPr>
                <a:spLocks noChangeArrowheads="1"/>
              </p:cNvSpPr>
              <p:nvPr/>
            </p:nvSpPr>
            <p:spPr bwMode="auto">
              <a:xfrm>
                <a:off x="2011816" y="3351613"/>
                <a:ext cx="914400" cy="846137"/>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60" name="AutoShape 67">
                <a:extLst>
                  <a:ext uri="{FF2B5EF4-FFF2-40B4-BE49-F238E27FC236}">
                    <a16:creationId xmlns:a16="http://schemas.microsoft.com/office/drawing/2014/main" id="{4C52E0B4-1422-2B4B-977B-0EF0FB52A30D}"/>
                  </a:ext>
                </a:extLst>
              </p:cNvPr>
              <p:cNvSpPr>
                <a:spLocks noChangeArrowheads="1"/>
              </p:cNvSpPr>
              <p:nvPr/>
            </p:nvSpPr>
            <p:spPr bwMode="auto">
              <a:xfrm>
                <a:off x="2765878" y="3351613"/>
                <a:ext cx="917575" cy="846137"/>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61" name="AutoShape 68">
                <a:extLst>
                  <a:ext uri="{FF2B5EF4-FFF2-40B4-BE49-F238E27FC236}">
                    <a16:creationId xmlns:a16="http://schemas.microsoft.com/office/drawing/2014/main" id="{5328FEDF-4A77-6F49-A2B4-EA6B504671FC}"/>
                  </a:ext>
                </a:extLst>
              </p:cNvPr>
              <p:cNvSpPr>
                <a:spLocks noChangeArrowheads="1"/>
              </p:cNvSpPr>
              <p:nvPr/>
            </p:nvSpPr>
            <p:spPr bwMode="auto">
              <a:xfrm>
                <a:off x="3523116" y="3351613"/>
                <a:ext cx="914400" cy="846137"/>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62" name="AutoShape 69">
                <a:extLst>
                  <a:ext uri="{FF2B5EF4-FFF2-40B4-BE49-F238E27FC236}">
                    <a16:creationId xmlns:a16="http://schemas.microsoft.com/office/drawing/2014/main" id="{17D6CA97-8DD9-C542-8451-5517A9CF327C}"/>
                  </a:ext>
                </a:extLst>
              </p:cNvPr>
              <p:cNvSpPr>
                <a:spLocks noChangeArrowheads="1"/>
              </p:cNvSpPr>
              <p:nvPr/>
            </p:nvSpPr>
            <p:spPr bwMode="auto">
              <a:xfrm>
                <a:off x="4280353" y="3351613"/>
                <a:ext cx="914400" cy="846137"/>
              </a:xfrm>
              <a:prstGeom prst="cube">
                <a:avLst>
                  <a:gd name="adj" fmla="val 25000"/>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63" name="AutoShape 70">
                <a:extLst>
                  <a:ext uri="{FF2B5EF4-FFF2-40B4-BE49-F238E27FC236}">
                    <a16:creationId xmlns:a16="http://schemas.microsoft.com/office/drawing/2014/main" id="{63F64088-1A46-724F-9779-10F76A968376}"/>
                  </a:ext>
                </a:extLst>
              </p:cNvPr>
              <p:cNvSpPr>
                <a:spLocks noChangeArrowheads="1"/>
              </p:cNvSpPr>
              <p:nvPr/>
            </p:nvSpPr>
            <p:spPr bwMode="auto">
              <a:xfrm>
                <a:off x="2011816" y="2662638"/>
                <a:ext cx="914400" cy="844550"/>
              </a:xfrm>
              <a:prstGeom prst="cube">
                <a:avLst>
                  <a:gd name="adj" fmla="val 25000"/>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64" name="AutoShape 71">
                <a:extLst>
                  <a:ext uri="{FF2B5EF4-FFF2-40B4-BE49-F238E27FC236}">
                    <a16:creationId xmlns:a16="http://schemas.microsoft.com/office/drawing/2014/main" id="{650F4162-860A-564E-9C5E-CEBA9B407A8B}"/>
                  </a:ext>
                </a:extLst>
              </p:cNvPr>
              <p:cNvSpPr>
                <a:spLocks noChangeArrowheads="1"/>
              </p:cNvSpPr>
              <p:nvPr/>
            </p:nvSpPr>
            <p:spPr bwMode="auto">
              <a:xfrm>
                <a:off x="2765878" y="2662638"/>
                <a:ext cx="917575" cy="844550"/>
              </a:xfrm>
              <a:prstGeom prst="cube">
                <a:avLst>
                  <a:gd name="adj" fmla="val 25000"/>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65" name="AutoShape 72">
                <a:extLst>
                  <a:ext uri="{FF2B5EF4-FFF2-40B4-BE49-F238E27FC236}">
                    <a16:creationId xmlns:a16="http://schemas.microsoft.com/office/drawing/2014/main" id="{3756DD01-FF7C-5349-995E-41B255F7F06E}"/>
                  </a:ext>
                </a:extLst>
              </p:cNvPr>
              <p:cNvSpPr>
                <a:spLocks noChangeArrowheads="1"/>
              </p:cNvSpPr>
              <p:nvPr/>
            </p:nvSpPr>
            <p:spPr bwMode="auto">
              <a:xfrm>
                <a:off x="3523116" y="2662638"/>
                <a:ext cx="914400" cy="844550"/>
              </a:xfrm>
              <a:prstGeom prst="cube">
                <a:avLst>
                  <a:gd name="adj" fmla="val 25000"/>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66" name="AutoShape 73">
                <a:extLst>
                  <a:ext uri="{FF2B5EF4-FFF2-40B4-BE49-F238E27FC236}">
                    <a16:creationId xmlns:a16="http://schemas.microsoft.com/office/drawing/2014/main" id="{DF3D4516-7CA4-5C46-B2EF-67C3AE083E7E}"/>
                  </a:ext>
                </a:extLst>
              </p:cNvPr>
              <p:cNvSpPr>
                <a:spLocks noChangeArrowheads="1"/>
              </p:cNvSpPr>
              <p:nvPr/>
            </p:nvSpPr>
            <p:spPr bwMode="auto">
              <a:xfrm>
                <a:off x="4280353" y="2662638"/>
                <a:ext cx="914400" cy="844550"/>
              </a:xfrm>
              <a:prstGeom prst="cube">
                <a:avLst>
                  <a:gd name="adj" fmla="val 25000"/>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67" name="AutoShape 74">
                <a:extLst>
                  <a:ext uri="{FF2B5EF4-FFF2-40B4-BE49-F238E27FC236}">
                    <a16:creationId xmlns:a16="http://schemas.microsoft.com/office/drawing/2014/main" id="{7812CF41-20C2-1245-8325-16BDBEDD302A}"/>
                  </a:ext>
                </a:extLst>
              </p:cNvPr>
              <p:cNvSpPr>
                <a:spLocks noChangeArrowheads="1"/>
              </p:cNvSpPr>
              <p:nvPr/>
            </p:nvSpPr>
            <p:spPr bwMode="auto">
              <a:xfrm>
                <a:off x="1716541" y="4999438"/>
                <a:ext cx="915987"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68" name="AutoShape 75">
                <a:extLst>
                  <a:ext uri="{FF2B5EF4-FFF2-40B4-BE49-F238E27FC236}">
                    <a16:creationId xmlns:a16="http://schemas.microsoft.com/office/drawing/2014/main" id="{D3567959-CBB5-8242-8154-570EA48D2F59}"/>
                  </a:ext>
                </a:extLst>
              </p:cNvPr>
              <p:cNvSpPr>
                <a:spLocks noChangeArrowheads="1"/>
              </p:cNvSpPr>
              <p:nvPr/>
            </p:nvSpPr>
            <p:spPr bwMode="auto">
              <a:xfrm>
                <a:off x="2473778" y="4999438"/>
                <a:ext cx="915988"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69" name="AutoShape 76">
                <a:extLst>
                  <a:ext uri="{FF2B5EF4-FFF2-40B4-BE49-F238E27FC236}">
                    <a16:creationId xmlns:a16="http://schemas.microsoft.com/office/drawing/2014/main" id="{B663EF8B-B5CE-8F41-90F1-7EA8C34EB6F7}"/>
                  </a:ext>
                </a:extLst>
              </p:cNvPr>
              <p:cNvSpPr>
                <a:spLocks noChangeArrowheads="1"/>
              </p:cNvSpPr>
              <p:nvPr/>
            </p:nvSpPr>
            <p:spPr bwMode="auto">
              <a:xfrm>
                <a:off x="3229428" y="4999438"/>
                <a:ext cx="915988"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70" name="AutoShape 77">
                <a:extLst>
                  <a:ext uri="{FF2B5EF4-FFF2-40B4-BE49-F238E27FC236}">
                    <a16:creationId xmlns:a16="http://schemas.microsoft.com/office/drawing/2014/main" id="{51FD2C8D-27B6-CC4B-82C5-F2A81685395C}"/>
                  </a:ext>
                </a:extLst>
              </p:cNvPr>
              <p:cNvSpPr>
                <a:spLocks noChangeArrowheads="1"/>
              </p:cNvSpPr>
              <p:nvPr/>
            </p:nvSpPr>
            <p:spPr bwMode="auto">
              <a:xfrm>
                <a:off x="3985078" y="4999438"/>
                <a:ext cx="915988" cy="844550"/>
              </a:xfrm>
              <a:prstGeom prst="cube">
                <a:avLst>
                  <a:gd name="adj" fmla="val 25000"/>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71" name="AutoShape 78">
                <a:extLst>
                  <a:ext uri="{FF2B5EF4-FFF2-40B4-BE49-F238E27FC236}">
                    <a16:creationId xmlns:a16="http://schemas.microsoft.com/office/drawing/2014/main" id="{F0B8475D-7284-1C4D-8075-05D1A94C8569}"/>
                  </a:ext>
                </a:extLst>
              </p:cNvPr>
              <p:cNvSpPr>
                <a:spLocks noChangeArrowheads="1"/>
              </p:cNvSpPr>
              <p:nvPr/>
            </p:nvSpPr>
            <p:spPr bwMode="auto">
              <a:xfrm>
                <a:off x="1716541" y="4308875"/>
                <a:ext cx="915987" cy="846138"/>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72" name="AutoShape 79">
                <a:extLst>
                  <a:ext uri="{FF2B5EF4-FFF2-40B4-BE49-F238E27FC236}">
                    <a16:creationId xmlns:a16="http://schemas.microsoft.com/office/drawing/2014/main" id="{B63E98AE-0145-794B-BA6B-1AB3C407FD50}"/>
                  </a:ext>
                </a:extLst>
              </p:cNvPr>
              <p:cNvSpPr>
                <a:spLocks noChangeArrowheads="1"/>
              </p:cNvSpPr>
              <p:nvPr/>
            </p:nvSpPr>
            <p:spPr bwMode="auto">
              <a:xfrm>
                <a:off x="2473778" y="4308875"/>
                <a:ext cx="915988" cy="846138"/>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73" name="AutoShape 80">
                <a:extLst>
                  <a:ext uri="{FF2B5EF4-FFF2-40B4-BE49-F238E27FC236}">
                    <a16:creationId xmlns:a16="http://schemas.microsoft.com/office/drawing/2014/main" id="{D84BAEDC-6040-2E4B-B971-3DA0A3AAD9B7}"/>
                  </a:ext>
                </a:extLst>
              </p:cNvPr>
              <p:cNvSpPr>
                <a:spLocks noChangeArrowheads="1"/>
              </p:cNvSpPr>
              <p:nvPr/>
            </p:nvSpPr>
            <p:spPr bwMode="auto">
              <a:xfrm>
                <a:off x="3229428" y="4308875"/>
                <a:ext cx="915988" cy="846138"/>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74" name="AutoShape 81">
                <a:extLst>
                  <a:ext uri="{FF2B5EF4-FFF2-40B4-BE49-F238E27FC236}">
                    <a16:creationId xmlns:a16="http://schemas.microsoft.com/office/drawing/2014/main" id="{1C41107F-BC4D-1D48-92B6-386B216DB960}"/>
                  </a:ext>
                </a:extLst>
              </p:cNvPr>
              <p:cNvSpPr>
                <a:spLocks noChangeArrowheads="1"/>
              </p:cNvSpPr>
              <p:nvPr/>
            </p:nvSpPr>
            <p:spPr bwMode="auto">
              <a:xfrm>
                <a:off x="3985078" y="4308875"/>
                <a:ext cx="915988" cy="846138"/>
              </a:xfrm>
              <a:prstGeom prst="cube">
                <a:avLst>
                  <a:gd name="adj" fmla="val 25000"/>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75" name="AutoShape 82">
                <a:extLst>
                  <a:ext uri="{FF2B5EF4-FFF2-40B4-BE49-F238E27FC236}">
                    <a16:creationId xmlns:a16="http://schemas.microsoft.com/office/drawing/2014/main" id="{D2CE1437-E04C-A94E-8B02-BBB6AEDABEEB}"/>
                  </a:ext>
                </a:extLst>
              </p:cNvPr>
              <p:cNvSpPr>
                <a:spLocks noChangeArrowheads="1"/>
              </p:cNvSpPr>
              <p:nvPr/>
            </p:nvSpPr>
            <p:spPr bwMode="auto">
              <a:xfrm>
                <a:off x="1716541" y="3619900"/>
                <a:ext cx="915987"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76" name="AutoShape 83">
                <a:extLst>
                  <a:ext uri="{FF2B5EF4-FFF2-40B4-BE49-F238E27FC236}">
                    <a16:creationId xmlns:a16="http://schemas.microsoft.com/office/drawing/2014/main" id="{EA3AE55A-4A36-4249-AEE5-BA1640190E09}"/>
                  </a:ext>
                </a:extLst>
              </p:cNvPr>
              <p:cNvSpPr>
                <a:spLocks noChangeArrowheads="1"/>
              </p:cNvSpPr>
              <p:nvPr/>
            </p:nvSpPr>
            <p:spPr bwMode="auto">
              <a:xfrm>
                <a:off x="2473778" y="3619900"/>
                <a:ext cx="915988"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77" name="AutoShape 84">
                <a:extLst>
                  <a:ext uri="{FF2B5EF4-FFF2-40B4-BE49-F238E27FC236}">
                    <a16:creationId xmlns:a16="http://schemas.microsoft.com/office/drawing/2014/main" id="{562969FC-E405-3542-A0B0-559FB172D5B3}"/>
                  </a:ext>
                </a:extLst>
              </p:cNvPr>
              <p:cNvSpPr>
                <a:spLocks noChangeArrowheads="1"/>
              </p:cNvSpPr>
              <p:nvPr/>
            </p:nvSpPr>
            <p:spPr bwMode="auto">
              <a:xfrm>
                <a:off x="3229428" y="3619900"/>
                <a:ext cx="915988"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78" name="AutoShape 85">
                <a:extLst>
                  <a:ext uri="{FF2B5EF4-FFF2-40B4-BE49-F238E27FC236}">
                    <a16:creationId xmlns:a16="http://schemas.microsoft.com/office/drawing/2014/main" id="{87409A2E-175A-5649-A251-D7871BC39B70}"/>
                  </a:ext>
                </a:extLst>
              </p:cNvPr>
              <p:cNvSpPr>
                <a:spLocks noChangeArrowheads="1"/>
              </p:cNvSpPr>
              <p:nvPr/>
            </p:nvSpPr>
            <p:spPr bwMode="auto">
              <a:xfrm>
                <a:off x="3985078" y="3619900"/>
                <a:ext cx="915988"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79" name="AutoShape 86">
                <a:extLst>
                  <a:ext uri="{FF2B5EF4-FFF2-40B4-BE49-F238E27FC236}">
                    <a16:creationId xmlns:a16="http://schemas.microsoft.com/office/drawing/2014/main" id="{8486F5C5-62FF-1F43-8285-2BD6E1DE04C9}"/>
                  </a:ext>
                </a:extLst>
              </p:cNvPr>
              <p:cNvSpPr>
                <a:spLocks noChangeArrowheads="1"/>
              </p:cNvSpPr>
              <p:nvPr/>
            </p:nvSpPr>
            <p:spPr bwMode="auto">
              <a:xfrm>
                <a:off x="1716541" y="2929338"/>
                <a:ext cx="915987" cy="844550"/>
              </a:xfrm>
              <a:prstGeom prst="cube">
                <a:avLst>
                  <a:gd name="adj" fmla="val 25000"/>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80" name="AutoShape 87">
                <a:extLst>
                  <a:ext uri="{FF2B5EF4-FFF2-40B4-BE49-F238E27FC236}">
                    <a16:creationId xmlns:a16="http://schemas.microsoft.com/office/drawing/2014/main" id="{FA4AE0E5-4581-B442-BF19-FCA6861B6FCC}"/>
                  </a:ext>
                </a:extLst>
              </p:cNvPr>
              <p:cNvSpPr>
                <a:spLocks noChangeArrowheads="1"/>
              </p:cNvSpPr>
              <p:nvPr/>
            </p:nvSpPr>
            <p:spPr bwMode="auto">
              <a:xfrm>
                <a:off x="2473778" y="2929338"/>
                <a:ext cx="915988" cy="844550"/>
              </a:xfrm>
              <a:prstGeom prst="cube">
                <a:avLst>
                  <a:gd name="adj" fmla="val 25000"/>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81" name="AutoShape 88">
                <a:extLst>
                  <a:ext uri="{FF2B5EF4-FFF2-40B4-BE49-F238E27FC236}">
                    <a16:creationId xmlns:a16="http://schemas.microsoft.com/office/drawing/2014/main" id="{D8446E82-7A6D-5244-B772-90AF1C51ED49}"/>
                  </a:ext>
                </a:extLst>
              </p:cNvPr>
              <p:cNvSpPr>
                <a:spLocks noChangeArrowheads="1"/>
              </p:cNvSpPr>
              <p:nvPr/>
            </p:nvSpPr>
            <p:spPr bwMode="auto">
              <a:xfrm>
                <a:off x="3229428" y="2929338"/>
                <a:ext cx="915988"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82" name="AutoShape 89">
                <a:extLst>
                  <a:ext uri="{FF2B5EF4-FFF2-40B4-BE49-F238E27FC236}">
                    <a16:creationId xmlns:a16="http://schemas.microsoft.com/office/drawing/2014/main" id="{488CEF1F-5CDF-2447-8C1C-B59093B647FC}"/>
                  </a:ext>
                </a:extLst>
              </p:cNvPr>
              <p:cNvSpPr>
                <a:spLocks noChangeArrowheads="1"/>
              </p:cNvSpPr>
              <p:nvPr/>
            </p:nvSpPr>
            <p:spPr bwMode="auto">
              <a:xfrm>
                <a:off x="3985078" y="2929338"/>
                <a:ext cx="915988" cy="844550"/>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83" name="AutoShape 90">
                <a:extLst>
                  <a:ext uri="{FF2B5EF4-FFF2-40B4-BE49-F238E27FC236}">
                    <a16:creationId xmlns:a16="http://schemas.microsoft.com/office/drawing/2014/main" id="{08D0495B-8182-194A-92F9-07E2A0F9FF03}"/>
                  </a:ext>
                </a:extLst>
              </p:cNvPr>
              <p:cNvSpPr>
                <a:spLocks noChangeArrowheads="1"/>
              </p:cNvSpPr>
              <p:nvPr/>
            </p:nvSpPr>
            <p:spPr bwMode="auto">
              <a:xfrm>
                <a:off x="1422853" y="5267725"/>
                <a:ext cx="915988" cy="844550"/>
              </a:xfrm>
              <a:prstGeom prst="cube">
                <a:avLst>
                  <a:gd name="adj" fmla="val 25000"/>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84" name="AutoShape 91">
                <a:extLst>
                  <a:ext uri="{FF2B5EF4-FFF2-40B4-BE49-F238E27FC236}">
                    <a16:creationId xmlns:a16="http://schemas.microsoft.com/office/drawing/2014/main" id="{FB79A010-3965-CA44-B4C1-287A75751B95}"/>
                  </a:ext>
                </a:extLst>
              </p:cNvPr>
              <p:cNvSpPr>
                <a:spLocks noChangeArrowheads="1"/>
              </p:cNvSpPr>
              <p:nvPr/>
            </p:nvSpPr>
            <p:spPr bwMode="auto">
              <a:xfrm>
                <a:off x="2180091" y="5267725"/>
                <a:ext cx="914400" cy="844550"/>
              </a:xfrm>
              <a:prstGeom prst="cube">
                <a:avLst>
                  <a:gd name="adj" fmla="val 25000"/>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85" name="AutoShape 92">
                <a:extLst>
                  <a:ext uri="{FF2B5EF4-FFF2-40B4-BE49-F238E27FC236}">
                    <a16:creationId xmlns:a16="http://schemas.microsoft.com/office/drawing/2014/main" id="{CF663F9E-F9CF-F048-A464-97256229C414}"/>
                  </a:ext>
                </a:extLst>
              </p:cNvPr>
              <p:cNvSpPr>
                <a:spLocks noChangeArrowheads="1"/>
              </p:cNvSpPr>
              <p:nvPr/>
            </p:nvSpPr>
            <p:spPr bwMode="auto">
              <a:xfrm>
                <a:off x="2935741" y="5267725"/>
                <a:ext cx="915987" cy="844550"/>
              </a:xfrm>
              <a:prstGeom prst="cube">
                <a:avLst>
                  <a:gd name="adj" fmla="val 25000"/>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86" name="AutoShape 93">
                <a:extLst>
                  <a:ext uri="{FF2B5EF4-FFF2-40B4-BE49-F238E27FC236}">
                    <a16:creationId xmlns:a16="http://schemas.microsoft.com/office/drawing/2014/main" id="{BAED5C35-7750-424B-9527-E8AC8BF367DD}"/>
                  </a:ext>
                </a:extLst>
              </p:cNvPr>
              <p:cNvSpPr>
                <a:spLocks noChangeArrowheads="1"/>
              </p:cNvSpPr>
              <p:nvPr/>
            </p:nvSpPr>
            <p:spPr bwMode="auto">
              <a:xfrm>
                <a:off x="3691391" y="5267725"/>
                <a:ext cx="914400" cy="844550"/>
              </a:xfrm>
              <a:prstGeom prst="cube">
                <a:avLst>
                  <a:gd name="adj" fmla="val 25000"/>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87" name="AutoShape 94">
                <a:extLst>
                  <a:ext uri="{FF2B5EF4-FFF2-40B4-BE49-F238E27FC236}">
                    <a16:creationId xmlns:a16="http://schemas.microsoft.com/office/drawing/2014/main" id="{5137B248-5DA1-704F-A01B-DD7A086897FC}"/>
                  </a:ext>
                </a:extLst>
              </p:cNvPr>
              <p:cNvSpPr>
                <a:spLocks noChangeArrowheads="1"/>
              </p:cNvSpPr>
              <p:nvPr/>
            </p:nvSpPr>
            <p:spPr bwMode="auto">
              <a:xfrm>
                <a:off x="1422853" y="4577163"/>
                <a:ext cx="915988" cy="844550"/>
              </a:xfrm>
              <a:prstGeom prst="cube">
                <a:avLst>
                  <a:gd name="adj" fmla="val 25000"/>
                </a:avLst>
              </a:prstGeom>
              <a:solidFill>
                <a:srgbClr val="006699">
                  <a:alpha val="50195"/>
                </a:srgbClr>
              </a:solidFill>
              <a:ln w="9525">
                <a:solidFill>
                  <a:srgbClr val="33CCCC"/>
                </a:solidFill>
                <a:miter lim="800000"/>
                <a:headEnd/>
                <a:tailEnd/>
              </a:ln>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88" name="AutoShape 95">
                <a:extLst>
                  <a:ext uri="{FF2B5EF4-FFF2-40B4-BE49-F238E27FC236}">
                    <a16:creationId xmlns:a16="http://schemas.microsoft.com/office/drawing/2014/main" id="{7EE3F16D-D4E7-8940-9BF1-596E7D52A775}"/>
                  </a:ext>
                </a:extLst>
              </p:cNvPr>
              <p:cNvSpPr>
                <a:spLocks noChangeArrowheads="1"/>
              </p:cNvSpPr>
              <p:nvPr/>
            </p:nvSpPr>
            <p:spPr bwMode="auto">
              <a:xfrm>
                <a:off x="2180091" y="4577163"/>
                <a:ext cx="914400" cy="844550"/>
              </a:xfrm>
              <a:prstGeom prst="cube">
                <a:avLst>
                  <a:gd name="adj" fmla="val 25000"/>
                </a:avLst>
              </a:prstGeom>
              <a:solidFill>
                <a:srgbClr val="00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89" name="AutoShape 96">
                <a:extLst>
                  <a:ext uri="{FF2B5EF4-FFF2-40B4-BE49-F238E27FC236}">
                    <a16:creationId xmlns:a16="http://schemas.microsoft.com/office/drawing/2014/main" id="{EBEAF6E2-532C-2D4B-A48C-A5429621A85F}"/>
                  </a:ext>
                </a:extLst>
              </p:cNvPr>
              <p:cNvSpPr>
                <a:spLocks noChangeArrowheads="1"/>
              </p:cNvSpPr>
              <p:nvPr/>
            </p:nvSpPr>
            <p:spPr bwMode="auto">
              <a:xfrm>
                <a:off x="2935741" y="4577163"/>
                <a:ext cx="915987" cy="844550"/>
              </a:xfrm>
              <a:prstGeom prst="cube">
                <a:avLst>
                  <a:gd name="adj" fmla="val 25000"/>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90" name="AutoShape 97">
                <a:extLst>
                  <a:ext uri="{FF2B5EF4-FFF2-40B4-BE49-F238E27FC236}">
                    <a16:creationId xmlns:a16="http://schemas.microsoft.com/office/drawing/2014/main" id="{805B561C-4140-4546-82C6-D0B08B051B42}"/>
                  </a:ext>
                </a:extLst>
              </p:cNvPr>
              <p:cNvSpPr>
                <a:spLocks noChangeArrowheads="1"/>
              </p:cNvSpPr>
              <p:nvPr/>
            </p:nvSpPr>
            <p:spPr bwMode="auto">
              <a:xfrm>
                <a:off x="3691391" y="4577163"/>
                <a:ext cx="914400" cy="844550"/>
              </a:xfrm>
              <a:prstGeom prst="cube">
                <a:avLst>
                  <a:gd name="adj" fmla="val 25000"/>
                </a:avLst>
              </a:prstGeom>
              <a:solidFill>
                <a:srgbClr val="99CC00">
                  <a:alpha val="50195"/>
                </a:srgbClr>
              </a:solidFill>
              <a:ln w="9525">
                <a:solidFill>
                  <a:srgbClr val="FFFFFF"/>
                </a:solidFill>
                <a:miter lim="800000"/>
                <a:headEnd/>
                <a:tailEnd/>
              </a:ln>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91" name="AutoShape 98">
                <a:extLst>
                  <a:ext uri="{FF2B5EF4-FFF2-40B4-BE49-F238E27FC236}">
                    <a16:creationId xmlns:a16="http://schemas.microsoft.com/office/drawing/2014/main" id="{D7E3F6AF-2F21-7146-ABB0-D7A38EEE7C6C}"/>
                  </a:ext>
                </a:extLst>
              </p:cNvPr>
              <p:cNvSpPr>
                <a:spLocks noChangeArrowheads="1"/>
              </p:cNvSpPr>
              <p:nvPr/>
            </p:nvSpPr>
            <p:spPr bwMode="auto">
              <a:xfrm>
                <a:off x="1422853" y="3886600"/>
                <a:ext cx="915988" cy="846138"/>
              </a:xfrm>
              <a:prstGeom prst="cube">
                <a:avLst>
                  <a:gd name="adj" fmla="val 25000"/>
                </a:avLst>
              </a:prstGeom>
              <a:solidFill>
                <a:srgbClr val="FF6600">
                  <a:alpha val="50195"/>
                </a:srgbClr>
              </a:solidFill>
              <a:ln w="9525">
                <a:solidFill>
                  <a:srgbClr val="FFCC00"/>
                </a:solidFill>
                <a:miter lim="800000"/>
                <a:headEnd/>
                <a:tailEnd/>
              </a:ln>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92" name="AutoShape 99">
                <a:extLst>
                  <a:ext uri="{FF2B5EF4-FFF2-40B4-BE49-F238E27FC236}">
                    <a16:creationId xmlns:a16="http://schemas.microsoft.com/office/drawing/2014/main" id="{F7A5ECF2-6E69-1E49-B5EC-57DB0CFC0208}"/>
                  </a:ext>
                </a:extLst>
              </p:cNvPr>
              <p:cNvSpPr>
                <a:spLocks noChangeArrowheads="1"/>
              </p:cNvSpPr>
              <p:nvPr/>
            </p:nvSpPr>
            <p:spPr bwMode="auto">
              <a:xfrm>
                <a:off x="2180091" y="3886600"/>
                <a:ext cx="914400" cy="846138"/>
              </a:xfrm>
              <a:prstGeom prst="cube">
                <a:avLst>
                  <a:gd name="adj" fmla="val 25000"/>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93" name="AutoShape 100">
                <a:extLst>
                  <a:ext uri="{FF2B5EF4-FFF2-40B4-BE49-F238E27FC236}">
                    <a16:creationId xmlns:a16="http://schemas.microsoft.com/office/drawing/2014/main" id="{51E33D48-14B7-1B45-9B59-1AFAD0BEE1CD}"/>
                  </a:ext>
                </a:extLst>
              </p:cNvPr>
              <p:cNvSpPr>
                <a:spLocks noChangeArrowheads="1"/>
              </p:cNvSpPr>
              <p:nvPr/>
            </p:nvSpPr>
            <p:spPr bwMode="auto">
              <a:xfrm>
                <a:off x="2935741" y="3886600"/>
                <a:ext cx="915987" cy="846138"/>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94" name="AutoShape 101">
                <a:extLst>
                  <a:ext uri="{FF2B5EF4-FFF2-40B4-BE49-F238E27FC236}">
                    <a16:creationId xmlns:a16="http://schemas.microsoft.com/office/drawing/2014/main" id="{0A7CA31C-614C-444B-9169-4FF272A7E3F9}"/>
                  </a:ext>
                </a:extLst>
              </p:cNvPr>
              <p:cNvSpPr>
                <a:spLocks noChangeArrowheads="1"/>
              </p:cNvSpPr>
              <p:nvPr/>
            </p:nvSpPr>
            <p:spPr bwMode="auto">
              <a:xfrm>
                <a:off x="3691391" y="3886600"/>
                <a:ext cx="914400" cy="846138"/>
              </a:xfrm>
              <a:prstGeom prst="cube">
                <a:avLst>
                  <a:gd name="adj" fmla="val 25000"/>
                </a:avLst>
              </a:prstGeom>
              <a:solidFill>
                <a:srgbClr val="7067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95" name="AutoShape 102">
                <a:extLst>
                  <a:ext uri="{FF2B5EF4-FFF2-40B4-BE49-F238E27FC236}">
                    <a16:creationId xmlns:a16="http://schemas.microsoft.com/office/drawing/2014/main" id="{148FE9E7-7D95-7F4E-A376-4632E43B1780}"/>
                  </a:ext>
                </a:extLst>
              </p:cNvPr>
              <p:cNvSpPr>
                <a:spLocks noChangeArrowheads="1"/>
              </p:cNvSpPr>
              <p:nvPr/>
            </p:nvSpPr>
            <p:spPr bwMode="auto">
              <a:xfrm>
                <a:off x="1422853" y="3197625"/>
                <a:ext cx="915988" cy="844550"/>
              </a:xfrm>
              <a:prstGeom prst="cube">
                <a:avLst>
                  <a:gd name="adj" fmla="val 25000"/>
                </a:avLst>
              </a:prstGeom>
              <a:solidFill>
                <a:srgbClr val="FF6600">
                  <a:alpha val="50195"/>
                </a:srgbClr>
              </a:solidFill>
              <a:ln w="9525">
                <a:solidFill>
                  <a:srgbClr val="FFCC00"/>
                </a:solidFill>
                <a:miter lim="800000"/>
                <a:headEnd/>
                <a:tailEnd/>
              </a:ln>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96" name="AutoShape 103">
                <a:extLst>
                  <a:ext uri="{FF2B5EF4-FFF2-40B4-BE49-F238E27FC236}">
                    <a16:creationId xmlns:a16="http://schemas.microsoft.com/office/drawing/2014/main" id="{D19D7D41-B404-6942-B606-D7E7E945914C}"/>
                  </a:ext>
                </a:extLst>
              </p:cNvPr>
              <p:cNvSpPr>
                <a:spLocks noChangeArrowheads="1"/>
              </p:cNvSpPr>
              <p:nvPr/>
            </p:nvSpPr>
            <p:spPr bwMode="auto">
              <a:xfrm>
                <a:off x="2180091" y="3197625"/>
                <a:ext cx="914400" cy="844550"/>
              </a:xfrm>
              <a:prstGeom prst="cube">
                <a:avLst>
                  <a:gd name="adj" fmla="val 25000"/>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97" name="AutoShape 104">
                <a:extLst>
                  <a:ext uri="{FF2B5EF4-FFF2-40B4-BE49-F238E27FC236}">
                    <a16:creationId xmlns:a16="http://schemas.microsoft.com/office/drawing/2014/main" id="{2B9D2293-1E20-6E43-B01C-62DCA3FE326B}"/>
                  </a:ext>
                </a:extLst>
              </p:cNvPr>
              <p:cNvSpPr>
                <a:spLocks noChangeArrowheads="1"/>
              </p:cNvSpPr>
              <p:nvPr/>
            </p:nvSpPr>
            <p:spPr bwMode="auto">
              <a:xfrm>
                <a:off x="2935741" y="3169050"/>
                <a:ext cx="1671637" cy="844550"/>
              </a:xfrm>
              <a:prstGeom prst="cube">
                <a:avLst>
                  <a:gd name="adj" fmla="val 25000"/>
                </a:avLst>
              </a:prstGeom>
              <a:solidFill>
                <a:srgbClr val="B9A5CF">
                  <a:alpha val="50195"/>
                </a:srgbClr>
              </a:solidFill>
              <a:ln w="9525">
                <a:solidFill>
                  <a:srgbClr val="FFFFFF"/>
                </a:solidFill>
                <a:miter lim="800000"/>
                <a:headEnd/>
                <a:tailEnd/>
              </a:ln>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grpSp>
        <p:sp>
          <p:nvSpPr>
            <p:cNvPr id="99" name="Line 112">
              <a:extLst>
                <a:ext uri="{FF2B5EF4-FFF2-40B4-BE49-F238E27FC236}">
                  <a16:creationId xmlns:a16="http://schemas.microsoft.com/office/drawing/2014/main" id="{56757B62-0EA2-B447-A52B-1AE1C3102E35}"/>
                </a:ext>
              </a:extLst>
            </p:cNvPr>
            <p:cNvSpPr>
              <a:spLocks noChangeShapeType="1"/>
            </p:cNvSpPr>
            <p:nvPr/>
          </p:nvSpPr>
          <p:spPr bwMode="auto">
            <a:xfrm>
              <a:off x="2760448" y="4600142"/>
              <a:ext cx="1873771" cy="17488"/>
            </a:xfrm>
            <a:prstGeom prst="line">
              <a:avLst/>
            </a:prstGeom>
            <a:noFill/>
            <a:ln w="19050">
              <a:solidFill>
                <a:srgbClr val="FFC000"/>
              </a:solidFill>
              <a:round/>
              <a:headEnd/>
              <a:tailEnd/>
            </a:ln>
          </p:spPr>
          <p:txBody>
            <a:bodyPr wrap="none" anchor="ctr"/>
            <a:lstStyle/>
            <a:p>
              <a:pPr>
                <a:lnSpc>
                  <a:spcPct val="140000"/>
                </a:lnSpc>
                <a:buClr>
                  <a:srgbClr val="FFFFFF"/>
                </a:buClr>
                <a:buSzPct val="100000"/>
                <a:buFont typeface="Wingdings" pitchFamily="2" charset="2"/>
                <a:buChar char="•"/>
                <a:defRPr/>
              </a:pPr>
              <a:endParaRPr lang="zh-CN" altLang="en-US">
                <a:solidFill>
                  <a:srgbClr val="000000"/>
                </a:solidFill>
                <a:latin typeface="FrutigerNext LT Regular" pitchFamily="34" charset="0"/>
                <a:ea typeface="+mn-ea"/>
              </a:endParaRPr>
            </a:p>
          </p:txBody>
        </p:sp>
        <p:sp>
          <p:nvSpPr>
            <p:cNvPr id="100" name="Rectangle 113">
              <a:extLst>
                <a:ext uri="{FF2B5EF4-FFF2-40B4-BE49-F238E27FC236}">
                  <a16:creationId xmlns:a16="http://schemas.microsoft.com/office/drawing/2014/main" id="{C527916F-834B-9B48-9264-16BCC1C9DF53}"/>
                </a:ext>
              </a:extLst>
            </p:cNvPr>
            <p:cNvSpPr>
              <a:spLocks noChangeArrowheads="1"/>
            </p:cNvSpPr>
            <p:nvPr/>
          </p:nvSpPr>
          <p:spPr bwMode="auto">
            <a:xfrm>
              <a:off x="4855316" y="4347503"/>
              <a:ext cx="3809104" cy="1793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latinLnBrk="1" hangingPunct="1">
                <a:lnSpc>
                  <a:spcPct val="150000"/>
                </a:lnSpc>
                <a:buFont typeface="Wingdings" pitchFamily="2" charset="2"/>
                <a:buChar char="q"/>
              </a:pPr>
              <a:r>
                <a:rPr kumimoji="1" lang="zh-CN" altLang="en-US" sz="2000" b="1" dirty="0">
                  <a:solidFill>
                    <a:srgbClr val="C00000"/>
                  </a:solidFill>
                  <a:latin typeface="SimHei" panose="02010609060101010101" pitchFamily="49" charset="-122"/>
                  <a:ea typeface="SimHei" panose="02010609060101010101" pitchFamily="49" charset="-122"/>
                </a:rPr>
                <a:t> 子项目特征</a:t>
              </a:r>
            </a:p>
            <a:p>
              <a:pPr eaLnBrk="1" latinLnBrk="1" hangingPunct="1">
                <a:lnSpc>
                  <a:spcPct val="150000"/>
                </a:lnSpc>
              </a:pPr>
              <a:r>
                <a:rPr kumimoji="1" lang="en-US" altLang="ko-KR" sz="1200" dirty="0">
                  <a:solidFill>
                    <a:schemeClr val="tx2"/>
                  </a:solidFill>
                  <a:latin typeface="Gulim" panose="020B0600000101010101" pitchFamily="34" charset="-127"/>
                  <a:ea typeface="Gulim" panose="020B0600000101010101" pitchFamily="34" charset="-127"/>
                </a:rPr>
                <a:t>  </a:t>
              </a:r>
              <a:r>
                <a:rPr kumimoji="1" lang="en-US" altLang="ko-KR" sz="1100" dirty="0">
                  <a:solidFill>
                    <a:schemeClr val="tx2"/>
                  </a:solidFill>
                  <a:latin typeface="Gulim" panose="020B0600000101010101" pitchFamily="34" charset="-127"/>
                  <a:ea typeface="Gulim" panose="020B0600000101010101" pitchFamily="34" charset="-127"/>
                </a:rPr>
                <a:t>-</a:t>
              </a:r>
              <a:r>
                <a:rPr kumimoji="1" lang="en-US" altLang="zh-CN" sz="1100" dirty="0">
                  <a:solidFill>
                    <a:schemeClr val="tx2"/>
                  </a:solidFill>
                  <a:latin typeface="Gulim" panose="020B0600000101010101" pitchFamily="34" charset="-127"/>
                  <a:ea typeface="Gulim" panose="020B0600000101010101" pitchFamily="34" charset="-127"/>
                </a:rPr>
                <a:t> </a:t>
              </a:r>
              <a:r>
                <a:rPr lang="zh-CN" altLang="zh-CN" sz="1800" b="1" dirty="0">
                  <a:solidFill>
                    <a:schemeClr val="tx2"/>
                  </a:solidFill>
                  <a:latin typeface="FrutigerNext LT Regular"/>
                </a:rPr>
                <a:t>各个子项目的成果都经过测试</a:t>
              </a:r>
              <a:endParaRPr kumimoji="1" lang="en-US" altLang="ko-KR" sz="1100" dirty="0">
                <a:solidFill>
                  <a:schemeClr val="tx2"/>
                </a:solidFill>
                <a:latin typeface="Gulim" panose="020B0600000101010101" pitchFamily="34" charset="-127"/>
                <a:ea typeface="Gulim" panose="020B0600000101010101" pitchFamily="34" charset="-127"/>
              </a:endParaRPr>
            </a:p>
            <a:p>
              <a:pPr eaLnBrk="1" latinLnBrk="1" hangingPunct="1">
                <a:lnSpc>
                  <a:spcPct val="150000"/>
                </a:lnSpc>
              </a:pPr>
              <a:r>
                <a:rPr kumimoji="1" lang="en-US" altLang="ko-KR" sz="1100" dirty="0">
                  <a:solidFill>
                    <a:schemeClr val="tx2"/>
                  </a:solidFill>
                  <a:latin typeface="Gulim" panose="020B0600000101010101" pitchFamily="34" charset="-127"/>
                  <a:ea typeface="Gulim" panose="020B0600000101010101" pitchFamily="34" charset="-127"/>
                </a:rPr>
                <a:t>  -</a:t>
              </a:r>
              <a:r>
                <a:rPr kumimoji="1" lang="en-US" altLang="zh-CN" sz="1100" dirty="0">
                  <a:solidFill>
                    <a:schemeClr val="tx2"/>
                  </a:solidFill>
                  <a:latin typeface="Gulim" panose="020B0600000101010101" pitchFamily="34" charset="-127"/>
                  <a:ea typeface="Gulim" panose="020B0600000101010101" pitchFamily="34" charset="-127"/>
                </a:rPr>
                <a:t> </a:t>
              </a:r>
              <a:r>
                <a:rPr lang="zh-CN" altLang="zh-CN" sz="1800" b="1" dirty="0">
                  <a:solidFill>
                    <a:schemeClr val="tx2"/>
                  </a:solidFill>
                  <a:latin typeface="FrutigerNext LT Regular"/>
                </a:rPr>
                <a:t>具备集成和可运行的特征</a:t>
              </a:r>
              <a:endParaRPr kumimoji="1" lang="en-US" altLang="ko-KR" sz="1100" dirty="0">
                <a:solidFill>
                  <a:schemeClr val="tx2"/>
                </a:solidFill>
                <a:latin typeface="Gulim" panose="020B0600000101010101" pitchFamily="34" charset="-127"/>
                <a:ea typeface="Gulim" panose="020B0600000101010101" pitchFamily="34" charset="-127"/>
              </a:endParaRPr>
            </a:p>
            <a:p>
              <a:pPr eaLnBrk="1" latinLnBrk="1" hangingPunct="1">
                <a:lnSpc>
                  <a:spcPct val="150000"/>
                </a:lnSpc>
              </a:pPr>
              <a:r>
                <a:rPr kumimoji="1" lang="en-US" altLang="ko-KR" sz="1100" dirty="0">
                  <a:solidFill>
                    <a:schemeClr val="tx2"/>
                  </a:solidFill>
                  <a:latin typeface="Gulim" panose="020B0600000101010101" pitchFamily="34" charset="-127"/>
                  <a:ea typeface="Gulim" panose="020B0600000101010101" pitchFamily="34" charset="-127"/>
                </a:rPr>
                <a:t>  -</a:t>
              </a:r>
              <a:r>
                <a:rPr kumimoji="1" lang="en-US" altLang="zh-CN" sz="1100" dirty="0">
                  <a:solidFill>
                    <a:schemeClr val="tx2"/>
                  </a:solidFill>
                  <a:latin typeface="Gulim" panose="020B0600000101010101" pitchFamily="34" charset="-127"/>
                  <a:ea typeface="Gulim" panose="020B0600000101010101" pitchFamily="34" charset="-127"/>
                </a:rPr>
                <a:t> </a:t>
              </a:r>
              <a:r>
                <a:rPr lang="zh-CN" altLang="zh-CN" sz="1800" b="1" dirty="0">
                  <a:solidFill>
                    <a:schemeClr val="tx2"/>
                  </a:solidFill>
                  <a:latin typeface="FrutigerNext LT Regular"/>
                </a:rPr>
                <a:t>小项目相互联系</a:t>
              </a:r>
              <a:endParaRPr lang="en-US" altLang="ko-KR" sz="1800" b="1" dirty="0">
                <a:solidFill>
                  <a:schemeClr val="tx2"/>
                </a:solidFill>
                <a:latin typeface="FrutigerNext LT Regular"/>
                <a:ea typeface="Gulim" panose="020B0600000101010101" pitchFamily="34" charset="-127"/>
              </a:endParaRPr>
            </a:p>
          </p:txBody>
        </p:sp>
      </p:grpSp>
    </p:spTree>
    <p:extLst>
      <p:ext uri="{BB962C8B-B14F-4D97-AF65-F5344CB8AC3E}">
        <p14:creationId xmlns:p14="http://schemas.microsoft.com/office/powerpoint/2010/main" val="139905337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anim calcmode="lin" valueType="num">
                                      <p:cBhvr>
                                        <p:cTn id="8" dur="1000" fill="hold"/>
                                        <p:tgtEl>
                                          <p:spTgt spid="34"/>
                                        </p:tgtEl>
                                        <p:attrNameLst>
                                          <p:attrName>ppt_x</p:attrName>
                                        </p:attrNameLst>
                                      </p:cBhvr>
                                      <p:tavLst>
                                        <p:tav tm="0">
                                          <p:val>
                                            <p:strVal val="#ppt_x"/>
                                          </p:val>
                                        </p:tav>
                                        <p:tav tm="100000">
                                          <p:val>
                                            <p:strVal val="#ppt_x"/>
                                          </p:val>
                                        </p:tav>
                                      </p:tavLst>
                                    </p:anim>
                                    <p:anim calcmode="lin" valueType="num">
                                      <p:cBhvr>
                                        <p:cTn id="9" dur="1000" fill="hold"/>
                                        <p:tgtEl>
                                          <p:spTgt spid="3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zh-CN" altLang="en-US" sz="2800" dirty="0">
                <a:solidFill>
                  <a:srgbClr val="4E8F00"/>
                </a:solidFill>
                <a:sym typeface="微软雅黑" panose="020B0503020204020204" pitchFamily="34" charset="-122"/>
              </a:rPr>
              <a:t>敏捷开发方法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a:t>
            </a:fld>
            <a:endParaRPr lang="zh-CN" altLang="en-US"/>
          </a:p>
        </p:txBody>
      </p:sp>
      <p:sp>
        <p:nvSpPr>
          <p:cNvPr id="98" name="Rectangle 3">
            <a:extLst>
              <a:ext uri="{FF2B5EF4-FFF2-40B4-BE49-F238E27FC236}">
                <a16:creationId xmlns:a16="http://schemas.microsoft.com/office/drawing/2014/main" id="{38BBFD36-2676-364D-9FC9-D25B0201F233}"/>
              </a:ext>
            </a:extLst>
          </p:cNvPr>
          <p:cNvSpPr>
            <a:spLocks noGrp="1" noChangeArrowheads="1"/>
          </p:cNvSpPr>
          <p:nvPr>
            <p:ph idx="1"/>
          </p:nvPr>
        </p:nvSpPr>
        <p:spPr>
          <a:xfrm>
            <a:off x="741363" y="1400371"/>
            <a:ext cx="7726977" cy="4824413"/>
          </a:xfrm>
        </p:spPr>
        <p:txBody>
          <a:bodyPr>
            <a:noAutofit/>
          </a:bodyPr>
          <a:lstStyle/>
          <a:p>
            <a:pPr marL="285750" indent="-285750">
              <a:lnSpc>
                <a:spcPct val="120000"/>
              </a:lnSpc>
              <a:buSzPct val="60000"/>
              <a:buFont typeface="Wingdings" pitchFamily="2" charset="2"/>
              <a:buChar char="l"/>
            </a:pPr>
            <a:r>
              <a:rPr lang="en-US" altLang="zh-CN" sz="1600" dirty="0">
                <a:solidFill>
                  <a:srgbClr val="C00000"/>
                </a:solidFill>
                <a:latin typeface="Microsoft YaHei" panose="020B0503020204020204" pitchFamily="34" charset="-122"/>
                <a:ea typeface="Microsoft YaHei" panose="020B0503020204020204" pitchFamily="34" charset="-122"/>
              </a:rPr>
              <a:t>XP</a:t>
            </a:r>
            <a:r>
              <a:rPr lang="zh-CN" altLang="en-US" sz="1600" dirty="0">
                <a:solidFill>
                  <a:schemeClr val="tx2"/>
                </a:solidFill>
                <a:latin typeface="Microsoft YaHei" panose="020B0503020204020204" pitchFamily="34" charset="-122"/>
                <a:ea typeface="Microsoft YaHei" panose="020B0503020204020204" pitchFamily="34" charset="-122"/>
              </a:rPr>
              <a:t> </a:t>
            </a:r>
            <a:r>
              <a:rPr lang="en-US" altLang="zh-CN" sz="1600" dirty="0">
                <a:solidFill>
                  <a:schemeClr val="tx2"/>
                </a:solidFill>
                <a:latin typeface="Microsoft YaHei" panose="020B0503020204020204" pitchFamily="34" charset="-122"/>
                <a:ea typeface="Microsoft YaHei" panose="020B0503020204020204" pitchFamily="34" charset="-122"/>
              </a:rPr>
              <a:t>–</a:t>
            </a:r>
            <a:r>
              <a:rPr lang="zh-CN" altLang="en-US" sz="1600" dirty="0">
                <a:solidFill>
                  <a:schemeClr val="tx2"/>
                </a:solidFill>
                <a:latin typeface="Microsoft YaHei" panose="020B0503020204020204" pitchFamily="34" charset="-122"/>
                <a:ea typeface="Microsoft YaHei" panose="020B0503020204020204" pitchFamily="34" charset="-122"/>
              </a:rPr>
              <a:t> 极限编程（</a:t>
            </a:r>
            <a:r>
              <a:rPr lang="en-US" altLang="zh-CN" sz="1600" dirty="0" err="1">
                <a:solidFill>
                  <a:schemeClr val="tx2"/>
                </a:solidFill>
                <a:latin typeface="Microsoft YaHei" panose="020B0503020204020204" pitchFamily="34" charset="-122"/>
                <a:ea typeface="Microsoft YaHei" panose="020B0503020204020204" pitchFamily="34" charset="-122"/>
              </a:rPr>
              <a:t>eXtreme</a:t>
            </a:r>
            <a:r>
              <a:rPr lang="en-US" altLang="zh-CN" sz="1600" dirty="0">
                <a:solidFill>
                  <a:schemeClr val="tx2"/>
                </a:solidFill>
                <a:latin typeface="Microsoft YaHei" panose="020B0503020204020204" pitchFamily="34" charset="-122"/>
                <a:ea typeface="Microsoft YaHei" panose="020B0503020204020204" pitchFamily="34" charset="-122"/>
              </a:rPr>
              <a:t> Programing</a:t>
            </a:r>
            <a:r>
              <a:rPr lang="zh-CN" altLang="en-US" sz="1600" dirty="0">
                <a:solidFill>
                  <a:schemeClr val="tx2"/>
                </a:solidFill>
                <a:latin typeface="Microsoft YaHei" panose="020B0503020204020204" pitchFamily="34" charset="-122"/>
                <a:ea typeface="Microsoft YaHei" panose="020B0503020204020204" pitchFamily="34" charset="-122"/>
              </a:rPr>
              <a:t>）</a:t>
            </a:r>
            <a:endParaRPr lang="en-US" altLang="zh-CN" sz="1600" dirty="0">
              <a:solidFill>
                <a:schemeClr val="tx2"/>
              </a:solidFill>
              <a:latin typeface="Microsoft YaHei" panose="020B0503020204020204" pitchFamily="34" charset="-122"/>
              <a:ea typeface="Microsoft YaHei" panose="020B0503020204020204" pitchFamily="34" charset="-122"/>
            </a:endParaRPr>
          </a:p>
          <a:p>
            <a:pPr marL="212598" lvl="1" indent="0">
              <a:lnSpc>
                <a:spcPct val="120000"/>
              </a:lnSpc>
              <a:buNone/>
            </a:pPr>
            <a:r>
              <a:rPr lang="en-US" altLang="zh-CN" sz="1400" dirty="0">
                <a:solidFill>
                  <a:schemeClr val="tx2"/>
                </a:solidFill>
                <a:latin typeface="Kaiti SC" panose="02010600040101010101" pitchFamily="2" charset="-122"/>
                <a:ea typeface="Kaiti SC" panose="02010600040101010101" pitchFamily="2" charset="-122"/>
              </a:rPr>
              <a:t>-</a:t>
            </a:r>
            <a:r>
              <a:rPr lang="zh-CN" altLang="en-US" sz="1400" dirty="0">
                <a:solidFill>
                  <a:schemeClr val="tx2"/>
                </a:solidFill>
                <a:latin typeface="Kaiti SC" panose="02010600040101010101" pitchFamily="2" charset="-122"/>
                <a:ea typeface="Kaiti SC" panose="02010600040101010101" pitchFamily="2" charset="-122"/>
              </a:rPr>
              <a:t> 思想源自</a:t>
            </a:r>
            <a:r>
              <a:rPr lang="en-US" altLang="zh-CN" sz="1400" dirty="0">
                <a:solidFill>
                  <a:schemeClr val="tx2"/>
                </a:solidFill>
                <a:latin typeface="Kaiti SC" panose="02010600040101010101" pitchFamily="2" charset="-122"/>
                <a:ea typeface="Kaiti SC" panose="02010600040101010101" pitchFamily="2" charset="-122"/>
              </a:rPr>
              <a:t>Kent Beck</a:t>
            </a:r>
            <a:r>
              <a:rPr lang="zh-CN" altLang="en-US" sz="1400" dirty="0">
                <a:solidFill>
                  <a:schemeClr val="tx2"/>
                </a:solidFill>
                <a:latin typeface="Kaiti SC" panose="02010600040101010101" pitchFamily="2" charset="-122"/>
                <a:ea typeface="Kaiti SC" panose="02010600040101010101" pitchFamily="2" charset="-122"/>
              </a:rPr>
              <a:t>和</a:t>
            </a:r>
            <a:r>
              <a:rPr lang="en-US" altLang="zh-CN" sz="1400" dirty="0">
                <a:solidFill>
                  <a:schemeClr val="tx2"/>
                </a:solidFill>
                <a:latin typeface="Kaiti SC" panose="02010600040101010101" pitchFamily="2" charset="-122"/>
                <a:ea typeface="Kaiti SC" panose="02010600040101010101" pitchFamily="2" charset="-122"/>
              </a:rPr>
              <a:t>Ward Cunningham</a:t>
            </a:r>
            <a:r>
              <a:rPr lang="zh-CN" altLang="en-US" sz="1400" dirty="0">
                <a:solidFill>
                  <a:schemeClr val="tx2"/>
                </a:solidFill>
                <a:latin typeface="Kaiti SC" panose="02010600040101010101" pitchFamily="2" charset="-122"/>
                <a:ea typeface="Kaiti SC" panose="02010600040101010101" pitchFamily="2" charset="-122"/>
              </a:rPr>
              <a:t>在软件项目中的合作经历。</a:t>
            </a:r>
            <a:r>
              <a:rPr lang="en-US" altLang="zh-CN" sz="1400" dirty="0">
                <a:solidFill>
                  <a:schemeClr val="tx2"/>
                </a:solidFill>
                <a:latin typeface="Kaiti SC" panose="02010600040101010101" pitchFamily="2" charset="-122"/>
                <a:ea typeface="Kaiti SC" panose="02010600040101010101" pitchFamily="2" charset="-122"/>
              </a:rPr>
              <a:t>XP </a:t>
            </a:r>
            <a:r>
              <a:rPr lang="zh-CN" altLang="en-US" sz="1400" dirty="0">
                <a:solidFill>
                  <a:schemeClr val="tx2"/>
                </a:solidFill>
                <a:latin typeface="Kaiti SC" panose="02010600040101010101" pitchFamily="2" charset="-122"/>
                <a:ea typeface="Kaiti SC" panose="02010600040101010101" pitchFamily="2" charset="-122"/>
              </a:rPr>
              <a:t>是一种轻量（敏捷）、高效、低风险、柔性、可预测、科学而且充满乐趣的软件开发方式</a:t>
            </a:r>
          </a:p>
          <a:p>
            <a:pPr marL="285750" indent="-285750">
              <a:lnSpc>
                <a:spcPct val="120000"/>
              </a:lnSpc>
              <a:buSzPct val="60000"/>
              <a:buFont typeface="Wingdings" pitchFamily="2" charset="2"/>
              <a:buChar char="l"/>
            </a:pPr>
            <a:r>
              <a:rPr lang="en-US" altLang="zh-CN" sz="1600" dirty="0">
                <a:solidFill>
                  <a:srgbClr val="C00000"/>
                </a:solidFill>
                <a:latin typeface="Microsoft YaHei" panose="020B0503020204020204" pitchFamily="34" charset="-122"/>
                <a:ea typeface="Microsoft YaHei" panose="020B0503020204020204" pitchFamily="34" charset="-122"/>
              </a:rPr>
              <a:t>SCRUM</a:t>
            </a:r>
            <a:r>
              <a:rPr lang="zh-CN" altLang="en-US" sz="1600" dirty="0">
                <a:solidFill>
                  <a:schemeClr val="tx2"/>
                </a:solidFill>
                <a:latin typeface="Microsoft YaHei" panose="020B0503020204020204" pitchFamily="34" charset="-122"/>
                <a:ea typeface="Microsoft YaHei" panose="020B0503020204020204" pitchFamily="34" charset="-122"/>
              </a:rPr>
              <a:t> </a:t>
            </a:r>
            <a:r>
              <a:rPr lang="en-US" altLang="zh-CN" sz="1600" dirty="0">
                <a:solidFill>
                  <a:schemeClr val="tx2"/>
                </a:solidFill>
                <a:latin typeface="Microsoft YaHei" panose="020B0503020204020204" pitchFamily="34" charset="-122"/>
                <a:ea typeface="Microsoft YaHei" panose="020B0503020204020204" pitchFamily="34" charset="-122"/>
              </a:rPr>
              <a:t>–</a:t>
            </a:r>
            <a:r>
              <a:rPr lang="zh-CN" altLang="en-US" sz="1600" dirty="0">
                <a:solidFill>
                  <a:schemeClr val="tx2"/>
                </a:solidFill>
                <a:latin typeface="Microsoft YaHei" panose="020B0503020204020204" pitchFamily="34" charset="-122"/>
                <a:ea typeface="Microsoft YaHei" panose="020B0503020204020204" pitchFamily="34" charset="-122"/>
              </a:rPr>
              <a:t> 迭代式增量软件开发过程</a:t>
            </a:r>
          </a:p>
          <a:p>
            <a:pPr marL="212598" lvl="1" indent="0" eaLnBrk="1" hangingPunct="1">
              <a:lnSpc>
                <a:spcPct val="120000"/>
              </a:lnSpc>
              <a:buNone/>
            </a:pPr>
            <a:r>
              <a:rPr lang="en-US" altLang="zh-CN" sz="1400" dirty="0">
                <a:solidFill>
                  <a:schemeClr val="tx2"/>
                </a:solidFill>
                <a:latin typeface="Kaiti SC" panose="02010600040101010101" pitchFamily="2" charset="-122"/>
                <a:ea typeface="Kaiti SC" panose="02010600040101010101" pitchFamily="2" charset="-122"/>
              </a:rPr>
              <a:t>-</a:t>
            </a:r>
            <a:r>
              <a:rPr lang="zh-CN" altLang="en-US" sz="1400" dirty="0">
                <a:solidFill>
                  <a:schemeClr val="tx2"/>
                </a:solidFill>
                <a:latin typeface="Kaiti SC" panose="02010600040101010101" pitchFamily="2" charset="-122"/>
                <a:ea typeface="Kaiti SC" panose="02010600040101010101" pitchFamily="2" charset="-122"/>
              </a:rPr>
              <a:t> 是一种迭代的增量化过程，用于产品开发或工作管理 </a:t>
            </a:r>
          </a:p>
          <a:p>
            <a:pPr marL="285750" indent="-285750">
              <a:lnSpc>
                <a:spcPct val="120000"/>
              </a:lnSpc>
              <a:buSzPct val="60000"/>
              <a:buFont typeface="Wingdings" pitchFamily="2" charset="2"/>
              <a:buChar char="l"/>
            </a:pPr>
            <a:r>
              <a:rPr lang="en-US" altLang="zh-CN" sz="1600" dirty="0">
                <a:solidFill>
                  <a:srgbClr val="C00000"/>
                </a:solidFill>
                <a:latin typeface="Microsoft YaHei" panose="020B0503020204020204" pitchFamily="34" charset="-122"/>
                <a:ea typeface="Microsoft YaHei" panose="020B0503020204020204" pitchFamily="34" charset="-122"/>
              </a:rPr>
              <a:t>Crystal</a:t>
            </a:r>
            <a:r>
              <a:rPr lang="zh-CN" altLang="en-US" sz="1600" dirty="0">
                <a:solidFill>
                  <a:schemeClr val="tx2"/>
                </a:solidFill>
                <a:latin typeface="Microsoft YaHei" panose="020B0503020204020204" pitchFamily="34" charset="-122"/>
                <a:ea typeface="Microsoft YaHei" panose="020B0503020204020204" pitchFamily="34" charset="-122"/>
              </a:rPr>
              <a:t> </a:t>
            </a:r>
            <a:r>
              <a:rPr lang="en-US" altLang="zh-CN" sz="1600" dirty="0">
                <a:solidFill>
                  <a:schemeClr val="tx2"/>
                </a:solidFill>
                <a:latin typeface="Microsoft YaHei" panose="020B0503020204020204" pitchFamily="34" charset="-122"/>
                <a:ea typeface="Microsoft YaHei" panose="020B0503020204020204" pitchFamily="34" charset="-122"/>
              </a:rPr>
              <a:t>–</a:t>
            </a:r>
            <a:r>
              <a:rPr lang="zh-CN" altLang="en-US" sz="1600" dirty="0">
                <a:solidFill>
                  <a:schemeClr val="tx2"/>
                </a:solidFill>
                <a:latin typeface="Microsoft YaHei" panose="020B0503020204020204" pitchFamily="34" charset="-122"/>
                <a:ea typeface="Microsoft YaHei" panose="020B0503020204020204" pitchFamily="34" charset="-122"/>
              </a:rPr>
              <a:t> 透明水晶方法</a:t>
            </a:r>
            <a:endParaRPr lang="en-US" altLang="zh-CN" sz="1600" dirty="0">
              <a:solidFill>
                <a:schemeClr val="tx2"/>
              </a:solidFill>
              <a:latin typeface="Microsoft YaHei" panose="020B0503020204020204" pitchFamily="34" charset="-122"/>
              <a:ea typeface="Microsoft YaHei" panose="020B0503020204020204" pitchFamily="34" charset="-122"/>
            </a:endParaRPr>
          </a:p>
          <a:p>
            <a:pPr marL="212598" lvl="1" indent="0">
              <a:lnSpc>
                <a:spcPct val="120000"/>
              </a:lnSpc>
              <a:buNone/>
            </a:pPr>
            <a:r>
              <a:rPr lang="en-US" altLang="zh-CN" sz="1400" dirty="0">
                <a:solidFill>
                  <a:schemeClr val="tx2"/>
                </a:solidFill>
                <a:latin typeface="Kaiti SC" panose="02010600040101010101" pitchFamily="2" charset="-122"/>
                <a:ea typeface="Kaiti SC" panose="02010600040101010101" pitchFamily="2" charset="-122"/>
              </a:rPr>
              <a:t>-</a:t>
            </a:r>
            <a:r>
              <a:rPr lang="zh-CN" altLang="en-US" sz="1400" dirty="0">
                <a:solidFill>
                  <a:schemeClr val="tx2"/>
                </a:solidFill>
                <a:latin typeface="Kaiti SC" panose="02010600040101010101" pitchFamily="2" charset="-122"/>
                <a:ea typeface="Kaiti SC" panose="02010600040101010101" pitchFamily="2" charset="-122"/>
              </a:rPr>
              <a:t> 由</a:t>
            </a:r>
            <a:r>
              <a:rPr lang="en-US" altLang="zh-CN" sz="1400" dirty="0">
                <a:solidFill>
                  <a:schemeClr val="tx2"/>
                </a:solidFill>
                <a:latin typeface="Kaiti SC" panose="02010600040101010101" pitchFamily="2" charset="-122"/>
                <a:ea typeface="Kaiti SC" panose="02010600040101010101" pitchFamily="2" charset="-122"/>
              </a:rPr>
              <a:t>Alistair Cockburn</a:t>
            </a:r>
            <a:r>
              <a:rPr lang="zh-CN" altLang="en-US" sz="1400" dirty="0">
                <a:solidFill>
                  <a:schemeClr val="tx2"/>
                </a:solidFill>
                <a:latin typeface="Kaiti SC" panose="02010600040101010101" pitchFamily="2" charset="-122"/>
                <a:ea typeface="Kaiti SC" panose="02010600040101010101" pitchFamily="2" charset="-122"/>
              </a:rPr>
              <a:t>在</a:t>
            </a:r>
            <a:r>
              <a:rPr lang="en-US" altLang="zh-CN" sz="1400" dirty="0">
                <a:solidFill>
                  <a:schemeClr val="tx2"/>
                </a:solidFill>
                <a:latin typeface="Kaiti SC" panose="02010600040101010101" pitchFamily="2" charset="-122"/>
                <a:ea typeface="Kaiti SC" panose="02010600040101010101" pitchFamily="2" charset="-122"/>
              </a:rPr>
              <a:t>1990</a:t>
            </a:r>
            <a:r>
              <a:rPr lang="zh-CN" altLang="en-US" sz="1400" dirty="0">
                <a:solidFill>
                  <a:schemeClr val="tx2"/>
                </a:solidFill>
                <a:latin typeface="Kaiti SC" panose="02010600040101010101" pitchFamily="2" charset="-122"/>
                <a:ea typeface="Kaiti SC" panose="02010600040101010101" pitchFamily="2" charset="-122"/>
              </a:rPr>
              <a:t>年代末提出，探索了用最少纪律约束而仍能成功的方法。不同类型的项目和环境选择最合适的 </a:t>
            </a:r>
            <a:r>
              <a:rPr lang="en-US" altLang="zh-CN" sz="1400" dirty="0">
                <a:solidFill>
                  <a:schemeClr val="tx2"/>
                </a:solidFill>
                <a:latin typeface="Kaiti SC" panose="02010600040101010101" pitchFamily="2" charset="-122"/>
                <a:ea typeface="Kaiti SC" panose="02010600040101010101" pitchFamily="2" charset="-122"/>
              </a:rPr>
              <a:t>Crystal </a:t>
            </a:r>
            <a:r>
              <a:rPr lang="zh-CN" altLang="en-US" sz="1400" dirty="0">
                <a:solidFill>
                  <a:schemeClr val="tx2"/>
                </a:solidFill>
                <a:latin typeface="Kaiti SC" panose="02010600040101010101" pitchFamily="2" charset="-122"/>
                <a:ea typeface="Kaiti SC" panose="02010600040101010101" pitchFamily="2" charset="-122"/>
              </a:rPr>
              <a:t>家族成员</a:t>
            </a:r>
          </a:p>
          <a:p>
            <a:pPr marL="285750" indent="-285750">
              <a:lnSpc>
                <a:spcPct val="120000"/>
              </a:lnSpc>
              <a:buSzPct val="60000"/>
              <a:buFont typeface="Wingdings" pitchFamily="2" charset="2"/>
              <a:buChar char="l"/>
            </a:pPr>
            <a:r>
              <a:rPr lang="en-US" altLang="zh-CN" sz="1600" dirty="0">
                <a:solidFill>
                  <a:srgbClr val="C00000"/>
                </a:solidFill>
                <a:latin typeface="Microsoft YaHei" panose="020B0503020204020204" pitchFamily="34" charset="-122"/>
                <a:ea typeface="Microsoft YaHei" panose="020B0503020204020204" pitchFamily="34" charset="-122"/>
              </a:rPr>
              <a:t>FDD</a:t>
            </a:r>
            <a:r>
              <a:rPr lang="zh-CN" altLang="en-US" sz="1600" dirty="0">
                <a:solidFill>
                  <a:schemeClr val="tx2"/>
                </a:solidFill>
                <a:latin typeface="Microsoft YaHei" panose="020B0503020204020204" pitchFamily="34" charset="-122"/>
                <a:ea typeface="Microsoft YaHei" panose="020B0503020204020204" pitchFamily="34" charset="-122"/>
              </a:rPr>
              <a:t> </a:t>
            </a:r>
            <a:r>
              <a:rPr lang="en-US" altLang="zh-CN" sz="1600" dirty="0">
                <a:solidFill>
                  <a:schemeClr val="tx2"/>
                </a:solidFill>
                <a:latin typeface="Microsoft YaHei" panose="020B0503020204020204" pitchFamily="34" charset="-122"/>
                <a:ea typeface="Microsoft YaHei" panose="020B0503020204020204" pitchFamily="34" charset="-122"/>
              </a:rPr>
              <a:t>–</a:t>
            </a:r>
            <a:r>
              <a:rPr lang="zh-CN" altLang="en-US" sz="1600" dirty="0">
                <a:solidFill>
                  <a:schemeClr val="tx2"/>
                </a:solidFill>
                <a:latin typeface="Microsoft YaHei" panose="020B0503020204020204" pitchFamily="34" charset="-122"/>
                <a:ea typeface="Microsoft YaHei" panose="020B0503020204020204" pitchFamily="34" charset="-122"/>
              </a:rPr>
              <a:t> 特性驱动（</a:t>
            </a:r>
            <a:r>
              <a:rPr lang="en-US" altLang="zh-CN" sz="1600" dirty="0">
                <a:solidFill>
                  <a:schemeClr val="tx2"/>
                </a:solidFill>
                <a:latin typeface="Microsoft YaHei" panose="020B0503020204020204" pitchFamily="34" charset="-122"/>
                <a:ea typeface="Microsoft YaHei" panose="020B0503020204020204" pitchFamily="34" charset="-122"/>
              </a:rPr>
              <a:t>Feature Driven Development</a:t>
            </a:r>
            <a:r>
              <a:rPr lang="zh-CN" altLang="en-US" sz="1600" dirty="0">
                <a:solidFill>
                  <a:schemeClr val="tx2"/>
                </a:solidFill>
                <a:latin typeface="Microsoft YaHei" panose="020B0503020204020204" pitchFamily="34" charset="-122"/>
                <a:ea typeface="Microsoft YaHei" panose="020B0503020204020204" pitchFamily="34" charset="-122"/>
              </a:rPr>
              <a:t>）</a:t>
            </a:r>
          </a:p>
          <a:p>
            <a:pPr marL="317500" lvl="1" indent="-106363">
              <a:lnSpc>
                <a:spcPct val="120000"/>
              </a:lnSpc>
              <a:buNone/>
            </a:pPr>
            <a:r>
              <a:rPr lang="en-US" altLang="zh-CN" sz="1400" dirty="0">
                <a:solidFill>
                  <a:schemeClr val="tx2"/>
                </a:solidFill>
                <a:latin typeface="Kaiti SC" panose="02010600040101010101" pitchFamily="2" charset="-122"/>
                <a:ea typeface="Kaiti SC" panose="02010600040101010101" pitchFamily="2" charset="-122"/>
              </a:rPr>
              <a:t>-</a:t>
            </a:r>
            <a:r>
              <a:rPr lang="zh-CN" altLang="en-US" sz="1400" dirty="0">
                <a:solidFill>
                  <a:schemeClr val="tx2"/>
                </a:solidFill>
                <a:latin typeface="Kaiti SC" panose="02010600040101010101" pitchFamily="2" charset="-122"/>
                <a:ea typeface="Kaiti SC" panose="02010600040101010101" pitchFamily="2" charset="-122"/>
              </a:rPr>
              <a:t> 由</a:t>
            </a:r>
            <a:r>
              <a:rPr lang="en-US" altLang="zh-CN" sz="1400" dirty="0">
                <a:solidFill>
                  <a:schemeClr val="tx2"/>
                </a:solidFill>
                <a:latin typeface="Kaiti SC" panose="02010600040101010101" pitchFamily="2" charset="-122"/>
                <a:ea typeface="Kaiti SC" panose="02010600040101010101" pitchFamily="2" charset="-122"/>
              </a:rPr>
              <a:t>Peter Coad</a:t>
            </a:r>
            <a:r>
              <a:rPr lang="zh-CN" altLang="en-US" sz="1400" dirty="0">
                <a:solidFill>
                  <a:schemeClr val="tx2"/>
                </a:solidFill>
                <a:latin typeface="Kaiti SC" panose="02010600040101010101" pitchFamily="2" charset="-122"/>
                <a:ea typeface="Kaiti SC" panose="02010600040101010101" pitchFamily="2" charset="-122"/>
              </a:rPr>
              <a:t>、</a:t>
            </a:r>
            <a:r>
              <a:rPr lang="en-US" altLang="zh-CN" sz="1400" dirty="0">
                <a:solidFill>
                  <a:schemeClr val="tx2"/>
                </a:solidFill>
                <a:latin typeface="Kaiti SC" panose="02010600040101010101" pitchFamily="2" charset="-122"/>
                <a:ea typeface="Kaiti SC" panose="02010600040101010101" pitchFamily="2" charset="-122"/>
              </a:rPr>
              <a:t>Jeff de Luca </a:t>
            </a:r>
            <a:r>
              <a:rPr lang="zh-CN" altLang="en-US" sz="1400" dirty="0">
                <a:solidFill>
                  <a:schemeClr val="tx2"/>
                </a:solidFill>
                <a:latin typeface="Kaiti SC" panose="02010600040101010101" pitchFamily="2" charset="-122"/>
                <a:ea typeface="Kaiti SC" panose="02010600040101010101" pitchFamily="2" charset="-122"/>
              </a:rPr>
              <a:t>、</a:t>
            </a:r>
            <a:r>
              <a:rPr lang="en-US" altLang="zh-CN" sz="1400" dirty="0">
                <a:solidFill>
                  <a:schemeClr val="tx2"/>
                </a:solidFill>
                <a:latin typeface="Kaiti SC" panose="02010600040101010101" pitchFamily="2" charset="-122"/>
                <a:ea typeface="Kaiti SC" panose="02010600040101010101" pitchFamily="2" charset="-122"/>
              </a:rPr>
              <a:t>Eric Lefebvre</a:t>
            </a:r>
            <a:r>
              <a:rPr lang="zh-CN" altLang="en-US" sz="1400" dirty="0">
                <a:solidFill>
                  <a:schemeClr val="tx2"/>
                </a:solidFill>
                <a:latin typeface="Kaiti SC" panose="02010600040101010101" pitchFamily="2" charset="-122"/>
                <a:ea typeface="Kaiti SC" panose="02010600040101010101" pitchFamily="2" charset="-122"/>
              </a:rPr>
              <a:t>共同开发，是一套针对中小型软件开发项目的开发模式。它强调的是简化、实用、 易于被开发团队接受，适用于需求经常变动的项目。 </a:t>
            </a:r>
          </a:p>
          <a:p>
            <a:pPr marL="285750" indent="-285750" eaLnBrk="1" hangingPunct="1">
              <a:lnSpc>
                <a:spcPct val="120000"/>
              </a:lnSpc>
              <a:buSzPct val="60000"/>
              <a:buFont typeface="Wingdings" pitchFamily="2" charset="2"/>
              <a:buChar char="l"/>
            </a:pPr>
            <a:r>
              <a:rPr lang="en-US" altLang="zh-CN" sz="1600" dirty="0">
                <a:solidFill>
                  <a:srgbClr val="C00000"/>
                </a:solidFill>
                <a:latin typeface="Microsoft YaHei" panose="020B0503020204020204" pitchFamily="34" charset="-122"/>
                <a:ea typeface="Microsoft YaHei" panose="020B0503020204020204" pitchFamily="34" charset="-122"/>
              </a:rPr>
              <a:t>DSDM</a:t>
            </a:r>
            <a:r>
              <a:rPr lang="zh-CN" altLang="en-US" sz="1600" dirty="0">
                <a:solidFill>
                  <a:schemeClr val="tx2"/>
                </a:solidFill>
                <a:latin typeface="Microsoft YaHei" panose="020B0503020204020204" pitchFamily="34" charset="-122"/>
                <a:ea typeface="Microsoft YaHei" panose="020B0503020204020204" pitchFamily="34" charset="-122"/>
              </a:rPr>
              <a:t> </a:t>
            </a:r>
            <a:r>
              <a:rPr lang="en-US" altLang="zh-CN" sz="1600" dirty="0">
                <a:solidFill>
                  <a:schemeClr val="tx2"/>
                </a:solidFill>
                <a:latin typeface="Microsoft YaHei" panose="020B0503020204020204" pitchFamily="34" charset="-122"/>
                <a:ea typeface="Microsoft YaHei" panose="020B0503020204020204" pitchFamily="34" charset="-122"/>
              </a:rPr>
              <a:t>–</a:t>
            </a:r>
            <a:r>
              <a:rPr lang="zh-CN" altLang="en-US" sz="1600" dirty="0">
                <a:solidFill>
                  <a:schemeClr val="tx2"/>
                </a:solidFill>
                <a:latin typeface="Microsoft YaHei" panose="020B0503020204020204" pitchFamily="34" charset="-122"/>
                <a:ea typeface="Microsoft YaHei" panose="020B0503020204020204" pitchFamily="34" charset="-122"/>
              </a:rPr>
              <a:t> 动态系统开发方法（</a:t>
            </a:r>
            <a:r>
              <a:rPr lang="en-US" altLang="zh-CN" sz="1600" dirty="0">
                <a:solidFill>
                  <a:schemeClr val="tx2"/>
                </a:solidFill>
                <a:latin typeface="Microsoft YaHei" panose="020B0503020204020204" pitchFamily="34" charset="-122"/>
                <a:ea typeface="Microsoft YaHei" panose="020B0503020204020204" pitchFamily="34" charset="-122"/>
              </a:rPr>
              <a:t>Dynamic System Development Methodology</a:t>
            </a:r>
            <a:r>
              <a:rPr lang="zh-CN" altLang="en-US" sz="1600" dirty="0">
                <a:solidFill>
                  <a:schemeClr val="tx2"/>
                </a:solidFill>
                <a:latin typeface="Microsoft YaHei" panose="020B0503020204020204" pitchFamily="34" charset="-122"/>
                <a:ea typeface="Microsoft YaHei" panose="020B0503020204020204" pitchFamily="34" charset="-122"/>
              </a:rPr>
              <a:t>）</a:t>
            </a:r>
          </a:p>
          <a:p>
            <a:pPr marL="212598" lvl="1" indent="0">
              <a:lnSpc>
                <a:spcPct val="120000"/>
              </a:lnSpc>
              <a:buNone/>
            </a:pPr>
            <a:r>
              <a:rPr lang="en-US" altLang="zh-CN" sz="1400" dirty="0">
                <a:solidFill>
                  <a:schemeClr val="tx2"/>
                </a:solidFill>
                <a:latin typeface="Kaiti SC" panose="02010600040101010101" pitchFamily="2" charset="-122"/>
                <a:ea typeface="Kaiti SC" panose="02010600040101010101" pitchFamily="2" charset="-122"/>
              </a:rPr>
              <a:t>-</a:t>
            </a:r>
            <a:r>
              <a:rPr lang="zh-CN" altLang="en-US" sz="1400" dirty="0">
                <a:solidFill>
                  <a:schemeClr val="tx2"/>
                </a:solidFill>
                <a:latin typeface="Kaiti SC" panose="02010600040101010101" pitchFamily="2" charset="-122"/>
                <a:ea typeface="Kaiti SC" panose="02010600040101010101" pitchFamily="2" charset="-122"/>
              </a:rPr>
              <a:t> 它倡导以业务为核心，快速而有效地进行系统开发，在英国等欧洲国家比较流行</a:t>
            </a:r>
          </a:p>
          <a:p>
            <a:pPr marL="285750" indent="-285750" eaLnBrk="1" hangingPunct="1">
              <a:lnSpc>
                <a:spcPct val="120000"/>
              </a:lnSpc>
              <a:buSzPct val="60000"/>
              <a:buFont typeface="Wingdings" pitchFamily="2" charset="2"/>
              <a:buChar char="l"/>
            </a:pPr>
            <a:r>
              <a:rPr lang="en-US" altLang="zh-CN" sz="1600" dirty="0">
                <a:solidFill>
                  <a:srgbClr val="C00000"/>
                </a:solidFill>
                <a:latin typeface="Microsoft YaHei" panose="020B0503020204020204" pitchFamily="34" charset="-122"/>
                <a:ea typeface="Microsoft YaHei" panose="020B0503020204020204" pitchFamily="34" charset="-122"/>
              </a:rPr>
              <a:t>ASD</a:t>
            </a:r>
            <a:r>
              <a:rPr lang="zh-CN" altLang="en-US" sz="1600" dirty="0">
                <a:solidFill>
                  <a:schemeClr val="tx2"/>
                </a:solidFill>
                <a:latin typeface="Microsoft YaHei" panose="020B0503020204020204" pitchFamily="34" charset="-122"/>
                <a:ea typeface="Microsoft YaHei" panose="020B0503020204020204" pitchFamily="34" charset="-122"/>
              </a:rPr>
              <a:t> </a:t>
            </a:r>
            <a:r>
              <a:rPr lang="en-US" altLang="zh-CN" sz="1600" dirty="0">
                <a:solidFill>
                  <a:schemeClr val="tx2"/>
                </a:solidFill>
                <a:latin typeface="Microsoft YaHei" panose="020B0503020204020204" pitchFamily="34" charset="-122"/>
                <a:ea typeface="Microsoft YaHei" panose="020B0503020204020204" pitchFamily="34" charset="-122"/>
              </a:rPr>
              <a:t>–</a:t>
            </a:r>
            <a:r>
              <a:rPr lang="zh-CN" altLang="en-US" sz="1600" dirty="0">
                <a:solidFill>
                  <a:schemeClr val="tx2"/>
                </a:solidFill>
                <a:latin typeface="Microsoft YaHei" panose="020B0503020204020204" pitchFamily="34" charset="-122"/>
                <a:ea typeface="Microsoft YaHei" panose="020B0503020204020204" pitchFamily="34" charset="-122"/>
              </a:rPr>
              <a:t> 自适应软件开发（</a:t>
            </a:r>
            <a:r>
              <a:rPr lang="en-US" altLang="zh-CN" sz="1600" dirty="0">
                <a:solidFill>
                  <a:schemeClr val="tx2"/>
                </a:solidFill>
                <a:latin typeface="Microsoft YaHei" panose="020B0503020204020204" pitchFamily="34" charset="-122"/>
                <a:ea typeface="Microsoft YaHei" panose="020B0503020204020204" pitchFamily="34" charset="-122"/>
              </a:rPr>
              <a:t>Adaptive Software Development</a:t>
            </a:r>
            <a:r>
              <a:rPr lang="zh-CN" altLang="en-US" sz="1600" dirty="0">
                <a:solidFill>
                  <a:schemeClr val="tx2"/>
                </a:solidFill>
                <a:latin typeface="Microsoft YaHei" panose="020B0503020204020204" pitchFamily="34" charset="-122"/>
                <a:ea typeface="Microsoft YaHei" panose="020B0503020204020204" pitchFamily="34" charset="-122"/>
              </a:rPr>
              <a:t>）</a:t>
            </a:r>
          </a:p>
          <a:p>
            <a:pPr marL="212598" lvl="1" indent="0">
              <a:lnSpc>
                <a:spcPct val="120000"/>
              </a:lnSpc>
              <a:buNone/>
            </a:pPr>
            <a:r>
              <a:rPr lang="en-US" altLang="zh-CN" sz="1400" dirty="0">
                <a:solidFill>
                  <a:schemeClr val="tx2"/>
                </a:solidFill>
                <a:latin typeface="Kaiti SC" panose="02010600040101010101" pitchFamily="2" charset="-122"/>
                <a:ea typeface="Kaiti SC" panose="02010600040101010101" pitchFamily="2" charset="-122"/>
              </a:rPr>
              <a:t>-</a:t>
            </a:r>
            <a:r>
              <a:rPr lang="zh-CN" altLang="en-US" sz="1400" dirty="0">
                <a:solidFill>
                  <a:schemeClr val="tx2"/>
                </a:solidFill>
                <a:latin typeface="Kaiti SC" panose="02010600040101010101" pitchFamily="2" charset="-122"/>
                <a:ea typeface="Kaiti SC" panose="02010600040101010101" pitchFamily="2" charset="-122"/>
              </a:rPr>
              <a:t> 由</a:t>
            </a:r>
            <a:r>
              <a:rPr lang="en-US" altLang="zh-CN" sz="1400" dirty="0">
                <a:solidFill>
                  <a:schemeClr val="tx2"/>
                </a:solidFill>
                <a:latin typeface="Kaiti SC" panose="02010600040101010101" pitchFamily="2" charset="-122"/>
                <a:ea typeface="Kaiti SC" panose="02010600040101010101" pitchFamily="2" charset="-122"/>
              </a:rPr>
              <a:t>Jim Highsmith</a:t>
            </a:r>
            <a:r>
              <a:rPr lang="zh-CN" altLang="en-US" sz="1400" dirty="0">
                <a:solidFill>
                  <a:schemeClr val="tx2"/>
                </a:solidFill>
                <a:latin typeface="Kaiti SC" panose="02010600040101010101" pitchFamily="2" charset="-122"/>
                <a:ea typeface="Kaiti SC" panose="02010600040101010101" pitchFamily="2" charset="-122"/>
              </a:rPr>
              <a:t>在</a:t>
            </a:r>
            <a:r>
              <a:rPr lang="en-US" altLang="zh-CN" sz="1400" dirty="0">
                <a:solidFill>
                  <a:schemeClr val="tx2"/>
                </a:solidFill>
                <a:latin typeface="Kaiti SC" panose="02010600040101010101" pitchFamily="2" charset="-122"/>
                <a:ea typeface="Kaiti SC" panose="02010600040101010101" pitchFamily="2" charset="-122"/>
              </a:rPr>
              <a:t>1999</a:t>
            </a:r>
            <a:r>
              <a:rPr lang="zh-CN" altLang="en-US" sz="1400" dirty="0">
                <a:solidFill>
                  <a:schemeClr val="tx2"/>
                </a:solidFill>
                <a:latin typeface="Kaiti SC" panose="02010600040101010101" pitchFamily="2" charset="-122"/>
                <a:ea typeface="Kaiti SC" panose="02010600040101010101" pitchFamily="2" charset="-122"/>
              </a:rPr>
              <a:t>年正式提出。</a:t>
            </a:r>
            <a:r>
              <a:rPr lang="en-US" altLang="zh-CN" sz="1400" dirty="0">
                <a:solidFill>
                  <a:schemeClr val="tx2"/>
                </a:solidFill>
                <a:latin typeface="Kaiti SC" panose="02010600040101010101" pitchFamily="2" charset="-122"/>
                <a:ea typeface="Kaiti SC" panose="02010600040101010101" pitchFamily="2" charset="-122"/>
              </a:rPr>
              <a:t>ASD</a:t>
            </a:r>
            <a:r>
              <a:rPr lang="zh-CN" altLang="en-US" sz="1400" dirty="0">
                <a:solidFill>
                  <a:schemeClr val="tx2"/>
                </a:solidFill>
                <a:latin typeface="Kaiti SC" panose="02010600040101010101" pitchFamily="2" charset="-122"/>
                <a:ea typeface="Kaiti SC" panose="02010600040101010101" pitchFamily="2" charset="-122"/>
              </a:rPr>
              <a:t>强调开发方法的适应性（</a:t>
            </a:r>
            <a:r>
              <a:rPr lang="en-US" altLang="zh-CN" sz="1400" dirty="0">
                <a:solidFill>
                  <a:schemeClr val="tx2"/>
                </a:solidFill>
                <a:latin typeface="Kaiti SC" panose="02010600040101010101" pitchFamily="2" charset="-122"/>
                <a:ea typeface="Kaiti SC" panose="02010600040101010101" pitchFamily="2" charset="-122"/>
              </a:rPr>
              <a:t>Adaptive</a:t>
            </a:r>
            <a:r>
              <a:rPr lang="zh-CN" altLang="en-US" sz="1400" dirty="0">
                <a:solidFill>
                  <a:schemeClr val="tx2"/>
                </a:solidFill>
                <a:latin typeface="Kaiti SC" panose="02010600040101010101" pitchFamily="2" charset="-122"/>
                <a:ea typeface="Kaiti SC" panose="02010600040101010101" pitchFamily="2" charset="-122"/>
              </a:rPr>
              <a:t>） </a:t>
            </a:r>
          </a:p>
        </p:txBody>
      </p:sp>
    </p:spTree>
    <p:extLst>
      <p:ext uri="{BB962C8B-B14F-4D97-AF65-F5344CB8AC3E}">
        <p14:creationId xmlns:p14="http://schemas.microsoft.com/office/powerpoint/2010/main" val="117272577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1000"/>
                                        <p:tgtEl>
                                          <p:spTgt spid="98"/>
                                        </p:tgtEl>
                                      </p:cBhvr>
                                    </p:animEffect>
                                    <p:anim calcmode="lin" valueType="num">
                                      <p:cBhvr>
                                        <p:cTn id="8" dur="1000" fill="hold"/>
                                        <p:tgtEl>
                                          <p:spTgt spid="98"/>
                                        </p:tgtEl>
                                        <p:attrNameLst>
                                          <p:attrName>ppt_x</p:attrName>
                                        </p:attrNameLst>
                                      </p:cBhvr>
                                      <p:tavLst>
                                        <p:tav tm="0">
                                          <p:val>
                                            <p:strVal val="#ppt_x"/>
                                          </p:val>
                                        </p:tav>
                                        <p:tav tm="100000">
                                          <p:val>
                                            <p:strVal val="#ppt_x"/>
                                          </p:val>
                                        </p:tav>
                                      </p:tavLst>
                                    </p:anim>
                                    <p:anim calcmode="lin" valueType="num">
                                      <p:cBhvr>
                                        <p:cTn id="9" dur="1000" fill="hold"/>
                                        <p:tgtEl>
                                          <p:spTgt spid="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zh-CN" altLang="en-US" sz="2800" dirty="0">
                <a:solidFill>
                  <a:srgbClr val="4E8F00"/>
                </a:solidFill>
              </a:rPr>
              <a:t>敏捷开发特点</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a:t>
            </a:fld>
            <a:endParaRPr lang="zh-CN" altLang="en-US"/>
          </a:p>
        </p:txBody>
      </p:sp>
      <p:sp>
        <p:nvSpPr>
          <p:cNvPr id="98" name="Rectangle 3">
            <a:extLst>
              <a:ext uri="{FF2B5EF4-FFF2-40B4-BE49-F238E27FC236}">
                <a16:creationId xmlns:a16="http://schemas.microsoft.com/office/drawing/2014/main" id="{38BBFD36-2676-364D-9FC9-D25B0201F233}"/>
              </a:ext>
            </a:extLst>
          </p:cNvPr>
          <p:cNvSpPr>
            <a:spLocks noGrp="1" noChangeArrowheads="1"/>
          </p:cNvSpPr>
          <p:nvPr>
            <p:ph idx="1"/>
          </p:nvPr>
        </p:nvSpPr>
        <p:spPr>
          <a:xfrm>
            <a:off x="741363" y="1294946"/>
            <a:ext cx="7726977" cy="4824413"/>
          </a:xfrm>
        </p:spPr>
        <p:txBody>
          <a:bodyPr>
            <a:noAutofit/>
          </a:bodyPr>
          <a:lstStyle/>
          <a:p>
            <a:pPr marL="285750" indent="-285750">
              <a:buFont typeface="Arial" panose="020B0604020202020204" pitchFamily="34" charset="0"/>
              <a:buChar char="•"/>
            </a:pPr>
            <a:r>
              <a:rPr lang="zh-CN" altLang="en-US" sz="1800" dirty="0">
                <a:solidFill>
                  <a:schemeClr val="tx2"/>
                </a:solidFill>
                <a:latin typeface="Microsoft YaHei" panose="020B0503020204020204" pitchFamily="34" charset="-122"/>
                <a:ea typeface="Microsoft YaHei" panose="020B0503020204020204" pitchFamily="34" charset="-122"/>
              </a:rPr>
              <a:t>敏捷开发包括很多方法，例如</a:t>
            </a:r>
            <a:r>
              <a:rPr lang="en-US" altLang="zh-CN" sz="1800" dirty="0">
                <a:solidFill>
                  <a:schemeClr val="tx2"/>
                </a:solidFill>
                <a:latin typeface="Microsoft YaHei" panose="020B0503020204020204" pitchFamily="34" charset="-122"/>
                <a:ea typeface="Microsoft YaHei" panose="020B0503020204020204" pitchFamily="34" charset="-122"/>
              </a:rPr>
              <a:t>XP</a:t>
            </a:r>
            <a:r>
              <a:rPr lang="zh-CN" altLang="en-US" sz="1800" dirty="0">
                <a:solidFill>
                  <a:schemeClr val="tx2"/>
                </a:solidFill>
                <a:latin typeface="Microsoft YaHei" panose="020B0503020204020204" pitchFamily="34" charset="-122"/>
                <a:ea typeface="Microsoft YaHei" panose="020B0503020204020204" pitchFamily="34" charset="-122"/>
              </a:rPr>
              <a:t>和</a:t>
            </a:r>
            <a:r>
              <a:rPr lang="en-US" altLang="zh-CN" sz="1800" dirty="0">
                <a:solidFill>
                  <a:schemeClr val="tx2"/>
                </a:solidFill>
                <a:latin typeface="Microsoft YaHei" panose="020B0503020204020204" pitchFamily="34" charset="-122"/>
                <a:ea typeface="Microsoft YaHei" panose="020B0503020204020204" pitchFamily="34" charset="-122"/>
              </a:rPr>
              <a:t>SCRUM</a:t>
            </a:r>
            <a:r>
              <a:rPr lang="zh-CN" altLang="en-US" sz="1800" dirty="0">
                <a:solidFill>
                  <a:schemeClr val="tx2"/>
                </a:solidFill>
                <a:latin typeface="Microsoft YaHei" panose="020B0503020204020204" pitchFamily="34" charset="-122"/>
                <a:ea typeface="Microsoft YaHei" panose="020B0503020204020204" pitchFamily="34" charset="-122"/>
              </a:rPr>
              <a:t>，同重量级的文档驱动的开发过程相比较，敏捷方法在</a:t>
            </a:r>
            <a:r>
              <a:rPr lang="zh-CN" altLang="en-US" sz="1800" dirty="0">
                <a:solidFill>
                  <a:schemeClr val="tx2"/>
                </a:solidFill>
                <a:highlight>
                  <a:srgbClr val="FFFF00"/>
                </a:highlight>
                <a:latin typeface="Microsoft YaHei" panose="020B0503020204020204" pitchFamily="34" charset="-122"/>
                <a:ea typeface="Microsoft YaHei" panose="020B0503020204020204" pitchFamily="34" charset="-122"/>
              </a:rPr>
              <a:t>灵活性</a:t>
            </a:r>
            <a:r>
              <a:rPr lang="zh-CN" altLang="en-US" sz="1800" dirty="0">
                <a:solidFill>
                  <a:schemeClr val="tx2"/>
                </a:solidFill>
                <a:latin typeface="Microsoft YaHei" panose="020B0503020204020204" pitchFamily="34" charset="-122"/>
                <a:ea typeface="Microsoft YaHei" panose="020B0503020204020204" pitchFamily="34" charset="-122"/>
              </a:rPr>
              <a:t>等方面更有吸引力。这个方法的创始人强调了在软件实践过程中的</a:t>
            </a:r>
            <a:r>
              <a:rPr lang="zh-CN" altLang="en-US" sz="1800" dirty="0">
                <a:solidFill>
                  <a:schemeClr val="tx2"/>
                </a:solidFill>
                <a:highlight>
                  <a:srgbClr val="FFFF00"/>
                </a:highlight>
                <a:latin typeface="Microsoft YaHei" panose="020B0503020204020204" pitchFamily="34" charset="-122"/>
                <a:ea typeface="Microsoft YaHei" panose="020B0503020204020204" pitchFamily="34" charset="-122"/>
              </a:rPr>
              <a:t>变更</a:t>
            </a:r>
            <a:r>
              <a:rPr lang="zh-CN" altLang="en-US" sz="1800" dirty="0">
                <a:solidFill>
                  <a:schemeClr val="tx2"/>
                </a:solidFill>
                <a:latin typeface="Microsoft YaHei" panose="020B0503020204020204" pitchFamily="34" charset="-122"/>
                <a:ea typeface="Microsoft YaHei" panose="020B0503020204020204" pitchFamily="34" charset="-122"/>
              </a:rPr>
              <a:t>而不是孤立的进行一些实践。</a:t>
            </a:r>
          </a:p>
          <a:p>
            <a:pPr marL="285750" indent="-285750">
              <a:buFont typeface="Arial" panose="020B0604020202020204" pitchFamily="34" charset="0"/>
              <a:buChar char="•"/>
            </a:pPr>
            <a:r>
              <a:rPr lang="zh-CN" altLang="en-US" sz="1800" dirty="0">
                <a:solidFill>
                  <a:schemeClr val="tx2"/>
                </a:solidFill>
                <a:latin typeface="Microsoft YaHei" panose="020B0503020204020204" pitchFamily="34" charset="-122"/>
                <a:ea typeface="Microsoft YaHei" panose="020B0503020204020204" pitchFamily="34" charset="-122"/>
              </a:rPr>
              <a:t>很多方法很难独立的使用。如：结对开发，计划调整周期以及持续改进，不过，后来的结果证实，这些方法都取得了成功。</a:t>
            </a:r>
          </a:p>
          <a:p>
            <a:pPr marL="285750" indent="-285750">
              <a:buFont typeface="Arial" panose="020B0604020202020204" pitchFamily="34" charset="0"/>
              <a:buChar char="•"/>
            </a:pPr>
            <a:r>
              <a:rPr lang="zh-CN" altLang="en-US" sz="1800" dirty="0">
                <a:solidFill>
                  <a:schemeClr val="tx2"/>
                </a:solidFill>
                <a:latin typeface="Microsoft YaHei" panose="020B0503020204020204" pitchFamily="34" charset="-122"/>
                <a:ea typeface="Microsoft YaHei" panose="020B0503020204020204" pitchFamily="34" charset="-122"/>
              </a:rPr>
              <a:t>使用这些方法并不能保证一定成功。开发者的</a:t>
            </a:r>
            <a:r>
              <a:rPr lang="zh-CN" altLang="en-US" sz="1800" dirty="0">
                <a:solidFill>
                  <a:schemeClr val="tx2"/>
                </a:solidFill>
                <a:highlight>
                  <a:srgbClr val="FFFF00"/>
                </a:highlight>
                <a:latin typeface="Microsoft YaHei" panose="020B0503020204020204" pitchFamily="34" charset="-122"/>
                <a:ea typeface="Microsoft YaHei" panose="020B0503020204020204" pitchFamily="34" charset="-122"/>
              </a:rPr>
              <a:t>经验和技术</a:t>
            </a:r>
            <a:r>
              <a:rPr lang="zh-CN" altLang="en-US" sz="1800" dirty="0">
                <a:solidFill>
                  <a:schemeClr val="tx2"/>
                </a:solidFill>
                <a:latin typeface="Microsoft YaHei" panose="020B0503020204020204" pitchFamily="34" charset="-122"/>
                <a:ea typeface="Microsoft YaHei" panose="020B0503020204020204" pitchFamily="34" charset="-122"/>
              </a:rPr>
              <a:t>仍旧是影响开发结果的最主要因素。对于合适的人，基于敏捷原则的开发方法可以产生更好的结果，同时形成一个愉快地、有激情的</a:t>
            </a:r>
            <a:r>
              <a:rPr lang="zh-CN" altLang="en-US" sz="1800" dirty="0">
                <a:solidFill>
                  <a:schemeClr val="tx2"/>
                </a:solidFill>
                <a:highlight>
                  <a:srgbClr val="FFFF00"/>
                </a:highlight>
                <a:latin typeface="Microsoft YaHei" panose="020B0503020204020204" pitchFamily="34" charset="-122"/>
                <a:ea typeface="Microsoft YaHei" panose="020B0503020204020204" pitchFamily="34" charset="-122"/>
              </a:rPr>
              <a:t>工作环境</a:t>
            </a:r>
          </a:p>
        </p:txBody>
      </p:sp>
    </p:spTree>
    <p:extLst>
      <p:ext uri="{BB962C8B-B14F-4D97-AF65-F5344CB8AC3E}">
        <p14:creationId xmlns:p14="http://schemas.microsoft.com/office/powerpoint/2010/main" val="93875511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Effect transition="in" filter="fade">
                                      <p:cBhvr>
                                        <p:cTn id="7" dur="1000"/>
                                        <p:tgtEl>
                                          <p:spTgt spid="98">
                                            <p:txEl>
                                              <p:pRg st="0" end="0"/>
                                            </p:txEl>
                                          </p:spTgt>
                                        </p:tgtEl>
                                      </p:cBhvr>
                                    </p:animEffect>
                                    <p:anim calcmode="lin" valueType="num">
                                      <p:cBhvr>
                                        <p:cTn id="8" dur="1000" fill="hold"/>
                                        <p:tgtEl>
                                          <p:spTgt spid="9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8">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Effect transition="in" filter="fade">
                                      <p:cBhvr>
                                        <p:cTn id="13" dur="1000"/>
                                        <p:tgtEl>
                                          <p:spTgt spid="98">
                                            <p:txEl>
                                              <p:pRg st="1" end="1"/>
                                            </p:txEl>
                                          </p:spTgt>
                                        </p:tgtEl>
                                      </p:cBhvr>
                                    </p:animEffect>
                                    <p:anim calcmode="lin" valueType="num">
                                      <p:cBhvr>
                                        <p:cTn id="14" dur="1000" fill="hold"/>
                                        <p:tgtEl>
                                          <p:spTgt spid="98">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98">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Effect transition="in" filter="fade">
                                      <p:cBhvr>
                                        <p:cTn id="19" dur="1000"/>
                                        <p:tgtEl>
                                          <p:spTgt spid="98">
                                            <p:txEl>
                                              <p:pRg st="2" end="2"/>
                                            </p:txEl>
                                          </p:spTgt>
                                        </p:tgtEl>
                                      </p:cBhvr>
                                    </p:animEffect>
                                    <p:anim calcmode="lin" valueType="num">
                                      <p:cBhvr>
                                        <p:cTn id="20" dur="1000" fill="hold"/>
                                        <p:tgtEl>
                                          <p:spTgt spid="98">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9EB6FFD9-1155-2442-9613-BA04BB5E457C}"/>
              </a:ext>
            </a:extLst>
          </p:cNvPr>
          <p:cNvSpPr>
            <a:spLocks noGrp="1"/>
          </p:cNvSpPr>
          <p:nvPr>
            <p:ph type="dt" sz="half" idx="10"/>
          </p:nvPr>
        </p:nvSpPr>
        <p:spPr/>
        <p:txBody>
          <a:bodyPr/>
          <a:lstStyle/>
          <a:p>
            <a:fld id="{C69415A0-FAE7-FB41-9F48-9F24B7034EC9}" type="datetime1">
              <a:rPr lang="zh-CN" altLang="en-US" smtClean="0"/>
              <a:t>2025/2/6</a:t>
            </a:fld>
            <a:endParaRPr lang="en-US" dirty="0"/>
          </a:p>
        </p:txBody>
      </p:sp>
      <p:sp>
        <p:nvSpPr>
          <p:cNvPr id="5" name="页脚占位符 4">
            <a:extLst>
              <a:ext uri="{FF2B5EF4-FFF2-40B4-BE49-F238E27FC236}">
                <a16:creationId xmlns:a16="http://schemas.microsoft.com/office/drawing/2014/main" id="{71455389-9AE8-6347-879C-379AE504A87D}"/>
              </a:ext>
            </a:extLst>
          </p:cNvPr>
          <p:cNvSpPr>
            <a:spLocks noGrp="1"/>
          </p:cNvSpPr>
          <p:nvPr>
            <p:ph type="ftr" sz="quarter" idx="11"/>
          </p:nvPr>
        </p:nvSpPr>
        <p:spPr/>
        <p:txBody>
          <a:bodyPr/>
          <a:lstStyle/>
          <a:p>
            <a:r>
              <a:rPr lang="zh-CN" altLang="en-US"/>
              <a:t>重庆大学大数据与软件学院</a:t>
            </a:r>
            <a:endParaRPr lang="zh-CN" altLang="en-US" dirty="0"/>
          </a:p>
        </p:txBody>
      </p:sp>
      <p:sp>
        <p:nvSpPr>
          <p:cNvPr id="6" name="灯片编号占位符 5">
            <a:extLst>
              <a:ext uri="{FF2B5EF4-FFF2-40B4-BE49-F238E27FC236}">
                <a16:creationId xmlns:a16="http://schemas.microsoft.com/office/drawing/2014/main" id="{C6F3F067-E51A-7142-A6BF-81E5C7FF4446}"/>
              </a:ext>
            </a:extLst>
          </p:cNvPr>
          <p:cNvSpPr>
            <a:spLocks noGrp="1"/>
          </p:cNvSpPr>
          <p:nvPr>
            <p:ph type="sldNum" sz="quarter" idx="12"/>
          </p:nvPr>
        </p:nvSpPr>
        <p:spPr/>
        <p:txBody>
          <a:bodyPr/>
          <a:lstStyle/>
          <a:p>
            <a:fld id="{9CD8D479-8942-46E8-A226-A4E01F7A105C}" type="slidenum">
              <a:rPr lang="en-US" altLang="zh-CN" smtClean="0"/>
              <a:pPr/>
              <a:t>9</a:t>
            </a:fld>
            <a:endParaRPr lang="zh-CN" altLang="en-US" dirty="0"/>
          </a:p>
        </p:txBody>
      </p:sp>
      <p:pic>
        <p:nvPicPr>
          <p:cNvPr id="7" name="图片 6">
            <a:extLst>
              <a:ext uri="{FF2B5EF4-FFF2-40B4-BE49-F238E27FC236}">
                <a16:creationId xmlns:a16="http://schemas.microsoft.com/office/drawing/2014/main" id="{73CB3118-4E13-174B-8B2B-E589AC38E434}"/>
              </a:ext>
            </a:extLst>
          </p:cNvPr>
          <p:cNvPicPr>
            <a:picLocks noChangeAspect="1"/>
          </p:cNvPicPr>
          <p:nvPr/>
        </p:nvPicPr>
        <p:blipFill>
          <a:blip r:embed="rId2"/>
          <a:stretch>
            <a:fillRect/>
          </a:stretch>
        </p:blipFill>
        <p:spPr>
          <a:xfrm>
            <a:off x="-1" y="995756"/>
            <a:ext cx="9144000" cy="5506065"/>
          </a:xfrm>
          <a:prstGeom prst="rect">
            <a:avLst/>
          </a:prstGeom>
        </p:spPr>
      </p:pic>
      <p:pic>
        <p:nvPicPr>
          <p:cNvPr id="8" name="图片 7">
            <a:extLst>
              <a:ext uri="{FF2B5EF4-FFF2-40B4-BE49-F238E27FC236}">
                <a16:creationId xmlns:a16="http://schemas.microsoft.com/office/drawing/2014/main" id="{24003F46-ABA0-7B45-8800-1BB0AFE58EC3}"/>
              </a:ext>
            </a:extLst>
          </p:cNvPr>
          <p:cNvPicPr>
            <a:picLocks noChangeAspect="1"/>
          </p:cNvPicPr>
          <p:nvPr/>
        </p:nvPicPr>
        <p:blipFill rotWithShape="1">
          <a:blip r:embed="rId2"/>
          <a:srcRect l="28422" t="23211" r="29524" b="37347"/>
          <a:stretch/>
        </p:blipFill>
        <p:spPr>
          <a:xfrm>
            <a:off x="457002" y="1424820"/>
            <a:ext cx="8229993" cy="4647936"/>
          </a:xfrm>
          <a:prstGeom prst="rect">
            <a:avLst/>
          </a:prstGeom>
          <a:ln>
            <a:noFill/>
          </a:ln>
          <a:effectLst>
            <a:outerShdw blurRad="292100" dist="139700" dir="2700000" algn="tl" rotWithShape="0">
              <a:srgbClr val="333333">
                <a:alpha val="65000"/>
              </a:srgbClr>
            </a:outerShdw>
          </a:effectLst>
        </p:spPr>
      </p:pic>
      <p:sp>
        <p:nvSpPr>
          <p:cNvPr id="9" name="Rectangle 2">
            <a:extLst>
              <a:ext uri="{FF2B5EF4-FFF2-40B4-BE49-F238E27FC236}">
                <a16:creationId xmlns:a16="http://schemas.microsoft.com/office/drawing/2014/main" id="{56D71A7A-85FB-5A41-90FB-43B2BB026A43}"/>
              </a:ext>
            </a:extLst>
          </p:cNvPr>
          <p:cNvSpPr>
            <a:spLocks noGrp="1" noChangeArrowheads="1"/>
          </p:cNvSpPr>
          <p:nvPr>
            <p:ph type="title"/>
          </p:nvPr>
        </p:nvSpPr>
        <p:spPr>
          <a:xfrm>
            <a:off x="683314" y="348911"/>
            <a:ext cx="7785026" cy="646845"/>
          </a:xfrm>
        </p:spPr>
        <p:txBody>
          <a:bodyPr>
            <a:normAutofit/>
          </a:bodyPr>
          <a:lstStyle/>
          <a:p>
            <a:r>
              <a:rPr lang="zh-CN" altLang="en-US" sz="2800" dirty="0">
                <a:solidFill>
                  <a:srgbClr val="4E8F00"/>
                </a:solidFill>
              </a:rPr>
              <a:t>敏捷宣言</a:t>
            </a:r>
          </a:p>
        </p:txBody>
      </p:sp>
      <p:sp>
        <p:nvSpPr>
          <p:cNvPr id="2" name="框架 1">
            <a:extLst>
              <a:ext uri="{FF2B5EF4-FFF2-40B4-BE49-F238E27FC236}">
                <a16:creationId xmlns:a16="http://schemas.microsoft.com/office/drawing/2014/main" id="{9D4EB610-A4BD-1846-B5E8-AA48E0393FEE}"/>
              </a:ext>
            </a:extLst>
          </p:cNvPr>
          <p:cNvSpPr/>
          <p:nvPr/>
        </p:nvSpPr>
        <p:spPr>
          <a:xfrm>
            <a:off x="2547257" y="2641600"/>
            <a:ext cx="2024743" cy="2191657"/>
          </a:xfrm>
          <a:prstGeom prst="frame">
            <a:avLst>
              <a:gd name="adj1" fmla="val 778"/>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Tree>
    <p:extLst>
      <p:ext uri="{BB962C8B-B14F-4D97-AF65-F5344CB8AC3E}">
        <p14:creationId xmlns:p14="http://schemas.microsoft.com/office/powerpoint/2010/main" val="229329357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zh-CN" altLang="en-US" sz="2800" dirty="0">
                <a:solidFill>
                  <a:srgbClr val="4E8F00"/>
                </a:solidFill>
              </a:rPr>
              <a:t>敏捷宣言</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a:t>
            </a:fld>
            <a:endParaRPr lang="zh-CN" altLang="en-US"/>
          </a:p>
        </p:txBody>
      </p:sp>
      <p:grpSp>
        <p:nvGrpSpPr>
          <p:cNvPr id="4" name="组合 3">
            <a:extLst>
              <a:ext uri="{FF2B5EF4-FFF2-40B4-BE49-F238E27FC236}">
                <a16:creationId xmlns:a16="http://schemas.microsoft.com/office/drawing/2014/main" id="{90DD4CBC-E1D1-FB42-B152-E3679EFE9598}"/>
              </a:ext>
            </a:extLst>
          </p:cNvPr>
          <p:cNvGrpSpPr/>
          <p:nvPr/>
        </p:nvGrpSpPr>
        <p:grpSpPr>
          <a:xfrm>
            <a:off x="600330" y="2270327"/>
            <a:ext cx="8126698" cy="3076976"/>
            <a:chOff x="600330" y="2270327"/>
            <a:chExt cx="8126698" cy="3076976"/>
          </a:xfrm>
        </p:grpSpPr>
        <p:sp>
          <p:nvSpPr>
            <p:cNvPr id="9" name="Oval 3">
              <a:extLst>
                <a:ext uri="{FF2B5EF4-FFF2-40B4-BE49-F238E27FC236}">
                  <a16:creationId xmlns:a16="http://schemas.microsoft.com/office/drawing/2014/main" id="{53F1AEA0-3C18-3C4E-AD19-2BE9CE2E0B40}"/>
                </a:ext>
              </a:extLst>
            </p:cNvPr>
            <p:cNvSpPr>
              <a:spLocks noChangeArrowheads="1"/>
            </p:cNvSpPr>
            <p:nvPr/>
          </p:nvSpPr>
          <p:spPr bwMode="auto">
            <a:xfrm>
              <a:off x="3052314" y="3125024"/>
              <a:ext cx="3473011" cy="1679205"/>
            </a:xfrm>
            <a:prstGeom prst="ellipse">
              <a:avLst/>
            </a:prstGeom>
            <a:gradFill rotWithShape="1">
              <a:gsLst>
                <a:gs pos="0">
                  <a:srgbClr val="DDE3ED">
                    <a:alpha val="64998"/>
                  </a:srgbClr>
                </a:gs>
                <a:gs pos="100000">
                  <a:srgbClr val="89A9C1">
                    <a:alpha val="62000"/>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10" name="Oval 4">
              <a:extLst>
                <a:ext uri="{FF2B5EF4-FFF2-40B4-BE49-F238E27FC236}">
                  <a16:creationId xmlns:a16="http://schemas.microsoft.com/office/drawing/2014/main" id="{D131CF70-2B36-4C43-A5A1-DA9025086734}"/>
                </a:ext>
              </a:extLst>
            </p:cNvPr>
            <p:cNvSpPr>
              <a:spLocks noChangeArrowheads="1"/>
            </p:cNvSpPr>
            <p:nvPr/>
          </p:nvSpPr>
          <p:spPr bwMode="auto">
            <a:xfrm>
              <a:off x="3279326" y="3682005"/>
              <a:ext cx="2976412" cy="553899"/>
            </a:xfrm>
            <a:prstGeom prst="ellipse">
              <a:avLst/>
            </a:prstGeom>
            <a:gradFill rotWithShape="1">
              <a:gsLst>
                <a:gs pos="0">
                  <a:srgbClr val="F8F4A0"/>
                </a:gs>
                <a:gs pos="100000">
                  <a:srgbClr val="536BAD">
                    <a:alpha val="42998"/>
                  </a:srgbClr>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square"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pic>
          <p:nvPicPr>
            <p:cNvPr id="11" name="Picture 5" descr="Orange Curved Arrow Small">
              <a:extLst>
                <a:ext uri="{FF2B5EF4-FFF2-40B4-BE49-F238E27FC236}">
                  <a16:creationId xmlns:a16="http://schemas.microsoft.com/office/drawing/2014/main" id="{BB8131F5-764F-1743-A754-DE61FA4D33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3162460" flipH="1">
              <a:off x="5991958" y="2021429"/>
              <a:ext cx="775141" cy="2110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6" descr="Orange Curved Arrow Small">
              <a:extLst>
                <a:ext uri="{FF2B5EF4-FFF2-40B4-BE49-F238E27FC236}">
                  <a16:creationId xmlns:a16="http://schemas.microsoft.com/office/drawing/2014/main" id="{D306A9DF-B6A5-0B4C-B568-A1A0A39D0B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7737078" flipV="1">
              <a:off x="2711987" y="2013018"/>
              <a:ext cx="827665" cy="2075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7" descr="Orange Curved Arrow Small">
              <a:extLst>
                <a:ext uri="{FF2B5EF4-FFF2-40B4-BE49-F238E27FC236}">
                  <a16:creationId xmlns:a16="http://schemas.microsoft.com/office/drawing/2014/main" id="{4819F62E-FFED-8342-B4B8-C6757D9D00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0035107">
              <a:off x="2126162" y="4296480"/>
              <a:ext cx="1941830" cy="803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8" descr="Orange Curved Arrow Small">
              <a:extLst>
                <a:ext uri="{FF2B5EF4-FFF2-40B4-BE49-F238E27FC236}">
                  <a16:creationId xmlns:a16="http://schemas.microsoft.com/office/drawing/2014/main" id="{9CCDA87E-06BF-8B4A-9D88-2C4130FFC7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52834">
              <a:off x="5452118" y="4311625"/>
              <a:ext cx="1940238" cy="805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 Box 9">
              <a:extLst>
                <a:ext uri="{FF2B5EF4-FFF2-40B4-BE49-F238E27FC236}">
                  <a16:creationId xmlns:a16="http://schemas.microsoft.com/office/drawing/2014/main" id="{77A644E3-5847-C24A-96A3-38DAFA8D66D0}"/>
                </a:ext>
              </a:extLst>
            </p:cNvPr>
            <p:cNvSpPr txBox="1">
              <a:spLocks noChangeArrowheads="1"/>
            </p:cNvSpPr>
            <p:nvPr/>
          </p:nvSpPr>
          <p:spPr bwMode="auto">
            <a:xfrm>
              <a:off x="3579364" y="3427276"/>
              <a:ext cx="2581679" cy="832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r>
                <a:rPr lang="zh-CN" altLang="zh-CN" sz="2400" b="1">
                  <a:solidFill>
                    <a:srgbClr val="000000"/>
                  </a:solidFill>
                </a:rPr>
                <a:t>核心理念</a:t>
              </a:r>
              <a:r>
                <a:rPr lang="zh-CN" altLang="en-US" sz="2400" b="1">
                  <a:solidFill>
                    <a:srgbClr val="000000"/>
                  </a:solidFill>
                </a:rPr>
                <a:t>：</a:t>
              </a:r>
            </a:p>
            <a:p>
              <a:pPr algn="ctr" eaLnBrk="1" hangingPunct="1"/>
              <a:r>
                <a:rPr lang="zh-CN" altLang="en-US" sz="2400" b="1">
                  <a:solidFill>
                    <a:srgbClr val="000000"/>
                  </a:solidFill>
                </a:rPr>
                <a:t>适应和以人为本</a:t>
              </a:r>
              <a:endParaRPr lang="en-US" altLang="zh-CN" sz="2400" b="1">
                <a:solidFill>
                  <a:srgbClr val="000000"/>
                </a:solidFill>
              </a:endParaRPr>
            </a:p>
          </p:txBody>
        </p:sp>
        <p:grpSp>
          <p:nvGrpSpPr>
            <p:cNvPr id="19" name="Group 10">
              <a:extLst>
                <a:ext uri="{FF2B5EF4-FFF2-40B4-BE49-F238E27FC236}">
                  <a16:creationId xmlns:a16="http://schemas.microsoft.com/office/drawing/2014/main" id="{5F594DE6-7B9C-1F40-BBB2-1CC8B0F0CDD3}"/>
                </a:ext>
              </a:extLst>
            </p:cNvPr>
            <p:cNvGrpSpPr>
              <a:grpSpLocks/>
            </p:cNvGrpSpPr>
            <p:nvPr/>
          </p:nvGrpSpPr>
          <p:grpSpPr bwMode="auto">
            <a:xfrm>
              <a:off x="600330" y="4484748"/>
              <a:ext cx="2424105" cy="862554"/>
              <a:chOff x="1927" y="2292"/>
              <a:chExt cx="880" cy="331"/>
            </a:xfrm>
          </p:grpSpPr>
          <p:sp>
            <p:nvSpPr>
              <p:cNvPr id="20" name="Oval 11">
                <a:extLst>
                  <a:ext uri="{FF2B5EF4-FFF2-40B4-BE49-F238E27FC236}">
                    <a16:creationId xmlns:a16="http://schemas.microsoft.com/office/drawing/2014/main" id="{70841CB6-58AD-7346-AA87-5DC0B3619A65}"/>
                  </a:ext>
                </a:extLst>
              </p:cNvPr>
              <p:cNvSpPr>
                <a:spLocks noChangeArrowheads="1"/>
              </p:cNvSpPr>
              <p:nvPr/>
            </p:nvSpPr>
            <p:spPr bwMode="auto">
              <a:xfrm>
                <a:off x="1927" y="2306"/>
                <a:ext cx="880" cy="317"/>
              </a:xfrm>
              <a:prstGeom prst="ellipse">
                <a:avLst/>
              </a:prstGeom>
              <a:gradFill rotWithShape="1">
                <a:gsLst>
                  <a:gs pos="0">
                    <a:srgbClr val="5F5F5F"/>
                  </a:gs>
                  <a:gs pos="100000">
                    <a:srgbClr val="DDDDDD"/>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21" name="Oval 12">
                <a:extLst>
                  <a:ext uri="{FF2B5EF4-FFF2-40B4-BE49-F238E27FC236}">
                    <a16:creationId xmlns:a16="http://schemas.microsoft.com/office/drawing/2014/main" id="{2516CE7C-D896-944E-B88C-CE1A17581DDA}"/>
                  </a:ext>
                </a:extLst>
              </p:cNvPr>
              <p:cNvSpPr>
                <a:spLocks noChangeArrowheads="1"/>
              </p:cNvSpPr>
              <p:nvPr/>
            </p:nvSpPr>
            <p:spPr bwMode="ltGray">
              <a:xfrm>
                <a:off x="1974" y="2341"/>
                <a:ext cx="792" cy="261"/>
              </a:xfrm>
              <a:prstGeom prst="ellipse">
                <a:avLst/>
              </a:prstGeom>
              <a:gradFill rotWithShape="0">
                <a:gsLst>
                  <a:gs pos="0">
                    <a:srgbClr val="6A5E02"/>
                  </a:gs>
                  <a:gs pos="100000">
                    <a:srgbClr val="B19C03"/>
                  </a:gs>
                </a:gsLst>
                <a:lin ang="5400000" scaled="1"/>
              </a:gradFill>
              <a:ln w="28575" cap="rnd" algn="ctr">
                <a:solidFill>
                  <a:srgbClr val="4D4401"/>
                </a:solidFill>
                <a:round/>
                <a:headEnd/>
                <a:tailEnd/>
              </a:ln>
            </p:spPr>
            <p:txBody>
              <a:bodyPr lIns="22467" tIns="11234" rIns="22467" bIns="11234" anchor="ctr" anchorCtr="1">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pic>
            <p:nvPicPr>
              <p:cNvPr id="22" name="Picture 13" descr="guang5">
                <a:extLst>
                  <a:ext uri="{FF2B5EF4-FFF2-40B4-BE49-F238E27FC236}">
                    <a16:creationId xmlns:a16="http://schemas.microsoft.com/office/drawing/2014/main" id="{5C2E5440-148B-8142-BB06-9ABCAA4484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9" y="2292"/>
                <a:ext cx="747"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 name="Group 14">
              <a:extLst>
                <a:ext uri="{FF2B5EF4-FFF2-40B4-BE49-F238E27FC236}">
                  <a16:creationId xmlns:a16="http://schemas.microsoft.com/office/drawing/2014/main" id="{2E05336E-7817-F644-B19C-A7B468BA7A71}"/>
                </a:ext>
              </a:extLst>
            </p:cNvPr>
            <p:cNvGrpSpPr>
              <a:grpSpLocks/>
            </p:cNvGrpSpPr>
            <p:nvPr/>
          </p:nvGrpSpPr>
          <p:grpSpPr bwMode="auto">
            <a:xfrm>
              <a:off x="623207" y="2324742"/>
              <a:ext cx="2424105" cy="812158"/>
              <a:chOff x="1964" y="3849"/>
              <a:chExt cx="880" cy="329"/>
            </a:xfrm>
          </p:grpSpPr>
          <p:sp>
            <p:nvSpPr>
              <p:cNvPr id="24" name="Oval 15">
                <a:extLst>
                  <a:ext uri="{FF2B5EF4-FFF2-40B4-BE49-F238E27FC236}">
                    <a16:creationId xmlns:a16="http://schemas.microsoft.com/office/drawing/2014/main" id="{8CD475DC-155B-DA44-8F41-BE0C5B7F21DE}"/>
                  </a:ext>
                </a:extLst>
              </p:cNvPr>
              <p:cNvSpPr>
                <a:spLocks noChangeArrowheads="1"/>
              </p:cNvSpPr>
              <p:nvPr/>
            </p:nvSpPr>
            <p:spPr bwMode="auto">
              <a:xfrm>
                <a:off x="1964" y="3854"/>
                <a:ext cx="880" cy="324"/>
              </a:xfrm>
              <a:prstGeom prst="ellipse">
                <a:avLst/>
              </a:prstGeom>
              <a:gradFill rotWithShape="1">
                <a:gsLst>
                  <a:gs pos="0">
                    <a:srgbClr val="5F5F5F"/>
                  </a:gs>
                  <a:gs pos="100000">
                    <a:srgbClr val="DDDDDD"/>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25" name="Oval 16">
                <a:extLst>
                  <a:ext uri="{FF2B5EF4-FFF2-40B4-BE49-F238E27FC236}">
                    <a16:creationId xmlns:a16="http://schemas.microsoft.com/office/drawing/2014/main" id="{B23B0AD5-E98C-384D-8189-62BE1D337CE5}"/>
                  </a:ext>
                </a:extLst>
              </p:cNvPr>
              <p:cNvSpPr>
                <a:spLocks noChangeArrowheads="1"/>
              </p:cNvSpPr>
              <p:nvPr/>
            </p:nvSpPr>
            <p:spPr bwMode="ltGray">
              <a:xfrm>
                <a:off x="2011" y="3889"/>
                <a:ext cx="792" cy="267"/>
              </a:xfrm>
              <a:prstGeom prst="ellipse">
                <a:avLst/>
              </a:prstGeom>
              <a:gradFill rotWithShape="0">
                <a:gsLst>
                  <a:gs pos="0">
                    <a:srgbClr val="2A5811"/>
                  </a:gs>
                  <a:gs pos="100000">
                    <a:srgbClr val="46921C"/>
                  </a:gs>
                </a:gsLst>
                <a:lin ang="5400000" scaled="1"/>
              </a:gradFill>
              <a:ln w="28575" cap="rnd" algn="ctr">
                <a:solidFill>
                  <a:srgbClr val="255C1C"/>
                </a:solidFill>
                <a:round/>
                <a:headEnd/>
                <a:tailEnd/>
              </a:ln>
            </p:spPr>
            <p:txBody>
              <a:bodyPr lIns="22467" tIns="11234" rIns="22467" bIns="11234" anchor="ctr" anchorCtr="1">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pic>
            <p:nvPicPr>
              <p:cNvPr id="26" name="Picture 17" descr="guang5">
                <a:extLst>
                  <a:ext uri="{FF2B5EF4-FFF2-40B4-BE49-F238E27FC236}">
                    <a16:creationId xmlns:a16="http://schemas.microsoft.com/office/drawing/2014/main" id="{7AEB8866-537B-B549-AC6C-35CAAC0DE0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6" y="3849"/>
                <a:ext cx="751"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 name="Group 18">
              <a:extLst>
                <a:ext uri="{FF2B5EF4-FFF2-40B4-BE49-F238E27FC236}">
                  <a16:creationId xmlns:a16="http://schemas.microsoft.com/office/drawing/2014/main" id="{92836301-5277-E444-9893-3FB5185711BC}"/>
                </a:ext>
              </a:extLst>
            </p:cNvPr>
            <p:cNvGrpSpPr>
              <a:grpSpLocks/>
            </p:cNvGrpSpPr>
            <p:nvPr/>
          </p:nvGrpSpPr>
          <p:grpSpPr bwMode="auto">
            <a:xfrm>
              <a:off x="6225066" y="2270327"/>
              <a:ext cx="2427287" cy="873328"/>
              <a:chOff x="2934" y="3306"/>
              <a:chExt cx="880" cy="378"/>
            </a:xfrm>
          </p:grpSpPr>
          <p:sp>
            <p:nvSpPr>
              <p:cNvPr id="28" name="Oval 19">
                <a:extLst>
                  <a:ext uri="{FF2B5EF4-FFF2-40B4-BE49-F238E27FC236}">
                    <a16:creationId xmlns:a16="http://schemas.microsoft.com/office/drawing/2014/main" id="{B28B310C-A7EB-CA44-9034-46CBD40CC125}"/>
                  </a:ext>
                </a:extLst>
              </p:cNvPr>
              <p:cNvSpPr>
                <a:spLocks noChangeArrowheads="1"/>
              </p:cNvSpPr>
              <p:nvPr/>
            </p:nvSpPr>
            <p:spPr bwMode="auto">
              <a:xfrm>
                <a:off x="2934" y="3336"/>
                <a:ext cx="880" cy="316"/>
              </a:xfrm>
              <a:prstGeom prst="ellipse">
                <a:avLst/>
              </a:prstGeom>
              <a:gradFill rotWithShape="1">
                <a:gsLst>
                  <a:gs pos="0">
                    <a:srgbClr val="808080"/>
                  </a:gs>
                  <a:gs pos="100000">
                    <a:srgbClr val="CCCCFF"/>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pic>
            <p:nvPicPr>
              <p:cNvPr id="29" name="Picture 20" descr="guang5">
                <a:extLst>
                  <a:ext uri="{FF2B5EF4-FFF2-40B4-BE49-F238E27FC236}">
                    <a16:creationId xmlns:a16="http://schemas.microsoft.com/office/drawing/2014/main" id="{5CB4D9EB-42B4-964C-905A-F7927F5F30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2" y="3318"/>
                <a:ext cx="730"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Oval 21">
                <a:extLst>
                  <a:ext uri="{FF2B5EF4-FFF2-40B4-BE49-F238E27FC236}">
                    <a16:creationId xmlns:a16="http://schemas.microsoft.com/office/drawing/2014/main" id="{9A1B73D3-D87A-4248-8BD8-1539A375FE7F}"/>
                  </a:ext>
                </a:extLst>
              </p:cNvPr>
              <p:cNvSpPr>
                <a:spLocks noChangeArrowheads="1"/>
              </p:cNvSpPr>
              <p:nvPr/>
            </p:nvSpPr>
            <p:spPr bwMode="auto">
              <a:xfrm>
                <a:off x="2981" y="3306"/>
                <a:ext cx="792" cy="378"/>
              </a:xfrm>
              <a:prstGeom prst="ellipse">
                <a:avLst/>
              </a:prstGeom>
              <a:gradFill rotWithShape="0">
                <a:gsLst>
                  <a:gs pos="0">
                    <a:srgbClr val="393769"/>
                  </a:gs>
                  <a:gs pos="100000">
                    <a:srgbClr val="7B76E2"/>
                  </a:gs>
                </a:gsLst>
                <a:lin ang="2700000" scaled="1"/>
              </a:gradFill>
              <a:ln w="28575" algn="ctr">
                <a:solidFill>
                  <a:srgbClr val="424121"/>
                </a:solidFill>
                <a:round/>
                <a:headEnd/>
                <a:tailEnd/>
              </a:ln>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pic>
            <p:nvPicPr>
              <p:cNvPr id="31" name="Picture 22" descr="guang5">
                <a:extLst>
                  <a:ext uri="{FF2B5EF4-FFF2-40B4-BE49-F238E27FC236}">
                    <a16:creationId xmlns:a16="http://schemas.microsoft.com/office/drawing/2014/main" id="{B98ECDAA-FD03-7442-BB17-DCC1E98AB8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1" y="3318"/>
                <a:ext cx="698"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2" name="Group 23">
              <a:extLst>
                <a:ext uri="{FF2B5EF4-FFF2-40B4-BE49-F238E27FC236}">
                  <a16:creationId xmlns:a16="http://schemas.microsoft.com/office/drawing/2014/main" id="{F9253172-4C33-E14D-AB4F-3BF4A5165247}"/>
                </a:ext>
              </a:extLst>
            </p:cNvPr>
            <p:cNvGrpSpPr>
              <a:grpSpLocks/>
            </p:cNvGrpSpPr>
            <p:nvPr/>
          </p:nvGrpSpPr>
          <p:grpSpPr bwMode="auto">
            <a:xfrm>
              <a:off x="6302923" y="4548643"/>
              <a:ext cx="2424105" cy="798660"/>
              <a:chOff x="2953" y="3833"/>
              <a:chExt cx="880" cy="378"/>
            </a:xfrm>
          </p:grpSpPr>
          <p:sp>
            <p:nvSpPr>
              <p:cNvPr id="33" name="Oval 24">
                <a:extLst>
                  <a:ext uri="{FF2B5EF4-FFF2-40B4-BE49-F238E27FC236}">
                    <a16:creationId xmlns:a16="http://schemas.microsoft.com/office/drawing/2014/main" id="{3D2CA3E2-D63A-154B-AFA5-BB8C2A1B3A60}"/>
                  </a:ext>
                </a:extLst>
              </p:cNvPr>
              <p:cNvSpPr>
                <a:spLocks noChangeArrowheads="1"/>
              </p:cNvSpPr>
              <p:nvPr/>
            </p:nvSpPr>
            <p:spPr bwMode="auto">
              <a:xfrm>
                <a:off x="2953" y="3867"/>
                <a:ext cx="880" cy="297"/>
              </a:xfrm>
              <a:prstGeom prst="ellipse">
                <a:avLst/>
              </a:prstGeom>
              <a:gradFill rotWithShape="1">
                <a:gsLst>
                  <a:gs pos="0">
                    <a:srgbClr val="5F5F5F"/>
                  </a:gs>
                  <a:gs pos="100000">
                    <a:srgbClr val="DDDDDD"/>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
            <p:nvSpPr>
              <p:cNvPr id="34" name="Oval 25">
                <a:extLst>
                  <a:ext uri="{FF2B5EF4-FFF2-40B4-BE49-F238E27FC236}">
                    <a16:creationId xmlns:a16="http://schemas.microsoft.com/office/drawing/2014/main" id="{11D78091-8A27-4944-BFF6-B6590C073D66}"/>
                  </a:ext>
                </a:extLst>
              </p:cNvPr>
              <p:cNvSpPr>
                <a:spLocks noChangeArrowheads="1"/>
              </p:cNvSpPr>
              <p:nvPr/>
            </p:nvSpPr>
            <p:spPr bwMode="auto">
              <a:xfrm>
                <a:off x="3000" y="3833"/>
                <a:ext cx="792" cy="378"/>
              </a:xfrm>
              <a:prstGeom prst="ellipse">
                <a:avLst/>
              </a:prstGeom>
              <a:gradFill rotWithShape="0">
                <a:gsLst>
                  <a:gs pos="0">
                    <a:srgbClr val="726084"/>
                  </a:gs>
                  <a:gs pos="100000">
                    <a:srgbClr val="B8ADC3"/>
                  </a:gs>
                </a:gsLst>
                <a:lin ang="5400000" scaled="1"/>
              </a:gradFill>
              <a:ln w="38100" algn="ctr">
                <a:solidFill>
                  <a:srgbClr val="625070"/>
                </a:solidFill>
                <a:round/>
                <a:headEnd/>
                <a:tailEnd/>
              </a:ln>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pic>
            <p:nvPicPr>
              <p:cNvPr id="35" name="Picture 26" descr="guang5">
                <a:extLst>
                  <a:ext uri="{FF2B5EF4-FFF2-40B4-BE49-F238E27FC236}">
                    <a16:creationId xmlns:a16="http://schemas.microsoft.com/office/drawing/2014/main" id="{44FFA712-073A-8942-9171-0FB8E84126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5" y="3849"/>
                <a:ext cx="751"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6" name="Rectangle 27">
              <a:extLst>
                <a:ext uri="{FF2B5EF4-FFF2-40B4-BE49-F238E27FC236}">
                  <a16:creationId xmlns:a16="http://schemas.microsoft.com/office/drawing/2014/main" id="{2C90DAC5-B8FD-F143-835A-0464F397E27F}"/>
                </a:ext>
              </a:extLst>
            </p:cNvPr>
            <p:cNvSpPr>
              <a:spLocks noChangeArrowheads="1"/>
            </p:cNvSpPr>
            <p:nvPr/>
          </p:nvSpPr>
          <p:spPr bwMode="gray">
            <a:xfrm>
              <a:off x="6693186" y="4686876"/>
              <a:ext cx="1660105" cy="582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801688" eaLnBrk="0" hangingPunct="0">
                <a:defRPr sz="1400">
                  <a:solidFill>
                    <a:schemeClr val="tx1"/>
                  </a:solidFill>
                  <a:latin typeface="Arial" panose="020B0604020202020204" pitchFamily="34" charset="0"/>
                  <a:ea typeface="宋体" panose="02010600030101010101" pitchFamily="2" charset="-122"/>
                </a:defRPr>
              </a:lvl1pPr>
              <a:lvl2pPr marL="742950" indent="-285750" defTabSz="801688" eaLnBrk="0" hangingPunct="0">
                <a:defRPr sz="1400">
                  <a:solidFill>
                    <a:schemeClr val="tx1"/>
                  </a:solidFill>
                  <a:latin typeface="Arial" panose="020B0604020202020204" pitchFamily="34" charset="0"/>
                  <a:ea typeface="宋体" panose="02010600030101010101" pitchFamily="2" charset="-122"/>
                </a:defRPr>
              </a:lvl2pPr>
              <a:lvl3pPr marL="1143000" indent="-228600" defTabSz="801688" eaLnBrk="0" hangingPunct="0">
                <a:defRPr sz="1400">
                  <a:solidFill>
                    <a:schemeClr val="tx1"/>
                  </a:solidFill>
                  <a:latin typeface="Arial" panose="020B0604020202020204" pitchFamily="34" charset="0"/>
                  <a:ea typeface="宋体" panose="02010600030101010101" pitchFamily="2" charset="-122"/>
                </a:defRPr>
              </a:lvl3pPr>
              <a:lvl4pPr marL="1600200" indent="-228600" defTabSz="801688" eaLnBrk="0" hangingPunct="0">
                <a:defRPr sz="1400">
                  <a:solidFill>
                    <a:schemeClr val="tx1"/>
                  </a:solidFill>
                  <a:latin typeface="Arial" panose="020B0604020202020204" pitchFamily="34" charset="0"/>
                  <a:ea typeface="宋体" panose="02010600030101010101" pitchFamily="2" charset="-122"/>
                </a:defRPr>
              </a:lvl4pPr>
              <a:lvl5pPr marL="2057400" indent="-228600" defTabSz="801688" eaLnBrk="0" hangingPunct="0">
                <a:defRPr sz="1400">
                  <a:solidFill>
                    <a:schemeClr val="tx1"/>
                  </a:solidFill>
                  <a:latin typeface="Arial" panose="020B0604020202020204" pitchFamily="34" charset="0"/>
                  <a:ea typeface="宋体" panose="02010600030101010101" pitchFamily="2" charset="-122"/>
                </a:defRPr>
              </a:lvl5pPr>
              <a:lvl6pPr marL="25146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dirty="0">
                  <a:solidFill>
                    <a:schemeClr val="bg1"/>
                  </a:solidFill>
                  <a:latin typeface="FrutigerNext LT Regular"/>
                </a:rPr>
                <a:t>客户合作胜过合同谈判</a:t>
              </a:r>
            </a:p>
          </p:txBody>
        </p:sp>
        <p:sp>
          <p:nvSpPr>
            <p:cNvPr id="37" name="Rectangle 28">
              <a:extLst>
                <a:ext uri="{FF2B5EF4-FFF2-40B4-BE49-F238E27FC236}">
                  <a16:creationId xmlns:a16="http://schemas.microsoft.com/office/drawing/2014/main" id="{961A6ED6-0862-BE46-8BD0-13AEFA8D6DB0}"/>
                </a:ext>
              </a:extLst>
            </p:cNvPr>
            <p:cNvSpPr>
              <a:spLocks noChangeArrowheads="1"/>
            </p:cNvSpPr>
            <p:nvPr/>
          </p:nvSpPr>
          <p:spPr bwMode="gray">
            <a:xfrm>
              <a:off x="980395" y="4677293"/>
              <a:ext cx="1720588" cy="582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801688" eaLnBrk="0" hangingPunct="0">
                <a:defRPr sz="1400">
                  <a:solidFill>
                    <a:schemeClr val="tx1"/>
                  </a:solidFill>
                  <a:latin typeface="Arial" panose="020B0604020202020204" pitchFamily="34" charset="0"/>
                  <a:ea typeface="宋体" panose="02010600030101010101" pitchFamily="2" charset="-122"/>
                </a:defRPr>
              </a:lvl1pPr>
              <a:lvl2pPr marL="742950" indent="-285750" defTabSz="801688" eaLnBrk="0" hangingPunct="0">
                <a:defRPr sz="1400">
                  <a:solidFill>
                    <a:schemeClr val="tx1"/>
                  </a:solidFill>
                  <a:latin typeface="Arial" panose="020B0604020202020204" pitchFamily="34" charset="0"/>
                  <a:ea typeface="宋体" panose="02010600030101010101" pitchFamily="2" charset="-122"/>
                </a:defRPr>
              </a:lvl2pPr>
              <a:lvl3pPr marL="1143000" indent="-228600" defTabSz="801688" eaLnBrk="0" hangingPunct="0">
                <a:defRPr sz="1400">
                  <a:solidFill>
                    <a:schemeClr val="tx1"/>
                  </a:solidFill>
                  <a:latin typeface="Arial" panose="020B0604020202020204" pitchFamily="34" charset="0"/>
                  <a:ea typeface="宋体" panose="02010600030101010101" pitchFamily="2" charset="-122"/>
                </a:defRPr>
              </a:lvl3pPr>
              <a:lvl4pPr marL="1600200" indent="-228600" defTabSz="801688" eaLnBrk="0" hangingPunct="0">
                <a:defRPr sz="1400">
                  <a:solidFill>
                    <a:schemeClr val="tx1"/>
                  </a:solidFill>
                  <a:latin typeface="Arial" panose="020B0604020202020204" pitchFamily="34" charset="0"/>
                  <a:ea typeface="宋体" panose="02010600030101010101" pitchFamily="2" charset="-122"/>
                </a:defRPr>
              </a:lvl4pPr>
              <a:lvl5pPr marL="2057400" indent="-228600" defTabSz="801688" eaLnBrk="0" hangingPunct="0">
                <a:defRPr sz="1400">
                  <a:solidFill>
                    <a:schemeClr val="tx1"/>
                  </a:solidFill>
                  <a:latin typeface="Arial" panose="020B0604020202020204" pitchFamily="34" charset="0"/>
                  <a:ea typeface="宋体" panose="02010600030101010101" pitchFamily="2" charset="-122"/>
                </a:defRPr>
              </a:lvl5pPr>
              <a:lvl6pPr marL="25146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dirty="0">
                  <a:solidFill>
                    <a:schemeClr val="bg1"/>
                  </a:solidFill>
                  <a:latin typeface="FrutigerNext LT Regular"/>
                </a:rPr>
                <a:t>响应变化胜过遵循计划</a:t>
              </a:r>
            </a:p>
          </p:txBody>
        </p:sp>
        <p:sp>
          <p:nvSpPr>
            <p:cNvPr id="38" name="Rectangle 29">
              <a:extLst>
                <a:ext uri="{FF2B5EF4-FFF2-40B4-BE49-F238E27FC236}">
                  <a16:creationId xmlns:a16="http://schemas.microsoft.com/office/drawing/2014/main" id="{535DD481-0C59-2947-A4B0-B9720DEAB684}"/>
                </a:ext>
              </a:extLst>
            </p:cNvPr>
            <p:cNvSpPr>
              <a:spLocks noChangeArrowheads="1"/>
            </p:cNvSpPr>
            <p:nvPr/>
          </p:nvSpPr>
          <p:spPr bwMode="gray">
            <a:xfrm>
              <a:off x="6304649" y="2445268"/>
              <a:ext cx="2268122" cy="582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801688" eaLnBrk="0" hangingPunct="0">
                <a:defRPr sz="1400">
                  <a:solidFill>
                    <a:schemeClr val="tx1"/>
                  </a:solidFill>
                  <a:latin typeface="Arial" panose="020B0604020202020204" pitchFamily="34" charset="0"/>
                  <a:ea typeface="宋体" panose="02010600030101010101" pitchFamily="2" charset="-122"/>
                </a:defRPr>
              </a:lvl1pPr>
              <a:lvl2pPr marL="742950" indent="-285750" defTabSz="801688" eaLnBrk="0" hangingPunct="0">
                <a:defRPr sz="1400">
                  <a:solidFill>
                    <a:schemeClr val="tx1"/>
                  </a:solidFill>
                  <a:latin typeface="Arial" panose="020B0604020202020204" pitchFamily="34" charset="0"/>
                  <a:ea typeface="宋体" panose="02010600030101010101" pitchFamily="2" charset="-122"/>
                </a:defRPr>
              </a:lvl2pPr>
              <a:lvl3pPr marL="1143000" indent="-228600" defTabSz="801688" eaLnBrk="0" hangingPunct="0">
                <a:defRPr sz="1400">
                  <a:solidFill>
                    <a:schemeClr val="tx1"/>
                  </a:solidFill>
                  <a:latin typeface="Arial" panose="020B0604020202020204" pitchFamily="34" charset="0"/>
                  <a:ea typeface="宋体" panose="02010600030101010101" pitchFamily="2" charset="-122"/>
                </a:defRPr>
              </a:lvl3pPr>
              <a:lvl4pPr marL="1600200" indent="-228600" defTabSz="801688" eaLnBrk="0" hangingPunct="0">
                <a:defRPr sz="1400">
                  <a:solidFill>
                    <a:schemeClr val="tx1"/>
                  </a:solidFill>
                  <a:latin typeface="Arial" panose="020B0604020202020204" pitchFamily="34" charset="0"/>
                  <a:ea typeface="宋体" panose="02010600030101010101" pitchFamily="2" charset="-122"/>
                </a:defRPr>
              </a:lvl4pPr>
              <a:lvl5pPr marL="2057400" indent="-228600" defTabSz="801688" eaLnBrk="0" hangingPunct="0">
                <a:defRPr sz="1400">
                  <a:solidFill>
                    <a:schemeClr val="tx1"/>
                  </a:solidFill>
                  <a:latin typeface="Arial" panose="020B0604020202020204" pitchFamily="34" charset="0"/>
                  <a:ea typeface="宋体" panose="02010600030101010101" pitchFamily="2" charset="-122"/>
                </a:defRPr>
              </a:lvl5pPr>
              <a:lvl6pPr marL="25146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dirty="0">
                  <a:solidFill>
                    <a:schemeClr val="bg1"/>
                  </a:solidFill>
                  <a:latin typeface="FrutigerNext LT Regular"/>
                </a:rPr>
                <a:t>可以工作的软件胜过面面俱到的文档</a:t>
              </a:r>
            </a:p>
          </p:txBody>
        </p:sp>
        <p:sp>
          <p:nvSpPr>
            <p:cNvPr id="39" name="Rectangle 30">
              <a:extLst>
                <a:ext uri="{FF2B5EF4-FFF2-40B4-BE49-F238E27FC236}">
                  <a16:creationId xmlns:a16="http://schemas.microsoft.com/office/drawing/2014/main" id="{0B99C2D4-1883-6C49-81C3-9ACAF6261C9A}"/>
                </a:ext>
              </a:extLst>
            </p:cNvPr>
            <p:cNvSpPr>
              <a:spLocks noChangeArrowheads="1"/>
            </p:cNvSpPr>
            <p:nvPr/>
          </p:nvSpPr>
          <p:spPr bwMode="gray">
            <a:xfrm>
              <a:off x="856569" y="2445268"/>
              <a:ext cx="18765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801688" eaLnBrk="0" hangingPunct="0">
                <a:defRPr sz="1400">
                  <a:solidFill>
                    <a:schemeClr val="tx1"/>
                  </a:solidFill>
                  <a:latin typeface="Arial" panose="020B0604020202020204" pitchFamily="34" charset="0"/>
                  <a:ea typeface="宋体" panose="02010600030101010101" pitchFamily="2" charset="-122"/>
                </a:defRPr>
              </a:lvl1pPr>
              <a:lvl2pPr marL="742950" indent="-285750" defTabSz="801688" eaLnBrk="0" hangingPunct="0">
                <a:defRPr sz="1400">
                  <a:solidFill>
                    <a:schemeClr val="tx1"/>
                  </a:solidFill>
                  <a:latin typeface="Arial" panose="020B0604020202020204" pitchFamily="34" charset="0"/>
                  <a:ea typeface="宋体" panose="02010600030101010101" pitchFamily="2" charset="-122"/>
                </a:defRPr>
              </a:lvl2pPr>
              <a:lvl3pPr marL="1143000" indent="-228600" defTabSz="801688" eaLnBrk="0" hangingPunct="0">
                <a:defRPr sz="1400">
                  <a:solidFill>
                    <a:schemeClr val="tx1"/>
                  </a:solidFill>
                  <a:latin typeface="Arial" panose="020B0604020202020204" pitchFamily="34" charset="0"/>
                  <a:ea typeface="宋体" panose="02010600030101010101" pitchFamily="2" charset="-122"/>
                </a:defRPr>
              </a:lvl3pPr>
              <a:lvl4pPr marL="1600200" indent="-228600" defTabSz="801688" eaLnBrk="0" hangingPunct="0">
                <a:defRPr sz="1400">
                  <a:solidFill>
                    <a:schemeClr val="tx1"/>
                  </a:solidFill>
                  <a:latin typeface="Arial" panose="020B0604020202020204" pitchFamily="34" charset="0"/>
                  <a:ea typeface="宋体" panose="02010600030101010101" pitchFamily="2" charset="-122"/>
                </a:defRPr>
              </a:lvl4pPr>
              <a:lvl5pPr marL="2057400" indent="-228600" defTabSz="801688" eaLnBrk="0" hangingPunct="0">
                <a:defRPr sz="1400">
                  <a:solidFill>
                    <a:schemeClr val="tx1"/>
                  </a:solidFill>
                  <a:latin typeface="Arial" panose="020B0604020202020204" pitchFamily="34" charset="0"/>
                  <a:ea typeface="宋体" panose="02010600030101010101" pitchFamily="2" charset="-122"/>
                </a:defRPr>
              </a:lvl5pPr>
              <a:lvl6pPr marL="25146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dirty="0">
                  <a:solidFill>
                    <a:schemeClr val="bg1"/>
                  </a:solidFill>
                  <a:latin typeface="+mn-ea"/>
                  <a:ea typeface="+mn-ea"/>
                </a:rPr>
                <a:t>个体和交互胜过过程和工具</a:t>
              </a:r>
            </a:p>
          </p:txBody>
        </p:sp>
      </p:grpSp>
    </p:spTree>
    <p:extLst>
      <p:ext uri="{BB962C8B-B14F-4D97-AF65-F5344CB8AC3E}">
        <p14:creationId xmlns:p14="http://schemas.microsoft.com/office/powerpoint/2010/main" val="72334583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zh-CN" altLang="en-US" sz="2800" dirty="0">
                <a:solidFill>
                  <a:srgbClr val="4E8F00"/>
                </a:solidFill>
              </a:rPr>
              <a:t>敏捷宣言</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11</a:t>
            </a:fld>
            <a:endParaRPr lang="zh-CN" altLang="en-US"/>
          </a:p>
        </p:txBody>
      </p:sp>
      <p:sp>
        <p:nvSpPr>
          <p:cNvPr id="40" name="Rectangle 3">
            <a:extLst>
              <a:ext uri="{FF2B5EF4-FFF2-40B4-BE49-F238E27FC236}">
                <a16:creationId xmlns:a16="http://schemas.microsoft.com/office/drawing/2014/main" id="{005EDA96-7DB5-0A40-8649-A44EC271FCE8}"/>
              </a:ext>
            </a:extLst>
          </p:cNvPr>
          <p:cNvSpPr>
            <a:spLocks noGrp="1" noChangeArrowheads="1"/>
          </p:cNvSpPr>
          <p:nvPr>
            <p:ph idx="1"/>
          </p:nvPr>
        </p:nvSpPr>
        <p:spPr>
          <a:xfrm>
            <a:off x="741363" y="1294946"/>
            <a:ext cx="7726977" cy="4824413"/>
          </a:xfrm>
        </p:spPr>
        <p:txBody>
          <a:bodyPr>
            <a:noAutofit/>
          </a:bodyPr>
          <a:lstStyle/>
          <a:p>
            <a:pPr marL="671513" indent="-671513">
              <a:spcBef>
                <a:spcPct val="30000"/>
              </a:spcBef>
            </a:pPr>
            <a:r>
              <a:rPr lang="en-US" altLang="zh-CN" sz="2000" dirty="0">
                <a:solidFill>
                  <a:srgbClr val="C00000"/>
                </a:solidFill>
                <a:latin typeface="Microsoft YaHei" panose="020B0503020204020204" pitchFamily="34" charset="-122"/>
                <a:ea typeface="Microsoft YaHei" panose="020B0503020204020204" pitchFamily="34" charset="-122"/>
              </a:rPr>
              <a:t>1.</a:t>
            </a:r>
            <a:r>
              <a:rPr lang="zh-CN" altLang="en-US" sz="2000" dirty="0">
                <a:solidFill>
                  <a:srgbClr val="C00000"/>
                </a:solidFill>
                <a:latin typeface="Microsoft YaHei" panose="020B0503020204020204" pitchFamily="34" charset="-122"/>
                <a:ea typeface="Microsoft YaHei" panose="020B0503020204020204" pitchFamily="34" charset="-122"/>
              </a:rPr>
              <a:t> 个体和交互胜过过程和工具</a:t>
            </a:r>
            <a:endParaRPr lang="en-US" altLang="zh-CN" sz="2000" dirty="0">
              <a:solidFill>
                <a:srgbClr val="C00000"/>
              </a:solidFill>
              <a:latin typeface="Microsoft YaHei" panose="020B0503020204020204" pitchFamily="34" charset="-122"/>
              <a:ea typeface="Microsoft YaHei" panose="020B0503020204020204" pitchFamily="34" charset="-122"/>
            </a:endParaRPr>
          </a:p>
          <a:p>
            <a:pPr marL="614934" lvl="1" indent="-285750">
              <a:spcBef>
                <a:spcPct val="30000"/>
              </a:spcBef>
            </a:pPr>
            <a:r>
              <a:rPr lang="zh-CN" altLang="en-US" sz="1800" dirty="0">
                <a:solidFill>
                  <a:schemeClr val="tx2"/>
                </a:solidFill>
                <a:highlight>
                  <a:srgbClr val="FFFF00"/>
                </a:highlight>
                <a:latin typeface="Microsoft YaHei" panose="020B0503020204020204" pitchFamily="34" charset="-122"/>
                <a:ea typeface="Microsoft YaHei" panose="020B0503020204020204" pitchFamily="34" charset="-122"/>
              </a:rPr>
              <a:t>人</a:t>
            </a:r>
            <a:r>
              <a:rPr lang="zh-CN" altLang="en-US" sz="1800" dirty="0">
                <a:solidFill>
                  <a:schemeClr val="tx2"/>
                </a:solidFill>
                <a:latin typeface="Microsoft YaHei" panose="020B0503020204020204" pitchFamily="34" charset="-122"/>
                <a:ea typeface="Microsoft YaHei" panose="020B0503020204020204" pitchFamily="34" charset="-122"/>
              </a:rPr>
              <a:t>是获得成功的最为重要的因素，但是更应该强调团队的作用</a:t>
            </a:r>
            <a:endParaRPr lang="en-US" altLang="zh-CN" sz="1800" dirty="0">
              <a:solidFill>
                <a:schemeClr val="tx2"/>
              </a:solidFill>
              <a:latin typeface="Microsoft YaHei" panose="020B0503020204020204" pitchFamily="34" charset="-122"/>
              <a:ea typeface="Microsoft YaHei" panose="020B0503020204020204" pitchFamily="34" charset="-122"/>
            </a:endParaRPr>
          </a:p>
          <a:p>
            <a:pPr marL="614934" lvl="1" indent="-285750">
              <a:spcBef>
                <a:spcPct val="30000"/>
              </a:spcBef>
            </a:pPr>
            <a:r>
              <a:rPr lang="zh-CN" altLang="en-US" sz="1800" dirty="0">
                <a:solidFill>
                  <a:schemeClr val="tx2"/>
                </a:solidFill>
                <a:highlight>
                  <a:srgbClr val="FFFF00"/>
                </a:highlight>
                <a:latin typeface="Microsoft YaHei" panose="020B0503020204020204" pitchFamily="34" charset="-122"/>
                <a:ea typeface="Microsoft YaHei" panose="020B0503020204020204" pitchFamily="34" charset="-122"/>
              </a:rPr>
              <a:t>团队</a:t>
            </a:r>
            <a:r>
              <a:rPr lang="zh-CN" altLang="en-US" sz="1800" dirty="0">
                <a:solidFill>
                  <a:schemeClr val="tx2"/>
                </a:solidFill>
                <a:latin typeface="Microsoft YaHei" panose="020B0503020204020204" pitchFamily="34" charset="-122"/>
                <a:ea typeface="Microsoft YaHei" panose="020B0503020204020204" pitchFamily="34" charset="-122"/>
              </a:rPr>
              <a:t>的构建要比环境的构建重要的多，所以一个公司想培养一个成熟、稳定、生产效率高的团队要付出很大的成本</a:t>
            </a:r>
            <a:endParaRPr lang="en-US" altLang="zh-CN" sz="1800" dirty="0">
              <a:solidFill>
                <a:schemeClr val="tx2"/>
              </a:solidFill>
              <a:latin typeface="Microsoft YaHei" panose="020B0503020204020204" pitchFamily="34" charset="-122"/>
              <a:ea typeface="Microsoft YaHei" panose="020B0503020204020204" pitchFamily="34" charset="-122"/>
            </a:endParaRPr>
          </a:p>
          <a:p>
            <a:pPr marL="7938" indent="-7938">
              <a:spcBef>
                <a:spcPct val="30000"/>
              </a:spcBef>
            </a:pPr>
            <a:r>
              <a:rPr lang="en-US" altLang="zh-CN" sz="2000" dirty="0">
                <a:solidFill>
                  <a:srgbClr val="C00000"/>
                </a:solidFill>
                <a:latin typeface="Microsoft YaHei" panose="020B0503020204020204" pitchFamily="34" charset="-122"/>
                <a:ea typeface="Microsoft YaHei" panose="020B0503020204020204" pitchFamily="34" charset="-122"/>
              </a:rPr>
              <a:t>2.</a:t>
            </a:r>
            <a:r>
              <a:rPr lang="zh-CN" altLang="en-US" sz="2000" dirty="0">
                <a:solidFill>
                  <a:srgbClr val="C00000"/>
                </a:solidFill>
                <a:latin typeface="Microsoft YaHei" panose="020B0503020204020204" pitchFamily="34" charset="-122"/>
                <a:ea typeface="Microsoft YaHei" panose="020B0503020204020204" pitchFamily="34" charset="-122"/>
              </a:rPr>
              <a:t> 可以工作的</a:t>
            </a:r>
            <a:r>
              <a:rPr lang="zh-CN" altLang="en-US" sz="2000" dirty="0">
                <a:solidFill>
                  <a:srgbClr val="C00000"/>
                </a:solidFill>
                <a:highlight>
                  <a:srgbClr val="FFFF00"/>
                </a:highlight>
                <a:latin typeface="Microsoft YaHei" panose="020B0503020204020204" pitchFamily="34" charset="-122"/>
                <a:ea typeface="Microsoft YaHei" panose="020B0503020204020204" pitchFamily="34" charset="-122"/>
              </a:rPr>
              <a:t>软件</a:t>
            </a:r>
            <a:r>
              <a:rPr lang="zh-CN" altLang="en-US" sz="2000" dirty="0">
                <a:solidFill>
                  <a:srgbClr val="C00000"/>
                </a:solidFill>
                <a:latin typeface="Microsoft YaHei" panose="020B0503020204020204" pitchFamily="34" charset="-122"/>
                <a:ea typeface="Microsoft YaHei" panose="020B0503020204020204" pitchFamily="34" charset="-122"/>
              </a:rPr>
              <a:t>胜过面面俱到的文档</a:t>
            </a:r>
            <a:endParaRPr lang="en-US" altLang="zh-CN" sz="2000" dirty="0">
              <a:solidFill>
                <a:srgbClr val="C00000"/>
              </a:solidFill>
              <a:latin typeface="Microsoft YaHei" panose="020B0503020204020204" pitchFamily="34" charset="-122"/>
              <a:ea typeface="Microsoft YaHei" panose="020B0503020204020204" pitchFamily="34" charset="-122"/>
            </a:endParaRPr>
          </a:p>
          <a:p>
            <a:pPr marL="614934" lvl="1" indent="-285750">
              <a:spcBef>
                <a:spcPct val="30000"/>
              </a:spcBef>
            </a:pPr>
            <a:r>
              <a:rPr lang="zh-CN" altLang="en-US" sz="1800" dirty="0">
                <a:solidFill>
                  <a:schemeClr val="tx2"/>
                </a:solidFill>
                <a:latin typeface="Microsoft YaHei" panose="020B0503020204020204" pitchFamily="34" charset="-122"/>
                <a:ea typeface="Microsoft YaHei" panose="020B0503020204020204" pitchFamily="34" charset="-122"/>
              </a:rPr>
              <a:t>编制和维护这些“面面俱到”的文档要花费很多人力物力，很容易陷入</a:t>
            </a:r>
            <a:r>
              <a:rPr lang="zh-CN" altLang="en-US" sz="1800" dirty="0">
                <a:solidFill>
                  <a:schemeClr val="tx2"/>
                </a:solidFill>
                <a:highlight>
                  <a:srgbClr val="FFFF00"/>
                </a:highlight>
                <a:latin typeface="Microsoft YaHei" panose="020B0503020204020204" pitchFamily="34" charset="-122"/>
                <a:ea typeface="Microsoft YaHei" panose="020B0503020204020204" pitchFamily="34" charset="-122"/>
              </a:rPr>
              <a:t>文档灾难</a:t>
            </a:r>
            <a:r>
              <a:rPr lang="zh-CN" altLang="en-US" sz="1800" dirty="0">
                <a:solidFill>
                  <a:schemeClr val="tx2"/>
                </a:solidFill>
                <a:latin typeface="Microsoft YaHei" panose="020B0503020204020204" pitchFamily="34" charset="-122"/>
                <a:ea typeface="Microsoft YaHei" panose="020B0503020204020204" pitchFamily="34" charset="-122"/>
              </a:rPr>
              <a:t>，当然“没有文档的软件是一种灾难”</a:t>
            </a:r>
            <a:endParaRPr lang="en-US" altLang="zh-CN" sz="1800" dirty="0">
              <a:solidFill>
                <a:schemeClr val="tx2"/>
              </a:solidFill>
              <a:latin typeface="Microsoft YaHei" panose="020B0503020204020204" pitchFamily="34" charset="-122"/>
              <a:ea typeface="Microsoft YaHei" panose="020B0503020204020204" pitchFamily="34" charset="-122"/>
            </a:endParaRPr>
          </a:p>
          <a:p>
            <a:pPr marL="614934" lvl="1" indent="-285750">
              <a:spcBef>
                <a:spcPct val="30000"/>
              </a:spcBef>
            </a:pPr>
            <a:r>
              <a:rPr lang="zh-CN" altLang="en-US" sz="1800" dirty="0">
                <a:solidFill>
                  <a:schemeClr val="tx2"/>
                </a:solidFill>
                <a:latin typeface="Microsoft YaHei" panose="020B0503020204020204" pitchFamily="34" charset="-122"/>
                <a:ea typeface="Microsoft YaHei" panose="020B0503020204020204" pitchFamily="34" charset="-122"/>
              </a:rPr>
              <a:t>最好的两份文档是代码和团队，人和人之间的</a:t>
            </a:r>
            <a:r>
              <a:rPr lang="zh-CN" altLang="en-US" sz="1800" dirty="0">
                <a:solidFill>
                  <a:schemeClr val="tx2"/>
                </a:solidFill>
                <a:highlight>
                  <a:srgbClr val="FFFF00"/>
                </a:highlight>
                <a:latin typeface="Microsoft YaHei" panose="020B0503020204020204" pitchFamily="34" charset="-122"/>
                <a:ea typeface="Microsoft YaHei" panose="020B0503020204020204" pitchFamily="34" charset="-122"/>
              </a:rPr>
              <a:t>交互</a:t>
            </a:r>
            <a:r>
              <a:rPr lang="zh-CN" altLang="en-US" sz="1800" dirty="0">
                <a:solidFill>
                  <a:schemeClr val="tx2"/>
                </a:solidFill>
                <a:latin typeface="Microsoft YaHei" panose="020B0503020204020204" pitchFamily="34" charset="-122"/>
                <a:ea typeface="Microsoft YaHei" panose="020B0503020204020204" pitchFamily="34" charset="-122"/>
              </a:rPr>
              <a:t>是把团队成员头脑中保存着的时常变化的系统脉络传授给他人的最快最有效的方式</a:t>
            </a:r>
          </a:p>
        </p:txBody>
      </p:sp>
    </p:spTree>
    <p:extLst>
      <p:ext uri="{BB962C8B-B14F-4D97-AF65-F5344CB8AC3E}">
        <p14:creationId xmlns:p14="http://schemas.microsoft.com/office/powerpoint/2010/main" val="242533652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1000"/>
                                        <p:tgtEl>
                                          <p:spTgt spid="40"/>
                                        </p:tgtEl>
                                      </p:cBhvr>
                                    </p:animEffect>
                                    <p:anim calcmode="lin" valueType="num">
                                      <p:cBhvr>
                                        <p:cTn id="8" dur="1000" fill="hold"/>
                                        <p:tgtEl>
                                          <p:spTgt spid="40"/>
                                        </p:tgtEl>
                                        <p:attrNameLst>
                                          <p:attrName>ppt_x</p:attrName>
                                        </p:attrNameLst>
                                      </p:cBhvr>
                                      <p:tavLst>
                                        <p:tav tm="0">
                                          <p:val>
                                            <p:strVal val="#ppt_x"/>
                                          </p:val>
                                        </p:tav>
                                        <p:tav tm="100000">
                                          <p:val>
                                            <p:strVal val="#ppt_x"/>
                                          </p:val>
                                        </p:tav>
                                      </p:tavLst>
                                    </p:anim>
                                    <p:anim calcmode="lin" valueType="num">
                                      <p:cBhvr>
                                        <p:cTn id="9"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zh-CN" altLang="en-US" sz="2800" dirty="0">
                <a:solidFill>
                  <a:srgbClr val="4E8F00"/>
                </a:solidFill>
              </a:rPr>
              <a:t>敏捷宣言</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12</a:t>
            </a:fld>
            <a:endParaRPr lang="zh-CN" altLang="en-US"/>
          </a:p>
        </p:txBody>
      </p:sp>
      <p:sp>
        <p:nvSpPr>
          <p:cNvPr id="40" name="Rectangle 3">
            <a:extLst>
              <a:ext uri="{FF2B5EF4-FFF2-40B4-BE49-F238E27FC236}">
                <a16:creationId xmlns:a16="http://schemas.microsoft.com/office/drawing/2014/main" id="{005EDA96-7DB5-0A40-8649-A44EC271FCE8}"/>
              </a:ext>
            </a:extLst>
          </p:cNvPr>
          <p:cNvSpPr>
            <a:spLocks noGrp="1" noChangeArrowheads="1"/>
          </p:cNvSpPr>
          <p:nvPr>
            <p:ph idx="1"/>
          </p:nvPr>
        </p:nvSpPr>
        <p:spPr>
          <a:xfrm>
            <a:off x="741363" y="1294946"/>
            <a:ext cx="7726977" cy="4824413"/>
          </a:xfrm>
        </p:spPr>
        <p:txBody>
          <a:bodyPr>
            <a:noAutofit/>
          </a:bodyPr>
          <a:lstStyle/>
          <a:p>
            <a:pPr marL="671513" indent="-671513">
              <a:spcBef>
                <a:spcPct val="30000"/>
              </a:spcBef>
            </a:pPr>
            <a:r>
              <a:rPr lang="en-US" altLang="zh-CN" sz="2000" dirty="0">
                <a:solidFill>
                  <a:srgbClr val="C00000"/>
                </a:solidFill>
                <a:latin typeface="Microsoft YaHei" panose="020B0503020204020204" pitchFamily="34" charset="-122"/>
                <a:ea typeface="Microsoft YaHei" panose="020B0503020204020204" pitchFamily="34" charset="-122"/>
              </a:rPr>
              <a:t>3.</a:t>
            </a:r>
            <a:r>
              <a:rPr lang="zh-CN" altLang="en-US" sz="2000" dirty="0">
                <a:solidFill>
                  <a:srgbClr val="C00000"/>
                </a:solidFill>
                <a:latin typeface="Microsoft YaHei" panose="020B0503020204020204" pitchFamily="34" charset="-122"/>
                <a:ea typeface="Microsoft YaHei" panose="020B0503020204020204" pitchFamily="34" charset="-122"/>
              </a:rPr>
              <a:t> 客户合作胜过合同谈判</a:t>
            </a:r>
            <a:endParaRPr lang="en-US" altLang="zh-CN" sz="2000" dirty="0">
              <a:solidFill>
                <a:srgbClr val="C00000"/>
              </a:solidFill>
              <a:latin typeface="Microsoft YaHei" panose="020B0503020204020204" pitchFamily="34" charset="-122"/>
              <a:ea typeface="Microsoft YaHei" panose="020B0503020204020204" pitchFamily="34" charset="-122"/>
            </a:endParaRPr>
          </a:p>
          <a:p>
            <a:pPr marL="614934" lvl="1" indent="-285750">
              <a:spcBef>
                <a:spcPct val="30000"/>
              </a:spcBef>
            </a:pPr>
            <a:r>
              <a:rPr lang="zh-CN" altLang="en-US" sz="1800" dirty="0">
                <a:solidFill>
                  <a:schemeClr val="tx2"/>
                </a:solidFill>
                <a:latin typeface="Microsoft YaHei" panose="020B0503020204020204" pitchFamily="34" charset="-122"/>
                <a:ea typeface="Microsoft YaHei" panose="020B0503020204020204" pitchFamily="34" charset="-122"/>
              </a:rPr>
              <a:t>成功的项目需要有序、频繁的客户反馈。成功的关键在于和客户之间的</a:t>
            </a:r>
            <a:r>
              <a:rPr lang="zh-CN" altLang="en-US" sz="1800" dirty="0">
                <a:solidFill>
                  <a:schemeClr val="tx2"/>
                </a:solidFill>
                <a:highlight>
                  <a:srgbClr val="FFFF00"/>
                </a:highlight>
                <a:latin typeface="Microsoft YaHei" panose="020B0503020204020204" pitchFamily="34" charset="-122"/>
                <a:ea typeface="Microsoft YaHei" panose="020B0503020204020204" pitchFamily="34" charset="-122"/>
              </a:rPr>
              <a:t>真诚协作</a:t>
            </a:r>
            <a:r>
              <a:rPr lang="zh-CN" altLang="en-US" sz="1800" dirty="0">
                <a:solidFill>
                  <a:schemeClr val="tx2"/>
                </a:solidFill>
                <a:latin typeface="Microsoft YaHei" panose="020B0503020204020204" pitchFamily="34" charset="-122"/>
                <a:ea typeface="Microsoft YaHei" panose="020B0503020204020204" pitchFamily="34" charset="-122"/>
              </a:rPr>
              <a:t>，并且用合同指导这些协作</a:t>
            </a:r>
            <a:endParaRPr lang="en-US" altLang="zh-CN" sz="1800" dirty="0">
              <a:solidFill>
                <a:schemeClr val="tx2"/>
              </a:solidFill>
              <a:latin typeface="Microsoft YaHei" panose="020B0503020204020204" pitchFamily="34" charset="-122"/>
              <a:ea typeface="Microsoft YaHei" panose="020B0503020204020204" pitchFamily="34" charset="-122"/>
            </a:endParaRPr>
          </a:p>
          <a:p>
            <a:pPr marL="7938" indent="-7938">
              <a:lnSpc>
                <a:spcPct val="125000"/>
              </a:lnSpc>
              <a:spcBef>
                <a:spcPct val="35000"/>
              </a:spcBef>
            </a:pPr>
            <a:r>
              <a:rPr lang="en-US" altLang="zh-CN" sz="2000" dirty="0">
                <a:solidFill>
                  <a:srgbClr val="C00000"/>
                </a:solidFill>
                <a:latin typeface="Microsoft YaHei" panose="020B0503020204020204" pitchFamily="34" charset="-122"/>
                <a:ea typeface="Microsoft YaHei" panose="020B0503020204020204" pitchFamily="34" charset="-122"/>
              </a:rPr>
              <a:t>4.</a:t>
            </a:r>
            <a:r>
              <a:rPr lang="zh-CN" altLang="en-US" sz="2000" dirty="0">
                <a:solidFill>
                  <a:srgbClr val="C00000"/>
                </a:solidFill>
                <a:latin typeface="Microsoft YaHei" panose="020B0503020204020204" pitchFamily="34" charset="-122"/>
                <a:ea typeface="Microsoft YaHei" panose="020B0503020204020204" pitchFamily="34" charset="-122"/>
              </a:rPr>
              <a:t> 响应变化胜过遵循计划</a:t>
            </a:r>
            <a:endParaRPr lang="en-US" altLang="zh-CN" sz="2000" dirty="0">
              <a:solidFill>
                <a:srgbClr val="C00000"/>
              </a:solidFill>
              <a:latin typeface="Microsoft YaHei" panose="020B0503020204020204" pitchFamily="34" charset="-122"/>
              <a:ea typeface="Microsoft YaHei" panose="020B0503020204020204" pitchFamily="34" charset="-122"/>
            </a:endParaRPr>
          </a:p>
          <a:p>
            <a:pPr marL="625475" lvl="1" indent="-296863">
              <a:lnSpc>
                <a:spcPct val="125000"/>
              </a:lnSpc>
              <a:spcBef>
                <a:spcPct val="35000"/>
              </a:spcBef>
            </a:pPr>
            <a:r>
              <a:rPr lang="zh-CN" altLang="en-US" sz="1800" dirty="0">
                <a:solidFill>
                  <a:schemeClr val="tx2"/>
                </a:solidFill>
                <a:highlight>
                  <a:srgbClr val="FFFF00"/>
                </a:highlight>
                <a:latin typeface="Microsoft YaHei" panose="020B0503020204020204" pitchFamily="34" charset="-122"/>
                <a:ea typeface="Microsoft YaHei" panose="020B0503020204020204" pitchFamily="34" charset="-122"/>
              </a:rPr>
              <a:t>响应变化</a:t>
            </a:r>
            <a:r>
              <a:rPr lang="zh-CN" altLang="en-US" sz="1800" dirty="0">
                <a:solidFill>
                  <a:schemeClr val="tx2"/>
                </a:solidFill>
                <a:latin typeface="Microsoft YaHei" panose="020B0503020204020204" pitchFamily="34" charset="-122"/>
                <a:ea typeface="Microsoft YaHei" panose="020B0503020204020204" pitchFamily="34" charset="-122"/>
              </a:rPr>
              <a:t>的能力常常是决定着一个软件项目的成败</a:t>
            </a:r>
            <a:endParaRPr lang="en-US" altLang="zh-CN" sz="1800" dirty="0">
              <a:solidFill>
                <a:schemeClr val="tx2"/>
              </a:solidFill>
              <a:latin typeface="Microsoft YaHei" panose="020B0503020204020204" pitchFamily="34" charset="-122"/>
              <a:ea typeface="Microsoft YaHei" panose="020B0503020204020204" pitchFamily="34" charset="-122"/>
            </a:endParaRPr>
          </a:p>
          <a:p>
            <a:pPr marL="614934" lvl="1" indent="-285750">
              <a:spcBef>
                <a:spcPct val="35000"/>
              </a:spcBef>
            </a:pPr>
            <a:r>
              <a:rPr lang="zh-CN" altLang="en-US" sz="1800" dirty="0">
                <a:solidFill>
                  <a:schemeClr val="tx2"/>
                </a:solidFill>
                <a:latin typeface="Microsoft YaHei" panose="020B0503020204020204" pitchFamily="34" charset="-122"/>
                <a:ea typeface="Microsoft YaHei" panose="020B0503020204020204" pitchFamily="34" charset="-122"/>
              </a:rPr>
              <a:t>较好的做计划的策略是：为下两周做详细的计划，为后三个月做粗略的计划，再以后就做极为粗糙的计划</a:t>
            </a:r>
          </a:p>
        </p:txBody>
      </p:sp>
    </p:spTree>
    <p:extLst>
      <p:ext uri="{BB962C8B-B14F-4D97-AF65-F5344CB8AC3E}">
        <p14:creationId xmlns:p14="http://schemas.microsoft.com/office/powerpoint/2010/main" val="405134296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1000"/>
                                        <p:tgtEl>
                                          <p:spTgt spid="40"/>
                                        </p:tgtEl>
                                      </p:cBhvr>
                                    </p:animEffect>
                                    <p:anim calcmode="lin" valueType="num">
                                      <p:cBhvr>
                                        <p:cTn id="8" dur="1000" fill="hold"/>
                                        <p:tgtEl>
                                          <p:spTgt spid="40"/>
                                        </p:tgtEl>
                                        <p:attrNameLst>
                                          <p:attrName>ppt_x</p:attrName>
                                        </p:attrNameLst>
                                      </p:cBhvr>
                                      <p:tavLst>
                                        <p:tav tm="0">
                                          <p:val>
                                            <p:strVal val="#ppt_x"/>
                                          </p:val>
                                        </p:tav>
                                        <p:tav tm="100000">
                                          <p:val>
                                            <p:strVal val="#ppt_x"/>
                                          </p:val>
                                        </p:tav>
                                      </p:tavLst>
                                    </p:anim>
                                    <p:anim calcmode="lin" valueType="num">
                                      <p:cBhvr>
                                        <p:cTn id="9"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6043E6B1-A854-4C4C-8709-EB33A98D2BEA}"/>
              </a:ext>
            </a:extLst>
          </p:cNvPr>
          <p:cNvSpPr>
            <a:spLocks noGrp="1"/>
          </p:cNvSpPr>
          <p:nvPr>
            <p:ph type="dt" sz="half" idx="10"/>
          </p:nvPr>
        </p:nvSpPr>
        <p:spPr/>
        <p:txBody>
          <a:bodyPr/>
          <a:lstStyle/>
          <a:p>
            <a:fld id="{C69415A0-FAE7-FB41-9F48-9F24B7034EC9}" type="datetime1">
              <a:rPr lang="zh-CN" altLang="en-US" smtClean="0"/>
              <a:t>2025/2/6</a:t>
            </a:fld>
            <a:endParaRPr lang="en-US" dirty="0"/>
          </a:p>
        </p:txBody>
      </p:sp>
      <p:sp>
        <p:nvSpPr>
          <p:cNvPr id="5" name="页脚占位符 4">
            <a:extLst>
              <a:ext uri="{FF2B5EF4-FFF2-40B4-BE49-F238E27FC236}">
                <a16:creationId xmlns:a16="http://schemas.microsoft.com/office/drawing/2014/main" id="{A73E835C-71FE-0847-B1EA-8E8D68FADAEA}"/>
              </a:ext>
            </a:extLst>
          </p:cNvPr>
          <p:cNvSpPr>
            <a:spLocks noGrp="1"/>
          </p:cNvSpPr>
          <p:nvPr>
            <p:ph type="ftr" sz="quarter" idx="11"/>
          </p:nvPr>
        </p:nvSpPr>
        <p:spPr/>
        <p:txBody>
          <a:bodyPr/>
          <a:lstStyle/>
          <a:p>
            <a:r>
              <a:rPr lang="zh-CN" altLang="en-US"/>
              <a:t>重庆大学大数据与软件学院</a:t>
            </a:r>
            <a:endParaRPr lang="zh-CN" altLang="en-US" dirty="0"/>
          </a:p>
        </p:txBody>
      </p:sp>
      <p:sp>
        <p:nvSpPr>
          <p:cNvPr id="6" name="灯片编号占位符 5">
            <a:extLst>
              <a:ext uri="{FF2B5EF4-FFF2-40B4-BE49-F238E27FC236}">
                <a16:creationId xmlns:a16="http://schemas.microsoft.com/office/drawing/2014/main" id="{7F8E789A-EED0-4343-BA3B-D1AE238862E8}"/>
              </a:ext>
            </a:extLst>
          </p:cNvPr>
          <p:cNvSpPr>
            <a:spLocks noGrp="1"/>
          </p:cNvSpPr>
          <p:nvPr>
            <p:ph type="sldNum" sz="quarter" idx="12"/>
          </p:nvPr>
        </p:nvSpPr>
        <p:spPr/>
        <p:txBody>
          <a:bodyPr/>
          <a:lstStyle/>
          <a:p>
            <a:fld id="{9CD8D479-8942-46E8-A226-A4E01F7A105C}" type="slidenum">
              <a:rPr lang="en-US" altLang="zh-CN" smtClean="0"/>
              <a:pPr/>
              <a:t>13</a:t>
            </a:fld>
            <a:endParaRPr lang="zh-CN" altLang="en-US" dirty="0"/>
          </a:p>
        </p:txBody>
      </p:sp>
      <p:pic>
        <p:nvPicPr>
          <p:cNvPr id="7" name="图片 6">
            <a:extLst>
              <a:ext uri="{FF2B5EF4-FFF2-40B4-BE49-F238E27FC236}">
                <a16:creationId xmlns:a16="http://schemas.microsoft.com/office/drawing/2014/main" id="{04FC8293-764A-D644-9711-DCBB10FB4FFA}"/>
              </a:ext>
            </a:extLst>
          </p:cNvPr>
          <p:cNvPicPr>
            <a:picLocks noChangeAspect="1"/>
          </p:cNvPicPr>
          <p:nvPr/>
        </p:nvPicPr>
        <p:blipFill>
          <a:blip r:embed="rId2"/>
          <a:stretch>
            <a:fillRect/>
          </a:stretch>
        </p:blipFill>
        <p:spPr>
          <a:xfrm>
            <a:off x="0" y="9343"/>
            <a:ext cx="9144000" cy="6839313"/>
          </a:xfrm>
          <a:prstGeom prst="rect">
            <a:avLst/>
          </a:prstGeom>
        </p:spPr>
      </p:pic>
    </p:spTree>
    <p:extLst>
      <p:ext uri="{BB962C8B-B14F-4D97-AF65-F5344CB8AC3E}">
        <p14:creationId xmlns:p14="http://schemas.microsoft.com/office/powerpoint/2010/main" val="171082010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zh-CN" altLang="en-US" sz="2800" dirty="0">
                <a:solidFill>
                  <a:srgbClr val="4E8F00"/>
                </a:solidFill>
              </a:rPr>
              <a:t>敏捷规则</a:t>
            </a:r>
            <a:r>
              <a:rPr lang="zh-CN" altLang="en-US" sz="2400" dirty="0">
                <a:solidFill>
                  <a:srgbClr val="4E8F00"/>
                </a:solidFill>
              </a:rPr>
              <a:t>（敏捷宣言遵循的原则）</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14</a:t>
            </a:fld>
            <a:endParaRPr lang="zh-CN" altLang="en-US"/>
          </a:p>
        </p:txBody>
      </p:sp>
      <p:sp>
        <p:nvSpPr>
          <p:cNvPr id="9" name="Rectangle 3">
            <a:extLst>
              <a:ext uri="{FF2B5EF4-FFF2-40B4-BE49-F238E27FC236}">
                <a16:creationId xmlns:a16="http://schemas.microsoft.com/office/drawing/2014/main" id="{5F33E35B-256E-1743-BB8B-80BD7885D6E9}"/>
              </a:ext>
            </a:extLst>
          </p:cNvPr>
          <p:cNvSpPr txBox="1">
            <a:spLocks noChangeArrowheads="1"/>
          </p:cNvSpPr>
          <p:nvPr/>
        </p:nvSpPr>
        <p:spPr>
          <a:xfrm>
            <a:off x="838990" y="1196976"/>
            <a:ext cx="7962110" cy="5163003"/>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indent="-342900">
              <a:buFont typeface="+mj-ea"/>
              <a:buAutoNum type="circleNumDbPlain"/>
            </a:pPr>
            <a:r>
              <a:rPr lang="zh-CN" altLang="en-US" sz="1400" dirty="0">
                <a:solidFill>
                  <a:schemeClr val="tx2"/>
                </a:solidFill>
                <a:latin typeface="Microsoft YaHei" panose="020B0503020204020204" pitchFamily="34" charset="-122"/>
                <a:ea typeface="Microsoft YaHei" panose="020B0503020204020204" pitchFamily="34" charset="-122"/>
              </a:rPr>
              <a:t>我们最重要的目标，是通过及早和持续不断地交付有价值的软件使客户满意。</a:t>
            </a:r>
            <a:endParaRPr lang="en-US" altLang="zh-CN" sz="1400" dirty="0">
              <a:solidFill>
                <a:schemeClr val="tx2"/>
              </a:solidFill>
              <a:latin typeface="Microsoft YaHei" panose="020B0503020204020204" pitchFamily="34" charset="-122"/>
              <a:ea typeface="Microsoft YaHei" panose="020B0503020204020204" pitchFamily="34" charset="-122"/>
            </a:endParaRPr>
          </a:p>
          <a:p>
            <a:pPr marL="342900" indent="-342900">
              <a:buFont typeface="+mj-ea"/>
              <a:buAutoNum type="circleNumDbPlain"/>
            </a:pPr>
            <a:r>
              <a:rPr lang="zh-CN" altLang="en-US" sz="1400" dirty="0">
                <a:solidFill>
                  <a:srgbClr val="CC6600"/>
                </a:solidFill>
                <a:latin typeface="Microsoft YaHei" panose="020B0503020204020204" pitchFamily="34" charset="-122"/>
                <a:ea typeface="Microsoft YaHei" panose="020B0503020204020204" pitchFamily="34" charset="-122"/>
              </a:rPr>
              <a:t>欣然面对需求变化，即使在开发后期也一样。为了客户的竞争优势，敏捷过程掌控变化。</a:t>
            </a:r>
          </a:p>
          <a:p>
            <a:pPr marL="342900" indent="-342900">
              <a:buFont typeface="+mj-ea"/>
              <a:buAutoNum type="circleNumDbPlain"/>
            </a:pPr>
            <a:r>
              <a:rPr lang="zh-CN" altLang="en-US" sz="1400" dirty="0">
                <a:solidFill>
                  <a:schemeClr val="tx2"/>
                </a:solidFill>
                <a:latin typeface="Microsoft YaHei" panose="020B0503020204020204" pitchFamily="34" charset="-122"/>
                <a:ea typeface="Microsoft YaHei" panose="020B0503020204020204" pitchFamily="34" charset="-122"/>
              </a:rPr>
              <a:t>经常地交付可工作的软件，相隔几星期或一两个月，倾向于采取较短的周期。</a:t>
            </a:r>
          </a:p>
          <a:p>
            <a:pPr marL="342900" indent="-342900">
              <a:buFont typeface="+mj-ea"/>
              <a:buAutoNum type="circleNumDbPlain"/>
            </a:pPr>
            <a:r>
              <a:rPr lang="zh-CN" altLang="en-US" sz="1400" dirty="0">
                <a:solidFill>
                  <a:srgbClr val="CC6600"/>
                </a:solidFill>
                <a:latin typeface="Microsoft YaHei" panose="020B0503020204020204" pitchFamily="34" charset="-122"/>
                <a:ea typeface="Microsoft YaHei" panose="020B0503020204020204" pitchFamily="34" charset="-122"/>
              </a:rPr>
              <a:t>业务人员和开发人员必须相互合作，项目中的每一天都不例外。</a:t>
            </a:r>
            <a:endParaRPr lang="en-US" altLang="zh-CN" sz="1400" dirty="0">
              <a:solidFill>
                <a:srgbClr val="CC6600"/>
              </a:solidFill>
              <a:latin typeface="Microsoft YaHei" panose="020B0503020204020204" pitchFamily="34" charset="-122"/>
              <a:ea typeface="Microsoft YaHei" panose="020B0503020204020204" pitchFamily="34" charset="-122"/>
            </a:endParaRPr>
          </a:p>
          <a:p>
            <a:pPr marL="342900" indent="-342900">
              <a:buFont typeface="+mj-ea"/>
              <a:buAutoNum type="circleNumDbPlain"/>
            </a:pPr>
            <a:r>
              <a:rPr lang="zh-CN" altLang="en-US" sz="1400" dirty="0">
                <a:solidFill>
                  <a:schemeClr val="tx2"/>
                </a:solidFill>
                <a:latin typeface="Microsoft YaHei" panose="020B0503020204020204" pitchFamily="34" charset="-122"/>
                <a:ea typeface="Microsoft YaHei" panose="020B0503020204020204" pitchFamily="34" charset="-122"/>
              </a:rPr>
              <a:t>激发个体的斗志，以他们为核心搭建项目。提供所需的环境和支援，辅以信任，从而达成目标。</a:t>
            </a:r>
          </a:p>
          <a:p>
            <a:pPr marL="342900" indent="-342900">
              <a:buFont typeface="+mj-ea"/>
              <a:buAutoNum type="circleNumDbPlain"/>
            </a:pPr>
            <a:r>
              <a:rPr lang="zh-CN" altLang="en-US" sz="1400" dirty="0">
                <a:solidFill>
                  <a:srgbClr val="CC6600"/>
                </a:solidFill>
                <a:latin typeface="Microsoft YaHei" panose="020B0503020204020204" pitchFamily="34" charset="-122"/>
                <a:ea typeface="Microsoft YaHei" panose="020B0503020204020204" pitchFamily="34" charset="-122"/>
              </a:rPr>
              <a:t>不论团队内外，传递信息效果最好效率也最高的方式是面对面的交谈。</a:t>
            </a:r>
          </a:p>
          <a:p>
            <a:pPr marL="342900" indent="-342900">
              <a:buFont typeface="+mj-ea"/>
              <a:buAutoNum type="circleNumDbPlain"/>
            </a:pPr>
            <a:r>
              <a:rPr lang="zh-CN" altLang="en-US" sz="1400" dirty="0">
                <a:solidFill>
                  <a:schemeClr val="tx2"/>
                </a:solidFill>
                <a:latin typeface="Microsoft YaHei" panose="020B0503020204020204" pitchFamily="34" charset="-122"/>
                <a:ea typeface="Microsoft YaHei" panose="020B0503020204020204" pitchFamily="34" charset="-122"/>
              </a:rPr>
              <a:t>可工作的软件是进度的首要度量标准。</a:t>
            </a:r>
          </a:p>
          <a:p>
            <a:pPr marL="342900" indent="-342900">
              <a:buFont typeface="+mj-ea"/>
              <a:buAutoNum type="circleNumDbPlain"/>
            </a:pPr>
            <a:r>
              <a:rPr lang="zh-CN" altLang="en-US" sz="1400" dirty="0">
                <a:solidFill>
                  <a:srgbClr val="CC6600"/>
                </a:solidFill>
                <a:latin typeface="Microsoft YaHei" panose="020B0503020204020204" pitchFamily="34" charset="-122"/>
                <a:ea typeface="Microsoft YaHei" panose="020B0503020204020204" pitchFamily="34" charset="-122"/>
              </a:rPr>
              <a:t>敏捷过程倡导可持续开发。责任人、开发人员和用户要能够共同维持其步调稳定延续。</a:t>
            </a:r>
          </a:p>
          <a:p>
            <a:pPr marL="342900" indent="-342900">
              <a:buFont typeface="+mj-ea"/>
              <a:buAutoNum type="circleNumDbPlain"/>
            </a:pPr>
            <a:r>
              <a:rPr lang="zh-CN" altLang="en-US" sz="1400" dirty="0">
                <a:solidFill>
                  <a:schemeClr val="tx2"/>
                </a:solidFill>
                <a:latin typeface="Microsoft YaHei" panose="020B0503020204020204" pitchFamily="34" charset="-122"/>
                <a:ea typeface="Microsoft YaHei" panose="020B0503020204020204" pitchFamily="34" charset="-122"/>
              </a:rPr>
              <a:t>坚持不懈地追求技术卓越和良好设计，敏捷能力由此增强。</a:t>
            </a:r>
          </a:p>
          <a:p>
            <a:pPr marL="342900" indent="-342900">
              <a:buFont typeface="+mj-ea"/>
              <a:buAutoNum type="circleNumDbPlain"/>
            </a:pPr>
            <a:r>
              <a:rPr lang="zh-CN" altLang="en-US" sz="1400" dirty="0">
                <a:solidFill>
                  <a:srgbClr val="CC6600"/>
                </a:solidFill>
                <a:latin typeface="Microsoft YaHei" panose="020B0503020204020204" pitchFamily="34" charset="-122"/>
                <a:ea typeface="Microsoft YaHei" panose="020B0503020204020204" pitchFamily="34" charset="-122"/>
              </a:rPr>
              <a:t>以简洁为本，它是极力减少不必要工作量的艺术。</a:t>
            </a:r>
          </a:p>
          <a:p>
            <a:pPr marL="342900" indent="-342900">
              <a:buFont typeface="+mj-ea"/>
              <a:buAutoNum type="circleNumDbPlain"/>
            </a:pPr>
            <a:r>
              <a:rPr lang="zh-CN" altLang="en-US" sz="1400" dirty="0">
                <a:solidFill>
                  <a:schemeClr val="tx2"/>
                </a:solidFill>
                <a:latin typeface="Microsoft YaHei" panose="020B0503020204020204" pitchFamily="34" charset="-122"/>
                <a:ea typeface="Microsoft YaHei" panose="020B0503020204020204" pitchFamily="34" charset="-122"/>
              </a:rPr>
              <a:t>最好的架构、需求和设计出自自组织团队。</a:t>
            </a:r>
          </a:p>
          <a:p>
            <a:pPr marL="342900" indent="-342900">
              <a:buFont typeface="+mj-ea"/>
              <a:buAutoNum type="circleNumDbPlain"/>
            </a:pPr>
            <a:r>
              <a:rPr lang="zh-CN" altLang="en-US" sz="1400" dirty="0">
                <a:solidFill>
                  <a:srgbClr val="CC6600"/>
                </a:solidFill>
                <a:latin typeface="Microsoft YaHei" panose="020B0503020204020204" pitchFamily="34" charset="-122"/>
                <a:ea typeface="Microsoft YaHei" panose="020B0503020204020204" pitchFamily="34" charset="-122"/>
              </a:rPr>
              <a:t>团队定期地反思如何能提高成效，并依此调整自身的行为表现。</a:t>
            </a:r>
          </a:p>
        </p:txBody>
      </p:sp>
    </p:spTree>
    <p:extLst>
      <p:ext uri="{BB962C8B-B14F-4D97-AF65-F5344CB8AC3E}">
        <p14:creationId xmlns:p14="http://schemas.microsoft.com/office/powerpoint/2010/main" val="140226764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zh-CN" altLang="en-US" sz="2800" dirty="0">
                <a:solidFill>
                  <a:srgbClr val="4E8F00"/>
                </a:solidFill>
              </a:rPr>
              <a:t>敏捷规则</a:t>
            </a:r>
            <a:r>
              <a:rPr lang="zh-CN" altLang="en-US" sz="2400" dirty="0">
                <a:solidFill>
                  <a:srgbClr val="4E8F00"/>
                </a:solidFill>
              </a:rPr>
              <a:t>（敏捷开发应遵循的原则）</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15</a:t>
            </a:fld>
            <a:endParaRPr lang="zh-CN" altLang="en-US"/>
          </a:p>
        </p:txBody>
      </p:sp>
      <p:grpSp>
        <p:nvGrpSpPr>
          <p:cNvPr id="2" name="组合 1">
            <a:extLst>
              <a:ext uri="{FF2B5EF4-FFF2-40B4-BE49-F238E27FC236}">
                <a16:creationId xmlns:a16="http://schemas.microsoft.com/office/drawing/2014/main" id="{7C70DD59-A68B-2A45-9310-9F504561CFFF}"/>
              </a:ext>
            </a:extLst>
          </p:cNvPr>
          <p:cNvGrpSpPr/>
          <p:nvPr/>
        </p:nvGrpSpPr>
        <p:grpSpPr>
          <a:xfrm>
            <a:off x="838990" y="1196976"/>
            <a:ext cx="7598572" cy="5163003"/>
            <a:chOff x="838990" y="1196976"/>
            <a:chExt cx="7598572" cy="5163003"/>
          </a:xfrm>
        </p:grpSpPr>
        <p:sp>
          <p:nvSpPr>
            <p:cNvPr id="9" name="Rectangle 3">
              <a:extLst>
                <a:ext uri="{FF2B5EF4-FFF2-40B4-BE49-F238E27FC236}">
                  <a16:creationId xmlns:a16="http://schemas.microsoft.com/office/drawing/2014/main" id="{5F33E35B-256E-1743-BB8B-80BD7885D6E9}"/>
                </a:ext>
              </a:extLst>
            </p:cNvPr>
            <p:cNvSpPr txBox="1">
              <a:spLocks noChangeArrowheads="1"/>
            </p:cNvSpPr>
            <p:nvPr/>
          </p:nvSpPr>
          <p:spPr>
            <a:xfrm>
              <a:off x="838990" y="1196976"/>
              <a:ext cx="5537317" cy="5163003"/>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indent="-285750">
                <a:buFont typeface="Arial" panose="020B0604020202020204" pitchFamily="34" charset="0"/>
                <a:buChar char="•"/>
              </a:pPr>
              <a:r>
                <a:rPr lang="zh-CN" altLang="en-US" sz="1600" dirty="0">
                  <a:solidFill>
                    <a:schemeClr val="tx2"/>
                  </a:solidFill>
                  <a:latin typeface="Microsoft YaHei" panose="020B0503020204020204" pitchFamily="34" charset="-122"/>
                  <a:ea typeface="Microsoft YaHei" panose="020B0503020204020204" pitchFamily="34" charset="-122"/>
                </a:rPr>
                <a:t>最高目标是能持续地、及早地向客户交付</a:t>
              </a:r>
              <a:r>
                <a:rPr lang="zh-CN" altLang="en-US" sz="1600" dirty="0">
                  <a:solidFill>
                    <a:schemeClr val="tx2"/>
                  </a:solidFill>
                  <a:highlight>
                    <a:srgbClr val="FFFF00"/>
                  </a:highlight>
                  <a:latin typeface="Microsoft YaHei" panose="020B0503020204020204" pitchFamily="34" charset="-122"/>
                  <a:ea typeface="Microsoft YaHei" panose="020B0503020204020204" pitchFamily="34" charset="-122"/>
                </a:rPr>
                <a:t>软件</a:t>
              </a:r>
            </a:p>
            <a:p>
              <a:pPr marL="285750" indent="-285750">
                <a:buFont typeface="Arial" panose="020B0604020202020204" pitchFamily="34" charset="0"/>
                <a:buChar char="•"/>
              </a:pPr>
              <a:r>
                <a:rPr lang="zh-CN" altLang="en-US" sz="1600" dirty="0">
                  <a:solidFill>
                    <a:schemeClr val="tx2"/>
                  </a:solidFill>
                  <a:latin typeface="Microsoft YaHei" panose="020B0503020204020204" pitchFamily="34" charset="-122"/>
                  <a:ea typeface="Microsoft YaHei" panose="020B0503020204020204" pitchFamily="34" charset="-122"/>
                </a:rPr>
                <a:t>拥抱</a:t>
              </a:r>
              <a:r>
                <a:rPr lang="zh-CN" altLang="en-US" sz="1600" dirty="0">
                  <a:solidFill>
                    <a:schemeClr val="tx2"/>
                  </a:solidFill>
                  <a:highlight>
                    <a:srgbClr val="FFFF00"/>
                  </a:highlight>
                  <a:latin typeface="Microsoft YaHei" panose="020B0503020204020204" pitchFamily="34" charset="-122"/>
                  <a:ea typeface="Microsoft YaHei" panose="020B0503020204020204" pitchFamily="34" charset="-122"/>
                </a:rPr>
                <a:t>变化</a:t>
              </a:r>
            </a:p>
            <a:p>
              <a:pPr marL="285750" indent="-285750">
                <a:buFont typeface="Arial" panose="020B0604020202020204" pitchFamily="34" charset="0"/>
                <a:buChar char="•"/>
              </a:pPr>
              <a:r>
                <a:rPr lang="zh-CN" altLang="en-US" sz="1600" dirty="0">
                  <a:solidFill>
                    <a:schemeClr val="tx2"/>
                  </a:solidFill>
                  <a:latin typeface="Microsoft YaHei" panose="020B0503020204020204" pitchFamily="34" charset="-122"/>
                  <a:ea typeface="Microsoft YaHei" panose="020B0503020204020204" pitchFamily="34" charset="-122"/>
                </a:rPr>
                <a:t>频繁地发布可运行的软件</a:t>
              </a:r>
            </a:p>
            <a:p>
              <a:pPr marL="285750" indent="-285750">
                <a:buFont typeface="Arial" panose="020B0604020202020204" pitchFamily="34" charset="0"/>
                <a:buChar char="•"/>
              </a:pPr>
              <a:r>
                <a:rPr lang="zh-CN" altLang="en-US" sz="1600" dirty="0">
                  <a:solidFill>
                    <a:schemeClr val="tx2"/>
                  </a:solidFill>
                  <a:highlight>
                    <a:srgbClr val="FFFF00"/>
                  </a:highlight>
                  <a:latin typeface="Microsoft YaHei" panose="020B0503020204020204" pitchFamily="34" charset="-122"/>
                  <a:ea typeface="Microsoft YaHei" panose="020B0503020204020204" pitchFamily="34" charset="-122"/>
                </a:rPr>
                <a:t>客户</a:t>
              </a:r>
              <a:r>
                <a:rPr lang="zh-CN" altLang="en-US" sz="1600" dirty="0">
                  <a:solidFill>
                    <a:schemeClr val="tx2"/>
                  </a:solidFill>
                  <a:latin typeface="Microsoft YaHei" panose="020B0503020204020204" pitchFamily="34" charset="-122"/>
                  <a:ea typeface="Microsoft YaHei" panose="020B0503020204020204" pitchFamily="34" charset="-122"/>
                </a:rPr>
                <a:t>和开发人员在一起工作</a:t>
              </a:r>
            </a:p>
            <a:p>
              <a:pPr marL="285750" indent="-285750">
                <a:buFont typeface="Arial" panose="020B0604020202020204" pitchFamily="34" charset="0"/>
                <a:buChar char="•"/>
              </a:pPr>
              <a:r>
                <a:rPr lang="zh-CN" altLang="en-US" sz="1600" dirty="0">
                  <a:solidFill>
                    <a:schemeClr val="tx2"/>
                  </a:solidFill>
                  <a:highlight>
                    <a:srgbClr val="FFFF00"/>
                  </a:highlight>
                  <a:latin typeface="Microsoft YaHei" panose="020B0503020204020204" pitchFamily="34" charset="-122"/>
                  <a:ea typeface="Microsoft YaHei" panose="020B0503020204020204" pitchFamily="34" charset="-122"/>
                </a:rPr>
                <a:t>以人为本</a:t>
              </a:r>
            </a:p>
            <a:p>
              <a:pPr marL="285750" indent="-285750">
                <a:buFont typeface="Arial" panose="020B0604020202020204" pitchFamily="34" charset="0"/>
                <a:buChar char="•"/>
              </a:pPr>
              <a:r>
                <a:rPr lang="zh-CN" altLang="en-US" sz="1600" dirty="0">
                  <a:solidFill>
                    <a:schemeClr val="tx2"/>
                  </a:solidFill>
                  <a:latin typeface="Microsoft YaHei" panose="020B0503020204020204" pitchFamily="34" charset="-122"/>
                  <a:ea typeface="Microsoft YaHei" panose="020B0503020204020204" pitchFamily="34" charset="-122"/>
                </a:rPr>
                <a:t>最重要的衡量开发过程的手段，是可工作的软件</a:t>
              </a:r>
            </a:p>
            <a:p>
              <a:pPr marL="285750" indent="-285750">
                <a:buFont typeface="Arial" panose="020B0604020202020204" pitchFamily="34" charset="0"/>
                <a:buChar char="•"/>
              </a:pPr>
              <a:r>
                <a:rPr lang="zh-CN" altLang="en-US" sz="1600" dirty="0">
                  <a:solidFill>
                    <a:schemeClr val="tx2"/>
                  </a:solidFill>
                  <a:latin typeface="Microsoft YaHei" panose="020B0503020204020204" pitchFamily="34" charset="-122"/>
                  <a:ea typeface="Microsoft YaHei" panose="020B0503020204020204" pitchFamily="34" charset="-122"/>
                </a:rPr>
                <a:t>稳定的开发速度</a:t>
              </a:r>
            </a:p>
            <a:p>
              <a:pPr marL="285750" indent="-285750">
                <a:buFont typeface="Arial" panose="020B0604020202020204" pitchFamily="34" charset="0"/>
                <a:buChar char="•"/>
              </a:pPr>
              <a:r>
                <a:rPr lang="zh-CN" altLang="en-US" sz="1600" dirty="0">
                  <a:solidFill>
                    <a:schemeClr val="tx2"/>
                  </a:solidFill>
                  <a:latin typeface="Microsoft YaHei" panose="020B0503020204020204" pitchFamily="34" charset="-122"/>
                  <a:ea typeface="Microsoft YaHei" panose="020B0503020204020204" pitchFamily="34" charset="-122"/>
                </a:rPr>
                <a:t>敏捷高效的设计</a:t>
              </a:r>
            </a:p>
            <a:p>
              <a:pPr marL="285750" indent="-285750">
                <a:buFont typeface="Arial" panose="020B0604020202020204" pitchFamily="34" charset="0"/>
                <a:buChar char="•"/>
              </a:pPr>
              <a:r>
                <a:rPr lang="zh-CN" altLang="en-US" sz="1600" dirty="0">
                  <a:solidFill>
                    <a:schemeClr val="tx2"/>
                  </a:solidFill>
                  <a:highlight>
                    <a:srgbClr val="FFFF00"/>
                  </a:highlight>
                  <a:latin typeface="Microsoft YaHei" panose="020B0503020204020204" pitchFamily="34" charset="-122"/>
                  <a:ea typeface="Microsoft YaHei" panose="020B0503020204020204" pitchFamily="34" charset="-122"/>
                </a:rPr>
                <a:t>简单有效</a:t>
              </a:r>
            </a:p>
            <a:p>
              <a:pPr marL="285750" indent="-285750">
                <a:buFont typeface="Arial" panose="020B0604020202020204" pitchFamily="34" charset="0"/>
                <a:buChar char="•"/>
              </a:pPr>
              <a:r>
                <a:rPr lang="zh-CN" altLang="en-US" sz="1600" dirty="0">
                  <a:solidFill>
                    <a:schemeClr val="tx2"/>
                  </a:solidFill>
                  <a:latin typeface="Microsoft YaHei" panose="020B0503020204020204" pitchFamily="34" charset="-122"/>
                  <a:ea typeface="Microsoft YaHei" panose="020B0503020204020204" pitchFamily="34" charset="-122"/>
                </a:rPr>
                <a:t>重视</a:t>
              </a:r>
              <a:r>
                <a:rPr lang="en-US" altLang="zh-CN" sz="1600" dirty="0">
                  <a:solidFill>
                    <a:schemeClr val="tx2"/>
                  </a:solidFill>
                  <a:latin typeface="Microsoft YaHei" panose="020B0503020204020204" pitchFamily="34" charset="-122"/>
                  <a:ea typeface="Microsoft YaHei" panose="020B0503020204020204" pitchFamily="34" charset="-122"/>
                </a:rPr>
                <a:t>Teamwork</a:t>
              </a:r>
              <a:endParaRPr lang="en-US" altLang="en-US" sz="1600" dirty="0">
                <a:solidFill>
                  <a:schemeClr val="tx2"/>
                </a:solidFill>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lang="zh-CN" altLang="en-US" sz="1600" dirty="0">
                  <a:solidFill>
                    <a:schemeClr val="tx2"/>
                  </a:solidFill>
                  <a:latin typeface="Microsoft YaHei" panose="020B0503020204020204" pitchFamily="34" charset="-122"/>
                  <a:ea typeface="Microsoft YaHei" panose="020B0503020204020204" pitchFamily="34" charset="-122"/>
                </a:rPr>
                <a:t>积极的调整</a:t>
              </a:r>
            </a:p>
            <a:p>
              <a:pPr>
                <a:buFont typeface="Wingdings" pitchFamily="2" charset="2"/>
                <a:buNone/>
              </a:pPr>
              <a:endParaRPr lang="zh-CN" altLang="en-US" sz="1600" dirty="0">
                <a:solidFill>
                  <a:schemeClr val="tx2"/>
                </a:solidFill>
                <a:latin typeface="Microsoft YaHei" panose="020B0503020204020204" pitchFamily="34" charset="-122"/>
                <a:ea typeface="Microsoft YaHei" panose="020B0503020204020204" pitchFamily="34" charset="-122"/>
              </a:endParaRPr>
            </a:p>
          </p:txBody>
        </p:sp>
        <p:graphicFrame>
          <p:nvGraphicFramePr>
            <p:cNvPr id="10" name="Object 8">
              <a:extLst>
                <a:ext uri="{FF2B5EF4-FFF2-40B4-BE49-F238E27FC236}">
                  <a16:creationId xmlns:a16="http://schemas.microsoft.com/office/drawing/2014/main" id="{3D4769F8-82AE-984A-9C56-57B4A87D12C0}"/>
                </a:ext>
              </a:extLst>
            </p:cNvPr>
            <p:cNvGraphicFramePr>
              <a:graphicFrameLocks noChangeAspect="1"/>
            </p:cNvGraphicFramePr>
            <p:nvPr>
              <p:extLst>
                <p:ext uri="{D42A27DB-BD31-4B8C-83A1-F6EECF244321}">
                  <p14:modId xmlns:p14="http://schemas.microsoft.com/office/powerpoint/2010/main" val="3325573378"/>
                </p:ext>
              </p:extLst>
            </p:nvPr>
          </p:nvGraphicFramePr>
          <p:xfrm>
            <a:off x="6126162" y="3897313"/>
            <a:ext cx="2311400" cy="2082800"/>
          </p:xfrm>
          <a:graphic>
            <a:graphicData uri="http://schemas.openxmlformats.org/presentationml/2006/ole">
              <mc:AlternateContent xmlns:mc="http://schemas.openxmlformats.org/markup-compatibility/2006">
                <mc:Choice xmlns:v="urn:schemas-microsoft-com:vml" Requires="v">
                  <p:oleObj name="CorelDRAW" r:id="rId2" imgW="6934200" imgH="6248400" progId="CorelDRAW.Graphic.9">
                    <p:embed/>
                  </p:oleObj>
                </mc:Choice>
                <mc:Fallback>
                  <p:oleObj name="CorelDRAW" r:id="rId2" imgW="6934200" imgH="6248400" progId="CorelDRAW.Graphic.9">
                    <p:embed/>
                    <p:pic>
                      <p:nvPicPr>
                        <p:cNvPr id="1026" name="Object 8">
                          <a:extLst>
                            <a:ext uri="{FF2B5EF4-FFF2-40B4-BE49-F238E27FC236}">
                              <a16:creationId xmlns:a16="http://schemas.microsoft.com/office/drawing/2014/main" id="{2BDB8FB6-15F1-8143-AB68-EDC404CC312C}"/>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6162" y="3897313"/>
                          <a:ext cx="2311400" cy="208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307431553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zh-CN" altLang="en-US" sz="2800" dirty="0">
                <a:solidFill>
                  <a:srgbClr val="4E8F00"/>
                </a:solidFill>
              </a:rPr>
              <a:t>我们为什么需要敏捷？</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16</a:t>
            </a:fld>
            <a:endParaRPr lang="zh-CN" altLang="en-US"/>
          </a:p>
        </p:txBody>
      </p:sp>
      <p:sp>
        <p:nvSpPr>
          <p:cNvPr id="11" name="Rectangle 3">
            <a:extLst>
              <a:ext uri="{FF2B5EF4-FFF2-40B4-BE49-F238E27FC236}">
                <a16:creationId xmlns:a16="http://schemas.microsoft.com/office/drawing/2014/main" id="{3CA6F544-5F85-E644-A40A-30274229A4E4}"/>
              </a:ext>
            </a:extLst>
          </p:cNvPr>
          <p:cNvSpPr txBox="1">
            <a:spLocks noChangeArrowheads="1"/>
          </p:cNvSpPr>
          <p:nvPr/>
        </p:nvSpPr>
        <p:spPr>
          <a:xfrm>
            <a:off x="683314" y="1196976"/>
            <a:ext cx="3300856" cy="4607831"/>
          </a:xfrm>
          <a:prstGeom prst="rect">
            <a:avLst/>
          </a:prstGeom>
          <a:ln>
            <a:solidFill>
              <a:schemeClr val="bg1">
                <a:lumMod val="75000"/>
              </a:schemeClr>
            </a:solidFill>
          </a:ln>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lgn="just">
              <a:spcAft>
                <a:spcPts val="600"/>
              </a:spcAft>
            </a:pPr>
            <a:r>
              <a:rPr lang="zh-CN" altLang="en-US" sz="1600" dirty="0">
                <a:solidFill>
                  <a:srgbClr val="C00000"/>
                </a:solidFill>
                <a:latin typeface="Microsoft YaHei" panose="020B0503020204020204" pitchFamily="34" charset="-122"/>
                <a:ea typeface="Microsoft YaHei" panose="020B0503020204020204" pitchFamily="34" charset="-122"/>
              </a:rPr>
              <a:t>项目为什么失败？</a:t>
            </a:r>
          </a:p>
          <a:p>
            <a:pPr marL="342900" lvl="0" indent="-342900" algn="just" defTabSz="801688" fontAlgn="base">
              <a:spcBef>
                <a:spcPct val="0"/>
              </a:spcBef>
              <a:spcAft>
                <a:spcPct val="0"/>
              </a:spcAft>
              <a:buClr>
                <a:schemeClr val="bg2">
                  <a:lumMod val="50000"/>
                </a:schemeClr>
              </a:buClr>
              <a:buSzPct val="100000"/>
              <a:buFont typeface="+mj-ea"/>
              <a:buAutoNum type="circleNumDbPlain"/>
            </a:pPr>
            <a:r>
              <a:rPr lang="zh-CN" altLang="en-US" sz="1600" b="1" dirty="0">
                <a:solidFill>
                  <a:schemeClr val="tx2"/>
                </a:solidFill>
                <a:latin typeface="华文细黑" panose="02010600040101010101" pitchFamily="2" charset="-122"/>
                <a:ea typeface="华文细黑" panose="02010600040101010101" pitchFamily="2" charset="-122"/>
              </a:rPr>
              <a:t>对用户需求理解得不清楚，甚至有错误；</a:t>
            </a:r>
          </a:p>
          <a:p>
            <a:pPr marL="342900" lvl="0" indent="-342900" algn="just" defTabSz="801688" fontAlgn="base">
              <a:spcBef>
                <a:spcPct val="0"/>
              </a:spcBef>
              <a:spcAft>
                <a:spcPct val="0"/>
              </a:spcAft>
              <a:buClr>
                <a:schemeClr val="bg2">
                  <a:lumMod val="50000"/>
                </a:schemeClr>
              </a:buClr>
              <a:buSzPct val="100000"/>
              <a:buFont typeface="+mj-ea"/>
              <a:buAutoNum type="circleNumDbPlain"/>
            </a:pPr>
            <a:r>
              <a:rPr lang="zh-CN" altLang="en-US" sz="1600" b="1" dirty="0">
                <a:solidFill>
                  <a:schemeClr val="tx2"/>
                </a:solidFill>
                <a:latin typeface="华文细黑" panose="02010600040101010101" pitchFamily="2" charset="-122"/>
                <a:ea typeface="华文细黑" panose="02010600040101010101" pitchFamily="2" charset="-122"/>
              </a:rPr>
              <a:t>用户需求变化；</a:t>
            </a:r>
          </a:p>
          <a:p>
            <a:pPr marL="342900" lvl="0" indent="-342900" algn="just" defTabSz="801688" fontAlgn="base">
              <a:spcBef>
                <a:spcPct val="0"/>
              </a:spcBef>
              <a:spcAft>
                <a:spcPct val="0"/>
              </a:spcAft>
              <a:buClr>
                <a:schemeClr val="bg2">
                  <a:lumMod val="50000"/>
                </a:schemeClr>
              </a:buClr>
              <a:buSzPct val="100000"/>
              <a:buFont typeface="+mj-ea"/>
              <a:buAutoNum type="circleNumDbPlain"/>
            </a:pPr>
            <a:r>
              <a:rPr lang="zh-CN" altLang="en-US" sz="1600" b="1" dirty="0">
                <a:solidFill>
                  <a:schemeClr val="tx2"/>
                </a:solidFill>
                <a:latin typeface="华文细黑" panose="02010600040101010101" pitchFamily="2" charset="-122"/>
                <a:ea typeface="华文细黑" panose="02010600040101010101" pitchFamily="2" charset="-122"/>
              </a:rPr>
              <a:t>软件很难维护或扩展；</a:t>
            </a:r>
          </a:p>
          <a:p>
            <a:pPr marL="342900" lvl="0" indent="-342900" algn="just" defTabSz="801688" fontAlgn="base">
              <a:spcBef>
                <a:spcPct val="0"/>
              </a:spcBef>
              <a:spcAft>
                <a:spcPct val="0"/>
              </a:spcAft>
              <a:buClr>
                <a:schemeClr val="bg2">
                  <a:lumMod val="50000"/>
                </a:schemeClr>
              </a:buClr>
              <a:buSzPct val="100000"/>
              <a:buFont typeface="+mj-ea"/>
              <a:buAutoNum type="circleNumDbPlain"/>
            </a:pPr>
            <a:r>
              <a:rPr lang="zh-CN" altLang="en-US" sz="1600" b="1" dirty="0">
                <a:solidFill>
                  <a:schemeClr val="tx2"/>
                </a:solidFill>
                <a:latin typeface="华文细黑" panose="02010600040101010101" pitchFamily="2" charset="-122"/>
                <a:ea typeface="华文细黑" panose="02010600040101010101" pitchFamily="2" charset="-122"/>
              </a:rPr>
              <a:t>在项目后期阶段发现很严重的设计缺陷；</a:t>
            </a:r>
          </a:p>
          <a:p>
            <a:pPr marL="342900" lvl="0" indent="-342900" algn="just" defTabSz="801688" fontAlgn="base">
              <a:spcBef>
                <a:spcPct val="0"/>
              </a:spcBef>
              <a:spcAft>
                <a:spcPct val="0"/>
              </a:spcAft>
              <a:buClr>
                <a:schemeClr val="bg2">
                  <a:lumMod val="50000"/>
                </a:schemeClr>
              </a:buClr>
              <a:buSzPct val="100000"/>
              <a:buFont typeface="+mj-ea"/>
              <a:buAutoNum type="circleNumDbPlain"/>
            </a:pPr>
            <a:r>
              <a:rPr lang="zh-CN" altLang="en-US" sz="1600" b="1" dirty="0">
                <a:solidFill>
                  <a:schemeClr val="tx2"/>
                </a:solidFill>
                <a:latin typeface="华文细黑" panose="02010600040101010101" pitchFamily="2" charset="-122"/>
                <a:ea typeface="华文细黑" panose="02010600040101010101" pitchFamily="2" charset="-122"/>
              </a:rPr>
              <a:t>软件质量或性能不合格；</a:t>
            </a:r>
          </a:p>
          <a:p>
            <a:pPr marL="342900" lvl="0" indent="-342900" algn="just" defTabSz="801688" fontAlgn="base">
              <a:spcBef>
                <a:spcPct val="0"/>
              </a:spcBef>
              <a:spcAft>
                <a:spcPct val="0"/>
              </a:spcAft>
              <a:buClr>
                <a:schemeClr val="bg2">
                  <a:lumMod val="50000"/>
                </a:schemeClr>
              </a:buClr>
              <a:buSzPct val="100000"/>
              <a:buFont typeface="+mj-ea"/>
              <a:buAutoNum type="circleNumDbPlain"/>
            </a:pPr>
            <a:r>
              <a:rPr lang="en-US" altLang="zh-CN" sz="1600" b="1" dirty="0">
                <a:solidFill>
                  <a:schemeClr val="tx2"/>
                </a:solidFill>
                <a:latin typeface="华文细黑" panose="02010600040101010101" pitchFamily="2" charset="-122"/>
                <a:ea typeface="华文细黑" panose="02010600040101010101" pitchFamily="2" charset="-122"/>
              </a:rPr>
              <a:t>Test - Build - Release</a:t>
            </a:r>
            <a:r>
              <a:rPr lang="zh-CN" altLang="en-US" sz="1600" b="1" dirty="0">
                <a:solidFill>
                  <a:schemeClr val="tx2"/>
                </a:solidFill>
                <a:latin typeface="华文细黑" panose="02010600040101010101" pitchFamily="2" charset="-122"/>
                <a:ea typeface="华文细黑" panose="02010600040101010101" pitchFamily="2" charset="-122"/>
              </a:rPr>
              <a:t>过程的可操作性、可维护性很差；</a:t>
            </a:r>
          </a:p>
          <a:p>
            <a:pPr marL="342900" lvl="0" indent="-342900" algn="just" defTabSz="801688" fontAlgn="base">
              <a:spcBef>
                <a:spcPct val="0"/>
              </a:spcBef>
              <a:spcAft>
                <a:spcPct val="0"/>
              </a:spcAft>
              <a:buClr>
                <a:schemeClr val="bg2">
                  <a:lumMod val="50000"/>
                </a:schemeClr>
              </a:buClr>
              <a:buSzPct val="100000"/>
              <a:buFont typeface="+mj-ea"/>
              <a:buAutoNum type="circleNumDbPlain"/>
            </a:pPr>
            <a:r>
              <a:rPr lang="zh-CN" altLang="en-US" sz="1600" b="1" dirty="0">
                <a:solidFill>
                  <a:schemeClr val="tx2"/>
                </a:solidFill>
                <a:latin typeface="华文细黑" panose="02010600040101010101" pitchFamily="2" charset="-122"/>
                <a:ea typeface="华文细黑" panose="02010600040101010101" pitchFamily="2" charset="-122"/>
              </a:rPr>
              <a:t>人员流动；</a:t>
            </a:r>
            <a:endParaRPr lang="en-US" altLang="zh-CN" sz="1600" b="1" dirty="0">
              <a:solidFill>
                <a:schemeClr val="tx2"/>
              </a:solidFill>
              <a:latin typeface="华文细黑" panose="02010600040101010101" pitchFamily="2" charset="-122"/>
              <a:ea typeface="华文细黑" panose="02010600040101010101" pitchFamily="2" charset="-122"/>
            </a:endParaRPr>
          </a:p>
          <a:p>
            <a:pPr marL="342900" indent="-342900" algn="just" defTabSz="801688" fontAlgn="base">
              <a:spcBef>
                <a:spcPct val="0"/>
              </a:spcBef>
              <a:spcAft>
                <a:spcPct val="0"/>
              </a:spcAft>
              <a:buClr>
                <a:schemeClr val="bg2">
                  <a:lumMod val="50000"/>
                </a:schemeClr>
              </a:buClr>
              <a:buSzPct val="100000"/>
              <a:buFont typeface="+mj-ea"/>
              <a:buAutoNum type="circleNumDbPlain"/>
            </a:pPr>
            <a:r>
              <a:rPr lang="en-US" altLang="zh-CN" sz="1600" b="1" dirty="0">
                <a:latin typeface="华文细黑" panose="02010600040101010101" pitchFamily="2" charset="-122"/>
                <a:ea typeface="华文细黑" panose="02010600040101010101" pitchFamily="2" charset="-122"/>
              </a:rPr>
              <a:t>……</a:t>
            </a:r>
          </a:p>
          <a:p>
            <a:pPr marL="342900" lvl="0" indent="-342900" defTabSz="801688" fontAlgn="base">
              <a:spcBef>
                <a:spcPct val="0"/>
              </a:spcBef>
              <a:spcAft>
                <a:spcPct val="0"/>
              </a:spcAft>
              <a:buClr>
                <a:schemeClr val="bg2">
                  <a:lumMod val="50000"/>
                </a:schemeClr>
              </a:buClr>
              <a:buSzPct val="100000"/>
              <a:buFont typeface="+mj-ea"/>
              <a:buAutoNum type="circleNumDbPlain"/>
            </a:pPr>
            <a:endParaRPr lang="zh-CN" altLang="en-US" sz="1600" b="1" dirty="0">
              <a:solidFill>
                <a:schemeClr val="tx2"/>
              </a:solidFill>
              <a:latin typeface="华文细黑" panose="02010600040101010101" pitchFamily="2" charset="-122"/>
              <a:ea typeface="华文细黑" panose="02010600040101010101" pitchFamily="2" charset="-122"/>
            </a:endParaRPr>
          </a:p>
          <a:p>
            <a:pPr>
              <a:buFont typeface="Wingdings" pitchFamily="2" charset="2"/>
              <a:buNone/>
            </a:pPr>
            <a:endParaRPr lang="zh-CN" altLang="en-US" sz="1600" dirty="0">
              <a:solidFill>
                <a:schemeClr val="tx2"/>
              </a:solidFill>
              <a:latin typeface="Microsoft YaHei" panose="020B0503020204020204" pitchFamily="34" charset="-122"/>
              <a:ea typeface="Microsoft YaHei" panose="020B0503020204020204" pitchFamily="34" charset="-122"/>
            </a:endParaRPr>
          </a:p>
        </p:txBody>
      </p:sp>
      <p:sp>
        <p:nvSpPr>
          <p:cNvPr id="15" name="Rectangle 3">
            <a:extLst>
              <a:ext uri="{FF2B5EF4-FFF2-40B4-BE49-F238E27FC236}">
                <a16:creationId xmlns:a16="http://schemas.microsoft.com/office/drawing/2014/main" id="{42B6856C-D22C-B14E-8F06-316982BF7839}"/>
              </a:ext>
            </a:extLst>
          </p:cNvPr>
          <p:cNvSpPr txBox="1">
            <a:spLocks noChangeArrowheads="1"/>
          </p:cNvSpPr>
          <p:nvPr/>
        </p:nvSpPr>
        <p:spPr>
          <a:xfrm>
            <a:off x="5159832" y="2030639"/>
            <a:ext cx="3421346" cy="4280354"/>
          </a:xfrm>
          <a:prstGeom prst="rect">
            <a:avLst/>
          </a:prstGeom>
          <a:ln>
            <a:solidFill>
              <a:schemeClr val="bg1">
                <a:lumMod val="75000"/>
              </a:schemeClr>
            </a:solidFill>
          </a:ln>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lgn="just">
              <a:spcAft>
                <a:spcPts val="600"/>
              </a:spcAft>
            </a:pPr>
            <a:r>
              <a:rPr lang="zh-CN" altLang="en-US" sz="1600" dirty="0">
                <a:solidFill>
                  <a:srgbClr val="C00000"/>
                </a:solidFill>
                <a:latin typeface="Microsoft YaHei" panose="020B0503020204020204" pitchFamily="34" charset="-122"/>
                <a:ea typeface="Microsoft YaHei" panose="020B0503020204020204" pitchFamily="34" charset="-122"/>
              </a:rPr>
              <a:t>软件工程试图解决这些问题</a:t>
            </a:r>
          </a:p>
          <a:p>
            <a:pPr marL="342900" indent="-342900" algn="just" defTabSz="801688" fontAlgn="base">
              <a:spcBef>
                <a:spcPct val="0"/>
              </a:spcBef>
              <a:spcAft>
                <a:spcPct val="0"/>
              </a:spcAft>
              <a:buClr>
                <a:schemeClr val="bg2">
                  <a:lumMod val="50000"/>
                </a:schemeClr>
              </a:buClr>
              <a:buSzPct val="100000"/>
              <a:buFont typeface="+mj-ea"/>
              <a:buAutoNum type="circleNumDbPlain"/>
            </a:pPr>
            <a:r>
              <a:rPr lang="zh-CN" altLang="en-US" sz="1600" b="1" dirty="0">
                <a:solidFill>
                  <a:schemeClr val="tx2"/>
                </a:solidFill>
                <a:latin typeface="华文细黑" panose="02010600040101010101" pitchFamily="2" charset="-122"/>
                <a:ea typeface="华文细黑" panose="02010600040101010101" pitchFamily="2" charset="-122"/>
              </a:rPr>
              <a:t>为了</a:t>
            </a:r>
            <a:r>
              <a:rPr lang="zh-CN" altLang="en-GB" sz="1600" b="1" dirty="0">
                <a:solidFill>
                  <a:schemeClr val="tx2"/>
                </a:solidFill>
                <a:latin typeface="华文细黑" panose="02010600040101010101" pitchFamily="2" charset="-122"/>
                <a:ea typeface="华文细黑" panose="02010600040101010101" pitchFamily="2" charset="-122"/>
              </a:rPr>
              <a:t>规范化开发过程，引进传统工程的概念（瀑布型）；</a:t>
            </a:r>
            <a:endParaRPr lang="en-US" altLang="zh-CN" sz="1600" b="1" dirty="0">
              <a:solidFill>
                <a:schemeClr val="tx2"/>
              </a:solidFill>
              <a:latin typeface="华文细黑" panose="02010600040101010101" pitchFamily="2" charset="-122"/>
              <a:ea typeface="华文细黑" panose="02010600040101010101" pitchFamily="2" charset="-122"/>
            </a:endParaRPr>
          </a:p>
          <a:p>
            <a:pPr marL="342900" indent="-342900" algn="just" defTabSz="801688" fontAlgn="base">
              <a:spcBef>
                <a:spcPct val="0"/>
              </a:spcBef>
              <a:spcAft>
                <a:spcPct val="0"/>
              </a:spcAft>
              <a:buClr>
                <a:schemeClr val="bg2">
                  <a:lumMod val="50000"/>
                </a:schemeClr>
              </a:buClr>
              <a:buSzPct val="100000"/>
              <a:buFont typeface="+mj-ea"/>
              <a:buAutoNum type="circleNumDbPlain"/>
            </a:pPr>
            <a:r>
              <a:rPr lang="zh-CN" altLang="en-GB" sz="1600" b="1" dirty="0">
                <a:solidFill>
                  <a:schemeClr val="tx2"/>
                </a:solidFill>
                <a:latin typeface="华文细黑" panose="02010600040101010101" pitchFamily="2" charset="-122"/>
                <a:ea typeface="华文细黑" panose="02010600040101010101" pitchFamily="2" charset="-122"/>
              </a:rPr>
              <a:t>为了理解需求，提出原型法；</a:t>
            </a:r>
            <a:endParaRPr lang="en-US" altLang="zh-CN" sz="1600" b="1" dirty="0">
              <a:solidFill>
                <a:schemeClr val="tx2"/>
              </a:solidFill>
              <a:latin typeface="华文细黑" panose="02010600040101010101" pitchFamily="2" charset="-122"/>
              <a:ea typeface="华文细黑" panose="02010600040101010101" pitchFamily="2" charset="-122"/>
            </a:endParaRPr>
          </a:p>
          <a:p>
            <a:pPr marL="342900" indent="-342900" algn="just" defTabSz="801688" fontAlgn="base">
              <a:spcBef>
                <a:spcPct val="0"/>
              </a:spcBef>
              <a:spcAft>
                <a:spcPct val="0"/>
              </a:spcAft>
              <a:buClr>
                <a:schemeClr val="bg2">
                  <a:lumMod val="50000"/>
                </a:schemeClr>
              </a:buClr>
              <a:buSzPct val="100000"/>
              <a:buFont typeface="+mj-ea"/>
              <a:buAutoNum type="circleNumDbPlain"/>
            </a:pPr>
            <a:r>
              <a:rPr lang="zh-CN" altLang="en-GB" sz="1600" b="1" dirty="0">
                <a:solidFill>
                  <a:schemeClr val="tx2"/>
                </a:solidFill>
                <a:latin typeface="华文细黑" panose="02010600040101010101" pitchFamily="2" charset="-122"/>
                <a:ea typeface="华文细黑" panose="02010600040101010101" pitchFamily="2" charset="-122"/>
              </a:rPr>
              <a:t>为了提高设计开发的效率和扩展性，提出重用和面向对象等思想；</a:t>
            </a:r>
            <a:endParaRPr lang="en-US" altLang="zh-CN" sz="1600" b="1" dirty="0">
              <a:solidFill>
                <a:schemeClr val="tx2"/>
              </a:solidFill>
              <a:latin typeface="华文细黑" panose="02010600040101010101" pitchFamily="2" charset="-122"/>
              <a:ea typeface="华文细黑" panose="02010600040101010101" pitchFamily="2" charset="-122"/>
            </a:endParaRPr>
          </a:p>
          <a:p>
            <a:pPr marL="342900" indent="-342900" algn="just" defTabSz="801688" fontAlgn="base">
              <a:spcBef>
                <a:spcPct val="0"/>
              </a:spcBef>
              <a:spcAft>
                <a:spcPct val="0"/>
              </a:spcAft>
              <a:buClr>
                <a:schemeClr val="bg2">
                  <a:lumMod val="50000"/>
                </a:schemeClr>
              </a:buClr>
              <a:buSzPct val="100000"/>
              <a:buFont typeface="+mj-ea"/>
              <a:buAutoNum type="circleNumDbPlain"/>
            </a:pPr>
            <a:r>
              <a:rPr lang="zh-CN" altLang="en-GB" sz="1600" b="1" dirty="0">
                <a:solidFill>
                  <a:schemeClr val="tx2"/>
                </a:solidFill>
                <a:latin typeface="华文细黑" panose="02010600040101010101" pitchFamily="2" charset="-122"/>
                <a:ea typeface="华文细黑" panose="02010600040101010101" pitchFamily="2" charset="-122"/>
              </a:rPr>
              <a:t>为了让开发过程更灵活，提出了开发框架的概念；</a:t>
            </a:r>
            <a:endParaRPr lang="en-US" altLang="zh-CN" sz="1600" b="1" dirty="0">
              <a:solidFill>
                <a:schemeClr val="tx2"/>
              </a:solidFill>
              <a:latin typeface="华文细黑" panose="02010600040101010101" pitchFamily="2" charset="-122"/>
              <a:ea typeface="华文细黑" panose="02010600040101010101" pitchFamily="2" charset="-122"/>
            </a:endParaRPr>
          </a:p>
          <a:p>
            <a:pPr marL="342900" indent="-342900" algn="just" defTabSz="801688" fontAlgn="base">
              <a:spcBef>
                <a:spcPct val="0"/>
              </a:spcBef>
              <a:spcAft>
                <a:spcPct val="0"/>
              </a:spcAft>
              <a:buClr>
                <a:schemeClr val="bg2">
                  <a:lumMod val="50000"/>
                </a:schemeClr>
              </a:buClr>
              <a:buSzPct val="100000"/>
              <a:buFont typeface="+mj-ea"/>
              <a:buAutoNum type="circleNumDbPlain"/>
            </a:pPr>
            <a:r>
              <a:rPr lang="zh-CN" altLang="en-GB" sz="1600" b="1" dirty="0">
                <a:solidFill>
                  <a:schemeClr val="tx2"/>
                </a:solidFill>
                <a:latin typeface="华文细黑" panose="02010600040101010101" pitchFamily="2" charset="-122"/>
                <a:ea typeface="华文细黑" panose="02010600040101010101" pitchFamily="2" charset="-122"/>
              </a:rPr>
              <a:t>为了降低风险，</a:t>
            </a:r>
            <a:r>
              <a:rPr lang="zh-CN" altLang="en-US" sz="1600" b="1" dirty="0">
                <a:solidFill>
                  <a:schemeClr val="tx2"/>
                </a:solidFill>
                <a:latin typeface="华文细黑" panose="02010600040101010101" pitchFamily="2" charset="-122"/>
                <a:ea typeface="华文细黑" panose="02010600040101010101" pitchFamily="2" charset="-122"/>
              </a:rPr>
              <a:t>提出了风险评估、成本控制和增量开发等思想；</a:t>
            </a:r>
            <a:endParaRPr lang="en-US" altLang="zh-CN" sz="1600" b="1" dirty="0">
              <a:solidFill>
                <a:schemeClr val="tx2"/>
              </a:solidFill>
              <a:latin typeface="华文细黑" panose="02010600040101010101" pitchFamily="2" charset="-122"/>
              <a:ea typeface="华文细黑" panose="02010600040101010101" pitchFamily="2" charset="-122"/>
            </a:endParaRPr>
          </a:p>
          <a:p>
            <a:pPr marL="342900" indent="-342900" algn="just" defTabSz="801688" fontAlgn="base">
              <a:spcBef>
                <a:spcPct val="0"/>
              </a:spcBef>
              <a:spcAft>
                <a:spcPct val="0"/>
              </a:spcAft>
              <a:buClr>
                <a:schemeClr val="bg2">
                  <a:lumMod val="50000"/>
                </a:schemeClr>
              </a:buClr>
              <a:buSzPct val="100000"/>
              <a:buFont typeface="+mj-ea"/>
              <a:buAutoNum type="circleNumDbPlain"/>
            </a:pPr>
            <a:r>
              <a:rPr lang="en-US" altLang="zh-CN" sz="1600" b="1" dirty="0">
                <a:latin typeface="华文细黑" panose="02010600040101010101" pitchFamily="2" charset="-122"/>
                <a:ea typeface="华文细黑" panose="02010600040101010101" pitchFamily="2" charset="-122"/>
              </a:rPr>
              <a:t>……</a:t>
            </a:r>
            <a:endParaRPr lang="zh-CN" altLang="en-GB" sz="1600" b="1" dirty="0">
              <a:solidFill>
                <a:schemeClr val="tx2"/>
              </a:solidFill>
              <a:latin typeface="华文细黑" panose="02010600040101010101" pitchFamily="2" charset="-122"/>
              <a:ea typeface="华文细黑" panose="02010600040101010101" pitchFamily="2" charset="-122"/>
            </a:endParaRPr>
          </a:p>
          <a:p>
            <a:pPr marL="342900" lvl="0" indent="-342900" algn="just" defTabSz="801688" fontAlgn="base">
              <a:spcBef>
                <a:spcPct val="0"/>
              </a:spcBef>
              <a:spcAft>
                <a:spcPct val="0"/>
              </a:spcAft>
              <a:buClr>
                <a:schemeClr val="bg2">
                  <a:lumMod val="50000"/>
                </a:schemeClr>
              </a:buClr>
              <a:buSzPct val="100000"/>
              <a:buFont typeface="+mj-ea"/>
              <a:buAutoNum type="arabicParenR"/>
            </a:pPr>
            <a:endParaRPr lang="zh-CN" altLang="en-US" sz="1600" b="1" dirty="0">
              <a:solidFill>
                <a:schemeClr val="tx2"/>
              </a:solidFill>
              <a:latin typeface="华文细黑" panose="02010600040101010101" pitchFamily="2" charset="-122"/>
              <a:ea typeface="华文细黑" panose="02010600040101010101" pitchFamily="2" charset="-122"/>
            </a:endParaRPr>
          </a:p>
          <a:p>
            <a:pPr algn="just">
              <a:buFont typeface="Wingdings" pitchFamily="2" charset="2"/>
              <a:buNone/>
            </a:pPr>
            <a:endParaRPr lang="zh-CN" altLang="en-US" sz="1600" dirty="0">
              <a:solidFill>
                <a:schemeClr val="tx2"/>
              </a:solidFill>
              <a:latin typeface="Microsoft YaHei" panose="020B0503020204020204" pitchFamily="34" charset="-122"/>
              <a:ea typeface="Microsoft YaHei" panose="020B0503020204020204" pitchFamily="34" charset="-122"/>
            </a:endParaRPr>
          </a:p>
        </p:txBody>
      </p:sp>
      <p:sp>
        <p:nvSpPr>
          <p:cNvPr id="16" name="AutoShape 19">
            <a:extLst>
              <a:ext uri="{FF2B5EF4-FFF2-40B4-BE49-F238E27FC236}">
                <a16:creationId xmlns:a16="http://schemas.microsoft.com/office/drawing/2014/main" id="{BB6CD678-D4BF-6040-841F-BEC00819DDBB}"/>
              </a:ext>
            </a:extLst>
          </p:cNvPr>
          <p:cNvSpPr>
            <a:spLocks noChangeArrowheads="1"/>
          </p:cNvSpPr>
          <p:nvPr/>
        </p:nvSpPr>
        <p:spPr bwMode="auto">
          <a:xfrm>
            <a:off x="4139847" y="3455054"/>
            <a:ext cx="633412" cy="646845"/>
          </a:xfrm>
          <a:prstGeom prst="notchedRightArrow">
            <a:avLst>
              <a:gd name="adj1" fmla="val 50000"/>
              <a:gd name="adj2" fmla="val 24998"/>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eaLnBrk="1" hangingPunct="1">
              <a:lnSpc>
                <a:spcPct val="140000"/>
              </a:lnSpc>
              <a:buClr>
                <a:srgbClr val="FFFFFF"/>
              </a:buClr>
              <a:buSzPct val="100000"/>
              <a:buFont typeface="Wingdings" pitchFamily="2" charset="2"/>
              <a:buChar char="•"/>
            </a:pPr>
            <a:endParaRPr lang="zh-CN" altLang="zh-CN">
              <a:solidFill>
                <a:srgbClr val="000000"/>
              </a:solidFill>
              <a:latin typeface="FrutigerNext LT Regular"/>
            </a:endParaRPr>
          </a:p>
        </p:txBody>
      </p:sp>
    </p:spTree>
    <p:extLst>
      <p:ext uri="{BB962C8B-B14F-4D97-AF65-F5344CB8AC3E}">
        <p14:creationId xmlns:p14="http://schemas.microsoft.com/office/powerpoint/2010/main" val="199965099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2" presetClass="entr" presetSubtype="8"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additive="base">
                                        <p:cTn id="14" dur="500"/>
                                        <p:tgtEl>
                                          <p:spTgt spid="16"/>
                                        </p:tgtEl>
                                        <p:attrNameLst>
                                          <p:attrName>ppt_x</p:attrName>
                                        </p:attrNameLst>
                                      </p:cBhvr>
                                      <p:tavLst>
                                        <p:tav tm="0">
                                          <p:val>
                                            <p:strVal val="#ppt_x-#ppt_w*1.125000"/>
                                          </p:val>
                                        </p:tav>
                                        <p:tav tm="100000">
                                          <p:val>
                                            <p:strVal val="#ppt_x"/>
                                          </p:val>
                                        </p:tav>
                                      </p:tavLst>
                                    </p:anim>
                                    <p:animEffect transition="in" filter="wipe(right)">
                                      <p:cBhvr>
                                        <p:cTn id="15" dur="500"/>
                                        <p:tgtEl>
                                          <p:spTgt spid="16"/>
                                        </p:tgtEl>
                                      </p:cBhvr>
                                    </p:animEffect>
                                  </p:childTnLst>
                                </p:cTn>
                              </p:par>
                            </p:childTnLst>
                          </p:cTn>
                        </p:par>
                        <p:par>
                          <p:cTn id="16" fill="hold">
                            <p:stCondLst>
                              <p:cond delay="500"/>
                            </p:stCondLst>
                            <p:childTnLst>
                              <p:par>
                                <p:cTn id="17" presetID="42" presetClass="entr" presetSubtype="0"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anim calcmode="lin" valueType="num">
                                      <p:cBhvr>
                                        <p:cTn id="20" dur="1000" fill="hold"/>
                                        <p:tgtEl>
                                          <p:spTgt spid="15"/>
                                        </p:tgtEl>
                                        <p:attrNameLst>
                                          <p:attrName>ppt_x</p:attrName>
                                        </p:attrNameLst>
                                      </p:cBhvr>
                                      <p:tavLst>
                                        <p:tav tm="0">
                                          <p:val>
                                            <p:strVal val="#ppt_x"/>
                                          </p:val>
                                        </p:tav>
                                        <p:tav tm="100000">
                                          <p:val>
                                            <p:strVal val="#ppt_x"/>
                                          </p:val>
                                        </p:tav>
                                      </p:tavLst>
                                    </p:anim>
                                    <p:anim calcmode="lin" valueType="num">
                                      <p:cBhvr>
                                        <p:cTn id="2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zh-CN" altLang="en-US" sz="2800" dirty="0">
                <a:solidFill>
                  <a:srgbClr val="4E8F00"/>
                </a:solidFill>
              </a:rPr>
              <a:t>我们为什么需要敏捷？</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17</a:t>
            </a:fld>
            <a:endParaRPr lang="zh-CN" altLang="en-US"/>
          </a:p>
        </p:txBody>
      </p:sp>
      <p:sp>
        <p:nvSpPr>
          <p:cNvPr id="11" name="Rectangle 3">
            <a:extLst>
              <a:ext uri="{FF2B5EF4-FFF2-40B4-BE49-F238E27FC236}">
                <a16:creationId xmlns:a16="http://schemas.microsoft.com/office/drawing/2014/main" id="{3CA6F544-5F85-E644-A40A-30274229A4E4}"/>
              </a:ext>
            </a:extLst>
          </p:cNvPr>
          <p:cNvSpPr txBox="1">
            <a:spLocks noChangeArrowheads="1"/>
          </p:cNvSpPr>
          <p:nvPr/>
        </p:nvSpPr>
        <p:spPr>
          <a:xfrm>
            <a:off x="683312" y="1196976"/>
            <a:ext cx="7785025" cy="5130345"/>
          </a:xfrm>
          <a:prstGeom prst="rect">
            <a:avLst/>
          </a:prstGeom>
          <a:ln>
            <a:solidFill>
              <a:schemeClr val="bg1">
                <a:lumMod val="75000"/>
              </a:schemeClr>
            </a:solidFill>
          </a:ln>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lgn="just">
              <a:spcBef>
                <a:spcPts val="0"/>
              </a:spcBef>
            </a:pPr>
            <a:r>
              <a:rPr lang="zh-CN" altLang="en-US" sz="1600" dirty="0">
                <a:solidFill>
                  <a:srgbClr val="C00000"/>
                </a:solidFill>
                <a:latin typeface="Microsoft YaHei" panose="020B0503020204020204" pitchFamily="34" charset="-122"/>
                <a:ea typeface="Microsoft YaHei" panose="020B0503020204020204" pitchFamily="34" charset="-122"/>
              </a:rPr>
              <a:t>部门：</a:t>
            </a:r>
            <a:endParaRPr lang="en-US" altLang="zh-CN" sz="1600" dirty="0">
              <a:solidFill>
                <a:srgbClr val="C00000"/>
              </a:solidFill>
              <a:latin typeface="Microsoft YaHei" panose="020B0503020204020204" pitchFamily="34" charset="-122"/>
              <a:ea typeface="Microsoft YaHei" panose="020B0503020204020204" pitchFamily="34" charset="-122"/>
            </a:endParaRPr>
          </a:p>
          <a:p>
            <a:pPr>
              <a:spcBef>
                <a:spcPts val="0"/>
              </a:spcBef>
            </a:pPr>
            <a:r>
              <a:rPr lang="zh-CN" altLang="en-US" sz="1600" dirty="0">
                <a:latin typeface="华文细黑" panose="02010600040101010101" pitchFamily="2" charset="-122"/>
                <a:ea typeface="华文细黑" panose="02010600040101010101" pitchFamily="2" charset="-122"/>
              </a:rPr>
              <a:t>      </a:t>
            </a:r>
            <a:r>
              <a:rPr lang="en-US" altLang="zh-CN" sz="1600" dirty="0">
                <a:latin typeface="华文细黑" panose="02010600040101010101" pitchFamily="2" charset="-122"/>
                <a:ea typeface="华文细黑" panose="02010600040101010101" pitchFamily="2" charset="-122"/>
              </a:rPr>
              <a:t>1) </a:t>
            </a:r>
            <a:r>
              <a:rPr lang="zh-CN" altLang="en-US" sz="1600" dirty="0">
                <a:latin typeface="华文细黑" panose="02010600040101010101" pitchFamily="2" charset="-122"/>
                <a:ea typeface="华文细黑" panose="02010600040101010101" pitchFamily="2" charset="-122"/>
              </a:rPr>
              <a:t>培养团队合作精神，稳定开发队伍</a:t>
            </a:r>
          </a:p>
          <a:p>
            <a:pPr>
              <a:spcBef>
                <a:spcPts val="0"/>
              </a:spcBef>
            </a:pPr>
            <a:r>
              <a:rPr lang="zh-CN" altLang="en-US" sz="1600" dirty="0">
                <a:latin typeface="华文细黑" panose="02010600040101010101" pitchFamily="2" charset="-122"/>
                <a:ea typeface="华文细黑" panose="02010600040101010101" pitchFamily="2" charset="-122"/>
              </a:rPr>
              <a:t>      </a:t>
            </a:r>
            <a:r>
              <a:rPr lang="en-US" altLang="zh-CN" sz="1600" dirty="0">
                <a:latin typeface="华文细黑" panose="02010600040101010101" pitchFamily="2" charset="-122"/>
                <a:ea typeface="华文细黑" panose="02010600040101010101" pitchFamily="2" charset="-122"/>
              </a:rPr>
              <a:t>2) </a:t>
            </a:r>
            <a:r>
              <a:rPr lang="zh-CN" altLang="en-US" sz="1600" dirty="0">
                <a:latin typeface="华文细黑" panose="02010600040101010101" pitchFamily="2" charset="-122"/>
                <a:ea typeface="华文细黑" panose="02010600040101010101" pitchFamily="2" charset="-122"/>
              </a:rPr>
              <a:t>提高开发人员的水平</a:t>
            </a:r>
          </a:p>
          <a:p>
            <a:pPr>
              <a:spcBef>
                <a:spcPts val="0"/>
              </a:spcBef>
            </a:pPr>
            <a:r>
              <a:rPr lang="zh-CN" altLang="en-US" sz="1600" dirty="0">
                <a:latin typeface="华文细黑" panose="02010600040101010101" pitchFamily="2" charset="-122"/>
                <a:ea typeface="华文细黑" panose="02010600040101010101" pitchFamily="2" charset="-122"/>
              </a:rPr>
              <a:t>      </a:t>
            </a:r>
            <a:r>
              <a:rPr lang="en-US" altLang="zh-CN" sz="1600" dirty="0">
                <a:latin typeface="华文细黑" panose="02010600040101010101" pitchFamily="2" charset="-122"/>
                <a:ea typeface="华文细黑" panose="02010600040101010101" pitchFamily="2" charset="-122"/>
              </a:rPr>
              <a:t>3) </a:t>
            </a:r>
            <a:r>
              <a:rPr lang="zh-CN" altLang="en-US" sz="1600" dirty="0">
                <a:latin typeface="华文细黑" panose="02010600040101010101" pitchFamily="2" charset="-122"/>
                <a:ea typeface="华文细黑" panose="02010600040101010101" pitchFamily="2" charset="-122"/>
              </a:rPr>
              <a:t>提高项目成功率，降低开发成本，提升软件开发效率</a:t>
            </a:r>
          </a:p>
          <a:p>
            <a:pPr algn="just">
              <a:spcBef>
                <a:spcPts val="0"/>
              </a:spcBef>
            </a:pPr>
            <a:r>
              <a:rPr lang="zh-CN" altLang="en-US" sz="1500" dirty="0">
                <a:solidFill>
                  <a:srgbClr val="C00000"/>
                </a:solidFill>
                <a:latin typeface="Microsoft YaHei" panose="020B0503020204020204" pitchFamily="34" charset="-122"/>
                <a:ea typeface="Microsoft YaHei" panose="020B0503020204020204" pitchFamily="34" charset="-122"/>
              </a:rPr>
              <a:t>项目经理：</a:t>
            </a:r>
          </a:p>
          <a:p>
            <a:pPr>
              <a:spcBef>
                <a:spcPts val="0"/>
              </a:spcBef>
            </a:pPr>
            <a:r>
              <a:rPr lang="zh-CN" altLang="en-US" sz="1600" dirty="0">
                <a:latin typeface="华文细黑" panose="02010600040101010101" pitchFamily="2" charset="-122"/>
                <a:ea typeface="华文细黑" panose="02010600040101010101" pitchFamily="2" charset="-122"/>
              </a:rPr>
              <a:t>      </a:t>
            </a:r>
            <a:r>
              <a:rPr lang="en-US" altLang="zh-CN" sz="1600" dirty="0">
                <a:latin typeface="华文细黑" panose="02010600040101010101" pitchFamily="2" charset="-122"/>
                <a:ea typeface="华文细黑" panose="02010600040101010101" pitchFamily="2" charset="-122"/>
              </a:rPr>
              <a:t>1) </a:t>
            </a:r>
            <a:r>
              <a:rPr lang="zh-CN" altLang="en-US" sz="1600" dirty="0">
                <a:latin typeface="华文细黑" panose="02010600040101010101" pitchFamily="2" charset="-122"/>
                <a:ea typeface="华文细黑" panose="02010600040101010101" pitchFamily="2" charset="-122"/>
              </a:rPr>
              <a:t>更好地和用户沟通，更清晰地理解用户需求</a:t>
            </a:r>
          </a:p>
          <a:p>
            <a:pPr>
              <a:spcBef>
                <a:spcPts val="0"/>
              </a:spcBef>
            </a:pPr>
            <a:r>
              <a:rPr lang="zh-CN" altLang="en-US" sz="1600" dirty="0">
                <a:latin typeface="华文细黑" panose="02010600040101010101" pitchFamily="2" charset="-122"/>
                <a:ea typeface="华文细黑" panose="02010600040101010101" pitchFamily="2" charset="-122"/>
              </a:rPr>
              <a:t>      </a:t>
            </a:r>
            <a:r>
              <a:rPr lang="en-US" altLang="zh-CN" sz="1600" dirty="0">
                <a:latin typeface="华文细黑" panose="02010600040101010101" pitchFamily="2" charset="-122"/>
                <a:ea typeface="华文细黑" panose="02010600040101010101" pitchFamily="2" charset="-122"/>
              </a:rPr>
              <a:t>2) </a:t>
            </a:r>
            <a:r>
              <a:rPr lang="zh-CN" altLang="en-US" sz="1600" dirty="0">
                <a:latin typeface="华文细黑" panose="02010600040101010101" pitchFamily="2" charset="-122"/>
                <a:ea typeface="华文细黑" panose="02010600040101010101" pitchFamily="2" charset="-122"/>
              </a:rPr>
              <a:t>更充分地使用资源，更科学地调配资源，更精确地掌握开发进度</a:t>
            </a:r>
          </a:p>
          <a:p>
            <a:pPr algn="just">
              <a:spcBef>
                <a:spcPts val="0"/>
              </a:spcBef>
            </a:pPr>
            <a:r>
              <a:rPr lang="zh-CN" altLang="en-US" sz="1500" dirty="0">
                <a:solidFill>
                  <a:srgbClr val="C00000"/>
                </a:solidFill>
                <a:latin typeface="Microsoft YaHei" panose="020B0503020204020204" pitchFamily="34" charset="-122"/>
                <a:ea typeface="Microsoft YaHei" panose="020B0503020204020204" pitchFamily="34" charset="-122"/>
              </a:rPr>
              <a:t>系统分析设计：</a:t>
            </a:r>
          </a:p>
          <a:p>
            <a:pPr>
              <a:spcBef>
                <a:spcPts val="0"/>
              </a:spcBef>
            </a:pPr>
            <a:r>
              <a:rPr lang="zh-CN" altLang="en-US" sz="1600" dirty="0">
                <a:latin typeface="华文细黑" panose="02010600040101010101" pitchFamily="2" charset="-122"/>
                <a:ea typeface="华文细黑" panose="02010600040101010101" pitchFamily="2" charset="-122"/>
              </a:rPr>
              <a:t>      </a:t>
            </a:r>
            <a:r>
              <a:rPr lang="en-US" altLang="zh-CN" sz="1600" dirty="0">
                <a:latin typeface="华文细黑" panose="02010600040101010101" pitchFamily="2" charset="-122"/>
                <a:ea typeface="华文细黑" panose="02010600040101010101" pitchFamily="2" charset="-122"/>
              </a:rPr>
              <a:t>1) </a:t>
            </a:r>
            <a:r>
              <a:rPr lang="zh-CN" altLang="en-US" sz="1600" dirty="0">
                <a:latin typeface="华文细黑" panose="02010600040101010101" pitchFamily="2" charset="-122"/>
                <a:ea typeface="华文细黑" panose="02010600040101010101" pitchFamily="2" charset="-122"/>
              </a:rPr>
              <a:t>设计更加完善</a:t>
            </a:r>
          </a:p>
          <a:p>
            <a:pPr>
              <a:spcBef>
                <a:spcPts val="0"/>
              </a:spcBef>
            </a:pPr>
            <a:r>
              <a:rPr lang="zh-CN" altLang="en-US" sz="1600" dirty="0">
                <a:latin typeface="华文细黑" panose="02010600040101010101" pitchFamily="2" charset="-122"/>
                <a:ea typeface="华文细黑" panose="02010600040101010101" pitchFamily="2" charset="-122"/>
              </a:rPr>
              <a:t>      </a:t>
            </a:r>
            <a:r>
              <a:rPr lang="en-US" altLang="zh-CN" sz="1600" dirty="0">
                <a:latin typeface="华文细黑" panose="02010600040101010101" pitchFamily="2" charset="-122"/>
                <a:ea typeface="华文细黑" panose="02010600040101010101" pitchFamily="2" charset="-122"/>
              </a:rPr>
              <a:t>2) </a:t>
            </a:r>
            <a:r>
              <a:rPr lang="zh-CN" altLang="en-US" sz="1600" dirty="0">
                <a:latin typeface="华文细黑" panose="02010600040101010101" pitchFamily="2" charset="-122"/>
                <a:ea typeface="华文细黑" panose="02010600040101010101" pitchFamily="2" charset="-122"/>
              </a:rPr>
              <a:t>更有效地更新知识，得到其他成员更多的尊重</a:t>
            </a:r>
          </a:p>
          <a:p>
            <a:pPr algn="just">
              <a:spcBef>
                <a:spcPts val="0"/>
              </a:spcBef>
            </a:pPr>
            <a:r>
              <a:rPr lang="zh-CN" altLang="en-US" sz="1500" dirty="0">
                <a:solidFill>
                  <a:srgbClr val="C00000"/>
                </a:solidFill>
                <a:latin typeface="Microsoft YaHei" panose="020B0503020204020204" pitchFamily="34" charset="-122"/>
                <a:ea typeface="Microsoft YaHei" panose="020B0503020204020204" pitchFamily="34" charset="-122"/>
              </a:rPr>
              <a:t>程序员：</a:t>
            </a:r>
          </a:p>
          <a:p>
            <a:pPr>
              <a:spcBef>
                <a:spcPts val="0"/>
              </a:spcBef>
            </a:pPr>
            <a:r>
              <a:rPr lang="zh-CN" altLang="en-US" sz="1600" dirty="0">
                <a:latin typeface="华文细黑" panose="02010600040101010101" pitchFamily="2" charset="-122"/>
                <a:ea typeface="华文细黑" panose="02010600040101010101" pitchFamily="2" charset="-122"/>
              </a:rPr>
              <a:t>      </a:t>
            </a:r>
            <a:r>
              <a:rPr lang="en-US" altLang="zh-CN" sz="1600" dirty="0">
                <a:latin typeface="华文细黑" panose="02010600040101010101" pitchFamily="2" charset="-122"/>
                <a:ea typeface="华文细黑" panose="02010600040101010101" pitchFamily="2" charset="-122"/>
              </a:rPr>
              <a:t>1) </a:t>
            </a:r>
            <a:r>
              <a:rPr lang="zh-CN" altLang="en-US" sz="1600" dirty="0">
                <a:latin typeface="华文细黑" panose="02010600040101010101" pitchFamily="2" charset="-122"/>
                <a:ea typeface="华文细黑" panose="02010600040101010101" pitchFamily="2" charset="-122"/>
              </a:rPr>
              <a:t>学习系统设计和项目管理</a:t>
            </a:r>
          </a:p>
          <a:p>
            <a:pPr>
              <a:spcBef>
                <a:spcPts val="0"/>
              </a:spcBef>
            </a:pPr>
            <a:r>
              <a:rPr lang="zh-CN" altLang="en-US" sz="1600" dirty="0">
                <a:latin typeface="华文细黑" panose="02010600040101010101" pitchFamily="2" charset="-122"/>
                <a:ea typeface="华文细黑" panose="02010600040101010101" pitchFamily="2" charset="-122"/>
              </a:rPr>
              <a:t>      </a:t>
            </a:r>
            <a:r>
              <a:rPr lang="en-US" altLang="zh-CN" sz="1600" dirty="0">
                <a:latin typeface="华文细黑" panose="02010600040101010101" pitchFamily="2" charset="-122"/>
                <a:ea typeface="华文细黑" panose="02010600040101010101" pitchFamily="2" charset="-122"/>
              </a:rPr>
              <a:t>2) </a:t>
            </a:r>
            <a:r>
              <a:rPr lang="zh-CN" altLang="en-US" sz="1600" dirty="0">
                <a:latin typeface="华文细黑" panose="02010600040101010101" pitchFamily="2" charset="-122"/>
                <a:ea typeface="华文细黑" panose="02010600040101010101" pitchFamily="2" charset="-122"/>
              </a:rPr>
              <a:t>提高学习和工作效率，受到重视，减少加班时间，工作更高效</a:t>
            </a:r>
          </a:p>
          <a:p>
            <a:pPr>
              <a:buFont typeface="Wingdings" pitchFamily="2" charset="2"/>
              <a:buNone/>
            </a:pPr>
            <a:endParaRPr lang="zh-CN" altLang="en-US" sz="1600" dirty="0">
              <a:solidFill>
                <a:schemeClr val="tx2"/>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43973347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zh-CN" altLang="en-US" sz="2800" dirty="0">
                <a:solidFill>
                  <a:srgbClr val="4E8F00"/>
                </a:solidFill>
              </a:rPr>
              <a:t>谁在用敏捷</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18</a:t>
            </a:fld>
            <a:endParaRPr lang="zh-CN" altLang="en-US"/>
          </a:p>
        </p:txBody>
      </p:sp>
      <p:grpSp>
        <p:nvGrpSpPr>
          <p:cNvPr id="3" name="组合 2">
            <a:extLst>
              <a:ext uri="{FF2B5EF4-FFF2-40B4-BE49-F238E27FC236}">
                <a16:creationId xmlns:a16="http://schemas.microsoft.com/office/drawing/2014/main" id="{F4CBDBAA-246B-2547-A6FE-D0ACB0DF1AC0}"/>
              </a:ext>
            </a:extLst>
          </p:cNvPr>
          <p:cNvGrpSpPr/>
          <p:nvPr/>
        </p:nvGrpSpPr>
        <p:grpSpPr>
          <a:xfrm>
            <a:off x="838990" y="1344966"/>
            <a:ext cx="8122910" cy="5015013"/>
            <a:chOff x="838990" y="1344966"/>
            <a:chExt cx="8122910" cy="5015013"/>
          </a:xfrm>
        </p:grpSpPr>
        <p:sp>
          <p:nvSpPr>
            <p:cNvPr id="7" name="Rectangle 3">
              <a:extLst>
                <a:ext uri="{FF2B5EF4-FFF2-40B4-BE49-F238E27FC236}">
                  <a16:creationId xmlns:a16="http://schemas.microsoft.com/office/drawing/2014/main" id="{14D80BDE-4AFB-3445-9F12-0FDFE90E62FF}"/>
                </a:ext>
              </a:extLst>
            </p:cNvPr>
            <p:cNvSpPr txBox="1">
              <a:spLocks noChangeArrowheads="1"/>
            </p:cNvSpPr>
            <p:nvPr/>
          </p:nvSpPr>
          <p:spPr>
            <a:xfrm>
              <a:off x="838990" y="3094264"/>
              <a:ext cx="7629350" cy="326571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indent="-285750">
                <a:buFont typeface="Arial" panose="020B0604020202020204" pitchFamily="34" charset="0"/>
                <a:buChar char="•"/>
              </a:pPr>
              <a:r>
                <a:rPr lang="en-US" altLang="zh-CN" sz="1600" dirty="0" err="1">
                  <a:solidFill>
                    <a:schemeClr val="tx2"/>
                  </a:solidFill>
                  <a:latin typeface="Kaiti SC" panose="02010600040101010101" pitchFamily="2" charset="-122"/>
                  <a:ea typeface="Kaiti SC" panose="02010600040101010101" pitchFamily="2" charset="-122"/>
                </a:rPr>
                <a:t>Forturn</a:t>
              </a:r>
              <a:r>
                <a:rPr lang="zh-CN" altLang="en-US" sz="1600" dirty="0">
                  <a:solidFill>
                    <a:schemeClr val="tx2"/>
                  </a:solidFill>
                  <a:latin typeface="Kaiti SC" panose="02010600040101010101" pitchFamily="2" charset="-122"/>
                  <a:ea typeface="Kaiti SC" panose="02010600040101010101" pitchFamily="2" charset="-122"/>
                </a:rPr>
                <a:t> </a:t>
              </a:r>
              <a:r>
                <a:rPr lang="en-US" altLang="zh-CN" sz="1600" dirty="0">
                  <a:solidFill>
                    <a:schemeClr val="tx2"/>
                  </a:solidFill>
                  <a:latin typeface="Kaiti SC" panose="02010600040101010101" pitchFamily="2" charset="-122"/>
                  <a:ea typeface="Kaiti SC" panose="02010600040101010101" pitchFamily="2" charset="-122"/>
                </a:rPr>
                <a:t>500</a:t>
              </a:r>
              <a:r>
                <a:rPr lang="zh-CN" altLang="en-US" sz="1600" dirty="0">
                  <a:solidFill>
                    <a:schemeClr val="tx2"/>
                  </a:solidFill>
                  <a:latin typeface="Kaiti SC" panose="02010600040101010101" pitchFamily="2" charset="-122"/>
                  <a:ea typeface="Kaiti SC" panose="02010600040101010101" pitchFamily="2" charset="-122"/>
                </a:rPr>
                <a:t>公司中成功应用</a:t>
              </a:r>
              <a:r>
                <a:rPr lang="en-US" altLang="zh-CN" sz="1600" dirty="0">
                  <a:solidFill>
                    <a:schemeClr val="tx2"/>
                  </a:solidFill>
                  <a:latin typeface="Kaiti SC" panose="02010600040101010101" pitchFamily="2" charset="-122"/>
                  <a:ea typeface="Kaiti SC" panose="02010600040101010101" pitchFamily="2" charset="-122"/>
                </a:rPr>
                <a:t>XP</a:t>
              </a:r>
              <a:r>
                <a:rPr lang="zh-CN" altLang="en-US" sz="1600" dirty="0">
                  <a:solidFill>
                    <a:schemeClr val="tx2"/>
                  </a:solidFill>
                  <a:latin typeface="Kaiti SC" panose="02010600040101010101" pitchFamily="2" charset="-122"/>
                  <a:ea typeface="Kaiti SC" panose="02010600040101010101" pitchFamily="2" charset="-122"/>
                </a:rPr>
                <a:t>的公司包括</a:t>
              </a:r>
              <a:r>
                <a:rPr lang="en-US" altLang="zh-CN" sz="1600" dirty="0">
                  <a:solidFill>
                    <a:schemeClr val="tx2"/>
                  </a:solidFill>
                  <a:latin typeface="Kaiti SC" panose="02010600040101010101" pitchFamily="2" charset="-122"/>
                  <a:ea typeface="Kaiti SC" panose="02010600040101010101" pitchFamily="2" charset="-122"/>
                </a:rPr>
                <a:t>Ford</a:t>
              </a:r>
              <a:r>
                <a:rPr lang="zh-CN" altLang="en-US" sz="1600" dirty="0">
                  <a:solidFill>
                    <a:schemeClr val="tx2"/>
                  </a:solidFill>
                  <a:latin typeface="Kaiti SC" panose="02010600040101010101" pitchFamily="2" charset="-122"/>
                  <a:ea typeface="Kaiti SC" panose="02010600040101010101" pitchFamily="2" charset="-122"/>
                </a:rPr>
                <a:t>，</a:t>
              </a:r>
              <a:r>
                <a:rPr lang="en-US" altLang="zh-CN" sz="1600" dirty="0">
                  <a:solidFill>
                    <a:schemeClr val="tx2"/>
                  </a:solidFill>
                  <a:latin typeface="Kaiti SC" panose="02010600040101010101" pitchFamily="2" charset="-122"/>
                  <a:ea typeface="Kaiti SC" panose="02010600040101010101" pitchFamily="2" charset="-122"/>
                </a:rPr>
                <a:t>Daimler-Chrysler</a:t>
              </a:r>
              <a:r>
                <a:rPr lang="zh-CN" altLang="en-US" sz="1600" dirty="0">
                  <a:solidFill>
                    <a:schemeClr val="tx2"/>
                  </a:solidFill>
                  <a:latin typeface="Kaiti SC" panose="02010600040101010101" pitchFamily="2" charset="-122"/>
                  <a:ea typeface="Kaiti SC" panose="02010600040101010101" pitchFamily="2" charset="-122"/>
                </a:rPr>
                <a:t>（戴姆勒</a:t>
              </a:r>
              <a:r>
                <a:rPr lang="en-US" altLang="zh-CN" sz="1600" dirty="0">
                  <a:solidFill>
                    <a:schemeClr val="tx2"/>
                  </a:solidFill>
                  <a:latin typeface="Kaiti SC" panose="02010600040101010101" pitchFamily="2" charset="-122"/>
                  <a:ea typeface="Kaiti SC" panose="02010600040101010101" pitchFamily="2" charset="-122"/>
                </a:rPr>
                <a:t>-</a:t>
              </a:r>
              <a:r>
                <a:rPr lang="zh-CN" altLang="en-US" sz="1600" dirty="0">
                  <a:solidFill>
                    <a:schemeClr val="tx2"/>
                  </a:solidFill>
                  <a:latin typeface="Kaiti SC" panose="02010600040101010101" pitchFamily="2" charset="-122"/>
                  <a:ea typeface="Kaiti SC" panose="02010600040101010101" pitchFamily="2" charset="-122"/>
                </a:rPr>
                <a:t>克莱斯勒），</a:t>
              </a:r>
              <a:r>
                <a:rPr lang="en-US" altLang="zh-CN" sz="1600" dirty="0">
                  <a:solidFill>
                    <a:schemeClr val="tx2"/>
                  </a:solidFill>
                  <a:latin typeface="Kaiti SC" panose="02010600040101010101" pitchFamily="2" charset="-122"/>
                  <a:ea typeface="Kaiti SC" panose="02010600040101010101" pitchFamily="2" charset="-122"/>
                </a:rPr>
                <a:t>First</a:t>
              </a:r>
              <a:r>
                <a:rPr lang="zh-CN" altLang="en-US" sz="1600" dirty="0">
                  <a:solidFill>
                    <a:schemeClr val="tx2"/>
                  </a:solidFill>
                  <a:latin typeface="Kaiti SC" panose="02010600040101010101" pitchFamily="2" charset="-122"/>
                  <a:ea typeface="Kaiti SC" panose="02010600040101010101" pitchFamily="2" charset="-122"/>
                </a:rPr>
                <a:t> </a:t>
              </a:r>
              <a:r>
                <a:rPr lang="en-US" altLang="zh-CN" sz="1600" dirty="0">
                  <a:solidFill>
                    <a:schemeClr val="tx2"/>
                  </a:solidFill>
                  <a:latin typeface="Kaiti SC" panose="02010600040101010101" pitchFamily="2" charset="-122"/>
                  <a:ea typeface="Kaiti SC" panose="02010600040101010101" pitchFamily="2" charset="-122"/>
                </a:rPr>
                <a:t>Union</a:t>
              </a:r>
              <a:r>
                <a:rPr lang="zh-CN" altLang="en-US" sz="1600" dirty="0">
                  <a:solidFill>
                    <a:schemeClr val="tx2"/>
                  </a:solidFill>
                  <a:latin typeface="Kaiti SC" panose="02010600040101010101" pitchFamily="2" charset="-122"/>
                  <a:ea typeface="Kaiti SC" panose="02010600040101010101" pitchFamily="2" charset="-122"/>
                </a:rPr>
                <a:t> </a:t>
              </a:r>
              <a:r>
                <a:rPr lang="en-US" altLang="zh-CN" sz="1600" dirty="0">
                  <a:solidFill>
                    <a:schemeClr val="tx2"/>
                  </a:solidFill>
                  <a:latin typeface="Kaiti SC" panose="02010600040101010101" pitchFamily="2" charset="-122"/>
                  <a:ea typeface="Kaiti SC" panose="02010600040101010101" pitchFamily="2" charset="-122"/>
                </a:rPr>
                <a:t>National</a:t>
              </a:r>
              <a:r>
                <a:rPr lang="zh-CN" altLang="en-US" sz="1600" dirty="0">
                  <a:solidFill>
                    <a:schemeClr val="tx2"/>
                  </a:solidFill>
                  <a:latin typeface="Kaiti SC" panose="02010600040101010101" pitchFamily="2" charset="-122"/>
                  <a:ea typeface="Kaiti SC" panose="02010600040101010101" pitchFamily="2" charset="-122"/>
                </a:rPr>
                <a:t> </a:t>
              </a:r>
              <a:r>
                <a:rPr lang="en-US" altLang="zh-CN" sz="1600" dirty="0">
                  <a:solidFill>
                    <a:schemeClr val="tx2"/>
                  </a:solidFill>
                  <a:latin typeface="Kaiti SC" panose="02010600040101010101" pitchFamily="2" charset="-122"/>
                  <a:ea typeface="Kaiti SC" panose="02010600040101010101" pitchFamily="2" charset="-122"/>
                </a:rPr>
                <a:t>Bank</a:t>
              </a:r>
              <a:r>
                <a:rPr lang="zh-CN" altLang="en-US" sz="1600" dirty="0">
                  <a:solidFill>
                    <a:schemeClr val="tx2"/>
                  </a:solidFill>
                  <a:latin typeface="Kaiti SC" panose="02010600040101010101" pitchFamily="2" charset="-122"/>
                  <a:ea typeface="Kaiti SC" panose="02010600040101010101" pitchFamily="2" charset="-122"/>
                </a:rPr>
                <a:t>（美国第一联合国家银行）， </a:t>
              </a:r>
              <a:r>
                <a:rPr lang="en-US" altLang="zh-CN" sz="1600" dirty="0">
                  <a:solidFill>
                    <a:schemeClr val="tx2"/>
                  </a:solidFill>
                  <a:latin typeface="Kaiti SC" panose="02010600040101010101" pitchFamily="2" charset="-122"/>
                  <a:ea typeface="Kaiti SC" panose="02010600040101010101" pitchFamily="2" charset="-122"/>
                </a:rPr>
                <a:t>IBM</a:t>
              </a:r>
              <a:r>
                <a:rPr lang="zh-CN" altLang="en-US" sz="1600" dirty="0">
                  <a:solidFill>
                    <a:schemeClr val="tx2"/>
                  </a:solidFill>
                  <a:latin typeface="Kaiti SC" panose="02010600040101010101" pitchFamily="2" charset="-122"/>
                  <a:ea typeface="Kaiti SC" panose="02010600040101010101" pitchFamily="2" charset="-122"/>
                </a:rPr>
                <a:t>，</a:t>
              </a:r>
              <a:r>
                <a:rPr lang="en-US" altLang="zh-CN" sz="1600" dirty="0">
                  <a:solidFill>
                    <a:schemeClr val="tx2"/>
                  </a:solidFill>
                  <a:latin typeface="Kaiti SC" panose="02010600040101010101" pitchFamily="2" charset="-122"/>
                  <a:ea typeface="Kaiti SC" panose="02010600040101010101" pitchFamily="2" charset="-122"/>
                </a:rPr>
                <a:t>HP</a:t>
              </a:r>
              <a:r>
                <a:rPr lang="zh-CN" altLang="en-US" sz="1600" dirty="0">
                  <a:solidFill>
                    <a:schemeClr val="tx2"/>
                  </a:solidFill>
                  <a:latin typeface="Kaiti SC" panose="02010600040101010101" pitchFamily="2" charset="-122"/>
                  <a:ea typeface="Kaiti SC" panose="02010600040101010101" pitchFamily="2" charset="-122"/>
                </a:rPr>
                <a:t>等等</a:t>
              </a:r>
            </a:p>
            <a:p>
              <a:pPr marL="285750" indent="-285750">
                <a:buFont typeface="Arial" panose="020B0604020202020204" pitchFamily="34" charset="0"/>
                <a:buChar char="•"/>
              </a:pPr>
              <a:r>
                <a:rPr lang="zh-CN" altLang="en-US" sz="1600" dirty="0">
                  <a:solidFill>
                    <a:schemeClr val="tx2"/>
                  </a:solidFill>
                  <a:latin typeface="Kaiti SC" panose="02010600040101010101" pitchFamily="2" charset="-122"/>
                  <a:ea typeface="Kaiti SC" panose="02010600040101010101" pitchFamily="2" charset="-122"/>
                </a:rPr>
                <a:t>通信业</a:t>
              </a:r>
              <a:r>
                <a:rPr lang="en-US" altLang="zh-CN" sz="1600" dirty="0">
                  <a:solidFill>
                    <a:schemeClr val="tx2"/>
                  </a:solidFill>
                  <a:latin typeface="Kaiti SC" panose="02010600040101010101" pitchFamily="2" charset="-122"/>
                  <a:ea typeface="Kaiti SC" panose="02010600040101010101" pitchFamily="2" charset="-122"/>
                </a:rPr>
                <a:t>NS</a:t>
              </a:r>
              <a:r>
                <a:rPr lang="zh-CN" altLang="en-US" sz="1600" dirty="0">
                  <a:solidFill>
                    <a:schemeClr val="tx2"/>
                  </a:solidFill>
                  <a:latin typeface="Kaiti SC" panose="02010600040101010101" pitchFamily="2" charset="-122"/>
                  <a:ea typeface="Kaiti SC" panose="02010600040101010101" pitchFamily="2" charset="-122"/>
                </a:rPr>
                <a:t>，</a:t>
              </a:r>
              <a:r>
                <a:rPr lang="en-US" altLang="zh-CN" sz="1600" dirty="0">
                  <a:solidFill>
                    <a:schemeClr val="tx2"/>
                  </a:solidFill>
                  <a:latin typeface="Kaiti SC" panose="02010600040101010101" pitchFamily="2" charset="-122"/>
                  <a:ea typeface="Kaiti SC" panose="02010600040101010101" pitchFamily="2" charset="-122"/>
                </a:rPr>
                <a:t>Ericson</a:t>
              </a:r>
              <a:r>
                <a:rPr lang="zh-CN" altLang="en-US" sz="1600" dirty="0">
                  <a:solidFill>
                    <a:schemeClr val="tx2"/>
                  </a:solidFill>
                  <a:latin typeface="Kaiti SC" panose="02010600040101010101" pitchFamily="2" charset="-122"/>
                  <a:ea typeface="Kaiti SC" panose="02010600040101010101" pitchFamily="2" charset="-122"/>
                </a:rPr>
                <a:t>，</a:t>
              </a:r>
              <a:r>
                <a:rPr lang="en-US" altLang="zh-CN" sz="1600" dirty="0">
                  <a:solidFill>
                    <a:schemeClr val="tx2"/>
                  </a:solidFill>
                  <a:latin typeface="Kaiti SC" panose="02010600040101010101" pitchFamily="2" charset="-122"/>
                  <a:ea typeface="Kaiti SC" panose="02010600040101010101" pitchFamily="2" charset="-122"/>
                </a:rPr>
                <a:t>Alcatel</a:t>
              </a:r>
              <a:r>
                <a:rPr lang="zh-CN" altLang="en-US" sz="1600" dirty="0">
                  <a:solidFill>
                    <a:schemeClr val="tx2"/>
                  </a:solidFill>
                  <a:latin typeface="Kaiti SC" panose="02010600040101010101" pitchFamily="2" charset="-122"/>
                  <a:ea typeface="Kaiti SC" panose="02010600040101010101" pitchFamily="2" charset="-122"/>
                </a:rPr>
                <a:t>（阿尔卡特）等都号称在转向敏捷</a:t>
              </a:r>
              <a:endParaRPr lang="en-US" altLang="zh-CN" sz="1600" dirty="0">
                <a:solidFill>
                  <a:schemeClr val="tx2"/>
                </a:solidFill>
                <a:latin typeface="Kaiti SC" panose="02010600040101010101" pitchFamily="2" charset="-122"/>
                <a:ea typeface="Kaiti SC" panose="02010600040101010101" pitchFamily="2" charset="-122"/>
              </a:endParaRPr>
            </a:p>
            <a:p>
              <a:pPr marL="285750" indent="-285750">
                <a:buFont typeface="Arial" panose="020B0604020202020204" pitchFamily="34" charset="0"/>
                <a:buChar char="•"/>
              </a:pPr>
              <a:r>
                <a:rPr lang="zh-CN" altLang="en-US" sz="1600" dirty="0">
                  <a:solidFill>
                    <a:schemeClr val="tx2"/>
                  </a:solidFill>
                  <a:latin typeface="Kaiti SC" panose="02010600040101010101" pitchFamily="2" charset="-122"/>
                  <a:ea typeface="Kaiti SC" panose="02010600040101010101" pitchFamily="2" charset="-122"/>
                </a:rPr>
                <a:t>更多的是小规模开发队伍（小规模开发队伍、小规模项目）</a:t>
              </a:r>
              <a:endParaRPr lang="en-US" altLang="zh-CN" sz="1600" dirty="0">
                <a:solidFill>
                  <a:schemeClr val="tx2"/>
                </a:solidFill>
                <a:latin typeface="Kaiti SC" panose="02010600040101010101" pitchFamily="2" charset="-122"/>
                <a:ea typeface="Kaiti SC" panose="02010600040101010101" pitchFamily="2" charset="-122"/>
              </a:endParaRPr>
            </a:p>
            <a:p>
              <a:pPr marL="285750" indent="-285750">
                <a:buFont typeface="Arial" panose="020B0604020202020204" pitchFamily="34" charset="0"/>
                <a:buChar char="•"/>
              </a:pPr>
              <a:r>
                <a:rPr lang="zh-CN" altLang="en-US" sz="1600" dirty="0">
                  <a:solidFill>
                    <a:schemeClr val="tx2"/>
                  </a:solidFill>
                  <a:latin typeface="Kaiti SC" panose="02010600040101010101" pitchFamily="2" charset="-122"/>
                  <a:ea typeface="Kaiti SC" panose="02010600040101010101" pitchFamily="2" charset="-122"/>
                </a:rPr>
                <a:t>越来越多的公司开始使用敏捷开发过程</a:t>
              </a:r>
            </a:p>
          </p:txBody>
        </p:sp>
        <p:pic>
          <p:nvPicPr>
            <p:cNvPr id="2" name="图片 1">
              <a:extLst>
                <a:ext uri="{FF2B5EF4-FFF2-40B4-BE49-F238E27FC236}">
                  <a16:creationId xmlns:a16="http://schemas.microsoft.com/office/drawing/2014/main" id="{2A0A329B-AC34-8045-BCF5-BD4339CC1157}"/>
                </a:ext>
              </a:extLst>
            </p:cNvPr>
            <p:cNvPicPr>
              <a:picLocks noChangeAspect="1"/>
            </p:cNvPicPr>
            <p:nvPr/>
          </p:nvPicPr>
          <p:blipFill>
            <a:blip r:embed="rId2"/>
            <a:stretch>
              <a:fillRect/>
            </a:stretch>
          </p:blipFill>
          <p:spPr>
            <a:xfrm>
              <a:off x="963192" y="1344966"/>
              <a:ext cx="7998708" cy="1076392"/>
            </a:xfrm>
            <a:prstGeom prst="rect">
              <a:avLst/>
            </a:prstGeom>
          </p:spPr>
        </p:pic>
      </p:grpSp>
    </p:spTree>
    <p:extLst>
      <p:ext uri="{BB962C8B-B14F-4D97-AF65-F5344CB8AC3E}">
        <p14:creationId xmlns:p14="http://schemas.microsoft.com/office/powerpoint/2010/main" val="324800231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zh-CN" altLang="en-US" sz="2800" dirty="0">
                <a:solidFill>
                  <a:srgbClr val="4E8F00"/>
                </a:solidFill>
              </a:rPr>
              <a:t>敏捷实践</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19</a:t>
            </a:fld>
            <a:endParaRPr lang="zh-CN" altLang="en-US"/>
          </a:p>
        </p:txBody>
      </p:sp>
      <p:sp>
        <p:nvSpPr>
          <p:cNvPr id="8" name="Rectangle 3">
            <a:extLst>
              <a:ext uri="{FF2B5EF4-FFF2-40B4-BE49-F238E27FC236}">
                <a16:creationId xmlns:a16="http://schemas.microsoft.com/office/drawing/2014/main" id="{077F8CFF-6E7C-3E4A-B15C-B0B093DFC389}"/>
              </a:ext>
            </a:extLst>
          </p:cNvPr>
          <p:cNvSpPr>
            <a:spLocks noGrp="1" noChangeArrowheads="1"/>
          </p:cNvSpPr>
          <p:nvPr>
            <p:ph idx="1"/>
          </p:nvPr>
        </p:nvSpPr>
        <p:spPr>
          <a:xfrm>
            <a:off x="741363" y="1294946"/>
            <a:ext cx="7726977" cy="4824413"/>
          </a:xfrm>
        </p:spPr>
        <p:txBody>
          <a:bodyPr>
            <a:noAutofit/>
          </a:bodyPr>
          <a:lstStyle/>
          <a:p>
            <a:pPr marL="614934" lvl="1" indent="-285750">
              <a:spcBef>
                <a:spcPct val="30000"/>
              </a:spcBef>
            </a:pPr>
            <a:r>
              <a:rPr lang="zh-CN" altLang="en-US" dirty="0">
                <a:solidFill>
                  <a:schemeClr val="tx2"/>
                </a:solidFill>
                <a:latin typeface="Microsoft YaHei" panose="020B0503020204020204" pitchFamily="34" charset="-122"/>
                <a:ea typeface="Microsoft YaHei" panose="020B0503020204020204" pitchFamily="34" charset="-122"/>
              </a:rPr>
              <a:t>在敏捷的两个门派：</a:t>
            </a:r>
            <a:r>
              <a:rPr lang="en-US" altLang="zh-CN" dirty="0">
                <a:solidFill>
                  <a:schemeClr val="tx2"/>
                </a:solidFill>
                <a:latin typeface="Microsoft YaHei" panose="020B0503020204020204" pitchFamily="34" charset="-122"/>
                <a:ea typeface="Microsoft YaHei" panose="020B0503020204020204" pitchFamily="34" charset="-122"/>
              </a:rPr>
              <a:t>XP</a:t>
            </a:r>
            <a:r>
              <a:rPr lang="zh-CN" altLang="en-US" dirty="0">
                <a:solidFill>
                  <a:schemeClr val="tx2"/>
                </a:solidFill>
                <a:latin typeface="Microsoft YaHei" panose="020B0503020204020204" pitchFamily="34" charset="-122"/>
                <a:ea typeface="Microsoft YaHei" panose="020B0503020204020204" pitchFamily="34" charset="-122"/>
              </a:rPr>
              <a:t>、</a:t>
            </a:r>
            <a:r>
              <a:rPr lang="en-US" altLang="zh-CN" dirty="0">
                <a:solidFill>
                  <a:schemeClr val="tx2"/>
                </a:solidFill>
                <a:latin typeface="Microsoft YaHei" panose="020B0503020204020204" pitchFamily="34" charset="-122"/>
                <a:ea typeface="Microsoft YaHei" panose="020B0503020204020204" pitchFamily="34" charset="-122"/>
              </a:rPr>
              <a:t>Scrum</a:t>
            </a:r>
            <a:r>
              <a:rPr lang="zh-CN" altLang="en-US" dirty="0">
                <a:solidFill>
                  <a:schemeClr val="tx2"/>
                </a:solidFill>
                <a:latin typeface="Microsoft YaHei" panose="020B0503020204020204" pitchFamily="34" charset="-122"/>
                <a:ea typeface="Microsoft YaHei" panose="020B0503020204020204" pitchFamily="34" charset="-122"/>
              </a:rPr>
              <a:t>中，整理归纳了很多可以用于协助软件开发的实践，后面统称为敏捷实践。</a:t>
            </a:r>
            <a:endParaRPr lang="en-US" altLang="zh-CN" dirty="0">
              <a:solidFill>
                <a:schemeClr val="tx2"/>
              </a:solidFill>
              <a:latin typeface="Microsoft YaHei" panose="020B0503020204020204" pitchFamily="34" charset="-122"/>
              <a:ea typeface="Microsoft YaHei" panose="020B0503020204020204" pitchFamily="34" charset="-122"/>
            </a:endParaRPr>
          </a:p>
          <a:p>
            <a:pPr marL="614934" lvl="1" indent="-285750">
              <a:spcBef>
                <a:spcPct val="30000"/>
              </a:spcBef>
            </a:pPr>
            <a:r>
              <a:rPr lang="zh-CN" altLang="en-US" dirty="0">
                <a:solidFill>
                  <a:schemeClr val="tx2"/>
                </a:solidFill>
                <a:latin typeface="Microsoft YaHei" panose="020B0503020204020204" pitchFamily="34" charset="-122"/>
                <a:ea typeface="Microsoft YaHei" panose="020B0503020204020204" pitchFamily="34" charset="-122"/>
              </a:rPr>
              <a:t>前面所说的敏捷它是一种指导思想或开发方式，但是它没有明确告诉我们到底采用什么样的流程进行开发，而 </a:t>
            </a:r>
            <a:r>
              <a:rPr lang="en-US" altLang="zh-CN" dirty="0">
                <a:solidFill>
                  <a:schemeClr val="tx2"/>
                </a:solidFill>
                <a:highlight>
                  <a:srgbClr val="FFFF00"/>
                </a:highlight>
                <a:latin typeface="Microsoft YaHei" panose="020B0503020204020204" pitchFamily="34" charset="-122"/>
                <a:ea typeface="Microsoft YaHei" panose="020B0503020204020204" pitchFamily="34" charset="-122"/>
              </a:rPr>
              <a:t>XP</a:t>
            </a:r>
            <a:r>
              <a:rPr lang="zh-CN" altLang="en-US" dirty="0">
                <a:solidFill>
                  <a:schemeClr val="tx2"/>
                </a:solidFill>
                <a:latin typeface="Microsoft YaHei" panose="020B0503020204020204" pitchFamily="34" charset="-122"/>
                <a:ea typeface="Microsoft YaHei" panose="020B0503020204020204" pitchFamily="34" charset="-122"/>
              </a:rPr>
              <a:t> 和 </a:t>
            </a:r>
            <a:r>
              <a:rPr lang="en-US" altLang="zh-CN" dirty="0">
                <a:solidFill>
                  <a:schemeClr val="tx2"/>
                </a:solidFill>
                <a:highlight>
                  <a:srgbClr val="FFFF00"/>
                </a:highlight>
                <a:latin typeface="Microsoft YaHei" panose="020B0503020204020204" pitchFamily="34" charset="-122"/>
                <a:ea typeface="Microsoft YaHei" panose="020B0503020204020204" pitchFamily="34" charset="-122"/>
              </a:rPr>
              <a:t>Scrum</a:t>
            </a:r>
            <a:r>
              <a:rPr lang="zh-CN" altLang="en-US" dirty="0">
                <a:solidFill>
                  <a:schemeClr val="tx2"/>
                </a:solidFill>
                <a:latin typeface="Microsoft YaHei" panose="020B0503020204020204" pitchFamily="34" charset="-122"/>
                <a:ea typeface="Microsoft YaHei" panose="020B0503020204020204" pitchFamily="34" charset="-122"/>
              </a:rPr>
              <a:t>就是敏捷开发的</a:t>
            </a:r>
            <a:r>
              <a:rPr lang="zh-CN" altLang="en-US" dirty="0">
                <a:solidFill>
                  <a:schemeClr val="tx2"/>
                </a:solidFill>
                <a:highlight>
                  <a:srgbClr val="FFFF00"/>
                </a:highlight>
                <a:latin typeface="Microsoft YaHei" panose="020B0503020204020204" pitchFamily="34" charset="-122"/>
                <a:ea typeface="Microsoft YaHei" panose="020B0503020204020204" pitchFamily="34" charset="-122"/>
              </a:rPr>
              <a:t>具体方式</a:t>
            </a:r>
            <a:r>
              <a:rPr lang="zh-CN" altLang="en-US" dirty="0">
                <a:solidFill>
                  <a:schemeClr val="tx2"/>
                </a:solidFill>
                <a:latin typeface="Microsoft YaHei" panose="020B0503020204020204" pitchFamily="34" charset="-122"/>
                <a:ea typeface="Microsoft YaHei" panose="020B0503020204020204" pitchFamily="34" charset="-122"/>
              </a:rPr>
              <a:t>了，你可以采用 </a:t>
            </a:r>
            <a:r>
              <a:rPr lang="en-US" altLang="zh-CN" dirty="0">
                <a:solidFill>
                  <a:schemeClr val="tx2"/>
                </a:solidFill>
                <a:latin typeface="Microsoft YaHei" panose="020B0503020204020204" pitchFamily="34" charset="-122"/>
                <a:ea typeface="Microsoft YaHei" panose="020B0503020204020204" pitchFamily="34" charset="-122"/>
              </a:rPr>
              <a:t>XP</a:t>
            </a:r>
            <a:r>
              <a:rPr lang="zh-CN" altLang="en-US" dirty="0">
                <a:solidFill>
                  <a:schemeClr val="tx2"/>
                </a:solidFill>
                <a:latin typeface="Microsoft YaHei" panose="020B0503020204020204" pitchFamily="34" charset="-122"/>
                <a:ea typeface="Microsoft YaHei" panose="020B0503020204020204" pitchFamily="34" charset="-122"/>
              </a:rPr>
              <a:t> 方式也可以采用 </a:t>
            </a:r>
            <a:r>
              <a:rPr lang="en-US" altLang="zh-CN" dirty="0">
                <a:solidFill>
                  <a:schemeClr val="tx2"/>
                </a:solidFill>
                <a:latin typeface="Microsoft YaHei" panose="020B0503020204020204" pitchFamily="34" charset="-122"/>
                <a:ea typeface="Microsoft YaHei" panose="020B0503020204020204" pitchFamily="34" charset="-122"/>
              </a:rPr>
              <a:t>Scrum</a:t>
            </a:r>
            <a:r>
              <a:rPr lang="zh-CN" altLang="en-US" dirty="0">
                <a:solidFill>
                  <a:schemeClr val="tx2"/>
                </a:solidFill>
                <a:latin typeface="Microsoft YaHei" panose="020B0503020204020204" pitchFamily="34" charset="-122"/>
                <a:ea typeface="Microsoft YaHei" panose="020B0503020204020204" pitchFamily="34" charset="-122"/>
              </a:rPr>
              <a:t> 方式；</a:t>
            </a:r>
            <a:r>
              <a:rPr lang="en-US" altLang="zh-CN" dirty="0">
                <a:solidFill>
                  <a:schemeClr val="tx2"/>
                </a:solidFill>
                <a:latin typeface="Microsoft YaHei" panose="020B0503020204020204" pitchFamily="34" charset="-122"/>
                <a:ea typeface="Microsoft YaHei" panose="020B0503020204020204" pitchFamily="34" charset="-122"/>
              </a:rPr>
              <a:t> XP</a:t>
            </a:r>
            <a:r>
              <a:rPr lang="zh-CN" altLang="en-US" dirty="0">
                <a:solidFill>
                  <a:schemeClr val="tx2"/>
                </a:solidFill>
                <a:latin typeface="Microsoft YaHei" panose="020B0503020204020204" pitchFamily="34" charset="-122"/>
                <a:ea typeface="Microsoft YaHei" panose="020B0503020204020204" pitchFamily="34" charset="-122"/>
              </a:rPr>
              <a:t> 和 </a:t>
            </a:r>
            <a:r>
              <a:rPr lang="en-US" altLang="zh-CN" dirty="0">
                <a:solidFill>
                  <a:schemeClr val="tx2"/>
                </a:solidFill>
                <a:latin typeface="Microsoft YaHei" panose="020B0503020204020204" pitchFamily="34" charset="-122"/>
                <a:ea typeface="Microsoft YaHei" panose="020B0503020204020204" pitchFamily="34" charset="-122"/>
              </a:rPr>
              <a:t>Scrum</a:t>
            </a:r>
            <a:r>
              <a:rPr lang="zh-CN" altLang="en-US" dirty="0">
                <a:solidFill>
                  <a:schemeClr val="tx2"/>
                </a:solidFill>
                <a:latin typeface="Microsoft YaHei" panose="020B0503020204020204" pitchFamily="34" charset="-122"/>
                <a:ea typeface="Microsoft YaHei" panose="020B0503020204020204" pitchFamily="34" charset="-122"/>
              </a:rPr>
              <a:t> 的区别是：</a:t>
            </a:r>
            <a:r>
              <a:rPr lang="en-US" altLang="zh-CN" dirty="0">
                <a:solidFill>
                  <a:schemeClr val="tx2"/>
                </a:solidFill>
                <a:latin typeface="Microsoft YaHei" panose="020B0503020204020204" pitchFamily="34" charset="-122"/>
                <a:ea typeface="Microsoft YaHei" panose="020B0503020204020204" pitchFamily="34" charset="-122"/>
              </a:rPr>
              <a:t>XP</a:t>
            </a:r>
            <a:r>
              <a:rPr lang="zh-CN" altLang="en-US" dirty="0">
                <a:solidFill>
                  <a:schemeClr val="tx2"/>
                </a:solidFill>
                <a:latin typeface="Microsoft YaHei" panose="020B0503020204020204" pitchFamily="34" charset="-122"/>
                <a:ea typeface="Microsoft YaHei" panose="020B0503020204020204" pitchFamily="34" charset="-122"/>
              </a:rPr>
              <a:t> 则偏重于实践，</a:t>
            </a:r>
            <a:r>
              <a:rPr lang="en-US" altLang="zh-CN" dirty="0">
                <a:solidFill>
                  <a:schemeClr val="tx2"/>
                </a:solidFill>
                <a:latin typeface="Microsoft YaHei" panose="020B0503020204020204" pitchFamily="34" charset="-122"/>
                <a:ea typeface="Microsoft YaHei" panose="020B0503020204020204" pitchFamily="34" charset="-122"/>
              </a:rPr>
              <a:t> Scrum</a:t>
            </a:r>
            <a:r>
              <a:rPr lang="zh-CN" altLang="en-US" dirty="0">
                <a:solidFill>
                  <a:schemeClr val="tx2"/>
                </a:solidFill>
                <a:latin typeface="Microsoft YaHei" panose="020B0503020204020204" pitchFamily="34" charset="-122"/>
                <a:ea typeface="Microsoft YaHei" panose="020B0503020204020204" pitchFamily="34" charset="-122"/>
              </a:rPr>
              <a:t> 偏重于过程，但是实际中，两者是结合在一起应用的。</a:t>
            </a:r>
          </a:p>
          <a:p>
            <a:pPr lvl="1" indent="0">
              <a:spcBef>
                <a:spcPct val="30000"/>
              </a:spcBef>
              <a:buNone/>
            </a:pPr>
            <a:endParaRPr lang="en-US" altLang="zh-CN" dirty="0">
              <a:solidFill>
                <a:schemeClr val="tx2"/>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06282721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1000"/>
                                        <p:tgtEl>
                                          <p:spTgt spid="8">
                                            <p:txEl>
                                              <p:pRg st="1" end="1"/>
                                            </p:txEl>
                                          </p:spTgt>
                                        </p:tgtEl>
                                      </p:cBhvr>
                                    </p:animEffect>
                                    <p:anim calcmode="lin" valueType="num">
                                      <p:cBhvr>
                                        <p:cTn id="14"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zh-CN" altLang="en-US" sz="2800" dirty="0">
                <a:solidFill>
                  <a:srgbClr val="4E8F00"/>
                </a:solidFill>
              </a:rPr>
              <a:t>什么是</a:t>
            </a:r>
            <a:r>
              <a:rPr lang="en-US" altLang="zh-CN" sz="2800" dirty="0">
                <a:solidFill>
                  <a:srgbClr val="4E8F00"/>
                </a:solidFill>
              </a:rPr>
              <a:t>XP?</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20</a:t>
            </a:fld>
            <a:endParaRPr lang="zh-CN" altLang="en-US"/>
          </a:p>
        </p:txBody>
      </p:sp>
      <p:grpSp>
        <p:nvGrpSpPr>
          <p:cNvPr id="3" name="组合 2">
            <a:extLst>
              <a:ext uri="{FF2B5EF4-FFF2-40B4-BE49-F238E27FC236}">
                <a16:creationId xmlns:a16="http://schemas.microsoft.com/office/drawing/2014/main" id="{6D3C29F6-796B-F643-B7EA-211CA720ADD1}"/>
              </a:ext>
            </a:extLst>
          </p:cNvPr>
          <p:cNvGrpSpPr/>
          <p:nvPr/>
        </p:nvGrpSpPr>
        <p:grpSpPr>
          <a:xfrm>
            <a:off x="838990" y="1196976"/>
            <a:ext cx="7848717" cy="5163003"/>
            <a:chOff x="838990" y="1196976"/>
            <a:chExt cx="7848717" cy="5163003"/>
          </a:xfrm>
        </p:grpSpPr>
        <p:sp>
          <p:nvSpPr>
            <p:cNvPr id="8" name="Rectangle 3">
              <a:extLst>
                <a:ext uri="{FF2B5EF4-FFF2-40B4-BE49-F238E27FC236}">
                  <a16:creationId xmlns:a16="http://schemas.microsoft.com/office/drawing/2014/main" id="{4D3CD388-CE7C-F945-9A39-B1A56D9721C1}"/>
                </a:ext>
              </a:extLst>
            </p:cNvPr>
            <p:cNvSpPr txBox="1">
              <a:spLocks noChangeArrowheads="1"/>
            </p:cNvSpPr>
            <p:nvPr/>
          </p:nvSpPr>
          <p:spPr>
            <a:xfrm>
              <a:off x="838990" y="1196976"/>
              <a:ext cx="7300803" cy="5163003"/>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indent="-285750" algn="just">
                <a:lnSpc>
                  <a:spcPct val="120000"/>
                </a:lnSpc>
                <a:buSzPct val="60000"/>
                <a:buFont typeface="Wingdings" pitchFamily="2" charset="2"/>
                <a:buChar char="l"/>
              </a:pPr>
              <a:r>
                <a:rPr lang="en-US" altLang="zh-CN" sz="1800" dirty="0">
                  <a:solidFill>
                    <a:srgbClr val="C00000"/>
                  </a:solidFill>
                  <a:ea typeface="Microsoft YaHei" panose="020B0503020204020204" pitchFamily="34" charset="-122"/>
                </a:rPr>
                <a:t>XP</a:t>
              </a:r>
              <a:r>
                <a:rPr lang="zh-CN" altLang="en-US" sz="1800" dirty="0">
                  <a:solidFill>
                    <a:schemeClr val="tx2"/>
                  </a:solidFill>
                  <a:latin typeface="Microsoft YaHei" panose="020B0503020204020204" pitchFamily="34" charset="-122"/>
                  <a:ea typeface="Microsoft YaHei" panose="020B0503020204020204" pitchFamily="34" charset="-122"/>
                </a:rPr>
                <a:t> </a:t>
              </a:r>
              <a:r>
                <a:rPr lang="en-US" altLang="zh-CN" sz="1800" dirty="0">
                  <a:solidFill>
                    <a:schemeClr val="tx2"/>
                  </a:solidFill>
                  <a:latin typeface="Microsoft YaHei" panose="020B0503020204020204" pitchFamily="34" charset="-122"/>
                  <a:ea typeface="Microsoft YaHei" panose="020B0503020204020204" pitchFamily="34" charset="-122"/>
                </a:rPr>
                <a:t>–</a:t>
              </a:r>
              <a:r>
                <a:rPr lang="zh-CN" altLang="en-US" sz="1800" dirty="0">
                  <a:solidFill>
                    <a:schemeClr val="tx2"/>
                  </a:solidFill>
                  <a:latin typeface="Microsoft YaHei" panose="020B0503020204020204" pitchFamily="34" charset="-122"/>
                  <a:ea typeface="Microsoft YaHei" panose="020B0503020204020204" pitchFamily="34" charset="-122"/>
                </a:rPr>
                <a:t> </a:t>
              </a:r>
              <a:r>
                <a:rPr lang="zh-CN" altLang="en-US" sz="1800" dirty="0">
                  <a:solidFill>
                    <a:schemeClr val="tx2"/>
                  </a:solidFill>
                  <a:highlight>
                    <a:srgbClr val="FFFF00"/>
                  </a:highlight>
                  <a:latin typeface="Microsoft YaHei" panose="020B0503020204020204" pitchFamily="34" charset="-122"/>
                  <a:ea typeface="Microsoft YaHei" panose="020B0503020204020204" pitchFamily="34" charset="-122"/>
                </a:rPr>
                <a:t>极限编程</a:t>
              </a:r>
              <a:r>
                <a:rPr lang="zh-CN" altLang="en-US" sz="1800" dirty="0">
                  <a:solidFill>
                    <a:schemeClr val="tx2"/>
                  </a:solidFill>
                  <a:latin typeface="Microsoft YaHei" panose="020B0503020204020204" pitchFamily="34" charset="-122"/>
                  <a:ea typeface="Microsoft YaHei" panose="020B0503020204020204" pitchFamily="34" charset="-122"/>
                </a:rPr>
                <a:t>（</a:t>
              </a:r>
              <a:r>
                <a:rPr lang="en-US" altLang="zh-CN" sz="1800" dirty="0" err="1">
                  <a:solidFill>
                    <a:schemeClr val="tx2"/>
                  </a:solidFill>
                  <a:latin typeface="Microsoft YaHei" panose="020B0503020204020204" pitchFamily="34" charset="-122"/>
                  <a:ea typeface="Microsoft YaHei" panose="020B0503020204020204" pitchFamily="34" charset="-122"/>
                </a:rPr>
                <a:t>e</a:t>
              </a:r>
              <a:r>
                <a:rPr lang="en-US" altLang="zh-CN" sz="1800" dirty="0" err="1">
                  <a:solidFill>
                    <a:srgbClr val="FF0000"/>
                  </a:solidFill>
                  <a:latin typeface="Microsoft YaHei" panose="020B0503020204020204" pitchFamily="34" charset="-122"/>
                  <a:ea typeface="Microsoft YaHei" panose="020B0503020204020204" pitchFamily="34" charset="-122"/>
                </a:rPr>
                <a:t>X</a:t>
              </a:r>
              <a:r>
                <a:rPr lang="en-US" altLang="zh-CN" sz="1800" dirty="0" err="1">
                  <a:solidFill>
                    <a:schemeClr val="tx2"/>
                  </a:solidFill>
                  <a:latin typeface="Microsoft YaHei" panose="020B0503020204020204" pitchFamily="34" charset="-122"/>
                  <a:ea typeface="Microsoft YaHei" panose="020B0503020204020204" pitchFamily="34" charset="-122"/>
                </a:rPr>
                <a:t>treme</a:t>
              </a:r>
              <a:r>
                <a:rPr lang="en-US" altLang="zh-CN" sz="1800" dirty="0">
                  <a:solidFill>
                    <a:schemeClr val="tx2"/>
                  </a:solidFill>
                  <a:latin typeface="Microsoft YaHei" panose="020B0503020204020204" pitchFamily="34" charset="-122"/>
                  <a:ea typeface="Microsoft YaHei" panose="020B0503020204020204" pitchFamily="34" charset="-122"/>
                </a:rPr>
                <a:t> </a:t>
              </a:r>
              <a:r>
                <a:rPr lang="en-US" altLang="zh-CN" sz="1800" dirty="0">
                  <a:solidFill>
                    <a:srgbClr val="FF0000"/>
                  </a:solidFill>
                  <a:latin typeface="Microsoft YaHei" panose="020B0503020204020204" pitchFamily="34" charset="-122"/>
                  <a:ea typeface="Microsoft YaHei" panose="020B0503020204020204" pitchFamily="34" charset="-122"/>
                </a:rPr>
                <a:t>P</a:t>
              </a:r>
              <a:r>
                <a:rPr lang="en-US" altLang="zh-CN" sz="1800" dirty="0">
                  <a:solidFill>
                    <a:schemeClr val="tx2"/>
                  </a:solidFill>
                  <a:latin typeface="Microsoft YaHei" panose="020B0503020204020204" pitchFamily="34" charset="-122"/>
                  <a:ea typeface="Microsoft YaHei" panose="020B0503020204020204" pitchFamily="34" charset="-122"/>
                </a:rPr>
                <a:t>rograming</a:t>
              </a:r>
              <a:r>
                <a:rPr lang="zh-CN" altLang="en-US" sz="1800" dirty="0">
                  <a:solidFill>
                    <a:schemeClr val="tx2"/>
                  </a:solidFill>
                  <a:latin typeface="Microsoft YaHei" panose="020B0503020204020204" pitchFamily="34" charset="-122"/>
                  <a:ea typeface="Microsoft YaHei" panose="020B0503020204020204" pitchFamily="34" charset="-122"/>
                </a:rPr>
                <a:t>）</a:t>
              </a:r>
              <a:r>
                <a:rPr lang="en-US" altLang="zh-CN" sz="1800" dirty="0">
                  <a:solidFill>
                    <a:schemeClr val="tx2"/>
                  </a:solidFill>
                  <a:latin typeface="Microsoft YaHei" panose="020B0503020204020204" pitchFamily="34" charset="-122"/>
                  <a:ea typeface="Microsoft YaHei" panose="020B0503020204020204" pitchFamily="34" charset="-122"/>
                </a:rPr>
                <a:t>,</a:t>
              </a:r>
              <a:r>
                <a:rPr lang="en-US" altLang="zh-CN" sz="1800" dirty="0">
                  <a:solidFill>
                    <a:srgbClr val="000000"/>
                  </a:solidFill>
                </a:rPr>
                <a:t> Kent Beck, Ward Cunningham, Martin Fowler, Ron Jeffries</a:t>
              </a:r>
              <a:r>
                <a:rPr lang="zh-CN" altLang="en-US" sz="1800" dirty="0">
                  <a:solidFill>
                    <a:srgbClr val="000000"/>
                  </a:solidFill>
                </a:rPr>
                <a:t> 于 </a:t>
              </a:r>
              <a:r>
                <a:rPr lang="en-US" altLang="zh-CN" sz="1800" dirty="0">
                  <a:solidFill>
                    <a:srgbClr val="000000"/>
                  </a:solidFill>
                </a:rPr>
                <a:t>2000</a:t>
              </a:r>
              <a:r>
                <a:rPr lang="zh-CN" altLang="en-US" sz="1800" dirty="0">
                  <a:solidFill>
                    <a:srgbClr val="000000"/>
                  </a:solidFill>
                </a:rPr>
                <a:t>年创立</a:t>
              </a:r>
            </a:p>
            <a:p>
              <a:pPr marL="285750" indent="-285750">
                <a:lnSpc>
                  <a:spcPct val="125000"/>
                </a:lnSpc>
                <a:buFont typeface="Arial" panose="020B0604020202020204" pitchFamily="34" charset="0"/>
                <a:buChar char="•"/>
              </a:pPr>
              <a:r>
                <a:rPr lang="en-US" altLang="zh-CN" sz="1800" dirty="0">
                  <a:solidFill>
                    <a:srgbClr val="000000"/>
                  </a:solidFill>
                </a:rPr>
                <a:t>XP is a lightweight methodology for small to medium sized teams developing software in the face of vague or rapidly changing requirements. </a:t>
              </a:r>
              <a:br>
                <a:rPr lang="en-US" altLang="zh-CN" sz="1800" dirty="0">
                  <a:solidFill>
                    <a:srgbClr val="000000"/>
                  </a:solidFill>
                </a:rPr>
              </a:br>
              <a:r>
                <a:rPr lang="zh-CN" altLang="en-US" sz="1800" dirty="0">
                  <a:solidFill>
                    <a:srgbClr val="000000"/>
                  </a:solidFill>
                </a:rPr>
                <a:t>                                                                                     </a:t>
              </a:r>
              <a:r>
                <a:rPr lang="en-US" altLang="zh-CN" sz="1800" dirty="0">
                  <a:solidFill>
                    <a:srgbClr val="000000"/>
                  </a:solidFill>
                </a:rPr>
                <a:t>-- Kent Beck.</a:t>
              </a:r>
            </a:p>
            <a:p>
              <a:pPr marL="285750" indent="-285750" algn="just">
                <a:lnSpc>
                  <a:spcPct val="125000"/>
                </a:lnSpc>
                <a:buFont typeface="Arial" panose="020B0604020202020204" pitchFamily="34" charset="0"/>
                <a:buChar char="•"/>
              </a:pPr>
              <a:r>
                <a:rPr lang="en-US" altLang="zh-CN" sz="1800" dirty="0">
                  <a:solidFill>
                    <a:srgbClr val="000000"/>
                  </a:solidFill>
                </a:rPr>
                <a:t>XP</a:t>
              </a:r>
              <a:r>
                <a:rPr lang="zh-CN" altLang="en-US" sz="1800" dirty="0">
                  <a:solidFill>
                    <a:srgbClr val="000000"/>
                  </a:solidFill>
                </a:rPr>
                <a:t>是软件开发过程中的纪律，它规定你：必须在编程前些测试，必须两个人一起编程，必须遵守编程规范</a:t>
              </a:r>
              <a:r>
                <a:rPr lang="en-US" altLang="zh-CN" sz="1800" dirty="0">
                  <a:solidFill>
                    <a:srgbClr val="000000"/>
                  </a:solidFill>
                </a:rPr>
                <a:t>……</a:t>
              </a:r>
            </a:p>
            <a:p>
              <a:pPr marL="285750" indent="-285750" algn="just">
                <a:lnSpc>
                  <a:spcPct val="125000"/>
                </a:lnSpc>
                <a:buFont typeface="Arial" panose="020B0604020202020204" pitchFamily="34" charset="0"/>
                <a:buChar char="•"/>
              </a:pPr>
              <a:r>
                <a:rPr lang="en-US" altLang="zh-CN" sz="1800" dirty="0">
                  <a:solidFill>
                    <a:srgbClr val="000000"/>
                  </a:solidFill>
                </a:rPr>
                <a:t>XP</a:t>
              </a:r>
              <a:r>
                <a:rPr lang="zh-CN" altLang="en-US" sz="1800" dirty="0">
                  <a:solidFill>
                    <a:srgbClr val="000000"/>
                  </a:solidFill>
                </a:rPr>
                <a:t>是</a:t>
              </a:r>
              <a:r>
                <a:rPr lang="zh-CN" altLang="en-US" sz="1800" dirty="0">
                  <a:solidFill>
                    <a:srgbClr val="000000"/>
                  </a:solidFill>
                  <a:highlight>
                    <a:srgbClr val="FFFF00"/>
                  </a:highlight>
                </a:rPr>
                <a:t>把最好的实践经验提取出来</a:t>
              </a:r>
              <a:r>
                <a:rPr lang="zh-CN" altLang="en-US" sz="1800" dirty="0">
                  <a:solidFill>
                    <a:srgbClr val="000000"/>
                  </a:solidFill>
                </a:rPr>
                <a:t>，形成了一个崭新的开发方法</a:t>
              </a:r>
              <a:endParaRPr lang="en-US" altLang="zh-CN" sz="1800" dirty="0">
                <a:solidFill>
                  <a:srgbClr val="000000"/>
                </a:solidFill>
              </a:endParaRPr>
            </a:p>
            <a:p>
              <a:pPr marL="285750" indent="-285750">
                <a:lnSpc>
                  <a:spcPct val="125000"/>
                </a:lnSpc>
                <a:buFont typeface="Arial" panose="020B0604020202020204" pitchFamily="34" charset="0"/>
                <a:buChar char="•"/>
              </a:pPr>
              <a:endParaRPr lang="en-US" altLang="zh-CN" sz="1600" dirty="0">
                <a:solidFill>
                  <a:srgbClr val="000000"/>
                </a:solidFill>
              </a:endParaRPr>
            </a:p>
            <a:p>
              <a:pPr>
                <a:lnSpc>
                  <a:spcPct val="125000"/>
                </a:lnSpc>
              </a:pPr>
              <a:endParaRPr lang="zh-CN" altLang="en-US" sz="1400" dirty="0">
                <a:solidFill>
                  <a:srgbClr val="000000"/>
                </a:solidFill>
              </a:endParaRPr>
            </a:p>
            <a:p>
              <a:pPr>
                <a:buFont typeface="Wingdings" pitchFamily="2" charset="2"/>
                <a:buNone/>
              </a:pPr>
              <a:endParaRPr lang="zh-CN" altLang="en-US" sz="1600" dirty="0">
                <a:solidFill>
                  <a:schemeClr val="tx2"/>
                </a:solidFill>
                <a:latin typeface="Microsoft YaHei" panose="020B0503020204020204" pitchFamily="34" charset="-122"/>
                <a:ea typeface="Microsoft YaHei" panose="020B0503020204020204" pitchFamily="34" charset="-122"/>
              </a:endParaRPr>
            </a:p>
          </p:txBody>
        </p:sp>
        <p:pic>
          <p:nvPicPr>
            <p:cNvPr id="2" name="图片 1">
              <a:extLst>
                <a:ext uri="{FF2B5EF4-FFF2-40B4-BE49-F238E27FC236}">
                  <a16:creationId xmlns:a16="http://schemas.microsoft.com/office/drawing/2014/main" id="{69B9D62A-8786-9948-B698-4E4F4E3E3C34}"/>
                </a:ext>
              </a:extLst>
            </p:cNvPr>
            <p:cNvPicPr>
              <a:picLocks noChangeAspect="1"/>
            </p:cNvPicPr>
            <p:nvPr/>
          </p:nvPicPr>
          <p:blipFill>
            <a:blip r:embed="rId2"/>
            <a:stretch>
              <a:fillRect/>
            </a:stretch>
          </p:blipFill>
          <p:spPr>
            <a:xfrm>
              <a:off x="4572000" y="4877114"/>
              <a:ext cx="4115707" cy="1482865"/>
            </a:xfrm>
            <a:prstGeom prst="rect">
              <a:avLst/>
            </a:prstGeom>
          </p:spPr>
        </p:pic>
      </p:grpSp>
    </p:spTree>
    <p:extLst>
      <p:ext uri="{BB962C8B-B14F-4D97-AF65-F5344CB8AC3E}">
        <p14:creationId xmlns:p14="http://schemas.microsoft.com/office/powerpoint/2010/main" val="317606237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zh-CN" altLang="en-US" sz="2800" dirty="0">
                <a:solidFill>
                  <a:srgbClr val="4E8F00"/>
                </a:solidFill>
              </a:rPr>
              <a:t>什么是</a:t>
            </a:r>
            <a:r>
              <a:rPr lang="en-US" altLang="zh-CN" sz="2800" dirty="0">
                <a:solidFill>
                  <a:srgbClr val="4E8F00"/>
                </a:solidFill>
              </a:rPr>
              <a:t>XP?</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21</a:t>
            </a:fld>
            <a:endParaRPr lang="zh-CN" altLang="en-US"/>
          </a:p>
        </p:txBody>
      </p:sp>
      <p:sp>
        <p:nvSpPr>
          <p:cNvPr id="8" name="Rectangle 3">
            <a:extLst>
              <a:ext uri="{FF2B5EF4-FFF2-40B4-BE49-F238E27FC236}">
                <a16:creationId xmlns:a16="http://schemas.microsoft.com/office/drawing/2014/main" id="{4D3CD388-CE7C-F945-9A39-B1A56D9721C1}"/>
              </a:ext>
            </a:extLst>
          </p:cNvPr>
          <p:cNvSpPr txBox="1">
            <a:spLocks noChangeArrowheads="1"/>
          </p:cNvSpPr>
          <p:nvPr/>
        </p:nvSpPr>
        <p:spPr>
          <a:xfrm>
            <a:off x="838990" y="1196976"/>
            <a:ext cx="7300803" cy="5163003"/>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indent="-285750" algn="just">
              <a:lnSpc>
                <a:spcPct val="120000"/>
              </a:lnSpc>
              <a:buSzPct val="60000"/>
              <a:buFont typeface="Wingdings" pitchFamily="2" charset="2"/>
              <a:buChar char="l"/>
            </a:pPr>
            <a:r>
              <a:rPr lang="zh-CN" altLang="en-US" sz="1800" dirty="0">
                <a:solidFill>
                  <a:srgbClr val="C00000"/>
                </a:solidFill>
                <a:latin typeface="Microsoft YaHei" panose="020B0503020204020204" pitchFamily="34" charset="-122"/>
                <a:ea typeface="Microsoft YaHei" panose="020B0503020204020204" pitchFamily="34" charset="-122"/>
              </a:rPr>
              <a:t>极限的含义</a:t>
            </a:r>
            <a:r>
              <a:rPr lang="zh-CN" altLang="en-US" sz="1800" dirty="0">
                <a:solidFill>
                  <a:srgbClr val="000000"/>
                </a:solidFill>
                <a:latin typeface="Microsoft YaHei" panose="020B0503020204020204" pitchFamily="34" charset="-122"/>
                <a:ea typeface="Microsoft YaHei" panose="020B0503020204020204" pitchFamily="34" charset="-122"/>
              </a:rPr>
              <a:t>：软件开发中的优点发挥到极致（</a:t>
            </a:r>
            <a:r>
              <a:rPr lang="en-US" altLang="zh-CN" sz="1800" dirty="0">
                <a:solidFill>
                  <a:srgbClr val="000000"/>
                </a:solidFill>
                <a:latin typeface="Microsoft YaHei" panose="020B0503020204020204" pitchFamily="34" charset="-122"/>
                <a:ea typeface="Microsoft YaHei" panose="020B0503020204020204" pitchFamily="34" charset="-122"/>
              </a:rPr>
              <a:t>Kent Beck</a:t>
            </a:r>
            <a:r>
              <a:rPr lang="zh-CN" altLang="en-US" sz="1800" dirty="0">
                <a:solidFill>
                  <a:srgbClr val="000000"/>
                </a:solidFill>
                <a:latin typeface="Microsoft YaHei" panose="020B0503020204020204" pitchFamily="34" charset="-122"/>
                <a:ea typeface="Microsoft YaHei" panose="020B0503020204020204" pitchFamily="34" charset="-122"/>
              </a:rPr>
              <a:t>）</a:t>
            </a:r>
            <a:endParaRPr lang="en-US" altLang="zh-CN" sz="1800" dirty="0">
              <a:solidFill>
                <a:srgbClr val="000000"/>
              </a:solidFill>
              <a:latin typeface="Microsoft YaHei" panose="020B0503020204020204" pitchFamily="34" charset="-122"/>
              <a:ea typeface="Microsoft YaHei" panose="020B0503020204020204" pitchFamily="34" charset="-122"/>
            </a:endParaRPr>
          </a:p>
          <a:p>
            <a:pPr marL="285750" indent="-285750" algn="just">
              <a:lnSpc>
                <a:spcPct val="120000"/>
              </a:lnSpc>
              <a:buSzPct val="60000"/>
              <a:buFont typeface="Wingdings" pitchFamily="2" charset="2"/>
              <a:buChar char="l"/>
            </a:pPr>
            <a:r>
              <a:rPr lang="en-US" altLang="zh-CN" sz="1800" dirty="0">
                <a:solidFill>
                  <a:srgbClr val="C00000"/>
                </a:solidFill>
                <a:latin typeface="Microsoft YaHei" panose="020B0503020204020204" pitchFamily="34" charset="-122"/>
                <a:ea typeface="Microsoft YaHei" panose="020B0503020204020204" pitchFamily="34" charset="-122"/>
              </a:rPr>
              <a:t>XP</a:t>
            </a:r>
            <a:r>
              <a:rPr lang="zh-CN" altLang="en-US" sz="1800" dirty="0">
                <a:solidFill>
                  <a:srgbClr val="000000"/>
                </a:solidFill>
                <a:latin typeface="Microsoft YaHei" panose="020B0503020204020204" pitchFamily="34" charset="-122"/>
                <a:ea typeface="Microsoft YaHei" panose="020B0503020204020204" pitchFamily="34" charset="-122"/>
              </a:rPr>
              <a:t>：给程序员提供了明确的方法，使得程序员尽管面对需求的改变，却能够从容应对，即使着重变化发生在项目的后期，仍然能够编出代码</a:t>
            </a:r>
            <a:endParaRPr lang="en-US" altLang="zh-CN" sz="1800" dirty="0">
              <a:solidFill>
                <a:srgbClr val="000000"/>
              </a:solidFill>
              <a:latin typeface="Microsoft YaHei" panose="020B0503020204020204" pitchFamily="34" charset="-122"/>
              <a:ea typeface="Microsoft YaHei" panose="020B0503020204020204" pitchFamily="34" charset="-122"/>
            </a:endParaRPr>
          </a:p>
          <a:p>
            <a:pPr marL="285750" indent="-285750" algn="just">
              <a:lnSpc>
                <a:spcPct val="120000"/>
              </a:lnSpc>
              <a:buSzPct val="60000"/>
              <a:buFont typeface="Wingdings" pitchFamily="2" charset="2"/>
              <a:buChar char="l"/>
            </a:pPr>
            <a:r>
              <a:rPr lang="en-US" altLang="zh-CN" sz="1800" dirty="0">
                <a:solidFill>
                  <a:srgbClr val="C00000"/>
                </a:solidFill>
                <a:latin typeface="Microsoft YaHei" panose="020B0503020204020204" pitchFamily="34" charset="-122"/>
                <a:ea typeface="Microsoft YaHei" panose="020B0503020204020204" pitchFamily="34" charset="-122"/>
              </a:rPr>
              <a:t>XP</a:t>
            </a:r>
            <a:r>
              <a:rPr lang="zh-CN" altLang="en-US" sz="1800" dirty="0">
                <a:solidFill>
                  <a:srgbClr val="C00000"/>
                </a:solidFill>
                <a:latin typeface="Microsoft YaHei" panose="020B0503020204020204" pitchFamily="34" charset="-122"/>
                <a:ea typeface="Microsoft YaHei" panose="020B0503020204020204" pitchFamily="34" charset="-122"/>
              </a:rPr>
              <a:t>核心</a:t>
            </a:r>
            <a:r>
              <a:rPr lang="zh-CN" altLang="en-US" sz="1800" dirty="0">
                <a:solidFill>
                  <a:srgbClr val="000000"/>
                </a:solidFill>
                <a:latin typeface="Microsoft YaHei" panose="020B0503020204020204" pitchFamily="34" charset="-122"/>
                <a:ea typeface="Microsoft YaHei" panose="020B0503020204020204" pitchFamily="34" charset="-122"/>
              </a:rPr>
              <a:t>：沟通、简明、反馈和勇气 </a:t>
            </a:r>
          </a:p>
          <a:p>
            <a:pPr marL="285750" indent="-285750" algn="just">
              <a:lnSpc>
                <a:spcPct val="120000"/>
              </a:lnSpc>
              <a:buSzPct val="60000"/>
              <a:buFont typeface="Wingdings" pitchFamily="2" charset="2"/>
              <a:buChar char="l"/>
            </a:pPr>
            <a:r>
              <a:rPr lang="en-US" altLang="zh-CN" sz="1800" dirty="0">
                <a:solidFill>
                  <a:srgbClr val="000000"/>
                </a:solidFill>
                <a:latin typeface="Microsoft YaHei" panose="020B0503020204020204" pitchFamily="34" charset="-122"/>
                <a:ea typeface="Microsoft YaHei" panose="020B0503020204020204" pitchFamily="34" charset="-122"/>
              </a:rPr>
              <a:t>XP</a:t>
            </a:r>
            <a:r>
              <a:rPr lang="zh-CN" altLang="en-US" sz="1800" dirty="0">
                <a:solidFill>
                  <a:srgbClr val="000000"/>
                </a:solidFill>
                <a:latin typeface="Microsoft YaHei" panose="020B0503020204020204" pitchFamily="34" charset="-122"/>
                <a:ea typeface="Microsoft YaHei" panose="020B0503020204020204" pitchFamily="34" charset="-122"/>
              </a:rPr>
              <a:t>重视沟通，客户、开发人员、管理者共同组成团队</a:t>
            </a:r>
            <a:endParaRPr lang="en-US" altLang="zh-CN" sz="1800" dirty="0">
              <a:solidFill>
                <a:srgbClr val="000000"/>
              </a:solidFill>
              <a:latin typeface="Microsoft YaHei" panose="020B0503020204020204" pitchFamily="34" charset="-122"/>
              <a:ea typeface="Microsoft YaHei" panose="020B0503020204020204" pitchFamily="34" charset="-122"/>
            </a:endParaRPr>
          </a:p>
          <a:p>
            <a:pPr marL="285750" indent="-285750" algn="just">
              <a:lnSpc>
                <a:spcPct val="120000"/>
              </a:lnSpc>
              <a:buSzPct val="60000"/>
              <a:buFont typeface="Wingdings" pitchFamily="2" charset="2"/>
              <a:buChar char="l"/>
            </a:pPr>
            <a:r>
              <a:rPr lang="en-US" altLang="zh-CN" sz="1800" dirty="0">
                <a:solidFill>
                  <a:srgbClr val="C00000"/>
                </a:solidFill>
                <a:latin typeface="Microsoft YaHei" panose="020B0503020204020204" pitchFamily="34" charset="-122"/>
                <a:ea typeface="Microsoft YaHei" panose="020B0503020204020204" pitchFamily="34" charset="-122"/>
              </a:rPr>
              <a:t>XP</a:t>
            </a:r>
            <a:r>
              <a:rPr lang="zh-CN" altLang="en-US" sz="1800" dirty="0">
                <a:solidFill>
                  <a:srgbClr val="C00000"/>
                </a:solidFill>
                <a:latin typeface="Microsoft YaHei" panose="020B0503020204020204" pitchFamily="34" charset="-122"/>
                <a:ea typeface="Microsoft YaHei" panose="020B0503020204020204" pitchFamily="34" charset="-122"/>
              </a:rPr>
              <a:t>是一个实践系统</a:t>
            </a:r>
            <a:endParaRPr lang="en-US" altLang="zh-CN" sz="1800" dirty="0">
              <a:solidFill>
                <a:srgbClr val="C00000"/>
              </a:solidFill>
              <a:latin typeface="Microsoft YaHei" panose="020B0503020204020204" pitchFamily="34" charset="-122"/>
              <a:ea typeface="Microsoft YaHei" panose="020B0503020204020204" pitchFamily="34" charset="-122"/>
            </a:endParaRPr>
          </a:p>
          <a:p>
            <a:pPr marL="614934" lvl="1" indent="-285750" algn="just">
              <a:lnSpc>
                <a:spcPct val="120000"/>
              </a:lnSpc>
              <a:buSzPct val="60000"/>
              <a:buFont typeface="Wingdings" pitchFamily="2" charset="2"/>
              <a:buChar char="u"/>
            </a:pPr>
            <a:r>
              <a:rPr lang="en-US" altLang="zh-CN" sz="1600" dirty="0">
                <a:solidFill>
                  <a:srgbClr val="000000"/>
                </a:solidFill>
                <a:latin typeface="Microsoft YaHei" panose="020B0503020204020204" pitchFamily="34" charset="-122"/>
                <a:ea typeface="Microsoft YaHei" panose="020B0503020204020204" pitchFamily="34" charset="-122"/>
              </a:rPr>
              <a:t>13</a:t>
            </a:r>
            <a:r>
              <a:rPr lang="zh-CN" altLang="en-US" sz="1600" dirty="0">
                <a:solidFill>
                  <a:srgbClr val="000000"/>
                </a:solidFill>
                <a:latin typeface="Microsoft YaHei" panose="020B0503020204020204" pitchFamily="34" charset="-122"/>
                <a:ea typeface="Microsoft YaHei" panose="020B0503020204020204" pitchFamily="34" charset="-122"/>
              </a:rPr>
              <a:t>个实践</a:t>
            </a:r>
            <a:endParaRPr lang="zh-CN" altLang="en-US" sz="1600" b="1" dirty="0">
              <a:solidFill>
                <a:srgbClr val="000000"/>
              </a:solidFill>
              <a:latin typeface="Microsoft YaHei" panose="020B0503020204020204" pitchFamily="34" charset="-122"/>
              <a:ea typeface="Microsoft YaHei" panose="020B0503020204020204" pitchFamily="34" charset="-122"/>
            </a:endParaRPr>
          </a:p>
          <a:p>
            <a:pPr marL="285750" indent="-285750" algn="just">
              <a:lnSpc>
                <a:spcPct val="120000"/>
              </a:lnSpc>
              <a:buSzPct val="60000"/>
              <a:buFont typeface="Wingdings" pitchFamily="2" charset="2"/>
              <a:buChar char="l"/>
            </a:pPr>
            <a:r>
              <a:rPr lang="en-US" altLang="zh-CN" sz="1800" dirty="0" err="1">
                <a:solidFill>
                  <a:srgbClr val="C00000"/>
                </a:solidFill>
                <a:latin typeface="Microsoft YaHei" panose="020B0503020204020204" pitchFamily="34" charset="-122"/>
                <a:ea typeface="Microsoft YaHei" panose="020B0503020204020204" pitchFamily="34" charset="-122"/>
              </a:rPr>
              <a:t>XP方法的贡献</a:t>
            </a:r>
            <a:endParaRPr lang="en-US" altLang="zh-CN" sz="1800" dirty="0">
              <a:solidFill>
                <a:srgbClr val="C00000"/>
              </a:solidFill>
              <a:latin typeface="Microsoft YaHei" panose="020B0503020204020204" pitchFamily="34" charset="-122"/>
              <a:ea typeface="Microsoft YaHei" panose="020B0503020204020204" pitchFamily="34" charset="-122"/>
            </a:endParaRPr>
          </a:p>
          <a:p>
            <a:pPr marL="614934" lvl="1" indent="-285750" algn="just">
              <a:lnSpc>
                <a:spcPct val="120000"/>
              </a:lnSpc>
              <a:buSzPct val="60000"/>
              <a:buFont typeface="Wingdings" pitchFamily="2" charset="2"/>
              <a:buChar char="u"/>
            </a:pPr>
            <a:r>
              <a:rPr lang="zh-CN" altLang="en-US" sz="1600" dirty="0">
                <a:solidFill>
                  <a:srgbClr val="000000"/>
                </a:solidFill>
                <a:latin typeface="Microsoft YaHei" panose="020B0503020204020204" pitchFamily="34" charset="-122"/>
                <a:ea typeface="Microsoft YaHei" panose="020B0503020204020204" pitchFamily="34" charset="-122"/>
              </a:rPr>
              <a:t>以拥抱变化的思想，协作的团队，简单的规则等为原则的</a:t>
            </a:r>
            <a:r>
              <a:rPr lang="en-US" altLang="zh-CN" sz="1600" dirty="0">
                <a:solidFill>
                  <a:srgbClr val="000000"/>
                </a:solidFill>
                <a:latin typeface="Microsoft YaHei" panose="020B0503020204020204" pitchFamily="34" charset="-122"/>
                <a:ea typeface="Microsoft YaHei" panose="020B0503020204020204" pitchFamily="34" charset="-122"/>
              </a:rPr>
              <a:t>13</a:t>
            </a:r>
            <a:r>
              <a:rPr lang="zh-CN" altLang="en-US" sz="1600" dirty="0">
                <a:solidFill>
                  <a:srgbClr val="000000"/>
                </a:solidFill>
                <a:latin typeface="Microsoft YaHei" panose="020B0503020204020204" pitchFamily="34" charset="-122"/>
                <a:ea typeface="Microsoft YaHei" panose="020B0503020204020204" pitchFamily="34" charset="-122"/>
              </a:rPr>
              <a:t>个具体实践</a:t>
            </a:r>
          </a:p>
          <a:p>
            <a:pPr marL="614934" lvl="1" indent="-285750" algn="just">
              <a:lnSpc>
                <a:spcPct val="120000"/>
              </a:lnSpc>
              <a:buSzPct val="60000"/>
              <a:buFont typeface="Wingdings" pitchFamily="2" charset="2"/>
              <a:buChar char="u"/>
            </a:pPr>
            <a:r>
              <a:rPr lang="zh-CN" altLang="en-US" sz="1600" dirty="0">
                <a:solidFill>
                  <a:srgbClr val="000000"/>
                </a:solidFill>
                <a:latin typeface="Microsoft YaHei" panose="020B0503020204020204" pitchFamily="34" charset="-122"/>
                <a:ea typeface="Microsoft YaHei" panose="020B0503020204020204" pitchFamily="34" charset="-122"/>
              </a:rPr>
              <a:t>是知名度最高的敏捷开发方法</a:t>
            </a:r>
            <a:endParaRPr lang="zh-CN" altLang="en-US" sz="1600" b="1" dirty="0">
              <a:solidFill>
                <a:srgbClr val="000000"/>
              </a:solidFill>
              <a:latin typeface="Microsoft YaHei" panose="020B0503020204020204" pitchFamily="34" charset="-122"/>
              <a:ea typeface="Microsoft YaHei" panose="020B0503020204020204" pitchFamily="34" charset="-122"/>
            </a:endParaRPr>
          </a:p>
          <a:p>
            <a:pPr lvl="1" indent="0" algn="just">
              <a:lnSpc>
                <a:spcPct val="120000"/>
              </a:lnSpc>
              <a:buSzPct val="60000"/>
              <a:buNone/>
            </a:pPr>
            <a:endParaRPr lang="en-US" altLang="zh-CN" sz="1600" dirty="0">
              <a:solidFill>
                <a:srgbClr val="000000"/>
              </a:solidFill>
              <a:latin typeface="FrutigerNext LT Regular"/>
            </a:endParaRPr>
          </a:p>
          <a:p>
            <a:pPr marL="285750" indent="-285750">
              <a:lnSpc>
                <a:spcPct val="125000"/>
              </a:lnSpc>
              <a:buFont typeface="Arial" panose="020B0604020202020204" pitchFamily="34" charset="0"/>
              <a:buChar char="•"/>
            </a:pPr>
            <a:endParaRPr lang="en-US" altLang="zh-CN" sz="1600" dirty="0">
              <a:solidFill>
                <a:srgbClr val="000000"/>
              </a:solidFill>
            </a:endParaRPr>
          </a:p>
          <a:p>
            <a:pPr>
              <a:lnSpc>
                <a:spcPct val="125000"/>
              </a:lnSpc>
            </a:pPr>
            <a:endParaRPr lang="zh-CN" altLang="en-US" sz="1400" dirty="0">
              <a:solidFill>
                <a:srgbClr val="000000"/>
              </a:solidFill>
            </a:endParaRPr>
          </a:p>
          <a:p>
            <a:pPr>
              <a:buFont typeface="Wingdings" pitchFamily="2" charset="2"/>
              <a:buNone/>
            </a:pPr>
            <a:endParaRPr lang="zh-CN" altLang="en-US" sz="1600" dirty="0">
              <a:solidFill>
                <a:schemeClr val="tx2"/>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51034300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XP</a:t>
            </a:r>
            <a:r>
              <a:rPr lang="zh-CN" altLang="en-US" sz="2800" dirty="0">
                <a:solidFill>
                  <a:srgbClr val="4E8F00"/>
                </a:solidFill>
              </a:rPr>
              <a:t>的开发流程</a:t>
            </a:r>
            <a:r>
              <a:rPr lang="zh-CN" altLang="en-US" sz="2400" dirty="0">
                <a:solidFill>
                  <a:srgbClr val="4E8F00"/>
                </a:solidFill>
              </a:rPr>
              <a:t>（计划</a:t>
            </a:r>
            <a:r>
              <a:rPr lang="en-US" altLang="zh-CN" sz="2400" dirty="0">
                <a:solidFill>
                  <a:srgbClr val="4E8F00"/>
                </a:solidFill>
              </a:rPr>
              <a:t>/</a:t>
            </a:r>
            <a:r>
              <a:rPr lang="zh-CN" altLang="en-US" sz="2400" dirty="0">
                <a:solidFill>
                  <a:srgbClr val="4E8F00"/>
                </a:solidFill>
              </a:rPr>
              <a:t>反馈循环）</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22</a:t>
            </a:fld>
            <a:endParaRPr lang="zh-CN" altLang="en-US"/>
          </a:p>
        </p:txBody>
      </p:sp>
      <p:grpSp>
        <p:nvGrpSpPr>
          <p:cNvPr id="2" name="组合 1">
            <a:extLst>
              <a:ext uri="{FF2B5EF4-FFF2-40B4-BE49-F238E27FC236}">
                <a16:creationId xmlns:a16="http://schemas.microsoft.com/office/drawing/2014/main" id="{CF852F96-0AAC-CA44-AF8F-717552F48AB2}"/>
              </a:ext>
            </a:extLst>
          </p:cNvPr>
          <p:cNvGrpSpPr/>
          <p:nvPr/>
        </p:nvGrpSpPr>
        <p:grpSpPr>
          <a:xfrm>
            <a:off x="860523" y="1235932"/>
            <a:ext cx="7543298" cy="5153291"/>
            <a:chOff x="893180" y="1324714"/>
            <a:chExt cx="7543298" cy="5153291"/>
          </a:xfrm>
        </p:grpSpPr>
        <p:pic>
          <p:nvPicPr>
            <p:cNvPr id="3" name="图片 2">
              <a:extLst>
                <a:ext uri="{FF2B5EF4-FFF2-40B4-BE49-F238E27FC236}">
                  <a16:creationId xmlns:a16="http://schemas.microsoft.com/office/drawing/2014/main" id="{BBC6A9BD-321C-8D4B-ADEE-419B74947112}"/>
                </a:ext>
              </a:extLst>
            </p:cNvPr>
            <p:cNvPicPr>
              <a:picLocks noChangeAspect="1"/>
            </p:cNvPicPr>
            <p:nvPr/>
          </p:nvPicPr>
          <p:blipFill>
            <a:blip r:embed="rId2"/>
            <a:stretch>
              <a:fillRect/>
            </a:stretch>
          </p:blipFill>
          <p:spPr>
            <a:xfrm>
              <a:off x="893180" y="1324714"/>
              <a:ext cx="3960522" cy="3541524"/>
            </a:xfrm>
            <a:prstGeom prst="rect">
              <a:avLst/>
            </a:prstGeom>
          </p:spPr>
        </p:pic>
        <p:sp>
          <p:nvSpPr>
            <p:cNvPr id="10" name="Rectangle 3">
              <a:extLst>
                <a:ext uri="{FF2B5EF4-FFF2-40B4-BE49-F238E27FC236}">
                  <a16:creationId xmlns:a16="http://schemas.microsoft.com/office/drawing/2014/main" id="{69C010AF-11D9-124C-A82C-1E7C789A60BE}"/>
                </a:ext>
              </a:extLst>
            </p:cNvPr>
            <p:cNvSpPr txBox="1">
              <a:spLocks noChangeArrowheads="1"/>
            </p:cNvSpPr>
            <p:nvPr/>
          </p:nvSpPr>
          <p:spPr>
            <a:xfrm>
              <a:off x="5725838" y="1571431"/>
              <a:ext cx="2710640" cy="2874490"/>
            </a:xfrm>
            <a:prstGeom prst="rect">
              <a:avLst/>
            </a:prstGeom>
            <a:ln>
              <a:noFill/>
            </a:ln>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lgn="just" defTabSz="801688" fontAlgn="base">
                <a:spcBef>
                  <a:spcPct val="0"/>
                </a:spcBef>
                <a:spcAft>
                  <a:spcPct val="0"/>
                </a:spcAft>
                <a:buClr>
                  <a:schemeClr val="bg2">
                    <a:lumMod val="50000"/>
                  </a:schemeClr>
                </a:buClr>
                <a:buSzPct val="100000"/>
              </a:pPr>
              <a:r>
                <a:rPr lang="zh-CN" altLang="en-US" sz="1600" b="1" dirty="0">
                  <a:solidFill>
                    <a:schemeClr val="tx2"/>
                  </a:solidFill>
                  <a:latin typeface="华文细黑" panose="02010600040101010101" pitchFamily="2" charset="-122"/>
                  <a:ea typeface="华文细黑" panose="02010600040101010101" pitchFamily="2" charset="-122"/>
                </a:rPr>
                <a:t>数月迭代：交付计划</a:t>
              </a:r>
            </a:p>
            <a:p>
              <a:pPr algn="just" defTabSz="801688" fontAlgn="base">
                <a:spcBef>
                  <a:spcPct val="0"/>
                </a:spcBef>
                <a:spcAft>
                  <a:spcPct val="0"/>
                </a:spcAft>
                <a:buClr>
                  <a:schemeClr val="bg2">
                    <a:lumMod val="50000"/>
                  </a:schemeClr>
                </a:buClr>
                <a:buSzPct val="100000"/>
              </a:pPr>
              <a:r>
                <a:rPr lang="zh-CN" altLang="en-US" sz="1600" b="1" dirty="0">
                  <a:solidFill>
                    <a:schemeClr val="tx2"/>
                  </a:solidFill>
                  <a:latin typeface="华文细黑" panose="02010600040101010101" pitchFamily="2" charset="-122"/>
                  <a:ea typeface="华文细黑" panose="02010600040101010101" pitchFamily="2" charset="-122"/>
                </a:rPr>
                <a:t>数周迭代：迭代计划</a:t>
              </a:r>
            </a:p>
            <a:p>
              <a:pPr algn="just" defTabSz="801688" fontAlgn="base">
                <a:spcBef>
                  <a:spcPct val="0"/>
                </a:spcBef>
                <a:spcAft>
                  <a:spcPct val="0"/>
                </a:spcAft>
                <a:buClr>
                  <a:schemeClr val="bg2">
                    <a:lumMod val="50000"/>
                  </a:schemeClr>
                </a:buClr>
                <a:buSzPct val="100000"/>
              </a:pPr>
              <a:r>
                <a:rPr lang="zh-CN" altLang="en-US" sz="1600" b="1" dirty="0">
                  <a:solidFill>
                    <a:schemeClr val="tx2"/>
                  </a:solidFill>
                  <a:latin typeface="华文细黑" panose="02010600040101010101" pitchFamily="2" charset="-122"/>
                  <a:ea typeface="华文细黑" panose="02010600040101010101" pitchFamily="2" charset="-122"/>
                </a:rPr>
                <a:t>数日迭代：验收测试</a:t>
              </a:r>
              <a:endParaRPr lang="en-US" altLang="zh-CN" sz="1600" b="1" dirty="0">
                <a:solidFill>
                  <a:schemeClr val="tx2"/>
                </a:solidFill>
                <a:latin typeface="华文细黑" panose="02010600040101010101" pitchFamily="2" charset="-122"/>
                <a:ea typeface="华文细黑" panose="02010600040101010101" pitchFamily="2" charset="-122"/>
              </a:endParaRPr>
            </a:p>
            <a:p>
              <a:pPr algn="just" defTabSz="801688" fontAlgn="base">
                <a:spcBef>
                  <a:spcPct val="0"/>
                </a:spcBef>
                <a:spcAft>
                  <a:spcPct val="0"/>
                </a:spcAft>
                <a:buClr>
                  <a:schemeClr val="bg2">
                    <a:lumMod val="50000"/>
                  </a:schemeClr>
                </a:buClr>
                <a:buSzPct val="100000"/>
              </a:pPr>
              <a:r>
                <a:rPr lang="zh-CN" altLang="en-US" sz="1600" b="1" dirty="0">
                  <a:solidFill>
                    <a:schemeClr val="tx2"/>
                  </a:solidFill>
                  <a:latin typeface="华文细黑" panose="02010600040101010101" pitchFamily="2" charset="-122"/>
                  <a:ea typeface="华文细黑" panose="02010600040101010101" pitchFamily="2" charset="-122"/>
                </a:rPr>
                <a:t>每日迭代：每日站会</a:t>
              </a:r>
              <a:endParaRPr lang="en-US" altLang="zh-CN" sz="1600" b="1" dirty="0">
                <a:solidFill>
                  <a:schemeClr val="tx2"/>
                </a:solidFill>
                <a:latin typeface="华文细黑" panose="02010600040101010101" pitchFamily="2" charset="-122"/>
                <a:ea typeface="华文细黑" panose="02010600040101010101" pitchFamily="2" charset="-122"/>
              </a:endParaRPr>
            </a:p>
            <a:p>
              <a:pPr algn="just" defTabSz="801688" fontAlgn="base">
                <a:spcBef>
                  <a:spcPct val="0"/>
                </a:spcBef>
                <a:spcAft>
                  <a:spcPct val="0"/>
                </a:spcAft>
                <a:buClr>
                  <a:schemeClr val="bg2">
                    <a:lumMod val="50000"/>
                  </a:schemeClr>
                </a:buClr>
                <a:buSzPct val="100000"/>
              </a:pPr>
              <a:r>
                <a:rPr lang="zh-CN" altLang="en-US" sz="1600" b="1" dirty="0">
                  <a:solidFill>
                    <a:schemeClr val="tx2"/>
                  </a:solidFill>
                  <a:latin typeface="华文细黑" panose="02010600040101010101" pitchFamily="2" charset="-122"/>
                  <a:ea typeface="华文细黑" panose="02010600040101010101" pitchFamily="2" charset="-122"/>
                </a:rPr>
                <a:t>小时级迭代：结对协商</a:t>
              </a:r>
              <a:endParaRPr lang="en-US" altLang="zh-CN" sz="1600" b="1" dirty="0">
                <a:solidFill>
                  <a:schemeClr val="tx2"/>
                </a:solidFill>
                <a:latin typeface="华文细黑" panose="02010600040101010101" pitchFamily="2" charset="-122"/>
                <a:ea typeface="华文细黑" panose="02010600040101010101" pitchFamily="2" charset="-122"/>
              </a:endParaRPr>
            </a:p>
            <a:p>
              <a:pPr algn="just" defTabSz="801688" fontAlgn="base">
                <a:spcBef>
                  <a:spcPct val="0"/>
                </a:spcBef>
                <a:spcAft>
                  <a:spcPct val="0"/>
                </a:spcAft>
                <a:buClr>
                  <a:schemeClr val="bg2">
                    <a:lumMod val="50000"/>
                  </a:schemeClr>
                </a:buClr>
                <a:buSzPct val="100000"/>
              </a:pPr>
              <a:r>
                <a:rPr lang="zh-CN" altLang="en-US" sz="1600" b="1" dirty="0">
                  <a:solidFill>
                    <a:schemeClr val="tx2"/>
                  </a:solidFill>
                  <a:latin typeface="华文细黑" panose="02010600040101010101" pitchFamily="2" charset="-122"/>
                  <a:ea typeface="华文细黑" panose="02010600040101010101" pitchFamily="2" charset="-122"/>
                </a:rPr>
                <a:t>分钟级迭代：单元测试</a:t>
              </a:r>
              <a:endParaRPr lang="en-US" altLang="zh-CN" sz="1600" b="1" dirty="0">
                <a:solidFill>
                  <a:schemeClr val="tx2"/>
                </a:solidFill>
                <a:latin typeface="华文细黑" panose="02010600040101010101" pitchFamily="2" charset="-122"/>
                <a:ea typeface="华文细黑" panose="02010600040101010101" pitchFamily="2" charset="-122"/>
              </a:endParaRPr>
            </a:p>
            <a:p>
              <a:pPr lvl="0" algn="just" defTabSz="801688" fontAlgn="base">
                <a:spcBef>
                  <a:spcPct val="0"/>
                </a:spcBef>
                <a:spcAft>
                  <a:spcPct val="0"/>
                </a:spcAft>
                <a:buClr>
                  <a:schemeClr val="bg2">
                    <a:lumMod val="50000"/>
                  </a:schemeClr>
                </a:buClr>
                <a:buSzPct val="100000"/>
              </a:pPr>
              <a:r>
                <a:rPr lang="zh-CN" altLang="en-US" sz="1600" b="1" dirty="0">
                  <a:solidFill>
                    <a:schemeClr val="tx2"/>
                  </a:solidFill>
                  <a:latin typeface="华文细黑" panose="02010600040101010101" pitchFamily="2" charset="-122"/>
                  <a:ea typeface="华文细黑" panose="02010600040101010101" pitchFamily="2" charset="-122"/>
                </a:rPr>
                <a:t>秒级迭代：结对编程</a:t>
              </a:r>
              <a:endParaRPr lang="en-US" altLang="zh-CN" sz="1600" b="1" dirty="0">
                <a:solidFill>
                  <a:schemeClr val="tx2"/>
                </a:solidFill>
                <a:latin typeface="华文细黑" panose="02010600040101010101" pitchFamily="2" charset="-122"/>
                <a:ea typeface="华文细黑" panose="02010600040101010101" pitchFamily="2" charset="-122"/>
              </a:endParaRPr>
            </a:p>
          </p:txBody>
        </p:sp>
        <p:sp>
          <p:nvSpPr>
            <p:cNvPr id="11" name="Rectangle 3">
              <a:extLst>
                <a:ext uri="{FF2B5EF4-FFF2-40B4-BE49-F238E27FC236}">
                  <a16:creationId xmlns:a16="http://schemas.microsoft.com/office/drawing/2014/main" id="{5858D8E5-CBCA-274A-A9FD-3786CAC9F287}"/>
                </a:ext>
              </a:extLst>
            </p:cNvPr>
            <p:cNvSpPr txBox="1">
              <a:spLocks noChangeArrowheads="1"/>
            </p:cNvSpPr>
            <p:nvPr/>
          </p:nvSpPr>
          <p:spPr>
            <a:xfrm>
              <a:off x="1203806" y="5173710"/>
              <a:ext cx="6736388" cy="1304295"/>
            </a:xfrm>
            <a:prstGeom prst="rect">
              <a:avLst/>
            </a:prstGeom>
            <a:ln>
              <a:solidFill>
                <a:schemeClr val="bg1">
                  <a:lumMod val="75000"/>
                </a:schemeClr>
              </a:solidFill>
            </a:ln>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lvl="0" algn="ctr" defTabSz="801688" fontAlgn="base">
                <a:spcBef>
                  <a:spcPct val="0"/>
                </a:spcBef>
                <a:spcAft>
                  <a:spcPct val="0"/>
                </a:spcAft>
                <a:buClr>
                  <a:schemeClr val="bg2">
                    <a:lumMod val="50000"/>
                  </a:schemeClr>
                </a:buClr>
                <a:buSzPct val="100000"/>
              </a:pPr>
              <a:r>
                <a:rPr lang="en-US" altLang="zh-CN" sz="1800" b="1" dirty="0">
                  <a:solidFill>
                    <a:schemeClr val="tx2"/>
                  </a:solidFill>
                  <a:latin typeface="华文细黑" panose="02010600040101010101" pitchFamily="2" charset="-122"/>
                  <a:ea typeface="华文细黑" panose="02010600040101010101" pitchFamily="2" charset="-122"/>
                </a:rPr>
                <a:t>XP</a:t>
              </a:r>
              <a:r>
                <a:rPr lang="zh-CN" altLang="en-US" sz="1800" b="1" dirty="0">
                  <a:solidFill>
                    <a:schemeClr val="tx2"/>
                  </a:solidFill>
                  <a:latin typeface="华文细黑" panose="02010600040101010101" pitchFamily="2" charset="-122"/>
                  <a:ea typeface="华文细黑" panose="02010600040101010101" pitchFamily="2" charset="-122"/>
                </a:rPr>
                <a:t>不做过多长远规划，</a:t>
              </a:r>
              <a:endParaRPr lang="en-US" altLang="zh-CN" sz="1800" b="1" dirty="0">
                <a:solidFill>
                  <a:schemeClr val="tx2"/>
                </a:solidFill>
                <a:latin typeface="华文细黑" panose="02010600040101010101" pitchFamily="2" charset="-122"/>
                <a:ea typeface="华文细黑" panose="02010600040101010101" pitchFamily="2" charset="-122"/>
              </a:endParaRPr>
            </a:p>
            <a:p>
              <a:pPr lvl="0" algn="ctr" defTabSz="801688" fontAlgn="base">
                <a:spcBef>
                  <a:spcPct val="0"/>
                </a:spcBef>
                <a:spcAft>
                  <a:spcPct val="0"/>
                </a:spcAft>
                <a:buClr>
                  <a:schemeClr val="bg2">
                    <a:lumMod val="50000"/>
                  </a:schemeClr>
                </a:buClr>
                <a:buSzPct val="100000"/>
              </a:pPr>
              <a:r>
                <a:rPr lang="zh-CN" altLang="en-US" sz="1600" dirty="0">
                  <a:solidFill>
                    <a:schemeClr val="tx2"/>
                  </a:solidFill>
                  <a:latin typeface="Kaiti SC" panose="02010600040101010101" pitchFamily="2" charset="-122"/>
                  <a:ea typeface="Kaiti SC" panose="02010600040101010101" pitchFamily="2" charset="-122"/>
                </a:rPr>
                <a:t>只要保证每一天、每分每秒都在做最重要、最有价值的事情就可以了，</a:t>
              </a:r>
              <a:endParaRPr lang="en-US" altLang="zh-CN" sz="1600" dirty="0">
                <a:solidFill>
                  <a:schemeClr val="tx2"/>
                </a:solidFill>
                <a:latin typeface="Kaiti SC" panose="02010600040101010101" pitchFamily="2" charset="-122"/>
                <a:ea typeface="Kaiti SC" panose="02010600040101010101" pitchFamily="2" charset="-122"/>
              </a:endParaRPr>
            </a:p>
            <a:p>
              <a:pPr lvl="0" algn="ctr" defTabSz="801688" fontAlgn="base">
                <a:spcBef>
                  <a:spcPct val="0"/>
                </a:spcBef>
                <a:spcAft>
                  <a:spcPct val="0"/>
                </a:spcAft>
                <a:buClr>
                  <a:schemeClr val="bg2">
                    <a:lumMod val="50000"/>
                  </a:schemeClr>
                </a:buClr>
                <a:buSzPct val="100000"/>
              </a:pPr>
              <a:r>
                <a:rPr lang="zh-CN" altLang="en-US" sz="1600" dirty="0">
                  <a:solidFill>
                    <a:schemeClr val="tx2"/>
                  </a:solidFill>
                  <a:latin typeface="Kaiti SC" panose="02010600040101010101" pitchFamily="2" charset="-122"/>
                  <a:ea typeface="Kaiti SC" panose="02010600040101010101" pitchFamily="2" charset="-122"/>
                </a:rPr>
                <a:t>至于项目是否继续做是由客户或管理层决定的事情</a:t>
              </a:r>
            </a:p>
          </p:txBody>
        </p:sp>
      </p:grpSp>
      <p:pic>
        <p:nvPicPr>
          <p:cNvPr id="4" name="图片 3">
            <a:extLst>
              <a:ext uri="{FF2B5EF4-FFF2-40B4-BE49-F238E27FC236}">
                <a16:creationId xmlns:a16="http://schemas.microsoft.com/office/drawing/2014/main" id="{F3764C12-8F9A-C54F-BD59-5692371A64AF}"/>
              </a:ext>
            </a:extLst>
          </p:cNvPr>
          <p:cNvPicPr>
            <a:picLocks noChangeAspect="1"/>
          </p:cNvPicPr>
          <p:nvPr/>
        </p:nvPicPr>
        <p:blipFill>
          <a:blip r:embed="rId3"/>
          <a:stretch>
            <a:fillRect/>
          </a:stretch>
        </p:blipFill>
        <p:spPr>
          <a:xfrm>
            <a:off x="860523" y="1045072"/>
            <a:ext cx="4137731" cy="3990539"/>
          </a:xfrm>
          <a:prstGeom prst="rect">
            <a:avLst/>
          </a:prstGeom>
        </p:spPr>
      </p:pic>
    </p:spTree>
    <p:extLst>
      <p:ext uri="{BB962C8B-B14F-4D97-AF65-F5344CB8AC3E}">
        <p14:creationId xmlns:p14="http://schemas.microsoft.com/office/powerpoint/2010/main" val="221577391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XP</a:t>
            </a:r>
            <a:r>
              <a:rPr lang="zh-CN" altLang="en-US" sz="2800" dirty="0">
                <a:solidFill>
                  <a:srgbClr val="4E8F00"/>
                </a:solidFill>
              </a:rPr>
              <a:t>的关键实践</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23</a:t>
            </a:fld>
            <a:endParaRPr lang="zh-CN" altLang="en-US"/>
          </a:p>
        </p:txBody>
      </p:sp>
      <p:sp>
        <p:nvSpPr>
          <p:cNvPr id="27" name="Rectangle 3">
            <a:extLst>
              <a:ext uri="{FF2B5EF4-FFF2-40B4-BE49-F238E27FC236}">
                <a16:creationId xmlns:a16="http://schemas.microsoft.com/office/drawing/2014/main" id="{B5005454-91B1-5240-A0BB-25FE17487ACE}"/>
              </a:ext>
            </a:extLst>
          </p:cNvPr>
          <p:cNvSpPr>
            <a:spLocks noGrp="1" noChangeArrowheads="1"/>
          </p:cNvSpPr>
          <p:nvPr>
            <p:ph idx="1"/>
          </p:nvPr>
        </p:nvSpPr>
        <p:spPr>
          <a:xfrm>
            <a:off x="741363" y="1294946"/>
            <a:ext cx="7726977" cy="4824413"/>
          </a:xfrm>
        </p:spPr>
        <p:txBody>
          <a:bodyPr>
            <a:noAutofit/>
          </a:bodyPr>
          <a:lstStyle/>
          <a:p>
            <a:pPr>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1.</a:t>
            </a:r>
            <a:r>
              <a:rPr lang="zh-CN" altLang="en-US" sz="1600" dirty="0">
                <a:solidFill>
                  <a:srgbClr val="C00000"/>
                </a:solidFill>
                <a:latin typeface="Microsoft YaHei" panose="020B0503020204020204" pitchFamily="34" charset="-122"/>
                <a:ea typeface="Microsoft YaHei" panose="020B0503020204020204" pitchFamily="34" charset="-122"/>
              </a:rPr>
              <a:t> </a:t>
            </a:r>
            <a:r>
              <a:rPr lang="zh-CN" altLang="en-US" sz="1600" dirty="0">
                <a:solidFill>
                  <a:srgbClr val="C00000"/>
                </a:solidFill>
                <a:highlight>
                  <a:srgbClr val="FFFF00"/>
                </a:highlight>
                <a:latin typeface="Microsoft YaHei" panose="020B0503020204020204" pitchFamily="34" charset="-122"/>
                <a:ea typeface="Microsoft YaHei" panose="020B0503020204020204" pitchFamily="34" charset="-122"/>
              </a:rPr>
              <a:t>完整团队 </a:t>
            </a:r>
            <a:endParaRPr lang="en-US" altLang="zh-CN" sz="1600" dirty="0">
              <a:solidFill>
                <a:srgbClr val="C00000"/>
              </a:solidFill>
              <a:highlight>
                <a:srgbClr val="FFFF00"/>
              </a:highlight>
              <a:latin typeface="Microsoft YaHei" panose="020B0503020204020204" pitchFamily="34" charset="-122"/>
              <a:ea typeface="Microsoft YaHei" panose="020B0503020204020204" pitchFamily="34" charset="-122"/>
            </a:endParaRPr>
          </a:p>
          <a:p>
            <a:pPr marL="512762" indent="-285750">
              <a:lnSpc>
                <a:spcPct val="120000"/>
              </a:lnSpc>
              <a:buSzPct val="100000"/>
              <a:buFontTx/>
              <a:buChar char="-"/>
            </a:pPr>
            <a:r>
              <a:rPr lang="en-US" altLang="zh-CN" sz="1600" b="1" dirty="0">
                <a:latin typeface="Kaiti SC" panose="02010600040101010101" pitchFamily="2" charset="-122"/>
                <a:ea typeface="Kaiti SC" panose="02010600040101010101" pitchFamily="2" charset="-122"/>
              </a:rPr>
              <a:t>XP</a:t>
            </a:r>
            <a:r>
              <a:rPr lang="zh-CN" altLang="en-US" sz="1600" b="1" dirty="0">
                <a:latin typeface="Kaiti SC" panose="02010600040101010101" pitchFamily="2" charset="-122"/>
                <a:ea typeface="Kaiti SC" panose="02010600040101010101" pitchFamily="2" charset="-122"/>
              </a:rPr>
              <a:t>项目的所有参与者（开发人员、客户、测试人员等）一起工作在一个开放的场所中，他们是同一个团队的成员。这个场所的墙壁上悬挂着大幅的、显著的图表以及其他一些显示他们进度的东西</a:t>
            </a:r>
            <a:endParaRPr lang="en-US" altLang="zh-CN" sz="1600" b="1" dirty="0">
              <a:latin typeface="Kaiti SC" panose="02010600040101010101" pitchFamily="2" charset="-122"/>
              <a:ea typeface="Kaiti SC" panose="02010600040101010101" pitchFamily="2" charset="-122"/>
            </a:endParaRPr>
          </a:p>
          <a:p>
            <a:pPr>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2.</a:t>
            </a:r>
            <a:r>
              <a:rPr lang="zh-CN" altLang="en-US" sz="1600" dirty="0">
                <a:solidFill>
                  <a:srgbClr val="C00000"/>
                </a:solidFill>
                <a:latin typeface="Microsoft YaHei" panose="020B0503020204020204" pitchFamily="34" charset="-122"/>
                <a:ea typeface="Microsoft YaHei" panose="020B0503020204020204" pitchFamily="34" charset="-122"/>
              </a:rPr>
              <a:t> 计划工作 </a:t>
            </a:r>
          </a:p>
          <a:p>
            <a:pPr marL="512762" lvl="1" indent="-285750">
              <a:lnSpc>
                <a:spcPct val="120000"/>
              </a:lnSpc>
              <a:spcBef>
                <a:spcPts val="825"/>
              </a:spcBef>
              <a:buSzPct val="100000"/>
              <a:buFontTx/>
              <a:buChar char="-"/>
            </a:pPr>
            <a:r>
              <a:rPr lang="zh-CN" altLang="en-US" sz="1600" b="1" dirty="0">
                <a:latin typeface="Kaiti SC" panose="02010600040101010101" pitchFamily="2" charset="-122"/>
                <a:ea typeface="Kaiti SC" panose="02010600040101010101" pitchFamily="2" charset="-122"/>
              </a:rPr>
              <a:t>计划是持续的、循序渐进的。每</a:t>
            </a:r>
            <a:r>
              <a:rPr lang="en-US" altLang="zh-CN" sz="1600" b="1" dirty="0">
                <a:latin typeface="Kaiti SC" panose="02010600040101010101" pitchFamily="2" charset="-122"/>
                <a:ea typeface="Kaiti SC" panose="02010600040101010101" pitchFamily="2" charset="-122"/>
              </a:rPr>
              <a:t>2</a:t>
            </a:r>
            <a:r>
              <a:rPr lang="zh-CN" altLang="en-US" sz="1600" b="1" dirty="0">
                <a:latin typeface="Kaiti SC" panose="02010600040101010101" pitchFamily="2" charset="-122"/>
                <a:ea typeface="Kaiti SC" panose="02010600040101010101" pitchFamily="2" charset="-122"/>
              </a:rPr>
              <a:t>周，开发人员就为下</a:t>
            </a:r>
            <a:r>
              <a:rPr lang="en-US" altLang="zh-CN" sz="1600" b="1" dirty="0">
                <a:latin typeface="Kaiti SC" panose="02010600040101010101" pitchFamily="2" charset="-122"/>
                <a:ea typeface="Kaiti SC" panose="02010600040101010101" pitchFamily="2" charset="-122"/>
              </a:rPr>
              <a:t>2</a:t>
            </a:r>
            <a:r>
              <a:rPr lang="zh-CN" altLang="en-US" sz="1600" b="1" dirty="0">
                <a:latin typeface="Kaiti SC" panose="02010600040101010101" pitchFamily="2" charset="-122"/>
                <a:ea typeface="Kaiti SC" panose="02010600040101010101" pitchFamily="2" charset="-122"/>
              </a:rPr>
              <a:t>周估算候选特性的成本，而客户则根据成本和商务价值来选择要实现的特性</a:t>
            </a:r>
          </a:p>
          <a:p>
            <a:pPr>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3.</a:t>
            </a:r>
            <a:r>
              <a:rPr lang="zh-CN" altLang="en-US" sz="1600" dirty="0">
                <a:solidFill>
                  <a:srgbClr val="C00000"/>
                </a:solidFill>
                <a:latin typeface="Microsoft YaHei" panose="020B0503020204020204" pitchFamily="34" charset="-122"/>
                <a:ea typeface="Microsoft YaHei" panose="020B0503020204020204" pitchFamily="34" charset="-122"/>
              </a:rPr>
              <a:t> </a:t>
            </a:r>
            <a:r>
              <a:rPr lang="zh-CN" altLang="en-US" sz="1600" dirty="0">
                <a:solidFill>
                  <a:srgbClr val="C00000"/>
                </a:solidFill>
                <a:highlight>
                  <a:srgbClr val="FFFF00"/>
                </a:highlight>
                <a:latin typeface="Microsoft YaHei" panose="020B0503020204020204" pitchFamily="34" charset="-122"/>
                <a:ea typeface="Microsoft YaHei" panose="020B0503020204020204" pitchFamily="34" charset="-122"/>
              </a:rPr>
              <a:t>客户测试 </a:t>
            </a:r>
          </a:p>
          <a:p>
            <a:pPr marL="512762" indent="-285750">
              <a:spcBef>
                <a:spcPts val="600"/>
              </a:spcBef>
              <a:buFontTx/>
              <a:buChar char="-"/>
            </a:pPr>
            <a:r>
              <a:rPr lang="zh-CN" altLang="en-US" sz="1600" b="1" dirty="0">
                <a:latin typeface="Kaiti SC" panose="02010600040101010101" pitchFamily="2" charset="-122"/>
                <a:ea typeface="Kaiti SC" panose="02010600040101010101" pitchFamily="2" charset="-122"/>
              </a:rPr>
              <a:t>作为选择每个所期望特性的一部分，客户可以根据脚本语言，来定义出验收测试，来表明该特性可以工作</a:t>
            </a:r>
          </a:p>
          <a:p>
            <a:pPr>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4.</a:t>
            </a:r>
            <a:r>
              <a:rPr lang="zh-CN" altLang="en-US" sz="1600" dirty="0">
                <a:solidFill>
                  <a:srgbClr val="C00000"/>
                </a:solidFill>
                <a:latin typeface="Microsoft YaHei" panose="020B0503020204020204" pitchFamily="34" charset="-122"/>
                <a:ea typeface="Microsoft YaHei" panose="020B0503020204020204" pitchFamily="34" charset="-122"/>
              </a:rPr>
              <a:t> 简单设计 </a:t>
            </a:r>
          </a:p>
          <a:p>
            <a:pPr marL="512762" indent="-285750">
              <a:spcBef>
                <a:spcPts val="600"/>
              </a:spcBef>
              <a:buFontTx/>
              <a:buChar char="-"/>
            </a:pPr>
            <a:r>
              <a:rPr lang="zh-CN" altLang="en-US" sz="1600" b="1" dirty="0">
                <a:latin typeface="Kaiti SC" panose="02010600040101010101" pitchFamily="2" charset="-122"/>
                <a:ea typeface="Kaiti SC" panose="02010600040101010101" pitchFamily="2" charset="-122"/>
              </a:rPr>
              <a:t>团队保持设计恰好和当前的系统功能相匹配。它通过了所有的测试，不包含任何重复，表达出了编写者想表达的所有东西，并且包含尽可能少的代码</a:t>
            </a:r>
            <a:endParaRPr lang="en-US" altLang="zh-CN" sz="1600" b="1" dirty="0">
              <a:latin typeface="Kaiti SC" panose="02010600040101010101" pitchFamily="2" charset="-122"/>
              <a:ea typeface="Kaiti SC" panose="02010600040101010101" pitchFamily="2" charset="-122"/>
            </a:endParaRPr>
          </a:p>
        </p:txBody>
      </p:sp>
    </p:spTree>
    <p:extLst>
      <p:ext uri="{BB962C8B-B14F-4D97-AF65-F5344CB8AC3E}">
        <p14:creationId xmlns:p14="http://schemas.microsoft.com/office/powerpoint/2010/main" val="375232149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XP</a:t>
            </a:r>
            <a:r>
              <a:rPr lang="zh-CN" altLang="en-US" sz="2800" dirty="0">
                <a:solidFill>
                  <a:srgbClr val="4E8F00"/>
                </a:solidFill>
              </a:rPr>
              <a:t>的关键实践</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24</a:t>
            </a:fld>
            <a:endParaRPr lang="zh-CN" altLang="en-US"/>
          </a:p>
        </p:txBody>
      </p:sp>
      <p:sp>
        <p:nvSpPr>
          <p:cNvPr id="27" name="Rectangle 3">
            <a:extLst>
              <a:ext uri="{FF2B5EF4-FFF2-40B4-BE49-F238E27FC236}">
                <a16:creationId xmlns:a16="http://schemas.microsoft.com/office/drawing/2014/main" id="{B5005454-91B1-5240-A0BB-25FE17487ACE}"/>
              </a:ext>
            </a:extLst>
          </p:cNvPr>
          <p:cNvSpPr>
            <a:spLocks noGrp="1" noChangeArrowheads="1"/>
          </p:cNvSpPr>
          <p:nvPr>
            <p:ph idx="1"/>
          </p:nvPr>
        </p:nvSpPr>
        <p:spPr>
          <a:xfrm>
            <a:off x="741363" y="1294946"/>
            <a:ext cx="7726977" cy="4824413"/>
          </a:xfrm>
        </p:spPr>
        <p:txBody>
          <a:bodyPr>
            <a:noAutofit/>
          </a:bodyPr>
          <a:lstStyle/>
          <a:p>
            <a:pPr>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5.</a:t>
            </a:r>
            <a:r>
              <a:rPr lang="zh-CN" altLang="en-US" sz="1600" dirty="0">
                <a:solidFill>
                  <a:srgbClr val="C00000"/>
                </a:solidFill>
                <a:latin typeface="Microsoft YaHei" panose="020B0503020204020204" pitchFamily="34" charset="-122"/>
                <a:ea typeface="Microsoft YaHei" panose="020B0503020204020204" pitchFamily="34" charset="-122"/>
              </a:rPr>
              <a:t> </a:t>
            </a:r>
            <a:r>
              <a:rPr lang="zh-CN" altLang="en-US" sz="1600" dirty="0">
                <a:solidFill>
                  <a:srgbClr val="C00000"/>
                </a:solidFill>
                <a:highlight>
                  <a:srgbClr val="FFFF00"/>
                </a:highlight>
                <a:latin typeface="Microsoft YaHei" panose="020B0503020204020204" pitchFamily="34" charset="-122"/>
                <a:ea typeface="Microsoft YaHei" panose="020B0503020204020204" pitchFamily="34" charset="-122"/>
              </a:rPr>
              <a:t>配对编程</a:t>
            </a:r>
            <a:r>
              <a:rPr lang="zh-CN" altLang="en-US" sz="1600" dirty="0">
                <a:solidFill>
                  <a:srgbClr val="C00000"/>
                </a:solidFill>
                <a:latin typeface="Microsoft YaHei" panose="020B0503020204020204" pitchFamily="34" charset="-122"/>
                <a:ea typeface="Microsoft YaHei" panose="020B0503020204020204" pitchFamily="34" charset="-122"/>
              </a:rPr>
              <a:t>（</a:t>
            </a:r>
            <a:r>
              <a:rPr lang="en-US" altLang="zh-CN" sz="1600" dirty="0">
                <a:solidFill>
                  <a:srgbClr val="C00000"/>
                </a:solidFill>
                <a:latin typeface="Microsoft YaHei" panose="020B0503020204020204" pitchFamily="34" charset="-122"/>
                <a:ea typeface="Microsoft YaHei" panose="020B0503020204020204" pitchFamily="34" charset="-122"/>
              </a:rPr>
              <a:t>pair programming</a:t>
            </a:r>
            <a:r>
              <a:rPr lang="zh-CN" altLang="en-US" sz="1600" dirty="0">
                <a:solidFill>
                  <a:srgbClr val="C00000"/>
                </a:solidFill>
                <a:latin typeface="Microsoft YaHei" panose="020B0503020204020204" pitchFamily="34" charset="-122"/>
                <a:ea typeface="Microsoft YaHei" panose="020B0503020204020204" pitchFamily="34" charset="-122"/>
              </a:rPr>
              <a:t>） </a:t>
            </a:r>
            <a:endParaRPr lang="en-US" altLang="zh-CN" sz="1600" dirty="0">
              <a:solidFill>
                <a:srgbClr val="C00000"/>
              </a:solidFill>
              <a:latin typeface="Microsoft YaHei" panose="020B0503020204020204" pitchFamily="34" charset="-122"/>
              <a:ea typeface="Microsoft YaHei" panose="020B0503020204020204" pitchFamily="34" charset="-122"/>
            </a:endParaRPr>
          </a:p>
          <a:p>
            <a:pPr marL="512762" indent="-285750">
              <a:lnSpc>
                <a:spcPct val="120000"/>
              </a:lnSpc>
              <a:buSzPct val="100000"/>
              <a:buFontTx/>
              <a:buChar char="-"/>
            </a:pPr>
            <a:r>
              <a:rPr lang="zh-CN" altLang="en-US" sz="1600" b="1" dirty="0">
                <a:latin typeface="Kaiti SC" panose="02010600040101010101" pitchFamily="2" charset="-122"/>
                <a:ea typeface="Kaiti SC" panose="02010600040101010101" pitchFamily="2" charset="-122"/>
              </a:rPr>
              <a:t>开发人员每两人一组编写所有的代码，其中一人担当“驱动者（</a:t>
            </a:r>
            <a:r>
              <a:rPr lang="en-US" altLang="zh-CN" sz="1600" b="1" dirty="0">
                <a:latin typeface="Kaiti SC" panose="02010600040101010101" pitchFamily="2" charset="-122"/>
                <a:ea typeface="Kaiti SC" panose="02010600040101010101" pitchFamily="2" charset="-122"/>
              </a:rPr>
              <a:t>driver</a:t>
            </a:r>
            <a:r>
              <a:rPr lang="zh-CN" altLang="en-US" sz="1600" b="1" dirty="0">
                <a:latin typeface="Kaiti SC" panose="02010600040101010101" pitchFamily="2" charset="-122"/>
                <a:ea typeface="Kaiti SC" panose="02010600040101010101" pitchFamily="2" charset="-122"/>
              </a:rPr>
              <a:t>）”（负责操作鼠标和键盘），而另一个人同驱动者一道解决问题和规划更大的图景</a:t>
            </a:r>
            <a:endParaRPr lang="en-US" altLang="zh-CN" sz="1600" b="1" dirty="0">
              <a:latin typeface="Kaiti SC" panose="02010600040101010101" pitchFamily="2" charset="-122"/>
              <a:ea typeface="Kaiti SC" panose="02010600040101010101" pitchFamily="2" charset="-122"/>
            </a:endParaRPr>
          </a:p>
          <a:p>
            <a:pPr marL="512762" indent="-285750">
              <a:lnSpc>
                <a:spcPct val="120000"/>
              </a:lnSpc>
              <a:buSzPct val="100000"/>
              <a:buFontTx/>
              <a:buChar char="-"/>
            </a:pPr>
            <a:r>
              <a:rPr lang="zh-CN" altLang="en-US" sz="1600" b="1" dirty="0">
                <a:latin typeface="Kaiti SC" panose="02010600040101010101" pitchFamily="2" charset="-122"/>
                <a:ea typeface="Kaiti SC" panose="02010600040101010101" pitchFamily="2" charset="-122"/>
              </a:rPr>
              <a:t>配对让你能够实现眼前的目标，同时确保不会忽略项目的整体目标。它会保证有人在考虑下一步的走向和下一个要解决的问题。</a:t>
            </a:r>
            <a:endParaRPr lang="en-US" altLang="zh-CN" sz="1600" b="1" dirty="0">
              <a:latin typeface="Kaiti SC" panose="02010600040101010101" pitchFamily="2" charset="-122"/>
              <a:ea typeface="Kaiti SC" panose="02010600040101010101" pitchFamily="2" charset="-122"/>
            </a:endParaRPr>
          </a:p>
          <a:p>
            <a:pPr marL="512762" indent="-285750">
              <a:lnSpc>
                <a:spcPct val="120000"/>
              </a:lnSpc>
              <a:buSzPct val="100000"/>
              <a:buFontTx/>
              <a:buChar char="-"/>
            </a:pPr>
            <a:r>
              <a:rPr lang="zh-CN" altLang="en-US" sz="1600" b="1" dirty="0">
                <a:latin typeface="Kaiti SC" panose="02010600040101010101" pitchFamily="2" charset="-122"/>
                <a:ea typeface="Kaiti SC" panose="02010600040101010101" pitchFamily="2" charset="-122"/>
              </a:rPr>
              <a:t>研究表明：从质量和增加的生产效率的角度来看，配对编程远远超过了开发人员单独工作的质量和效率 </a:t>
            </a:r>
            <a:endParaRPr lang="en-US" altLang="zh-CN" sz="1600" b="1" dirty="0">
              <a:latin typeface="Kaiti SC" panose="02010600040101010101" pitchFamily="2" charset="-122"/>
              <a:ea typeface="Kaiti SC" panose="02010600040101010101" pitchFamily="2" charset="-122"/>
            </a:endParaRPr>
          </a:p>
          <a:p>
            <a:pPr>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6.</a:t>
            </a:r>
            <a:r>
              <a:rPr lang="zh-CN" altLang="en-US" sz="1600" dirty="0">
                <a:solidFill>
                  <a:srgbClr val="C00000"/>
                </a:solidFill>
                <a:latin typeface="Microsoft YaHei" panose="020B0503020204020204" pitchFamily="34" charset="-122"/>
                <a:ea typeface="Microsoft YaHei" panose="020B0503020204020204" pitchFamily="34" charset="-122"/>
              </a:rPr>
              <a:t> 测试驱动开发 </a:t>
            </a:r>
            <a:endParaRPr lang="en-US" altLang="zh-CN" sz="1600" dirty="0">
              <a:solidFill>
                <a:srgbClr val="C00000"/>
              </a:solidFill>
              <a:latin typeface="Microsoft YaHei" panose="020B0503020204020204" pitchFamily="34" charset="-122"/>
              <a:ea typeface="Microsoft YaHei" panose="020B0503020204020204" pitchFamily="34" charset="-122"/>
            </a:endParaRPr>
          </a:p>
          <a:p>
            <a:pPr marL="512762" indent="-285750">
              <a:lnSpc>
                <a:spcPct val="120000"/>
              </a:lnSpc>
              <a:buSzPct val="100000"/>
              <a:buFontTx/>
              <a:buChar char="-"/>
            </a:pPr>
            <a:r>
              <a:rPr lang="zh-CN" altLang="en-US" sz="1600" b="1" dirty="0">
                <a:latin typeface="Kaiti SC" panose="02010600040101010101" pitchFamily="2" charset="-122"/>
                <a:ea typeface="Kaiti SC" panose="02010600040101010101" pitchFamily="2" charset="-122"/>
              </a:rPr>
              <a:t>编写单元测试是一个验证行为，更是一个设计行为。同样，它更是一种编写文档的行为。编写单元测试避免了相当数量的反馈循环，尤其是功能验证方面的反馈循环</a:t>
            </a:r>
            <a:endParaRPr lang="en-US" altLang="zh-CN" sz="1600" b="1" dirty="0">
              <a:latin typeface="Kaiti SC" panose="02010600040101010101" pitchFamily="2" charset="-122"/>
              <a:ea typeface="Kaiti SC" panose="02010600040101010101" pitchFamily="2" charset="-122"/>
            </a:endParaRPr>
          </a:p>
          <a:p>
            <a:pPr>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7.</a:t>
            </a:r>
            <a:r>
              <a:rPr lang="zh-CN" altLang="en-US" sz="1600" dirty="0">
                <a:solidFill>
                  <a:srgbClr val="C00000"/>
                </a:solidFill>
                <a:latin typeface="Microsoft YaHei" panose="020B0503020204020204" pitchFamily="34" charset="-122"/>
                <a:ea typeface="Microsoft YaHei" panose="020B0503020204020204" pitchFamily="34" charset="-122"/>
              </a:rPr>
              <a:t> 改进设计 </a:t>
            </a:r>
          </a:p>
          <a:p>
            <a:pPr marL="512762" indent="-285750">
              <a:lnSpc>
                <a:spcPct val="120000"/>
              </a:lnSpc>
              <a:buSzPct val="100000"/>
              <a:buFontTx/>
              <a:buChar char="-"/>
            </a:pPr>
            <a:r>
              <a:rPr lang="zh-CN" altLang="en-US" sz="1600" b="1" dirty="0">
                <a:latin typeface="Kaiti SC" panose="02010600040101010101" pitchFamily="2" charset="-122"/>
                <a:ea typeface="Kaiti SC" panose="02010600040101010101" pitchFamily="2" charset="-122"/>
              </a:rPr>
              <a:t>随时利用重构方法改进已经腐化的代码，保持代码尽可能的干净、具有表达力。 </a:t>
            </a:r>
          </a:p>
          <a:p>
            <a:pPr marL="227012">
              <a:lnSpc>
                <a:spcPct val="120000"/>
              </a:lnSpc>
              <a:buSzPct val="100000"/>
            </a:pPr>
            <a:endParaRPr lang="en-US" altLang="zh-CN" sz="1600" b="1" dirty="0">
              <a:latin typeface="Kaiti SC" panose="02010600040101010101" pitchFamily="2" charset="-122"/>
              <a:ea typeface="Kaiti SC" panose="02010600040101010101" pitchFamily="2" charset="-122"/>
            </a:endParaRPr>
          </a:p>
        </p:txBody>
      </p:sp>
    </p:spTree>
    <p:extLst>
      <p:ext uri="{BB962C8B-B14F-4D97-AF65-F5344CB8AC3E}">
        <p14:creationId xmlns:p14="http://schemas.microsoft.com/office/powerpoint/2010/main" val="401914765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XP</a:t>
            </a:r>
            <a:r>
              <a:rPr lang="zh-CN" altLang="en-US" sz="2800" dirty="0">
                <a:solidFill>
                  <a:srgbClr val="4E8F00"/>
                </a:solidFill>
              </a:rPr>
              <a:t>的关键实践</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25</a:t>
            </a:fld>
            <a:endParaRPr lang="zh-CN" altLang="en-US"/>
          </a:p>
        </p:txBody>
      </p:sp>
      <p:sp>
        <p:nvSpPr>
          <p:cNvPr id="27" name="Rectangle 3">
            <a:extLst>
              <a:ext uri="{FF2B5EF4-FFF2-40B4-BE49-F238E27FC236}">
                <a16:creationId xmlns:a16="http://schemas.microsoft.com/office/drawing/2014/main" id="{B5005454-91B1-5240-A0BB-25FE17487ACE}"/>
              </a:ext>
            </a:extLst>
          </p:cNvPr>
          <p:cNvSpPr>
            <a:spLocks noGrp="1" noChangeArrowheads="1"/>
          </p:cNvSpPr>
          <p:nvPr>
            <p:ph idx="1"/>
          </p:nvPr>
        </p:nvSpPr>
        <p:spPr>
          <a:xfrm>
            <a:off x="741363" y="1294946"/>
            <a:ext cx="7726977" cy="5448754"/>
          </a:xfrm>
        </p:spPr>
        <p:txBody>
          <a:bodyPr>
            <a:noAutofit/>
          </a:bodyPr>
          <a:lstStyle/>
          <a:p>
            <a:pPr>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8.</a:t>
            </a:r>
            <a:r>
              <a:rPr lang="zh-CN" altLang="en-US" sz="1600" dirty="0">
                <a:solidFill>
                  <a:srgbClr val="C00000"/>
                </a:solidFill>
                <a:latin typeface="Microsoft YaHei" panose="020B0503020204020204" pitchFamily="34" charset="-122"/>
                <a:ea typeface="Microsoft YaHei" panose="020B0503020204020204" pitchFamily="34" charset="-122"/>
              </a:rPr>
              <a:t> 持续集成 </a:t>
            </a:r>
          </a:p>
          <a:p>
            <a:pPr marL="512762" indent="-285750">
              <a:lnSpc>
                <a:spcPct val="120000"/>
              </a:lnSpc>
              <a:buSzPct val="100000"/>
              <a:buFontTx/>
              <a:buChar char="-"/>
            </a:pPr>
            <a:r>
              <a:rPr lang="zh-CN" altLang="en-US" sz="1600" b="1" dirty="0">
                <a:latin typeface="Kaiti SC" panose="02010600040101010101" pitchFamily="2" charset="-122"/>
                <a:ea typeface="Kaiti SC" panose="02010600040101010101" pitchFamily="2" charset="-122"/>
              </a:rPr>
              <a:t>团队总是使系统完整地被集成。</a:t>
            </a:r>
            <a:endParaRPr lang="en-US" altLang="zh-CN" sz="1600" b="1" dirty="0">
              <a:latin typeface="Kaiti SC" panose="02010600040101010101" pitchFamily="2" charset="-122"/>
              <a:ea typeface="Kaiti SC" panose="02010600040101010101" pitchFamily="2" charset="-122"/>
            </a:endParaRPr>
          </a:p>
          <a:p>
            <a:pPr>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9.</a:t>
            </a:r>
            <a:r>
              <a:rPr lang="zh-CN" altLang="en-US" sz="1600" dirty="0">
                <a:solidFill>
                  <a:srgbClr val="C00000"/>
                </a:solidFill>
                <a:latin typeface="Microsoft YaHei" panose="020B0503020204020204" pitchFamily="34" charset="-122"/>
                <a:ea typeface="Microsoft YaHei" panose="020B0503020204020204" pitchFamily="34" charset="-122"/>
              </a:rPr>
              <a:t> 集体代码所有权 </a:t>
            </a:r>
          </a:p>
          <a:p>
            <a:pPr marL="512762" indent="-285750">
              <a:lnSpc>
                <a:spcPct val="120000"/>
              </a:lnSpc>
              <a:buSzPct val="100000"/>
              <a:buFontTx/>
              <a:buChar char="-"/>
            </a:pPr>
            <a:r>
              <a:rPr lang="zh-CN" altLang="en-US" sz="1600" b="1" dirty="0">
                <a:latin typeface="Kaiti SC" panose="02010600040101010101" pitchFamily="2" charset="-122"/>
                <a:ea typeface="Kaiti SC" panose="02010600040101010101" pitchFamily="2" charset="-122"/>
              </a:rPr>
              <a:t>任何配对的程序员都可以在任何时候改进任何代码。没有程序员对任何一个特定的模块或技术单独负责，每个人都可以参与任何其它方面的开发。 </a:t>
            </a:r>
          </a:p>
          <a:p>
            <a:pPr>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10.</a:t>
            </a:r>
            <a:r>
              <a:rPr lang="zh-CN" altLang="en-US" sz="1600" dirty="0">
                <a:solidFill>
                  <a:srgbClr val="C00000"/>
                </a:solidFill>
                <a:latin typeface="Microsoft YaHei" panose="020B0503020204020204" pitchFamily="34" charset="-122"/>
                <a:ea typeface="Microsoft YaHei" panose="020B0503020204020204" pitchFamily="34" charset="-122"/>
              </a:rPr>
              <a:t> 编码标准 </a:t>
            </a:r>
          </a:p>
          <a:p>
            <a:pPr marL="512762" indent="-285750">
              <a:lnSpc>
                <a:spcPct val="120000"/>
              </a:lnSpc>
              <a:buSzPct val="100000"/>
              <a:buFontTx/>
              <a:buChar char="-"/>
            </a:pPr>
            <a:r>
              <a:rPr lang="zh-CN" altLang="en-US" sz="1600" b="1" dirty="0">
                <a:latin typeface="Kaiti SC" panose="02010600040101010101" pitchFamily="2" charset="-122"/>
                <a:ea typeface="Kaiti SC" panose="02010600040101010101" pitchFamily="2" charset="-122"/>
              </a:rPr>
              <a:t>系统中所有的代码看起来就好像是被单独一人编写的。 </a:t>
            </a:r>
            <a:endParaRPr lang="en-US" altLang="zh-CN" sz="1600" b="1" dirty="0">
              <a:latin typeface="Kaiti SC" panose="02010600040101010101" pitchFamily="2" charset="-122"/>
              <a:ea typeface="Kaiti SC" panose="02010600040101010101" pitchFamily="2" charset="-122"/>
            </a:endParaRPr>
          </a:p>
          <a:p>
            <a:pPr>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11.</a:t>
            </a:r>
            <a:r>
              <a:rPr lang="zh-CN" altLang="en-US" sz="1600" dirty="0">
                <a:solidFill>
                  <a:srgbClr val="C00000"/>
                </a:solidFill>
                <a:latin typeface="Microsoft YaHei" panose="020B0503020204020204" pitchFamily="34" charset="-122"/>
                <a:ea typeface="Microsoft YaHei" panose="020B0503020204020204" pitchFamily="34" charset="-122"/>
              </a:rPr>
              <a:t> 隐喻（直观形象）</a:t>
            </a:r>
          </a:p>
          <a:p>
            <a:pPr marL="512762" indent="-285750">
              <a:lnSpc>
                <a:spcPct val="120000"/>
              </a:lnSpc>
              <a:buSzPct val="100000"/>
              <a:buFontTx/>
              <a:buChar char="-"/>
            </a:pPr>
            <a:r>
              <a:rPr lang="zh-CN" altLang="en-US" sz="1600" b="1" dirty="0">
                <a:latin typeface="Kaiti SC" panose="02010600040101010101" pitchFamily="2" charset="-122"/>
                <a:ea typeface="Kaiti SC" panose="02010600040101010101" pitchFamily="2" charset="-122"/>
              </a:rPr>
              <a:t>隐喻是系统的未来影像，是它使得所有单独模块的位置和外观变得直观的表示。</a:t>
            </a:r>
          </a:p>
          <a:p>
            <a:pPr>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12.</a:t>
            </a:r>
            <a:r>
              <a:rPr lang="zh-CN" altLang="en-US" sz="1600" dirty="0">
                <a:solidFill>
                  <a:srgbClr val="C00000"/>
                </a:solidFill>
                <a:latin typeface="Microsoft YaHei" panose="020B0503020204020204" pitchFamily="34" charset="-122"/>
                <a:ea typeface="Microsoft YaHei" panose="020B0503020204020204" pitchFamily="34" charset="-122"/>
              </a:rPr>
              <a:t> 可持续的速度 </a:t>
            </a:r>
          </a:p>
          <a:p>
            <a:pPr marL="512762" indent="-285750">
              <a:lnSpc>
                <a:spcPct val="120000"/>
              </a:lnSpc>
              <a:buSzPct val="100000"/>
              <a:buFontTx/>
              <a:buChar char="-"/>
            </a:pPr>
            <a:r>
              <a:rPr lang="zh-CN" altLang="en-US" sz="1600" b="1" dirty="0">
                <a:latin typeface="Kaiti SC" panose="02010600040101010101" pitchFamily="2" charset="-122"/>
                <a:ea typeface="Kaiti SC" panose="02010600040101010101" pitchFamily="2" charset="-122"/>
              </a:rPr>
              <a:t>团队只有持久才有获胜的希望。他们以能够长期维持的速度努力工作，他们保存精力，他们把项目看作是马拉松长跑，而不是全速短跑。 </a:t>
            </a:r>
            <a:endParaRPr lang="en-US" altLang="zh-CN" sz="1600" b="1" dirty="0">
              <a:latin typeface="Kaiti SC" panose="02010600040101010101" pitchFamily="2" charset="-122"/>
              <a:ea typeface="Kaiti SC" panose="02010600040101010101" pitchFamily="2" charset="-122"/>
            </a:endParaRPr>
          </a:p>
          <a:p>
            <a:pPr>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13.</a:t>
            </a:r>
            <a:r>
              <a:rPr lang="zh-CN" altLang="en-US" sz="1600" dirty="0">
                <a:solidFill>
                  <a:srgbClr val="C00000"/>
                </a:solidFill>
                <a:latin typeface="Microsoft YaHei" panose="020B0503020204020204" pitchFamily="34" charset="-122"/>
                <a:ea typeface="Microsoft YaHei" panose="020B0503020204020204" pitchFamily="34" charset="-122"/>
              </a:rPr>
              <a:t> 小规模发布</a:t>
            </a:r>
          </a:p>
          <a:p>
            <a:pPr marL="512762" indent="-285750">
              <a:lnSpc>
                <a:spcPct val="120000"/>
              </a:lnSpc>
              <a:buSzPct val="100000"/>
              <a:buFontTx/>
              <a:buChar char="-"/>
            </a:pPr>
            <a:r>
              <a:rPr lang="zh-CN" altLang="en-US" sz="1600" b="1" dirty="0">
                <a:latin typeface="Kaiti SC" panose="02010600040101010101" pitchFamily="2" charset="-122"/>
                <a:ea typeface="Kaiti SC" panose="02010600040101010101" pitchFamily="2" charset="-122"/>
              </a:rPr>
              <a:t>源码、库文件等的发布。</a:t>
            </a:r>
          </a:p>
          <a:p>
            <a:pPr marL="227012">
              <a:lnSpc>
                <a:spcPct val="120000"/>
              </a:lnSpc>
              <a:buSzPct val="100000"/>
            </a:pPr>
            <a:endParaRPr lang="zh-CN" altLang="en-US" sz="1600" b="1" dirty="0">
              <a:latin typeface="Kaiti SC" panose="02010600040101010101" pitchFamily="2" charset="-122"/>
              <a:ea typeface="Kaiti SC" panose="02010600040101010101" pitchFamily="2" charset="-122"/>
            </a:endParaRPr>
          </a:p>
        </p:txBody>
      </p:sp>
    </p:spTree>
    <p:extLst>
      <p:ext uri="{BB962C8B-B14F-4D97-AF65-F5344CB8AC3E}">
        <p14:creationId xmlns:p14="http://schemas.microsoft.com/office/powerpoint/2010/main" val="160971356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XP</a:t>
            </a:r>
            <a:r>
              <a:rPr lang="zh-CN" altLang="en-US" sz="2800" dirty="0">
                <a:solidFill>
                  <a:srgbClr val="4E8F00"/>
                </a:solidFill>
              </a:rPr>
              <a:t>的关键实践</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26</a:t>
            </a:fld>
            <a:endParaRPr lang="zh-CN" altLang="en-US"/>
          </a:p>
        </p:txBody>
      </p:sp>
      <p:grpSp>
        <p:nvGrpSpPr>
          <p:cNvPr id="3" name="组合 2">
            <a:extLst>
              <a:ext uri="{FF2B5EF4-FFF2-40B4-BE49-F238E27FC236}">
                <a16:creationId xmlns:a16="http://schemas.microsoft.com/office/drawing/2014/main" id="{ACB07CE1-D476-E54C-A7C9-8AE77EF7FFE5}"/>
              </a:ext>
            </a:extLst>
          </p:cNvPr>
          <p:cNvGrpSpPr/>
          <p:nvPr/>
        </p:nvGrpSpPr>
        <p:grpSpPr>
          <a:xfrm>
            <a:off x="348606" y="1017629"/>
            <a:ext cx="8509594" cy="5100482"/>
            <a:chOff x="348606" y="1017629"/>
            <a:chExt cx="8509594" cy="5100482"/>
          </a:xfrm>
        </p:grpSpPr>
        <p:grpSp>
          <p:nvGrpSpPr>
            <p:cNvPr id="2" name="组合 1">
              <a:extLst>
                <a:ext uri="{FF2B5EF4-FFF2-40B4-BE49-F238E27FC236}">
                  <a16:creationId xmlns:a16="http://schemas.microsoft.com/office/drawing/2014/main" id="{63D1B9DB-7D63-6342-9A95-B8FD143CAF41}"/>
                </a:ext>
              </a:extLst>
            </p:cNvPr>
            <p:cNvGrpSpPr/>
            <p:nvPr/>
          </p:nvGrpSpPr>
          <p:grpSpPr>
            <a:xfrm>
              <a:off x="931940" y="1556060"/>
              <a:ext cx="7280120" cy="4513035"/>
              <a:chOff x="639762" y="1295173"/>
              <a:chExt cx="7956550" cy="4932362"/>
            </a:xfrm>
          </p:grpSpPr>
          <p:pic>
            <p:nvPicPr>
              <p:cNvPr id="8" name="Picture 3">
                <a:extLst>
                  <a:ext uri="{FF2B5EF4-FFF2-40B4-BE49-F238E27FC236}">
                    <a16:creationId xmlns:a16="http://schemas.microsoft.com/office/drawing/2014/main" id="{0AE026FE-5CA1-A044-97DB-166B3FDB8A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1360260"/>
                <a:ext cx="7391400" cy="482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4">
                <a:extLst>
                  <a:ext uri="{FF2B5EF4-FFF2-40B4-BE49-F238E27FC236}">
                    <a16:creationId xmlns:a16="http://schemas.microsoft.com/office/drawing/2014/main" id="{9594211A-0041-014F-ADC6-B5319034600B}"/>
                  </a:ext>
                </a:extLst>
              </p:cNvPr>
              <p:cNvSpPr txBox="1">
                <a:spLocks noChangeArrowheads="1"/>
              </p:cNvSpPr>
              <p:nvPr/>
            </p:nvSpPr>
            <p:spPr bwMode="gray">
              <a:xfrm>
                <a:off x="2901950" y="3454173"/>
                <a:ext cx="1403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01688" eaLnBrk="0" hangingPunct="0">
                  <a:defRPr sz="1400">
                    <a:solidFill>
                      <a:schemeClr val="tx1"/>
                    </a:solidFill>
                    <a:latin typeface="Arial" panose="020B0604020202020204" pitchFamily="34" charset="0"/>
                    <a:ea typeface="宋体" panose="02010600030101010101" pitchFamily="2" charset="-122"/>
                  </a:defRPr>
                </a:lvl1pPr>
                <a:lvl2pPr marL="742950" indent="-285750" defTabSz="801688" eaLnBrk="0" hangingPunct="0">
                  <a:defRPr sz="1400">
                    <a:solidFill>
                      <a:schemeClr val="tx1"/>
                    </a:solidFill>
                    <a:latin typeface="Arial" panose="020B0604020202020204" pitchFamily="34" charset="0"/>
                    <a:ea typeface="宋体" panose="02010600030101010101" pitchFamily="2" charset="-122"/>
                  </a:defRPr>
                </a:lvl2pPr>
                <a:lvl3pPr marL="1143000" indent="-228600" defTabSz="801688" eaLnBrk="0" hangingPunct="0">
                  <a:defRPr sz="1400">
                    <a:solidFill>
                      <a:schemeClr val="tx1"/>
                    </a:solidFill>
                    <a:latin typeface="Arial" panose="020B0604020202020204" pitchFamily="34" charset="0"/>
                    <a:ea typeface="宋体" panose="02010600030101010101" pitchFamily="2" charset="-122"/>
                  </a:defRPr>
                </a:lvl3pPr>
                <a:lvl4pPr marL="1600200" indent="-228600" defTabSz="801688" eaLnBrk="0" hangingPunct="0">
                  <a:defRPr sz="1400">
                    <a:solidFill>
                      <a:schemeClr val="tx1"/>
                    </a:solidFill>
                    <a:latin typeface="Arial" panose="020B0604020202020204" pitchFamily="34" charset="0"/>
                    <a:ea typeface="宋体" panose="02010600030101010101" pitchFamily="2" charset="-122"/>
                  </a:defRPr>
                </a:lvl4pPr>
                <a:lvl5pPr marL="2057400" indent="-228600" defTabSz="801688" eaLnBrk="0" hangingPunct="0">
                  <a:defRPr sz="1400">
                    <a:solidFill>
                      <a:schemeClr val="tx1"/>
                    </a:solidFill>
                    <a:latin typeface="Arial" panose="020B0604020202020204" pitchFamily="34" charset="0"/>
                    <a:ea typeface="宋体" panose="02010600030101010101" pitchFamily="2" charset="-122"/>
                  </a:defRPr>
                </a:lvl5pPr>
                <a:lvl6pPr marL="25146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solidFill>
                      <a:srgbClr val="000000"/>
                    </a:solidFill>
                    <a:latin typeface="FrutigerNext LT Regular"/>
                  </a:rPr>
                  <a:t>结对编程</a:t>
                </a:r>
              </a:p>
            </p:txBody>
          </p:sp>
          <p:sp>
            <p:nvSpPr>
              <p:cNvPr id="10" name="Text Box 5">
                <a:extLst>
                  <a:ext uri="{FF2B5EF4-FFF2-40B4-BE49-F238E27FC236}">
                    <a16:creationId xmlns:a16="http://schemas.microsoft.com/office/drawing/2014/main" id="{2E17732C-BF69-9C4B-8FF4-2823D323827A}"/>
                  </a:ext>
                </a:extLst>
              </p:cNvPr>
              <p:cNvSpPr txBox="1">
                <a:spLocks noChangeArrowheads="1"/>
              </p:cNvSpPr>
              <p:nvPr/>
            </p:nvSpPr>
            <p:spPr bwMode="gray">
              <a:xfrm>
                <a:off x="3838575" y="2938235"/>
                <a:ext cx="17938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01688" eaLnBrk="0" hangingPunct="0">
                  <a:defRPr sz="1400">
                    <a:solidFill>
                      <a:schemeClr val="tx1"/>
                    </a:solidFill>
                    <a:latin typeface="Arial" panose="020B0604020202020204" pitchFamily="34" charset="0"/>
                    <a:ea typeface="宋体" panose="02010600030101010101" pitchFamily="2" charset="-122"/>
                  </a:defRPr>
                </a:lvl1pPr>
                <a:lvl2pPr marL="742950" indent="-285750" defTabSz="801688" eaLnBrk="0" hangingPunct="0">
                  <a:defRPr sz="1400">
                    <a:solidFill>
                      <a:schemeClr val="tx1"/>
                    </a:solidFill>
                    <a:latin typeface="Arial" panose="020B0604020202020204" pitchFamily="34" charset="0"/>
                    <a:ea typeface="宋体" panose="02010600030101010101" pitchFamily="2" charset="-122"/>
                  </a:defRPr>
                </a:lvl2pPr>
                <a:lvl3pPr marL="1143000" indent="-228600" defTabSz="801688" eaLnBrk="0" hangingPunct="0">
                  <a:defRPr sz="1400">
                    <a:solidFill>
                      <a:schemeClr val="tx1"/>
                    </a:solidFill>
                    <a:latin typeface="Arial" panose="020B0604020202020204" pitchFamily="34" charset="0"/>
                    <a:ea typeface="宋体" panose="02010600030101010101" pitchFamily="2" charset="-122"/>
                  </a:defRPr>
                </a:lvl3pPr>
                <a:lvl4pPr marL="1600200" indent="-228600" defTabSz="801688" eaLnBrk="0" hangingPunct="0">
                  <a:defRPr sz="1400">
                    <a:solidFill>
                      <a:schemeClr val="tx1"/>
                    </a:solidFill>
                    <a:latin typeface="Arial" panose="020B0604020202020204" pitchFamily="34" charset="0"/>
                    <a:ea typeface="宋体" panose="02010600030101010101" pitchFamily="2" charset="-122"/>
                  </a:defRPr>
                </a:lvl4pPr>
                <a:lvl5pPr marL="2057400" indent="-228600" defTabSz="801688" eaLnBrk="0" hangingPunct="0">
                  <a:defRPr sz="1400">
                    <a:solidFill>
                      <a:schemeClr val="tx1"/>
                    </a:solidFill>
                    <a:latin typeface="Arial" panose="020B0604020202020204" pitchFamily="34" charset="0"/>
                    <a:ea typeface="宋体" panose="02010600030101010101" pitchFamily="2" charset="-122"/>
                  </a:defRPr>
                </a:lvl5pPr>
                <a:lvl6pPr marL="25146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solidFill>
                      <a:srgbClr val="000000"/>
                    </a:solidFill>
                    <a:latin typeface="FrutigerNext LT Regular"/>
                  </a:rPr>
                  <a:t>测试驱动开发</a:t>
                </a:r>
              </a:p>
            </p:txBody>
          </p:sp>
          <p:sp>
            <p:nvSpPr>
              <p:cNvPr id="11" name="Text Box 6">
                <a:extLst>
                  <a:ext uri="{FF2B5EF4-FFF2-40B4-BE49-F238E27FC236}">
                    <a16:creationId xmlns:a16="http://schemas.microsoft.com/office/drawing/2014/main" id="{60E75DC3-5B55-5B4F-B62A-B7FF88B7BBD5}"/>
                  </a:ext>
                </a:extLst>
              </p:cNvPr>
              <p:cNvSpPr txBox="1">
                <a:spLocks noChangeArrowheads="1"/>
              </p:cNvSpPr>
              <p:nvPr/>
            </p:nvSpPr>
            <p:spPr bwMode="gray">
              <a:xfrm>
                <a:off x="5010150" y="3527198"/>
                <a:ext cx="1403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01688" eaLnBrk="0" hangingPunct="0">
                  <a:defRPr sz="1400">
                    <a:solidFill>
                      <a:schemeClr val="tx1"/>
                    </a:solidFill>
                    <a:latin typeface="Arial" panose="020B0604020202020204" pitchFamily="34" charset="0"/>
                    <a:ea typeface="宋体" panose="02010600030101010101" pitchFamily="2" charset="-122"/>
                  </a:defRPr>
                </a:lvl1pPr>
                <a:lvl2pPr marL="742950" indent="-285750" defTabSz="801688" eaLnBrk="0" hangingPunct="0">
                  <a:defRPr sz="1400">
                    <a:solidFill>
                      <a:schemeClr val="tx1"/>
                    </a:solidFill>
                    <a:latin typeface="Arial" panose="020B0604020202020204" pitchFamily="34" charset="0"/>
                    <a:ea typeface="宋体" panose="02010600030101010101" pitchFamily="2" charset="-122"/>
                  </a:defRPr>
                </a:lvl2pPr>
                <a:lvl3pPr marL="1143000" indent="-228600" defTabSz="801688" eaLnBrk="0" hangingPunct="0">
                  <a:defRPr sz="1400">
                    <a:solidFill>
                      <a:schemeClr val="tx1"/>
                    </a:solidFill>
                    <a:latin typeface="Arial" panose="020B0604020202020204" pitchFamily="34" charset="0"/>
                    <a:ea typeface="宋体" panose="02010600030101010101" pitchFamily="2" charset="-122"/>
                  </a:defRPr>
                </a:lvl3pPr>
                <a:lvl4pPr marL="1600200" indent="-228600" defTabSz="801688" eaLnBrk="0" hangingPunct="0">
                  <a:defRPr sz="1400">
                    <a:solidFill>
                      <a:schemeClr val="tx1"/>
                    </a:solidFill>
                    <a:latin typeface="Arial" panose="020B0604020202020204" pitchFamily="34" charset="0"/>
                    <a:ea typeface="宋体" panose="02010600030101010101" pitchFamily="2" charset="-122"/>
                  </a:defRPr>
                </a:lvl4pPr>
                <a:lvl5pPr marL="2057400" indent="-228600" defTabSz="801688" eaLnBrk="0" hangingPunct="0">
                  <a:defRPr sz="1400">
                    <a:solidFill>
                      <a:schemeClr val="tx1"/>
                    </a:solidFill>
                    <a:latin typeface="Arial" panose="020B0604020202020204" pitchFamily="34" charset="0"/>
                    <a:ea typeface="宋体" panose="02010600030101010101" pitchFamily="2" charset="-122"/>
                  </a:defRPr>
                </a:lvl5pPr>
                <a:lvl6pPr marL="25146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solidFill>
                      <a:srgbClr val="000000"/>
                    </a:solidFill>
                    <a:latin typeface="FrutigerNext LT Regular"/>
                  </a:rPr>
                  <a:t>重构</a:t>
                </a:r>
              </a:p>
            </p:txBody>
          </p:sp>
          <p:sp>
            <p:nvSpPr>
              <p:cNvPr id="15" name="Text Box 7">
                <a:extLst>
                  <a:ext uri="{FF2B5EF4-FFF2-40B4-BE49-F238E27FC236}">
                    <a16:creationId xmlns:a16="http://schemas.microsoft.com/office/drawing/2014/main" id="{EEB23D91-8CFA-C04F-A918-EE6D71BFB87E}"/>
                  </a:ext>
                </a:extLst>
              </p:cNvPr>
              <p:cNvSpPr txBox="1">
                <a:spLocks noChangeArrowheads="1"/>
              </p:cNvSpPr>
              <p:nvPr/>
            </p:nvSpPr>
            <p:spPr bwMode="gray">
              <a:xfrm>
                <a:off x="4229100" y="4030435"/>
                <a:ext cx="7810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01688" eaLnBrk="0" hangingPunct="0">
                  <a:defRPr sz="1400">
                    <a:solidFill>
                      <a:schemeClr val="tx1"/>
                    </a:solidFill>
                    <a:latin typeface="Arial" panose="020B0604020202020204" pitchFamily="34" charset="0"/>
                    <a:ea typeface="宋体" panose="02010600030101010101" pitchFamily="2" charset="-122"/>
                  </a:defRPr>
                </a:lvl1pPr>
                <a:lvl2pPr marL="742950" indent="-285750" defTabSz="801688" eaLnBrk="0" hangingPunct="0">
                  <a:defRPr sz="1400">
                    <a:solidFill>
                      <a:schemeClr val="tx1"/>
                    </a:solidFill>
                    <a:latin typeface="Arial" panose="020B0604020202020204" pitchFamily="34" charset="0"/>
                    <a:ea typeface="宋体" panose="02010600030101010101" pitchFamily="2" charset="-122"/>
                  </a:defRPr>
                </a:lvl2pPr>
                <a:lvl3pPr marL="1143000" indent="-228600" defTabSz="801688" eaLnBrk="0" hangingPunct="0">
                  <a:defRPr sz="1400">
                    <a:solidFill>
                      <a:schemeClr val="tx1"/>
                    </a:solidFill>
                    <a:latin typeface="Arial" panose="020B0604020202020204" pitchFamily="34" charset="0"/>
                    <a:ea typeface="宋体" panose="02010600030101010101" pitchFamily="2" charset="-122"/>
                  </a:defRPr>
                </a:lvl3pPr>
                <a:lvl4pPr marL="1600200" indent="-228600" defTabSz="801688" eaLnBrk="0" hangingPunct="0">
                  <a:defRPr sz="1400">
                    <a:solidFill>
                      <a:schemeClr val="tx1"/>
                    </a:solidFill>
                    <a:latin typeface="Arial" panose="020B0604020202020204" pitchFamily="34" charset="0"/>
                    <a:ea typeface="宋体" panose="02010600030101010101" pitchFamily="2" charset="-122"/>
                  </a:defRPr>
                </a:lvl4pPr>
                <a:lvl5pPr marL="2057400" indent="-228600" defTabSz="801688" eaLnBrk="0" hangingPunct="0">
                  <a:defRPr sz="1400">
                    <a:solidFill>
                      <a:schemeClr val="tx1"/>
                    </a:solidFill>
                    <a:latin typeface="Arial" panose="020B0604020202020204" pitchFamily="34" charset="0"/>
                    <a:ea typeface="宋体" panose="02010600030101010101" pitchFamily="2" charset="-122"/>
                  </a:defRPr>
                </a:lvl5pPr>
                <a:lvl6pPr marL="25146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solidFill>
                      <a:srgbClr val="000000"/>
                    </a:solidFill>
                    <a:latin typeface="FrutigerNext LT Regular"/>
                  </a:rPr>
                  <a:t>简单设计</a:t>
                </a:r>
              </a:p>
            </p:txBody>
          </p:sp>
          <p:sp>
            <p:nvSpPr>
              <p:cNvPr id="16" name="Text Box 8">
                <a:extLst>
                  <a:ext uri="{FF2B5EF4-FFF2-40B4-BE49-F238E27FC236}">
                    <a16:creationId xmlns:a16="http://schemas.microsoft.com/office/drawing/2014/main" id="{170494FD-A35D-DB45-B24D-DFAF364C9C80}"/>
                  </a:ext>
                </a:extLst>
              </p:cNvPr>
              <p:cNvSpPr txBox="1">
                <a:spLocks noChangeArrowheads="1"/>
              </p:cNvSpPr>
              <p:nvPr/>
            </p:nvSpPr>
            <p:spPr bwMode="gray">
              <a:xfrm>
                <a:off x="2122487" y="2541360"/>
                <a:ext cx="17922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01688" eaLnBrk="0" hangingPunct="0">
                  <a:defRPr sz="1400">
                    <a:solidFill>
                      <a:schemeClr val="tx1"/>
                    </a:solidFill>
                    <a:latin typeface="Arial" panose="020B0604020202020204" pitchFamily="34" charset="0"/>
                    <a:ea typeface="宋体" panose="02010600030101010101" pitchFamily="2" charset="-122"/>
                  </a:defRPr>
                </a:lvl1pPr>
                <a:lvl2pPr marL="742950" indent="-285750" defTabSz="801688" eaLnBrk="0" hangingPunct="0">
                  <a:defRPr sz="1400">
                    <a:solidFill>
                      <a:schemeClr val="tx1"/>
                    </a:solidFill>
                    <a:latin typeface="Arial" panose="020B0604020202020204" pitchFamily="34" charset="0"/>
                    <a:ea typeface="宋体" panose="02010600030101010101" pitchFamily="2" charset="-122"/>
                  </a:defRPr>
                </a:lvl2pPr>
                <a:lvl3pPr marL="1143000" indent="-228600" defTabSz="801688" eaLnBrk="0" hangingPunct="0">
                  <a:defRPr sz="1400">
                    <a:solidFill>
                      <a:schemeClr val="tx1"/>
                    </a:solidFill>
                    <a:latin typeface="Arial" panose="020B0604020202020204" pitchFamily="34" charset="0"/>
                    <a:ea typeface="宋体" panose="02010600030101010101" pitchFamily="2" charset="-122"/>
                  </a:defRPr>
                </a:lvl3pPr>
                <a:lvl4pPr marL="1600200" indent="-228600" defTabSz="801688" eaLnBrk="0" hangingPunct="0">
                  <a:defRPr sz="1400">
                    <a:solidFill>
                      <a:schemeClr val="tx1"/>
                    </a:solidFill>
                    <a:latin typeface="Arial" panose="020B0604020202020204" pitchFamily="34" charset="0"/>
                    <a:ea typeface="宋体" panose="02010600030101010101" pitchFamily="2" charset="-122"/>
                  </a:defRPr>
                </a:lvl4pPr>
                <a:lvl5pPr marL="2057400" indent="-228600" defTabSz="801688" eaLnBrk="0" hangingPunct="0">
                  <a:defRPr sz="1400">
                    <a:solidFill>
                      <a:schemeClr val="tx1"/>
                    </a:solidFill>
                    <a:latin typeface="Arial" panose="020B0604020202020204" pitchFamily="34" charset="0"/>
                    <a:ea typeface="宋体" panose="02010600030101010101" pitchFamily="2" charset="-122"/>
                  </a:defRPr>
                </a:lvl5pPr>
                <a:lvl6pPr marL="25146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solidFill>
                      <a:srgbClr val="000000"/>
                    </a:solidFill>
                    <a:latin typeface="FrutigerNext LT Regular"/>
                  </a:rPr>
                  <a:t>代码集体所有</a:t>
                </a:r>
              </a:p>
            </p:txBody>
          </p:sp>
          <p:sp>
            <p:nvSpPr>
              <p:cNvPr id="17" name="Text Box 9">
                <a:extLst>
                  <a:ext uri="{FF2B5EF4-FFF2-40B4-BE49-F238E27FC236}">
                    <a16:creationId xmlns:a16="http://schemas.microsoft.com/office/drawing/2014/main" id="{0B75733F-EA38-AF49-B2D5-C6BEB9B0ECA0}"/>
                  </a:ext>
                </a:extLst>
              </p:cNvPr>
              <p:cNvSpPr txBox="1">
                <a:spLocks noChangeArrowheads="1"/>
              </p:cNvSpPr>
              <p:nvPr/>
            </p:nvSpPr>
            <p:spPr bwMode="gray">
              <a:xfrm>
                <a:off x="5397500" y="2554060"/>
                <a:ext cx="1403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01688" eaLnBrk="0" hangingPunct="0">
                  <a:defRPr sz="1400">
                    <a:solidFill>
                      <a:schemeClr val="tx1"/>
                    </a:solidFill>
                    <a:latin typeface="Arial" panose="020B0604020202020204" pitchFamily="34" charset="0"/>
                    <a:ea typeface="宋体" panose="02010600030101010101" pitchFamily="2" charset="-122"/>
                  </a:defRPr>
                </a:lvl1pPr>
                <a:lvl2pPr marL="742950" indent="-285750" defTabSz="801688" eaLnBrk="0" hangingPunct="0">
                  <a:defRPr sz="1400">
                    <a:solidFill>
                      <a:schemeClr val="tx1"/>
                    </a:solidFill>
                    <a:latin typeface="Arial" panose="020B0604020202020204" pitchFamily="34" charset="0"/>
                    <a:ea typeface="宋体" panose="02010600030101010101" pitchFamily="2" charset="-122"/>
                  </a:defRPr>
                </a:lvl2pPr>
                <a:lvl3pPr marL="1143000" indent="-228600" defTabSz="801688" eaLnBrk="0" hangingPunct="0">
                  <a:defRPr sz="1400">
                    <a:solidFill>
                      <a:schemeClr val="tx1"/>
                    </a:solidFill>
                    <a:latin typeface="Arial" panose="020B0604020202020204" pitchFamily="34" charset="0"/>
                    <a:ea typeface="宋体" panose="02010600030101010101" pitchFamily="2" charset="-122"/>
                  </a:defRPr>
                </a:lvl3pPr>
                <a:lvl4pPr marL="1600200" indent="-228600" defTabSz="801688" eaLnBrk="0" hangingPunct="0">
                  <a:defRPr sz="1400">
                    <a:solidFill>
                      <a:schemeClr val="tx1"/>
                    </a:solidFill>
                    <a:latin typeface="Arial" panose="020B0604020202020204" pitchFamily="34" charset="0"/>
                    <a:ea typeface="宋体" panose="02010600030101010101" pitchFamily="2" charset="-122"/>
                  </a:defRPr>
                </a:lvl4pPr>
                <a:lvl5pPr marL="2057400" indent="-228600" defTabSz="801688" eaLnBrk="0" hangingPunct="0">
                  <a:defRPr sz="1400">
                    <a:solidFill>
                      <a:schemeClr val="tx1"/>
                    </a:solidFill>
                    <a:latin typeface="Arial" panose="020B0604020202020204" pitchFamily="34" charset="0"/>
                    <a:ea typeface="宋体" panose="02010600030101010101" pitchFamily="2" charset="-122"/>
                  </a:defRPr>
                </a:lvl5pPr>
                <a:lvl6pPr marL="25146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solidFill>
                      <a:srgbClr val="000000"/>
                    </a:solidFill>
                    <a:latin typeface="FrutigerNext LT Regular"/>
                  </a:rPr>
                  <a:t>编码标准</a:t>
                </a:r>
              </a:p>
            </p:txBody>
          </p:sp>
          <p:sp>
            <p:nvSpPr>
              <p:cNvPr id="18" name="Text Box 10">
                <a:extLst>
                  <a:ext uri="{FF2B5EF4-FFF2-40B4-BE49-F238E27FC236}">
                    <a16:creationId xmlns:a16="http://schemas.microsoft.com/office/drawing/2014/main" id="{D6D5270C-B4E3-3844-9A43-3D0CECEBB43F}"/>
                  </a:ext>
                </a:extLst>
              </p:cNvPr>
              <p:cNvSpPr txBox="1">
                <a:spLocks noChangeArrowheads="1"/>
              </p:cNvSpPr>
              <p:nvPr/>
            </p:nvSpPr>
            <p:spPr bwMode="gray">
              <a:xfrm>
                <a:off x="4154487" y="5581423"/>
                <a:ext cx="11033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01688" eaLnBrk="0" hangingPunct="0">
                  <a:defRPr sz="1400">
                    <a:solidFill>
                      <a:schemeClr val="tx1"/>
                    </a:solidFill>
                    <a:latin typeface="Arial" panose="020B0604020202020204" pitchFamily="34" charset="0"/>
                    <a:ea typeface="宋体" panose="02010600030101010101" pitchFamily="2" charset="-122"/>
                  </a:defRPr>
                </a:lvl1pPr>
                <a:lvl2pPr marL="742950" indent="-285750" defTabSz="801688" eaLnBrk="0" hangingPunct="0">
                  <a:defRPr sz="1400">
                    <a:solidFill>
                      <a:schemeClr val="tx1"/>
                    </a:solidFill>
                    <a:latin typeface="Arial" panose="020B0604020202020204" pitchFamily="34" charset="0"/>
                    <a:ea typeface="宋体" panose="02010600030101010101" pitchFamily="2" charset="-122"/>
                  </a:defRPr>
                </a:lvl2pPr>
                <a:lvl3pPr marL="1143000" indent="-228600" defTabSz="801688" eaLnBrk="0" hangingPunct="0">
                  <a:defRPr sz="1400">
                    <a:solidFill>
                      <a:schemeClr val="tx1"/>
                    </a:solidFill>
                    <a:latin typeface="Arial" panose="020B0604020202020204" pitchFamily="34" charset="0"/>
                    <a:ea typeface="宋体" panose="02010600030101010101" pitchFamily="2" charset="-122"/>
                  </a:defRPr>
                </a:lvl3pPr>
                <a:lvl4pPr marL="1600200" indent="-228600" defTabSz="801688" eaLnBrk="0" hangingPunct="0">
                  <a:defRPr sz="1400">
                    <a:solidFill>
                      <a:schemeClr val="tx1"/>
                    </a:solidFill>
                    <a:latin typeface="Arial" panose="020B0604020202020204" pitchFamily="34" charset="0"/>
                    <a:ea typeface="宋体" panose="02010600030101010101" pitchFamily="2" charset="-122"/>
                  </a:defRPr>
                </a:lvl4pPr>
                <a:lvl5pPr marL="2057400" indent="-228600" defTabSz="801688" eaLnBrk="0" hangingPunct="0">
                  <a:defRPr sz="1400">
                    <a:solidFill>
                      <a:schemeClr val="tx1"/>
                    </a:solidFill>
                    <a:latin typeface="Arial" panose="020B0604020202020204" pitchFamily="34" charset="0"/>
                    <a:ea typeface="宋体" panose="02010600030101010101" pitchFamily="2" charset="-122"/>
                  </a:defRPr>
                </a:lvl5pPr>
                <a:lvl6pPr marL="25146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solidFill>
                      <a:srgbClr val="000000"/>
                    </a:solidFill>
                    <a:latin typeface="FrutigerNext LT Regular"/>
                  </a:rPr>
                  <a:t>稳定高速步伐</a:t>
                </a:r>
              </a:p>
            </p:txBody>
          </p:sp>
          <p:sp>
            <p:nvSpPr>
              <p:cNvPr id="19" name="Text Box 11">
                <a:extLst>
                  <a:ext uri="{FF2B5EF4-FFF2-40B4-BE49-F238E27FC236}">
                    <a16:creationId xmlns:a16="http://schemas.microsoft.com/office/drawing/2014/main" id="{72130089-5071-D344-AA58-86A42B287893}"/>
                  </a:ext>
                </a:extLst>
              </p:cNvPr>
              <p:cNvSpPr txBox="1">
                <a:spLocks noChangeArrowheads="1"/>
              </p:cNvSpPr>
              <p:nvPr/>
            </p:nvSpPr>
            <p:spPr bwMode="gray">
              <a:xfrm>
                <a:off x="2198687" y="4390798"/>
                <a:ext cx="1403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01688" eaLnBrk="0" hangingPunct="0">
                  <a:defRPr sz="1400">
                    <a:solidFill>
                      <a:schemeClr val="tx1"/>
                    </a:solidFill>
                    <a:latin typeface="Arial" panose="020B0604020202020204" pitchFamily="34" charset="0"/>
                    <a:ea typeface="宋体" panose="02010600030101010101" pitchFamily="2" charset="-122"/>
                  </a:defRPr>
                </a:lvl1pPr>
                <a:lvl2pPr marL="742950" indent="-285750" defTabSz="801688" eaLnBrk="0" hangingPunct="0">
                  <a:defRPr sz="1400">
                    <a:solidFill>
                      <a:schemeClr val="tx1"/>
                    </a:solidFill>
                    <a:latin typeface="Arial" panose="020B0604020202020204" pitchFamily="34" charset="0"/>
                    <a:ea typeface="宋体" panose="02010600030101010101" pitchFamily="2" charset="-122"/>
                  </a:defRPr>
                </a:lvl2pPr>
                <a:lvl3pPr marL="1143000" indent="-228600" defTabSz="801688" eaLnBrk="0" hangingPunct="0">
                  <a:defRPr sz="1400">
                    <a:solidFill>
                      <a:schemeClr val="tx1"/>
                    </a:solidFill>
                    <a:latin typeface="Arial" panose="020B0604020202020204" pitchFamily="34" charset="0"/>
                    <a:ea typeface="宋体" panose="02010600030101010101" pitchFamily="2" charset="-122"/>
                  </a:defRPr>
                </a:lvl3pPr>
                <a:lvl4pPr marL="1600200" indent="-228600" defTabSz="801688" eaLnBrk="0" hangingPunct="0">
                  <a:defRPr sz="1400">
                    <a:solidFill>
                      <a:schemeClr val="tx1"/>
                    </a:solidFill>
                    <a:latin typeface="Arial" panose="020B0604020202020204" pitchFamily="34" charset="0"/>
                    <a:ea typeface="宋体" panose="02010600030101010101" pitchFamily="2" charset="-122"/>
                  </a:defRPr>
                </a:lvl4pPr>
                <a:lvl5pPr marL="2057400" indent="-228600" defTabSz="801688" eaLnBrk="0" hangingPunct="0">
                  <a:defRPr sz="1400">
                    <a:solidFill>
                      <a:schemeClr val="tx1"/>
                    </a:solidFill>
                    <a:latin typeface="Arial" panose="020B0604020202020204" pitchFamily="34" charset="0"/>
                    <a:ea typeface="宋体" panose="02010600030101010101" pitchFamily="2" charset="-122"/>
                  </a:defRPr>
                </a:lvl5pPr>
                <a:lvl6pPr marL="25146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solidFill>
                      <a:srgbClr val="000000"/>
                    </a:solidFill>
                    <a:latin typeface="FrutigerNext LT Regular"/>
                  </a:rPr>
                  <a:t>持续集成</a:t>
                </a:r>
              </a:p>
            </p:txBody>
          </p:sp>
          <p:sp>
            <p:nvSpPr>
              <p:cNvPr id="20" name="Text Box 12">
                <a:extLst>
                  <a:ext uri="{FF2B5EF4-FFF2-40B4-BE49-F238E27FC236}">
                    <a16:creationId xmlns:a16="http://schemas.microsoft.com/office/drawing/2014/main" id="{A27AE6F0-92A1-804C-9872-BC6EE3EE2D6C}"/>
                  </a:ext>
                </a:extLst>
              </p:cNvPr>
              <p:cNvSpPr txBox="1">
                <a:spLocks noChangeArrowheads="1"/>
              </p:cNvSpPr>
              <p:nvPr/>
            </p:nvSpPr>
            <p:spPr bwMode="gray">
              <a:xfrm>
                <a:off x="5683250" y="4408260"/>
                <a:ext cx="12144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01688" eaLnBrk="0" hangingPunct="0">
                  <a:defRPr sz="1400">
                    <a:solidFill>
                      <a:schemeClr val="tx1"/>
                    </a:solidFill>
                    <a:latin typeface="Arial" panose="020B0604020202020204" pitchFamily="34" charset="0"/>
                    <a:ea typeface="宋体" panose="02010600030101010101" pitchFamily="2" charset="-122"/>
                  </a:defRPr>
                </a:lvl1pPr>
                <a:lvl2pPr marL="742950" indent="-285750" defTabSz="801688" eaLnBrk="0" hangingPunct="0">
                  <a:defRPr sz="1400">
                    <a:solidFill>
                      <a:schemeClr val="tx1"/>
                    </a:solidFill>
                    <a:latin typeface="Arial" panose="020B0604020202020204" pitchFamily="34" charset="0"/>
                    <a:ea typeface="宋体" panose="02010600030101010101" pitchFamily="2" charset="-122"/>
                  </a:defRPr>
                </a:lvl2pPr>
                <a:lvl3pPr marL="1143000" indent="-228600" defTabSz="801688" eaLnBrk="0" hangingPunct="0">
                  <a:defRPr sz="1400">
                    <a:solidFill>
                      <a:schemeClr val="tx1"/>
                    </a:solidFill>
                    <a:latin typeface="Arial" panose="020B0604020202020204" pitchFamily="34" charset="0"/>
                    <a:ea typeface="宋体" panose="02010600030101010101" pitchFamily="2" charset="-122"/>
                  </a:defRPr>
                </a:lvl3pPr>
                <a:lvl4pPr marL="1600200" indent="-228600" defTabSz="801688" eaLnBrk="0" hangingPunct="0">
                  <a:defRPr sz="1400">
                    <a:solidFill>
                      <a:schemeClr val="tx1"/>
                    </a:solidFill>
                    <a:latin typeface="Arial" panose="020B0604020202020204" pitchFamily="34" charset="0"/>
                    <a:ea typeface="宋体" panose="02010600030101010101" pitchFamily="2" charset="-122"/>
                  </a:defRPr>
                </a:lvl4pPr>
                <a:lvl5pPr marL="2057400" indent="-228600" defTabSz="801688" eaLnBrk="0" hangingPunct="0">
                  <a:defRPr sz="1400">
                    <a:solidFill>
                      <a:schemeClr val="tx1"/>
                    </a:solidFill>
                    <a:latin typeface="Arial" panose="020B0604020202020204" pitchFamily="34" charset="0"/>
                    <a:ea typeface="宋体" panose="02010600030101010101" pitchFamily="2" charset="-122"/>
                  </a:defRPr>
                </a:lvl5pPr>
                <a:lvl6pPr marL="25146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solidFill>
                      <a:srgbClr val="000000"/>
                    </a:solidFill>
                    <a:latin typeface="FrutigerNext LT Regular"/>
                  </a:rPr>
                  <a:t>隐喻</a:t>
                </a:r>
              </a:p>
            </p:txBody>
          </p:sp>
          <p:sp>
            <p:nvSpPr>
              <p:cNvPr id="21" name="Text Box 13">
                <a:extLst>
                  <a:ext uri="{FF2B5EF4-FFF2-40B4-BE49-F238E27FC236}">
                    <a16:creationId xmlns:a16="http://schemas.microsoft.com/office/drawing/2014/main" id="{A8664F30-5537-0B4D-8520-C45910DE9721}"/>
                  </a:ext>
                </a:extLst>
              </p:cNvPr>
              <p:cNvSpPr txBox="1">
                <a:spLocks noChangeArrowheads="1"/>
              </p:cNvSpPr>
              <p:nvPr/>
            </p:nvSpPr>
            <p:spPr bwMode="gray">
              <a:xfrm>
                <a:off x="639762" y="3551010"/>
                <a:ext cx="17160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01688" eaLnBrk="0" hangingPunct="0">
                  <a:defRPr sz="1400">
                    <a:solidFill>
                      <a:schemeClr val="tx1"/>
                    </a:solidFill>
                    <a:latin typeface="Arial" panose="020B0604020202020204" pitchFamily="34" charset="0"/>
                    <a:ea typeface="宋体" panose="02010600030101010101" pitchFamily="2" charset="-122"/>
                  </a:defRPr>
                </a:lvl1pPr>
                <a:lvl2pPr marL="742950" indent="-285750" defTabSz="801688" eaLnBrk="0" hangingPunct="0">
                  <a:defRPr sz="1400">
                    <a:solidFill>
                      <a:schemeClr val="tx1"/>
                    </a:solidFill>
                    <a:latin typeface="Arial" panose="020B0604020202020204" pitchFamily="34" charset="0"/>
                    <a:ea typeface="宋体" panose="02010600030101010101" pitchFamily="2" charset="-122"/>
                  </a:defRPr>
                </a:lvl2pPr>
                <a:lvl3pPr marL="1143000" indent="-228600" defTabSz="801688" eaLnBrk="0" hangingPunct="0">
                  <a:defRPr sz="1400">
                    <a:solidFill>
                      <a:schemeClr val="tx1"/>
                    </a:solidFill>
                    <a:latin typeface="Arial" panose="020B0604020202020204" pitchFamily="34" charset="0"/>
                    <a:ea typeface="宋体" panose="02010600030101010101" pitchFamily="2" charset="-122"/>
                  </a:defRPr>
                </a:lvl3pPr>
                <a:lvl4pPr marL="1600200" indent="-228600" defTabSz="801688" eaLnBrk="0" hangingPunct="0">
                  <a:defRPr sz="1400">
                    <a:solidFill>
                      <a:schemeClr val="tx1"/>
                    </a:solidFill>
                    <a:latin typeface="Arial" panose="020B0604020202020204" pitchFamily="34" charset="0"/>
                    <a:ea typeface="宋体" panose="02010600030101010101" pitchFamily="2" charset="-122"/>
                  </a:defRPr>
                </a:lvl4pPr>
                <a:lvl5pPr marL="2057400" indent="-228600" defTabSz="801688" eaLnBrk="0" hangingPunct="0">
                  <a:defRPr sz="1400">
                    <a:solidFill>
                      <a:schemeClr val="tx1"/>
                    </a:solidFill>
                    <a:latin typeface="Arial" panose="020B0604020202020204" pitchFamily="34" charset="0"/>
                    <a:ea typeface="宋体" panose="02010600030101010101" pitchFamily="2" charset="-122"/>
                  </a:defRPr>
                </a:lvl5pPr>
                <a:lvl6pPr marL="25146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solidFill>
                      <a:srgbClr val="000000"/>
                    </a:solidFill>
                    <a:latin typeface="FrutigerNext LT Regular"/>
                  </a:rPr>
                  <a:t>现场客户</a:t>
                </a:r>
              </a:p>
            </p:txBody>
          </p:sp>
          <p:sp>
            <p:nvSpPr>
              <p:cNvPr id="22" name="Text Box 14">
                <a:extLst>
                  <a:ext uri="{FF2B5EF4-FFF2-40B4-BE49-F238E27FC236}">
                    <a16:creationId xmlns:a16="http://schemas.microsoft.com/office/drawing/2014/main" id="{0911A91C-BC45-A241-87D1-82D4218492F7}"/>
                  </a:ext>
                </a:extLst>
              </p:cNvPr>
              <p:cNvSpPr txBox="1">
                <a:spLocks noChangeArrowheads="1"/>
              </p:cNvSpPr>
              <p:nvPr/>
            </p:nvSpPr>
            <p:spPr bwMode="gray">
              <a:xfrm>
                <a:off x="3916362" y="1295173"/>
                <a:ext cx="10906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01688" eaLnBrk="0" hangingPunct="0">
                  <a:defRPr sz="1400">
                    <a:solidFill>
                      <a:schemeClr val="tx1"/>
                    </a:solidFill>
                    <a:latin typeface="Arial" panose="020B0604020202020204" pitchFamily="34" charset="0"/>
                    <a:ea typeface="宋体" panose="02010600030101010101" pitchFamily="2" charset="-122"/>
                  </a:defRPr>
                </a:lvl1pPr>
                <a:lvl2pPr marL="742950" indent="-285750" defTabSz="801688" eaLnBrk="0" hangingPunct="0">
                  <a:defRPr sz="1400">
                    <a:solidFill>
                      <a:schemeClr val="tx1"/>
                    </a:solidFill>
                    <a:latin typeface="Arial" panose="020B0604020202020204" pitchFamily="34" charset="0"/>
                    <a:ea typeface="宋体" panose="02010600030101010101" pitchFamily="2" charset="-122"/>
                  </a:defRPr>
                </a:lvl2pPr>
                <a:lvl3pPr marL="1143000" indent="-228600" defTabSz="801688" eaLnBrk="0" hangingPunct="0">
                  <a:defRPr sz="1400">
                    <a:solidFill>
                      <a:schemeClr val="tx1"/>
                    </a:solidFill>
                    <a:latin typeface="Arial" panose="020B0604020202020204" pitchFamily="34" charset="0"/>
                    <a:ea typeface="宋体" panose="02010600030101010101" pitchFamily="2" charset="-122"/>
                  </a:defRPr>
                </a:lvl3pPr>
                <a:lvl4pPr marL="1600200" indent="-228600" defTabSz="801688" eaLnBrk="0" hangingPunct="0">
                  <a:defRPr sz="1400">
                    <a:solidFill>
                      <a:schemeClr val="tx1"/>
                    </a:solidFill>
                    <a:latin typeface="Arial" panose="020B0604020202020204" pitchFamily="34" charset="0"/>
                    <a:ea typeface="宋体" panose="02010600030101010101" pitchFamily="2" charset="-122"/>
                  </a:defRPr>
                </a:lvl4pPr>
                <a:lvl5pPr marL="2057400" indent="-228600" defTabSz="801688" eaLnBrk="0" hangingPunct="0">
                  <a:defRPr sz="1400">
                    <a:solidFill>
                      <a:schemeClr val="tx1"/>
                    </a:solidFill>
                    <a:latin typeface="Arial" panose="020B0604020202020204" pitchFamily="34" charset="0"/>
                    <a:ea typeface="宋体" panose="02010600030101010101" pitchFamily="2" charset="-122"/>
                  </a:defRPr>
                </a:lvl5pPr>
                <a:lvl6pPr marL="25146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solidFill>
                      <a:srgbClr val="000000"/>
                    </a:solidFill>
                    <a:latin typeface="FrutigerNext LT Regular"/>
                  </a:rPr>
                  <a:t>完整的团队</a:t>
                </a:r>
              </a:p>
            </p:txBody>
          </p:sp>
          <p:sp>
            <p:nvSpPr>
              <p:cNvPr id="23" name="Text Box 16">
                <a:extLst>
                  <a:ext uri="{FF2B5EF4-FFF2-40B4-BE49-F238E27FC236}">
                    <a16:creationId xmlns:a16="http://schemas.microsoft.com/office/drawing/2014/main" id="{836560E4-6A96-DF45-A6F4-0EA5814C6FCB}"/>
                  </a:ext>
                </a:extLst>
              </p:cNvPr>
              <p:cNvSpPr txBox="1">
                <a:spLocks noChangeArrowheads="1"/>
              </p:cNvSpPr>
              <p:nvPr/>
            </p:nvSpPr>
            <p:spPr bwMode="gray">
              <a:xfrm>
                <a:off x="7192962" y="3447823"/>
                <a:ext cx="1403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01688" eaLnBrk="0" hangingPunct="0">
                  <a:defRPr sz="1400">
                    <a:solidFill>
                      <a:schemeClr val="tx1"/>
                    </a:solidFill>
                    <a:latin typeface="Arial" panose="020B0604020202020204" pitchFamily="34" charset="0"/>
                    <a:ea typeface="宋体" panose="02010600030101010101" pitchFamily="2" charset="-122"/>
                  </a:defRPr>
                </a:lvl1pPr>
                <a:lvl2pPr marL="742950" indent="-285750" defTabSz="801688" eaLnBrk="0" hangingPunct="0">
                  <a:defRPr sz="1400">
                    <a:solidFill>
                      <a:schemeClr val="tx1"/>
                    </a:solidFill>
                    <a:latin typeface="Arial" panose="020B0604020202020204" pitchFamily="34" charset="0"/>
                    <a:ea typeface="宋体" panose="02010600030101010101" pitchFamily="2" charset="-122"/>
                  </a:defRPr>
                </a:lvl2pPr>
                <a:lvl3pPr marL="1143000" indent="-228600" defTabSz="801688" eaLnBrk="0" hangingPunct="0">
                  <a:defRPr sz="1400">
                    <a:solidFill>
                      <a:schemeClr val="tx1"/>
                    </a:solidFill>
                    <a:latin typeface="Arial" panose="020B0604020202020204" pitchFamily="34" charset="0"/>
                    <a:ea typeface="宋体" panose="02010600030101010101" pitchFamily="2" charset="-122"/>
                  </a:defRPr>
                </a:lvl3pPr>
                <a:lvl4pPr marL="1600200" indent="-228600" defTabSz="801688" eaLnBrk="0" hangingPunct="0">
                  <a:defRPr sz="1400">
                    <a:solidFill>
                      <a:schemeClr val="tx1"/>
                    </a:solidFill>
                    <a:latin typeface="Arial" panose="020B0604020202020204" pitchFamily="34" charset="0"/>
                    <a:ea typeface="宋体" panose="02010600030101010101" pitchFamily="2" charset="-122"/>
                  </a:defRPr>
                </a:lvl4pPr>
                <a:lvl5pPr marL="2057400" indent="-228600" defTabSz="801688" eaLnBrk="0" hangingPunct="0">
                  <a:defRPr sz="1400">
                    <a:solidFill>
                      <a:schemeClr val="tx1"/>
                    </a:solidFill>
                    <a:latin typeface="Arial" panose="020B0604020202020204" pitchFamily="34" charset="0"/>
                    <a:ea typeface="宋体" panose="02010600030101010101" pitchFamily="2" charset="-122"/>
                  </a:defRPr>
                </a:lvl5pPr>
                <a:lvl6pPr marL="25146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defTabSz="801688"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solidFill>
                      <a:srgbClr val="000000"/>
                    </a:solidFill>
                    <a:latin typeface="FrutigerNext LT Regular"/>
                  </a:rPr>
                  <a:t>计划游戏</a:t>
                </a:r>
              </a:p>
            </p:txBody>
          </p:sp>
        </p:grpSp>
        <p:sp>
          <p:nvSpPr>
            <p:cNvPr id="24" name="AutoShape 7">
              <a:extLst>
                <a:ext uri="{FF2B5EF4-FFF2-40B4-BE49-F238E27FC236}">
                  <a16:creationId xmlns:a16="http://schemas.microsoft.com/office/drawing/2014/main" id="{DC769B2E-5FA5-0545-9458-5E92C6614F9C}"/>
                </a:ext>
              </a:extLst>
            </p:cNvPr>
            <p:cNvSpPr>
              <a:spLocks noChangeArrowheads="1"/>
            </p:cNvSpPr>
            <p:nvPr/>
          </p:nvSpPr>
          <p:spPr bwMode="auto">
            <a:xfrm>
              <a:off x="6569241" y="1017629"/>
              <a:ext cx="2028825" cy="792163"/>
            </a:xfrm>
            <a:prstGeom prst="cloudCallout">
              <a:avLst>
                <a:gd name="adj1" fmla="val -142318"/>
                <a:gd name="adj2" fmla="val 293256"/>
              </a:avLst>
            </a:prstGeom>
            <a:solidFill>
              <a:schemeClr val="accent1"/>
            </a:solidFill>
            <a:ln w="9525">
              <a:solidFill>
                <a:schemeClr val="tx1"/>
              </a:solidFill>
              <a:round/>
              <a:headEnd/>
              <a:tailEnd/>
            </a:ln>
          </p:spPr>
          <p:txBody>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rPr>
                <a:t>编程方法</a:t>
              </a:r>
            </a:p>
          </p:txBody>
        </p:sp>
        <p:sp>
          <p:nvSpPr>
            <p:cNvPr id="25" name="AutoShape 8">
              <a:extLst>
                <a:ext uri="{FF2B5EF4-FFF2-40B4-BE49-F238E27FC236}">
                  <a16:creationId xmlns:a16="http://schemas.microsoft.com/office/drawing/2014/main" id="{EAFE37A5-A9DE-3942-9542-1E1F14F06397}"/>
                </a:ext>
              </a:extLst>
            </p:cNvPr>
            <p:cNvSpPr>
              <a:spLocks noChangeArrowheads="1"/>
            </p:cNvSpPr>
            <p:nvPr/>
          </p:nvSpPr>
          <p:spPr bwMode="auto">
            <a:xfrm>
              <a:off x="348606" y="5398974"/>
              <a:ext cx="1951037" cy="719137"/>
            </a:xfrm>
            <a:prstGeom prst="cloudCallout">
              <a:avLst>
                <a:gd name="adj1" fmla="val 34433"/>
                <a:gd name="adj2" fmla="val -243472"/>
              </a:avLst>
            </a:prstGeom>
            <a:solidFill>
              <a:srgbClr val="FF9300"/>
            </a:solidFill>
            <a:ln w="9525">
              <a:solidFill>
                <a:schemeClr val="tx1"/>
              </a:solidFill>
              <a:round/>
              <a:headEnd/>
              <a:tailEnd/>
            </a:ln>
          </p:spPr>
          <p:txBody>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000000"/>
                  </a:solidFill>
                </a:rPr>
                <a:t>交付和管理</a:t>
              </a:r>
            </a:p>
          </p:txBody>
        </p:sp>
        <p:sp>
          <p:nvSpPr>
            <p:cNvPr id="26" name="AutoShape 9">
              <a:extLst>
                <a:ext uri="{FF2B5EF4-FFF2-40B4-BE49-F238E27FC236}">
                  <a16:creationId xmlns:a16="http://schemas.microsoft.com/office/drawing/2014/main" id="{BF06567C-7820-364D-B86E-A503FBA99CAE}"/>
                </a:ext>
              </a:extLst>
            </p:cNvPr>
            <p:cNvSpPr>
              <a:spLocks noChangeArrowheads="1"/>
            </p:cNvSpPr>
            <p:nvPr/>
          </p:nvSpPr>
          <p:spPr bwMode="auto">
            <a:xfrm>
              <a:off x="7104013" y="5253296"/>
              <a:ext cx="1754187" cy="647700"/>
            </a:xfrm>
            <a:prstGeom prst="cloudCallout">
              <a:avLst>
                <a:gd name="adj1" fmla="val -99132"/>
                <a:gd name="adj2" fmla="val -213025"/>
              </a:avLst>
            </a:prstGeom>
            <a:solidFill>
              <a:schemeClr val="accent5">
                <a:lumMod val="60000"/>
                <a:lumOff val="40000"/>
              </a:schemeClr>
            </a:solidFill>
            <a:ln w="9525">
              <a:solidFill>
                <a:schemeClr val="tx1"/>
              </a:solidFill>
              <a:round/>
              <a:headEnd/>
              <a:tailEnd/>
            </a:ln>
          </p:spPr>
          <p:txBody>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dirty="0">
                  <a:solidFill>
                    <a:srgbClr val="000000"/>
                  </a:solidFill>
                </a:rPr>
                <a:t>小组实践</a:t>
              </a:r>
            </a:p>
          </p:txBody>
        </p:sp>
      </p:grpSp>
    </p:spTree>
    <p:extLst>
      <p:ext uri="{BB962C8B-B14F-4D97-AF65-F5344CB8AC3E}">
        <p14:creationId xmlns:p14="http://schemas.microsoft.com/office/powerpoint/2010/main" val="203462389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SCRUM</a:t>
            </a:r>
            <a:r>
              <a:rPr lang="zh-CN" altLang="en-US" sz="2800" dirty="0">
                <a:solidFill>
                  <a:srgbClr val="4E8F00"/>
                </a:solidFill>
              </a:rPr>
              <a:t>方法</a:t>
            </a:r>
            <a:r>
              <a:rPr lang="zh-CN" altLang="en-US" sz="2400" dirty="0">
                <a:solidFill>
                  <a:srgbClr val="4E8F00"/>
                </a:solidFill>
              </a:rPr>
              <a:t>（迭代式增量软件开发）</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27</a:t>
            </a:fld>
            <a:endParaRPr lang="zh-CN" altLang="en-US"/>
          </a:p>
        </p:txBody>
      </p:sp>
      <p:sp>
        <p:nvSpPr>
          <p:cNvPr id="8" name="Rectangle 3">
            <a:extLst>
              <a:ext uri="{FF2B5EF4-FFF2-40B4-BE49-F238E27FC236}">
                <a16:creationId xmlns:a16="http://schemas.microsoft.com/office/drawing/2014/main" id="{4D3CD388-CE7C-F945-9A39-B1A56D9721C1}"/>
              </a:ext>
            </a:extLst>
          </p:cNvPr>
          <p:cNvSpPr txBox="1">
            <a:spLocks noChangeArrowheads="1"/>
          </p:cNvSpPr>
          <p:nvPr/>
        </p:nvSpPr>
        <p:spPr>
          <a:xfrm>
            <a:off x="838990" y="1196976"/>
            <a:ext cx="7300803" cy="1554933"/>
          </a:xfrm>
          <a:prstGeom prst="rect">
            <a:avLst/>
          </a:prstGeom>
        </p:spPr>
        <p:txBody>
          <a:bodyPr vert="horz" lIns="91440" tIns="45720" rIns="91440" bIns="45720" rtlCol="0">
            <a:normAutofit fontScale="92500" lnSpcReduction="1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indent="-285750" algn="just">
              <a:lnSpc>
                <a:spcPct val="120000"/>
              </a:lnSpc>
              <a:buSzPct val="60000"/>
              <a:buFont typeface="Wingdings" pitchFamily="2" charset="2"/>
              <a:buChar char="l"/>
            </a:pPr>
            <a:r>
              <a:rPr lang="en-US" altLang="zh-CN" sz="1700" dirty="0">
                <a:solidFill>
                  <a:srgbClr val="000000"/>
                </a:solidFill>
              </a:rPr>
              <a:t>SCRUM</a:t>
            </a:r>
            <a:r>
              <a:rPr lang="zh-CN" altLang="en-US" sz="1700" dirty="0">
                <a:solidFill>
                  <a:srgbClr val="000000"/>
                </a:solidFill>
              </a:rPr>
              <a:t>来源于橄榄球运动，是橄榄球运动的一个专业术语，表示“争球”的动作</a:t>
            </a:r>
            <a:endParaRPr lang="en-US" altLang="zh-CN" sz="1700" dirty="0">
              <a:solidFill>
                <a:srgbClr val="000000"/>
              </a:solidFill>
            </a:endParaRPr>
          </a:p>
          <a:p>
            <a:pPr marL="285750" indent="-285750" algn="just">
              <a:lnSpc>
                <a:spcPct val="120000"/>
              </a:lnSpc>
              <a:buSzPct val="60000"/>
              <a:buFont typeface="Wingdings" pitchFamily="2" charset="2"/>
              <a:buChar char="l"/>
            </a:pPr>
            <a:r>
              <a:rPr lang="zh-CN" altLang="en-US" sz="1700" dirty="0">
                <a:solidFill>
                  <a:srgbClr val="000000"/>
                </a:solidFill>
              </a:rPr>
              <a:t>把一个开发流程的名字取名为</a:t>
            </a:r>
            <a:r>
              <a:rPr lang="en-US" altLang="zh-CN" sz="1700" dirty="0">
                <a:solidFill>
                  <a:srgbClr val="000000"/>
                </a:solidFill>
              </a:rPr>
              <a:t>Scrum</a:t>
            </a:r>
            <a:r>
              <a:rPr lang="zh-CN" altLang="en-US" sz="1700" dirty="0">
                <a:solidFill>
                  <a:srgbClr val="000000"/>
                </a:solidFill>
              </a:rPr>
              <a:t>，寓意为你的开发团队在开发一个项目时，大家像打橄榄球一样迅速、富有战斗</a:t>
            </a:r>
            <a:r>
              <a:rPr lang="zh-CN" altLang="en-US" sz="1700" dirty="0">
                <a:solidFill>
                  <a:srgbClr val="000000"/>
                </a:solidFill>
                <a:highlight>
                  <a:srgbClr val="FFFF00"/>
                </a:highlight>
              </a:rPr>
              <a:t>激情</a:t>
            </a:r>
            <a:r>
              <a:rPr lang="zh-CN" altLang="en-US" sz="1700" dirty="0">
                <a:solidFill>
                  <a:srgbClr val="000000"/>
                </a:solidFill>
              </a:rPr>
              <a:t>、人人你争我抢地完成它，你一定会感到非常兴奋的。</a:t>
            </a:r>
          </a:p>
          <a:p>
            <a:pPr marL="285750" indent="-285750" algn="just">
              <a:lnSpc>
                <a:spcPct val="120000"/>
              </a:lnSpc>
              <a:buSzPct val="60000"/>
              <a:buFont typeface="Wingdings" pitchFamily="2" charset="2"/>
              <a:buChar char="l"/>
            </a:pPr>
            <a:endParaRPr lang="zh-CN" altLang="en-US" sz="1800" dirty="0">
              <a:solidFill>
                <a:srgbClr val="000000"/>
              </a:solidFill>
            </a:endParaRPr>
          </a:p>
          <a:p>
            <a:pPr marL="285750" indent="-285750">
              <a:lnSpc>
                <a:spcPct val="125000"/>
              </a:lnSpc>
              <a:buFont typeface="Arial" panose="020B0604020202020204" pitchFamily="34" charset="0"/>
              <a:buChar char="•"/>
            </a:pPr>
            <a:endParaRPr lang="en-US" altLang="zh-CN" sz="1600" dirty="0">
              <a:solidFill>
                <a:srgbClr val="000000"/>
              </a:solidFill>
            </a:endParaRPr>
          </a:p>
          <a:p>
            <a:pPr>
              <a:lnSpc>
                <a:spcPct val="125000"/>
              </a:lnSpc>
            </a:pPr>
            <a:endParaRPr lang="zh-CN" altLang="en-US" sz="1400" dirty="0">
              <a:solidFill>
                <a:srgbClr val="000000"/>
              </a:solidFill>
            </a:endParaRPr>
          </a:p>
          <a:p>
            <a:pPr>
              <a:buFont typeface="Wingdings" pitchFamily="2" charset="2"/>
              <a:buNone/>
            </a:pPr>
            <a:endParaRPr lang="zh-CN" altLang="en-US" sz="1600" dirty="0">
              <a:solidFill>
                <a:schemeClr val="tx2"/>
              </a:solidFill>
              <a:latin typeface="Microsoft YaHei" panose="020B0503020204020204" pitchFamily="34" charset="-122"/>
              <a:ea typeface="Microsoft YaHei" panose="020B0503020204020204" pitchFamily="34" charset="-122"/>
            </a:endParaRPr>
          </a:p>
        </p:txBody>
      </p:sp>
      <p:pic>
        <p:nvPicPr>
          <p:cNvPr id="7" name="Picture 4" descr="Scrum1">
            <a:extLst>
              <a:ext uri="{FF2B5EF4-FFF2-40B4-BE49-F238E27FC236}">
                <a16:creationId xmlns:a16="http://schemas.microsoft.com/office/drawing/2014/main" id="{D2EBC666-1130-CC44-AE96-556599804D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8891" y="3067218"/>
            <a:ext cx="4380411" cy="303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966072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SCRUM</a:t>
            </a:r>
            <a:r>
              <a:rPr lang="zh-CN" altLang="en-US" sz="2800" dirty="0">
                <a:solidFill>
                  <a:srgbClr val="4E8F00"/>
                </a:solidFill>
              </a:rPr>
              <a:t>方法</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28</a:t>
            </a:fld>
            <a:endParaRPr lang="zh-CN" altLang="en-US"/>
          </a:p>
        </p:txBody>
      </p:sp>
      <p:sp>
        <p:nvSpPr>
          <p:cNvPr id="9" name="Rectangle 3">
            <a:extLst>
              <a:ext uri="{FF2B5EF4-FFF2-40B4-BE49-F238E27FC236}">
                <a16:creationId xmlns:a16="http://schemas.microsoft.com/office/drawing/2014/main" id="{FBCE1B90-CB3E-A542-BC7C-13DE41BFEC5D}"/>
              </a:ext>
            </a:extLst>
          </p:cNvPr>
          <p:cNvSpPr txBox="1">
            <a:spLocks noChangeArrowheads="1"/>
          </p:cNvSpPr>
          <p:nvPr/>
        </p:nvSpPr>
        <p:spPr>
          <a:xfrm>
            <a:off x="838990" y="1196976"/>
            <a:ext cx="7300803" cy="5163003"/>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indent="-285750">
              <a:lnSpc>
                <a:spcPct val="130000"/>
              </a:lnSpc>
              <a:buFont typeface="Arial" panose="020B0604020202020204" pitchFamily="34" charset="0"/>
              <a:buChar char="•"/>
            </a:pPr>
            <a:r>
              <a:rPr lang="en-US" altLang="zh-CN" sz="1800" dirty="0">
                <a:solidFill>
                  <a:srgbClr val="000000"/>
                </a:solidFill>
                <a:latin typeface="Microsoft YaHei" panose="020B0503020204020204" pitchFamily="34" charset="-122"/>
                <a:ea typeface="Microsoft YaHei" panose="020B0503020204020204" pitchFamily="34" charset="-122"/>
              </a:rPr>
              <a:t>Scrum</a:t>
            </a:r>
            <a:r>
              <a:rPr lang="zh-CN" altLang="en-US" sz="1800" dirty="0">
                <a:solidFill>
                  <a:srgbClr val="000000"/>
                </a:solidFill>
                <a:latin typeface="Microsoft YaHei" panose="020B0503020204020204" pitchFamily="34" charset="-122"/>
                <a:ea typeface="Microsoft YaHei" panose="020B0503020204020204" pitchFamily="34" charset="-122"/>
              </a:rPr>
              <a:t>于</a:t>
            </a:r>
            <a:r>
              <a:rPr lang="en-US" altLang="zh-CN" sz="1800" dirty="0">
                <a:solidFill>
                  <a:srgbClr val="000000"/>
                </a:solidFill>
                <a:latin typeface="Microsoft YaHei" panose="020B0503020204020204" pitchFamily="34" charset="-122"/>
                <a:ea typeface="Microsoft YaHei" panose="020B0503020204020204" pitchFamily="34" charset="-122"/>
              </a:rPr>
              <a:t>1995</a:t>
            </a:r>
            <a:r>
              <a:rPr lang="zh-CN" altLang="en-US" sz="1800" dirty="0">
                <a:solidFill>
                  <a:srgbClr val="000000"/>
                </a:solidFill>
                <a:latin typeface="Microsoft YaHei" panose="020B0503020204020204" pitchFamily="34" charset="-122"/>
                <a:ea typeface="Microsoft YaHei" panose="020B0503020204020204" pitchFamily="34" charset="-122"/>
              </a:rPr>
              <a:t>年提出，并在</a:t>
            </a:r>
            <a:r>
              <a:rPr lang="en-US" altLang="zh-CN" sz="1800" dirty="0">
                <a:solidFill>
                  <a:srgbClr val="000000"/>
                </a:solidFill>
                <a:latin typeface="Microsoft YaHei" panose="020B0503020204020204" pitchFamily="34" charset="-122"/>
                <a:ea typeface="Microsoft YaHei" panose="020B0503020204020204" pitchFamily="34" charset="-122"/>
              </a:rPr>
              <a:t>2001</a:t>
            </a:r>
            <a:r>
              <a:rPr lang="zh-CN" altLang="en-US" sz="1800" dirty="0">
                <a:solidFill>
                  <a:srgbClr val="000000"/>
                </a:solidFill>
                <a:latin typeface="Microsoft YaHei" panose="020B0503020204020204" pitchFamily="34" charset="-122"/>
                <a:ea typeface="Microsoft YaHei" panose="020B0503020204020204" pitchFamily="34" charset="-122"/>
              </a:rPr>
              <a:t>年同其他方法论一起组成“敏捷联盟（</a:t>
            </a:r>
            <a:r>
              <a:rPr lang="en-US" altLang="zh-CN" sz="1800" dirty="0">
                <a:solidFill>
                  <a:srgbClr val="000000"/>
                </a:solidFill>
                <a:latin typeface="Microsoft YaHei" panose="020B0503020204020204" pitchFamily="34" charset="-122"/>
                <a:ea typeface="Microsoft YaHei" panose="020B0503020204020204" pitchFamily="34" charset="-122"/>
              </a:rPr>
              <a:t>Agile Alliance</a:t>
            </a:r>
            <a:r>
              <a:rPr lang="zh-CN" altLang="en-US" sz="1800" dirty="0">
                <a:solidFill>
                  <a:srgbClr val="000000"/>
                </a:solidFill>
                <a:latin typeface="Microsoft YaHei" panose="020B0503020204020204" pitchFamily="34" charset="-122"/>
                <a:ea typeface="Microsoft YaHei" panose="020B0503020204020204" pitchFamily="34" charset="-122"/>
              </a:rPr>
              <a:t>）” 。</a:t>
            </a:r>
            <a:endParaRPr lang="en-US" altLang="zh-CN" sz="1800" dirty="0">
              <a:solidFill>
                <a:srgbClr val="000000"/>
              </a:solidFill>
              <a:latin typeface="Microsoft YaHei" panose="020B0503020204020204" pitchFamily="34" charset="-122"/>
              <a:ea typeface="Microsoft YaHei" panose="020B0503020204020204" pitchFamily="34" charset="-122"/>
            </a:endParaRPr>
          </a:p>
          <a:p>
            <a:pPr marL="285750" indent="-285750">
              <a:lnSpc>
                <a:spcPct val="130000"/>
              </a:lnSpc>
              <a:buFont typeface="Arial" panose="020B0604020202020204" pitchFamily="34" charset="0"/>
              <a:buChar char="•"/>
            </a:pPr>
            <a:r>
              <a:rPr lang="en-US" altLang="zh-CN" sz="1800" dirty="0">
                <a:solidFill>
                  <a:srgbClr val="000000"/>
                </a:solidFill>
                <a:latin typeface="Microsoft YaHei" panose="020B0503020204020204" pitchFamily="34" charset="-122"/>
                <a:ea typeface="Microsoft YaHei" panose="020B0503020204020204" pitchFamily="34" charset="-122"/>
              </a:rPr>
              <a:t>Scrum</a:t>
            </a:r>
            <a:r>
              <a:rPr lang="zh-CN" altLang="en-US" sz="1800" dirty="0">
                <a:solidFill>
                  <a:srgbClr val="000000"/>
                </a:solidFill>
                <a:latin typeface="Microsoft YaHei" panose="020B0503020204020204" pitchFamily="34" charset="-122"/>
                <a:ea typeface="Microsoft YaHei" panose="020B0503020204020204" pitchFamily="34" charset="-122"/>
              </a:rPr>
              <a:t>提供了一种经验方法，它使得团队成员能够独立地，集中地在创造性的环境下工作。它发现了软件工程的社会意义。这一过程是迅速，有适应性，自组织的，它代表了从顺序开发过程以来的重大变化。（</a:t>
            </a:r>
            <a:r>
              <a:rPr lang="en-US" altLang="zh-CN" sz="1800" dirty="0">
                <a:solidFill>
                  <a:srgbClr val="000000"/>
                </a:solidFill>
                <a:latin typeface="Microsoft YaHei" panose="020B0503020204020204" pitchFamily="34" charset="-122"/>
                <a:ea typeface="Microsoft YaHei" panose="020B0503020204020204" pitchFamily="34" charset="-122"/>
              </a:rPr>
              <a:t>Ken </a:t>
            </a:r>
            <a:r>
              <a:rPr lang="en-US" altLang="zh-CN" sz="1800" dirty="0" err="1">
                <a:solidFill>
                  <a:srgbClr val="000000"/>
                </a:solidFill>
                <a:latin typeface="Microsoft YaHei" panose="020B0503020204020204" pitchFamily="34" charset="-122"/>
                <a:ea typeface="Microsoft YaHei" panose="020B0503020204020204" pitchFamily="34" charset="-122"/>
              </a:rPr>
              <a:t>Schwaber</a:t>
            </a:r>
            <a:r>
              <a:rPr lang="zh-CN" altLang="en-US" sz="1800" dirty="0">
                <a:solidFill>
                  <a:srgbClr val="000000"/>
                </a:solidFill>
                <a:latin typeface="Microsoft YaHei" panose="020B0503020204020204" pitchFamily="34" charset="-122"/>
                <a:ea typeface="Microsoft YaHei" panose="020B0503020204020204" pitchFamily="34" charset="-122"/>
              </a:rPr>
              <a:t>）</a:t>
            </a:r>
            <a:endParaRPr lang="en-US" altLang="zh-CN" sz="1800" dirty="0">
              <a:solidFill>
                <a:srgbClr val="000000"/>
              </a:solidFill>
              <a:latin typeface="Microsoft YaHei" panose="020B0503020204020204" pitchFamily="34" charset="-122"/>
              <a:ea typeface="Microsoft YaHei" panose="020B0503020204020204" pitchFamily="34" charset="-122"/>
            </a:endParaRPr>
          </a:p>
          <a:p>
            <a:pPr marL="285750" indent="-285750">
              <a:lnSpc>
                <a:spcPct val="130000"/>
              </a:lnSpc>
              <a:buFont typeface="Arial" panose="020B0604020202020204" pitchFamily="34" charset="0"/>
              <a:buChar char="•"/>
            </a:pPr>
            <a:r>
              <a:rPr lang="en-US" altLang="zh-CN" sz="1800" dirty="0">
                <a:solidFill>
                  <a:srgbClr val="000000"/>
                </a:solidFill>
                <a:latin typeface="Microsoft YaHei" panose="020B0503020204020204" pitchFamily="34" charset="-122"/>
                <a:ea typeface="Microsoft YaHei" panose="020B0503020204020204" pitchFamily="34" charset="-122"/>
              </a:rPr>
              <a:t>Scrum</a:t>
            </a:r>
            <a:r>
              <a:rPr lang="zh-CN" altLang="en-US" sz="1800" dirty="0">
                <a:solidFill>
                  <a:srgbClr val="000000"/>
                </a:solidFill>
                <a:latin typeface="Microsoft YaHei" panose="020B0503020204020204" pitchFamily="34" charset="-122"/>
                <a:ea typeface="Microsoft YaHei" panose="020B0503020204020204" pitchFamily="34" charset="-122"/>
              </a:rPr>
              <a:t>是一种灵活的</a:t>
            </a:r>
            <a:r>
              <a:rPr lang="zh-CN" altLang="en-US" sz="1800" dirty="0">
                <a:solidFill>
                  <a:srgbClr val="000000"/>
                </a:solidFill>
                <a:highlight>
                  <a:srgbClr val="FFFF00"/>
                </a:highlight>
                <a:latin typeface="Microsoft YaHei" panose="020B0503020204020204" pitchFamily="34" charset="-122"/>
                <a:ea typeface="Microsoft YaHei" panose="020B0503020204020204" pitchFamily="34" charset="-122"/>
              </a:rPr>
              <a:t>软件管理过程</a:t>
            </a:r>
            <a:r>
              <a:rPr lang="zh-CN" altLang="en-US" sz="1800" dirty="0">
                <a:solidFill>
                  <a:srgbClr val="000000"/>
                </a:solidFill>
                <a:latin typeface="Microsoft YaHei" panose="020B0503020204020204" pitchFamily="34" charset="-122"/>
                <a:ea typeface="Microsoft YaHei" panose="020B0503020204020204" pitchFamily="34" charset="-122"/>
              </a:rPr>
              <a:t>，它可以帮助驾驭迭代、递增的软件开发过程</a:t>
            </a:r>
            <a:endParaRPr lang="en-US" altLang="zh-CN" sz="1800" dirty="0">
              <a:solidFill>
                <a:srgbClr val="000000"/>
              </a:solidFill>
              <a:latin typeface="Microsoft YaHei" panose="020B0503020204020204" pitchFamily="34" charset="-122"/>
              <a:ea typeface="Microsoft YaHei" panose="020B0503020204020204" pitchFamily="34" charset="-122"/>
            </a:endParaRPr>
          </a:p>
          <a:p>
            <a:pPr marL="285750" indent="-285750">
              <a:lnSpc>
                <a:spcPct val="130000"/>
              </a:lnSpc>
              <a:buFont typeface="Arial" panose="020B0604020202020204" pitchFamily="34" charset="0"/>
              <a:buChar char="•"/>
            </a:pPr>
            <a:r>
              <a:rPr lang="en-US" altLang="zh-CN" sz="1800" dirty="0">
                <a:solidFill>
                  <a:srgbClr val="000000"/>
                </a:solidFill>
                <a:latin typeface="Microsoft YaHei" panose="020B0503020204020204" pitchFamily="34" charset="-122"/>
                <a:ea typeface="Microsoft YaHei" panose="020B0503020204020204" pitchFamily="34" charset="-122"/>
              </a:rPr>
              <a:t>Scrum</a:t>
            </a:r>
            <a:r>
              <a:rPr lang="zh-CN" altLang="en-US" sz="1800" dirty="0">
                <a:solidFill>
                  <a:srgbClr val="000000"/>
                </a:solidFill>
                <a:latin typeface="Microsoft YaHei" panose="020B0503020204020204" pitchFamily="34" charset="-122"/>
                <a:ea typeface="Microsoft YaHei" panose="020B0503020204020204" pitchFamily="34" charset="-122"/>
              </a:rPr>
              <a:t>这个轻量的过程可以作为包装器，也就是说你可以把</a:t>
            </a:r>
            <a:r>
              <a:rPr lang="en-US" altLang="zh-CN" sz="1800" dirty="0">
                <a:solidFill>
                  <a:srgbClr val="000000"/>
                </a:solidFill>
                <a:latin typeface="Microsoft YaHei" panose="020B0503020204020204" pitchFamily="34" charset="-122"/>
                <a:ea typeface="Microsoft YaHei" panose="020B0503020204020204" pitchFamily="34" charset="-122"/>
              </a:rPr>
              <a:t>Scrum</a:t>
            </a:r>
            <a:r>
              <a:rPr lang="zh-CN" altLang="en-US" sz="1800" dirty="0">
                <a:solidFill>
                  <a:srgbClr val="000000"/>
                </a:solidFill>
                <a:latin typeface="Microsoft YaHei" panose="020B0503020204020204" pitchFamily="34" charset="-122"/>
                <a:ea typeface="Microsoft YaHei" panose="020B0503020204020204" pitchFamily="34" charset="-122"/>
              </a:rPr>
              <a:t>与其它灵活的过程框架组合起来。 </a:t>
            </a:r>
          </a:p>
          <a:p>
            <a:pPr lvl="1" indent="0" algn="just">
              <a:lnSpc>
                <a:spcPct val="120000"/>
              </a:lnSpc>
              <a:buSzPct val="60000"/>
              <a:buNone/>
            </a:pPr>
            <a:endParaRPr lang="en-US" altLang="zh-CN" sz="1600" dirty="0">
              <a:solidFill>
                <a:srgbClr val="000000"/>
              </a:solidFill>
              <a:latin typeface="FrutigerNext LT Regular"/>
            </a:endParaRPr>
          </a:p>
          <a:p>
            <a:pPr marL="285750" indent="-285750">
              <a:lnSpc>
                <a:spcPct val="125000"/>
              </a:lnSpc>
              <a:buFont typeface="Arial" panose="020B0604020202020204" pitchFamily="34" charset="0"/>
              <a:buChar char="•"/>
            </a:pPr>
            <a:endParaRPr lang="en-US" altLang="zh-CN" sz="1600" dirty="0">
              <a:solidFill>
                <a:srgbClr val="000000"/>
              </a:solidFill>
            </a:endParaRPr>
          </a:p>
          <a:p>
            <a:pPr>
              <a:lnSpc>
                <a:spcPct val="125000"/>
              </a:lnSpc>
            </a:pPr>
            <a:endParaRPr lang="zh-CN" altLang="en-US" sz="1400" dirty="0">
              <a:solidFill>
                <a:srgbClr val="000000"/>
              </a:solidFill>
            </a:endParaRPr>
          </a:p>
          <a:p>
            <a:pPr>
              <a:buFont typeface="Wingdings" pitchFamily="2" charset="2"/>
              <a:buNone/>
            </a:pPr>
            <a:endParaRPr lang="zh-CN" altLang="en-US" sz="1600" dirty="0">
              <a:solidFill>
                <a:schemeClr val="tx2"/>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1865426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SCRUM</a:t>
            </a:r>
            <a:r>
              <a:rPr lang="zh-CN" altLang="en-US" sz="2800" dirty="0">
                <a:solidFill>
                  <a:srgbClr val="4E8F00"/>
                </a:solidFill>
              </a:rPr>
              <a:t>的核心概念</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29</a:t>
            </a:fld>
            <a:endParaRPr lang="zh-CN" altLang="en-US"/>
          </a:p>
        </p:txBody>
      </p:sp>
      <p:sp>
        <p:nvSpPr>
          <p:cNvPr id="9" name="Rectangle 3">
            <a:extLst>
              <a:ext uri="{FF2B5EF4-FFF2-40B4-BE49-F238E27FC236}">
                <a16:creationId xmlns:a16="http://schemas.microsoft.com/office/drawing/2014/main" id="{FBCE1B90-CB3E-A542-BC7C-13DE41BFEC5D}"/>
              </a:ext>
            </a:extLst>
          </p:cNvPr>
          <p:cNvSpPr txBox="1">
            <a:spLocks noChangeArrowheads="1"/>
          </p:cNvSpPr>
          <p:nvPr/>
        </p:nvSpPr>
        <p:spPr>
          <a:xfrm>
            <a:off x="838990" y="1196976"/>
            <a:ext cx="7300803" cy="5163003"/>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indent="-285750">
              <a:lnSpc>
                <a:spcPct val="130000"/>
              </a:lnSpc>
              <a:buFont typeface="Arial" panose="020B0604020202020204" pitchFamily="34" charset="0"/>
              <a:buChar char="•"/>
            </a:pPr>
            <a:r>
              <a:rPr lang="zh-CN" altLang="en-US" sz="2400" dirty="0">
                <a:solidFill>
                  <a:srgbClr val="C00000"/>
                </a:solidFill>
                <a:latin typeface="Microsoft YaHei" panose="020B0503020204020204" pitchFamily="34" charset="-122"/>
                <a:ea typeface="Microsoft YaHei" panose="020B0503020204020204" pitchFamily="34" charset="-122"/>
              </a:rPr>
              <a:t>透明</a:t>
            </a:r>
            <a:r>
              <a:rPr lang="zh-CN" altLang="en-US" sz="2400" dirty="0">
                <a:solidFill>
                  <a:srgbClr val="000000"/>
                </a:solidFill>
                <a:latin typeface="Microsoft YaHei" panose="020B0503020204020204" pitchFamily="34" charset="-122"/>
                <a:ea typeface="Microsoft YaHei" panose="020B0503020204020204" pitchFamily="34" charset="-122"/>
              </a:rPr>
              <a:t>、</a:t>
            </a:r>
            <a:r>
              <a:rPr lang="zh-CN" altLang="en-US" sz="2400" dirty="0">
                <a:solidFill>
                  <a:srgbClr val="C00000"/>
                </a:solidFill>
                <a:latin typeface="Microsoft YaHei" panose="020B0503020204020204" pitchFamily="34" charset="-122"/>
                <a:ea typeface="Microsoft YaHei" panose="020B0503020204020204" pitchFamily="34" charset="-122"/>
              </a:rPr>
              <a:t>检验</a:t>
            </a:r>
            <a:r>
              <a:rPr lang="zh-CN" altLang="en-US" sz="2400" dirty="0">
                <a:solidFill>
                  <a:srgbClr val="000000"/>
                </a:solidFill>
                <a:latin typeface="Microsoft YaHei" panose="020B0503020204020204" pitchFamily="34" charset="-122"/>
                <a:ea typeface="Microsoft YaHei" panose="020B0503020204020204" pitchFamily="34" charset="-122"/>
              </a:rPr>
              <a:t>、</a:t>
            </a:r>
            <a:r>
              <a:rPr lang="zh-CN" altLang="en-US" sz="2400" dirty="0">
                <a:solidFill>
                  <a:srgbClr val="C00000"/>
                </a:solidFill>
                <a:latin typeface="Microsoft YaHei" panose="020B0503020204020204" pitchFamily="34" charset="-122"/>
                <a:ea typeface="Microsoft YaHei" panose="020B0503020204020204" pitchFamily="34" charset="-122"/>
              </a:rPr>
              <a:t>适应</a:t>
            </a:r>
            <a:endParaRPr lang="en-US" altLang="zh-CN" sz="2400" dirty="0">
              <a:solidFill>
                <a:srgbClr val="C00000"/>
              </a:solidFill>
              <a:latin typeface="Microsoft YaHei" panose="020B0503020204020204" pitchFamily="34" charset="-122"/>
              <a:ea typeface="Microsoft YaHei" panose="020B0503020204020204" pitchFamily="34" charset="-122"/>
            </a:endParaRPr>
          </a:p>
          <a:p>
            <a:pPr marL="285750" indent="-285750">
              <a:lnSpc>
                <a:spcPct val="130000"/>
              </a:lnSpc>
              <a:buFont typeface="Arial" panose="020B0604020202020204" pitchFamily="34" charset="0"/>
              <a:buChar char="•"/>
            </a:pPr>
            <a:r>
              <a:rPr lang="zh-CN" altLang="zh-CN" sz="1800" dirty="0">
                <a:solidFill>
                  <a:srgbClr val="000000"/>
                </a:solidFill>
                <a:latin typeface="Microsoft YaHei" panose="020B0503020204020204" pitchFamily="34" charset="-122"/>
                <a:ea typeface="Microsoft YaHei" panose="020B0503020204020204" pitchFamily="34" charset="-122"/>
              </a:rPr>
              <a:t>尽量在早期暴露软件开发中的问题，进行及时的调整，从而使得软件开发团队在</a:t>
            </a:r>
            <a:r>
              <a:rPr lang="zh-CN" altLang="zh-CN" sz="1800" dirty="0">
                <a:solidFill>
                  <a:srgbClr val="000000"/>
                </a:solidFill>
                <a:highlight>
                  <a:srgbClr val="FFFF00"/>
                </a:highlight>
                <a:latin typeface="Microsoft YaHei" panose="020B0503020204020204" pitchFamily="34" charset="-122"/>
                <a:ea typeface="Microsoft YaHei" panose="020B0503020204020204" pitchFamily="34" charset="-122"/>
              </a:rPr>
              <a:t>充满不确定</a:t>
            </a:r>
            <a:r>
              <a:rPr lang="zh-CN" altLang="zh-CN" sz="1800" dirty="0">
                <a:solidFill>
                  <a:srgbClr val="000000"/>
                </a:solidFill>
                <a:latin typeface="Microsoft YaHei" panose="020B0503020204020204" pitchFamily="34" charset="-122"/>
                <a:ea typeface="Microsoft YaHei" panose="020B0503020204020204" pitchFamily="34" charset="-122"/>
              </a:rPr>
              <a:t>的研发领域成功地工作</a:t>
            </a:r>
            <a:endParaRPr lang="en-US" altLang="zh-CN" sz="1800" dirty="0">
              <a:solidFill>
                <a:srgbClr val="000000"/>
              </a:solidFill>
              <a:latin typeface="Microsoft YaHei" panose="020B0503020204020204" pitchFamily="34" charset="-122"/>
              <a:ea typeface="Microsoft YaHei" panose="020B0503020204020204" pitchFamily="34" charset="-122"/>
            </a:endParaRPr>
          </a:p>
          <a:p>
            <a:pPr lvl="1" indent="0" algn="just">
              <a:lnSpc>
                <a:spcPct val="120000"/>
              </a:lnSpc>
              <a:buSzPct val="60000"/>
              <a:buNone/>
            </a:pPr>
            <a:endParaRPr lang="en-US" altLang="zh-CN" sz="1600" dirty="0">
              <a:solidFill>
                <a:srgbClr val="000000"/>
              </a:solidFill>
              <a:latin typeface="FrutigerNext LT Regular"/>
            </a:endParaRPr>
          </a:p>
          <a:p>
            <a:pPr marL="285750" indent="-285750">
              <a:lnSpc>
                <a:spcPct val="125000"/>
              </a:lnSpc>
              <a:buFont typeface="Arial" panose="020B0604020202020204" pitchFamily="34" charset="0"/>
              <a:buChar char="•"/>
            </a:pPr>
            <a:endParaRPr lang="en-US" altLang="zh-CN" sz="1600" dirty="0">
              <a:solidFill>
                <a:srgbClr val="000000"/>
              </a:solidFill>
            </a:endParaRPr>
          </a:p>
          <a:p>
            <a:pPr>
              <a:lnSpc>
                <a:spcPct val="125000"/>
              </a:lnSpc>
            </a:pPr>
            <a:endParaRPr lang="zh-CN" altLang="en-US" sz="1400" dirty="0">
              <a:solidFill>
                <a:srgbClr val="000000"/>
              </a:solidFill>
            </a:endParaRPr>
          </a:p>
          <a:p>
            <a:pPr>
              <a:buFont typeface="Wingdings" pitchFamily="2" charset="2"/>
              <a:buNone/>
            </a:pPr>
            <a:endParaRPr lang="zh-CN" altLang="en-US" sz="1600" dirty="0">
              <a:solidFill>
                <a:schemeClr val="tx2"/>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28332342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SCRUM</a:t>
            </a:r>
            <a:r>
              <a:rPr lang="zh-CN" altLang="en-US" sz="2800" dirty="0">
                <a:solidFill>
                  <a:srgbClr val="4E8F00"/>
                </a:solidFill>
              </a:rPr>
              <a:t>的总体骨架</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30</a:t>
            </a:fld>
            <a:endParaRPr lang="zh-CN" altLang="en-US"/>
          </a:p>
        </p:txBody>
      </p:sp>
      <p:grpSp>
        <p:nvGrpSpPr>
          <p:cNvPr id="7" name="组合 205">
            <a:extLst>
              <a:ext uri="{FF2B5EF4-FFF2-40B4-BE49-F238E27FC236}">
                <a16:creationId xmlns:a16="http://schemas.microsoft.com/office/drawing/2014/main" id="{96B36CD5-12AE-5F42-93D2-3D8EE713A407}"/>
              </a:ext>
            </a:extLst>
          </p:cNvPr>
          <p:cNvGrpSpPr>
            <a:grpSpLocks/>
          </p:cNvGrpSpPr>
          <p:nvPr/>
        </p:nvGrpSpPr>
        <p:grpSpPr bwMode="auto">
          <a:xfrm>
            <a:off x="500598" y="1380859"/>
            <a:ext cx="8142803" cy="5117193"/>
            <a:chOff x="270070" y="700144"/>
            <a:chExt cx="8462768" cy="5761281"/>
          </a:xfrm>
        </p:grpSpPr>
        <p:grpSp>
          <p:nvGrpSpPr>
            <p:cNvPr id="8" name="组合 141">
              <a:extLst>
                <a:ext uri="{FF2B5EF4-FFF2-40B4-BE49-F238E27FC236}">
                  <a16:creationId xmlns:a16="http://schemas.microsoft.com/office/drawing/2014/main" id="{8E9B270B-79EB-F243-8670-2FC2E6276C37}"/>
                </a:ext>
              </a:extLst>
            </p:cNvPr>
            <p:cNvGrpSpPr>
              <a:grpSpLocks/>
            </p:cNvGrpSpPr>
            <p:nvPr/>
          </p:nvGrpSpPr>
          <p:grpSpPr bwMode="auto">
            <a:xfrm>
              <a:off x="270070" y="700144"/>
              <a:ext cx="8462768" cy="4637283"/>
              <a:chOff x="143070" y="1411344"/>
              <a:chExt cx="8462768" cy="4637283"/>
            </a:xfrm>
          </p:grpSpPr>
          <p:grpSp>
            <p:nvGrpSpPr>
              <p:cNvPr id="52" name="组合 72">
                <a:extLst>
                  <a:ext uri="{FF2B5EF4-FFF2-40B4-BE49-F238E27FC236}">
                    <a16:creationId xmlns:a16="http://schemas.microsoft.com/office/drawing/2014/main" id="{4057D43F-FC6E-4546-8C87-321B7101B22C}"/>
                  </a:ext>
                </a:extLst>
              </p:cNvPr>
              <p:cNvGrpSpPr>
                <a:grpSpLocks/>
              </p:cNvGrpSpPr>
              <p:nvPr/>
            </p:nvGrpSpPr>
            <p:grpSpPr bwMode="auto">
              <a:xfrm>
                <a:off x="4597399" y="2700392"/>
                <a:ext cx="1551317" cy="1629228"/>
                <a:chOff x="3986551" y="3282678"/>
                <a:chExt cx="2076300" cy="2093761"/>
              </a:xfrm>
            </p:grpSpPr>
            <p:sp>
              <p:nvSpPr>
                <p:cNvPr id="155" name="流程图: 顺序访问存储器 16">
                  <a:extLst>
                    <a:ext uri="{FF2B5EF4-FFF2-40B4-BE49-F238E27FC236}">
                      <a16:creationId xmlns:a16="http://schemas.microsoft.com/office/drawing/2014/main" id="{D29A8FD2-ED28-1F45-8096-7CB6F2F033EB}"/>
                    </a:ext>
                  </a:extLst>
                </p:cNvPr>
                <p:cNvSpPr>
                  <a:spLocks noChangeArrowheads="1"/>
                </p:cNvSpPr>
                <p:nvPr/>
              </p:nvSpPr>
              <p:spPr bwMode="auto">
                <a:xfrm flipH="1">
                  <a:off x="4028303" y="3385751"/>
                  <a:ext cx="1977080" cy="1927654"/>
                </a:xfrm>
                <a:prstGeom prst="flowChartMagneticTape">
                  <a:avLst/>
                </a:prstGeom>
                <a:solidFill>
                  <a:schemeClr val="bg1"/>
                </a:solidFill>
                <a:ln w="12700" algn="ctr">
                  <a:solidFill>
                    <a:srgbClr val="002060"/>
                  </a:solidFill>
                  <a:round/>
                  <a:headEnd/>
                  <a:tailEnd/>
                </a:ln>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156" name="椭圆 17">
                  <a:extLst>
                    <a:ext uri="{FF2B5EF4-FFF2-40B4-BE49-F238E27FC236}">
                      <a16:creationId xmlns:a16="http://schemas.microsoft.com/office/drawing/2014/main" id="{11AE6CC4-8A77-DB4E-AB18-3F6B97D8C254}"/>
                    </a:ext>
                  </a:extLst>
                </p:cNvPr>
                <p:cNvSpPr>
                  <a:spLocks noChangeArrowheads="1"/>
                </p:cNvSpPr>
                <p:nvPr/>
              </p:nvSpPr>
              <p:spPr bwMode="auto">
                <a:xfrm>
                  <a:off x="4293273" y="3661129"/>
                  <a:ext cx="1447141" cy="1355713"/>
                </a:xfrm>
                <a:prstGeom prst="ellipse">
                  <a:avLst/>
                </a:prstGeom>
                <a:solidFill>
                  <a:schemeClr val="bg1"/>
                </a:solidFill>
                <a:ln w="12700" algn="ctr">
                  <a:solidFill>
                    <a:srgbClr val="002060"/>
                  </a:solidFill>
                  <a:round/>
                  <a:headEnd/>
                  <a:tailEnd/>
                </a:ln>
              </p:spPr>
              <p:txBody>
                <a:bodyPr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r>
                    <a:rPr lang="zh-CN" altLang="en-US" sz="1600" b="1"/>
                    <a:t>迭代</a:t>
                  </a:r>
                </a:p>
                <a:p>
                  <a:pPr algn="ctr" eaLnBrk="1" hangingPunct="1">
                    <a:lnSpc>
                      <a:spcPct val="90000"/>
                    </a:lnSpc>
                    <a:buClr>
                      <a:schemeClr val="accent2"/>
                    </a:buClr>
                    <a:buFont typeface="Wingdings" pitchFamily="2" charset="2"/>
                    <a:buNone/>
                  </a:pPr>
                  <a:r>
                    <a:rPr lang="zh-CN" altLang="en-US" sz="1200"/>
                    <a:t>每</a:t>
                  </a:r>
                  <a:r>
                    <a:rPr lang="en-US" altLang="zh-CN" sz="1200"/>
                    <a:t>30</a:t>
                  </a:r>
                  <a:r>
                    <a:rPr lang="zh-CN" altLang="en-US" sz="1200"/>
                    <a:t>天</a:t>
                  </a:r>
                </a:p>
              </p:txBody>
            </p:sp>
            <p:grpSp>
              <p:nvGrpSpPr>
                <p:cNvPr id="157" name="组合 36">
                  <a:extLst>
                    <a:ext uri="{FF2B5EF4-FFF2-40B4-BE49-F238E27FC236}">
                      <a16:creationId xmlns:a16="http://schemas.microsoft.com/office/drawing/2014/main" id="{980CFDD6-3475-D943-98B9-F54D9D41268D}"/>
                    </a:ext>
                  </a:extLst>
                </p:cNvPr>
                <p:cNvGrpSpPr>
                  <a:grpSpLocks/>
                </p:cNvGrpSpPr>
                <p:nvPr/>
              </p:nvGrpSpPr>
              <p:grpSpPr bwMode="auto">
                <a:xfrm>
                  <a:off x="4886036" y="3282678"/>
                  <a:ext cx="258612" cy="380557"/>
                  <a:chOff x="4896176" y="3269720"/>
                  <a:chExt cx="288690" cy="401268"/>
                </a:xfrm>
              </p:grpSpPr>
              <p:sp>
                <p:nvSpPr>
                  <p:cNvPr id="185" name="矩形 22">
                    <a:extLst>
                      <a:ext uri="{FF2B5EF4-FFF2-40B4-BE49-F238E27FC236}">
                        <a16:creationId xmlns:a16="http://schemas.microsoft.com/office/drawing/2014/main" id="{033AABBC-923C-4241-80BC-43E8C9A86A90}"/>
                      </a:ext>
                    </a:extLst>
                  </p:cNvPr>
                  <p:cNvSpPr>
                    <a:spLocks noChangeArrowheads="1"/>
                  </p:cNvSpPr>
                  <p:nvPr/>
                </p:nvSpPr>
                <p:spPr bwMode="auto">
                  <a:xfrm>
                    <a:off x="4896176" y="3269720"/>
                    <a:ext cx="288690" cy="387910"/>
                  </a:xfrm>
                  <a:prstGeom prst="rect">
                    <a:avLst/>
                  </a:prstGeom>
                  <a:solidFill>
                    <a:schemeClr val="bg1"/>
                  </a:solidFill>
                  <a:ln w="12700" algn="ctr">
                    <a:solidFill>
                      <a:schemeClr val="bg1"/>
                    </a:solidFill>
                    <a:round/>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cxnSp>
                <p:nvCxnSpPr>
                  <p:cNvPr id="186" name="直接连接符 24">
                    <a:extLst>
                      <a:ext uri="{FF2B5EF4-FFF2-40B4-BE49-F238E27FC236}">
                        <a16:creationId xmlns:a16="http://schemas.microsoft.com/office/drawing/2014/main" id="{CBF64F5E-55A1-AF43-A50C-5627855508CD}"/>
                      </a:ext>
                    </a:extLst>
                  </p:cNvPr>
                  <p:cNvCxnSpPr>
                    <a:cxnSpLocks noChangeShapeType="1"/>
                  </p:cNvCxnSpPr>
                  <p:nvPr/>
                </p:nvCxnSpPr>
                <p:spPr bwMode="auto">
                  <a:xfrm rot="16200000" flipH="1">
                    <a:off x="4865916" y="3523307"/>
                    <a:ext cx="289692" cy="5669"/>
                  </a:xfrm>
                  <a:prstGeom prst="line">
                    <a:avLst/>
                  </a:prstGeom>
                  <a:noFill/>
                  <a:ln w="12700" algn="ctr">
                    <a:solidFill>
                      <a:schemeClr val="tx2"/>
                    </a:solidFill>
                    <a:round/>
                    <a:headEnd/>
                    <a:tailEnd/>
                  </a:ln>
                  <a:extLst>
                    <a:ext uri="{909E8E84-426E-40DD-AFC4-6F175D3DCCD1}">
                      <a14:hiddenFill xmlns:a14="http://schemas.microsoft.com/office/drawing/2010/main">
                        <a:noFill/>
                      </a14:hiddenFill>
                    </a:ext>
                  </a:extLst>
                </p:spPr>
              </p:cxnSp>
              <p:cxnSp>
                <p:nvCxnSpPr>
                  <p:cNvPr id="187" name="直接连接符 28">
                    <a:extLst>
                      <a:ext uri="{FF2B5EF4-FFF2-40B4-BE49-F238E27FC236}">
                        <a16:creationId xmlns:a16="http://schemas.microsoft.com/office/drawing/2014/main" id="{293E2AA2-EDCE-B341-914F-413209593E6F}"/>
                      </a:ext>
                    </a:extLst>
                  </p:cNvPr>
                  <p:cNvCxnSpPr>
                    <a:cxnSpLocks noChangeShapeType="1"/>
                  </p:cNvCxnSpPr>
                  <p:nvPr/>
                </p:nvCxnSpPr>
                <p:spPr bwMode="auto">
                  <a:xfrm rot="5400000">
                    <a:off x="4925281" y="3523146"/>
                    <a:ext cx="289668" cy="6000"/>
                  </a:xfrm>
                  <a:prstGeom prst="line">
                    <a:avLst/>
                  </a:prstGeom>
                  <a:noFill/>
                  <a:ln w="12700" algn="ctr">
                    <a:solidFill>
                      <a:schemeClr val="tx2"/>
                    </a:solidFill>
                    <a:round/>
                    <a:headEnd/>
                    <a:tailEnd/>
                  </a:ln>
                  <a:extLst>
                    <a:ext uri="{909E8E84-426E-40DD-AFC4-6F175D3DCCD1}">
                      <a14:hiddenFill xmlns:a14="http://schemas.microsoft.com/office/drawing/2010/main">
                        <a:noFill/>
                      </a14:hiddenFill>
                    </a:ext>
                  </a:extLst>
                </p:spPr>
              </p:cxnSp>
            </p:grpSp>
            <p:grpSp>
              <p:nvGrpSpPr>
                <p:cNvPr id="158" name="组合 37">
                  <a:extLst>
                    <a:ext uri="{FF2B5EF4-FFF2-40B4-BE49-F238E27FC236}">
                      <a16:creationId xmlns:a16="http://schemas.microsoft.com/office/drawing/2014/main" id="{DFCE86E4-615F-B342-B0A7-A77536BE54CF}"/>
                    </a:ext>
                  </a:extLst>
                </p:cNvPr>
                <p:cNvGrpSpPr/>
                <p:nvPr/>
              </p:nvGrpSpPr>
              <p:grpSpPr>
                <a:xfrm flipV="1">
                  <a:off x="5002855" y="5008549"/>
                  <a:ext cx="64278" cy="367890"/>
                  <a:chOff x="5007927" y="3321872"/>
                  <a:chExt cx="65188" cy="356087"/>
                </a:xfrm>
                <a:solidFill>
                  <a:schemeClr val="bg1"/>
                </a:solidFill>
              </p:grpSpPr>
              <p:sp>
                <p:nvSpPr>
                  <p:cNvPr id="182" name="矩形 181">
                    <a:extLst>
                      <a:ext uri="{FF2B5EF4-FFF2-40B4-BE49-F238E27FC236}">
                        <a16:creationId xmlns:a16="http://schemas.microsoft.com/office/drawing/2014/main" id="{E23612E5-E247-FF42-908B-39FE99E481A1}"/>
                      </a:ext>
                    </a:extLst>
                  </p:cNvPr>
                  <p:cNvSpPr/>
                  <p:nvPr/>
                </p:nvSpPr>
                <p:spPr bwMode="auto">
                  <a:xfrm>
                    <a:off x="5016842" y="3321872"/>
                    <a:ext cx="45813" cy="356087"/>
                  </a:xfrm>
                  <a:prstGeom prst="rect">
                    <a:avLst/>
                  </a:prstGeom>
                  <a:grpFill/>
                  <a:ln w="12700" cap="flat" cmpd="sng" algn="ctr">
                    <a:solidFill>
                      <a:schemeClr val="bg1"/>
                    </a:solidFill>
                    <a:prstDash val="solid"/>
                    <a:round/>
                    <a:headEnd type="none" w="med" len="med"/>
                    <a:tailEnd type="none" w="med" len="med"/>
                  </a:ln>
                  <a:effectLst/>
                </p:spPr>
                <p:txBody>
                  <a:bodyPr anchor="ctr">
                    <a:spAutoFit/>
                  </a:bodyPr>
                  <a:lstStyle/>
                  <a:p>
                    <a:pPr algn="ctr" fontAlgn="auto">
                      <a:lnSpc>
                        <a:spcPct val="90000"/>
                      </a:lnSpc>
                      <a:spcBef>
                        <a:spcPts val="0"/>
                      </a:spcBef>
                      <a:spcAft>
                        <a:spcPts val="0"/>
                      </a:spcAft>
                      <a:buClr>
                        <a:schemeClr val="accent2"/>
                      </a:buClr>
                      <a:buFont typeface="Wingdings" pitchFamily="2" charset="2"/>
                      <a:buNone/>
                      <a:defRPr/>
                    </a:pPr>
                    <a:endParaRPr lang="zh-CN" altLang="en-US">
                      <a:latin typeface="+mn-lt"/>
                      <a:cs typeface="Arial" pitchFamily="34" charset="0"/>
                    </a:endParaRPr>
                  </a:p>
                </p:txBody>
              </p:sp>
              <p:cxnSp>
                <p:nvCxnSpPr>
                  <p:cNvPr id="183" name="直接连接符 39">
                    <a:extLst>
                      <a:ext uri="{FF2B5EF4-FFF2-40B4-BE49-F238E27FC236}">
                        <a16:creationId xmlns:a16="http://schemas.microsoft.com/office/drawing/2014/main" id="{05CC0B1F-B8A3-2A46-BC7E-44FA4B0B40BC}"/>
                      </a:ext>
                    </a:extLst>
                  </p:cNvPr>
                  <p:cNvCxnSpPr/>
                  <p:nvPr/>
                </p:nvCxnSpPr>
                <p:spPr bwMode="auto">
                  <a:xfrm rot="16200000" flipH="1">
                    <a:off x="4865916" y="3523307"/>
                    <a:ext cx="289692" cy="5669"/>
                  </a:xfrm>
                  <a:prstGeom prst="line">
                    <a:avLst/>
                  </a:prstGeom>
                  <a:grpFill/>
                  <a:ln w="12700" cap="flat" cmpd="sng" algn="ctr">
                    <a:solidFill>
                      <a:schemeClr val="tx2"/>
                    </a:solidFill>
                    <a:prstDash val="solid"/>
                    <a:round/>
                    <a:headEnd type="none" w="med" len="med"/>
                    <a:tailEnd type="none" w="med" len="med"/>
                  </a:ln>
                  <a:effectLst/>
                </p:spPr>
              </p:cxnSp>
              <p:cxnSp>
                <p:nvCxnSpPr>
                  <p:cNvPr id="184" name="直接连接符 40">
                    <a:extLst>
                      <a:ext uri="{FF2B5EF4-FFF2-40B4-BE49-F238E27FC236}">
                        <a16:creationId xmlns:a16="http://schemas.microsoft.com/office/drawing/2014/main" id="{6D9DF86D-08E6-1740-8897-BB55EBA6E557}"/>
                      </a:ext>
                    </a:extLst>
                  </p:cNvPr>
                  <p:cNvCxnSpPr/>
                  <p:nvPr/>
                </p:nvCxnSpPr>
                <p:spPr bwMode="auto">
                  <a:xfrm rot="5400000">
                    <a:off x="4925281" y="3523146"/>
                    <a:ext cx="289668" cy="6000"/>
                  </a:xfrm>
                  <a:prstGeom prst="line">
                    <a:avLst/>
                  </a:prstGeom>
                  <a:grpFill/>
                  <a:ln w="12700" cap="flat" cmpd="sng" algn="ctr">
                    <a:solidFill>
                      <a:schemeClr val="tx2"/>
                    </a:solidFill>
                    <a:prstDash val="solid"/>
                    <a:round/>
                    <a:headEnd type="none" w="med" len="med"/>
                    <a:tailEnd type="none" w="med" len="med"/>
                  </a:ln>
                  <a:effectLst/>
                </p:spPr>
              </p:cxnSp>
            </p:grpSp>
            <p:grpSp>
              <p:nvGrpSpPr>
                <p:cNvPr id="159" name="组合 41">
                  <a:extLst>
                    <a:ext uri="{FF2B5EF4-FFF2-40B4-BE49-F238E27FC236}">
                      <a16:creationId xmlns:a16="http://schemas.microsoft.com/office/drawing/2014/main" id="{7D537595-348E-BD4E-B12E-A7E10879F445}"/>
                    </a:ext>
                  </a:extLst>
                </p:cNvPr>
                <p:cNvGrpSpPr>
                  <a:grpSpLocks/>
                </p:cNvGrpSpPr>
                <p:nvPr/>
              </p:nvGrpSpPr>
              <p:grpSpPr bwMode="auto">
                <a:xfrm rot="2700000">
                  <a:off x="5418107" y="3626234"/>
                  <a:ext cx="486564" cy="313200"/>
                  <a:chOff x="4764434" y="3336330"/>
                  <a:chExt cx="543156" cy="341632"/>
                </a:xfrm>
              </p:grpSpPr>
              <p:sp>
                <p:nvSpPr>
                  <p:cNvPr id="179" name="矩形 42">
                    <a:extLst>
                      <a:ext uri="{FF2B5EF4-FFF2-40B4-BE49-F238E27FC236}">
                        <a16:creationId xmlns:a16="http://schemas.microsoft.com/office/drawing/2014/main" id="{C13DD1E0-0B3D-184E-A2DB-4B991B1D1F2B}"/>
                      </a:ext>
                    </a:extLst>
                  </p:cNvPr>
                  <p:cNvSpPr>
                    <a:spLocks noChangeArrowheads="1"/>
                  </p:cNvSpPr>
                  <p:nvPr/>
                </p:nvSpPr>
                <p:spPr bwMode="auto">
                  <a:xfrm>
                    <a:off x="4764434" y="3336330"/>
                    <a:ext cx="543156" cy="341632"/>
                  </a:xfrm>
                  <a:prstGeom prst="rect">
                    <a:avLst/>
                  </a:prstGeom>
                  <a:solidFill>
                    <a:schemeClr val="bg1"/>
                  </a:solidFill>
                  <a:ln w="12700" algn="ctr">
                    <a:solidFill>
                      <a:schemeClr val="bg1"/>
                    </a:solidFill>
                    <a:round/>
                    <a:headEnd/>
                    <a:tailEnd/>
                  </a:ln>
                </p:spPr>
                <p:txBody>
                  <a:bodyPr rot="10800000" vert="eaVert"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cxnSp>
                <p:nvCxnSpPr>
                  <p:cNvPr id="180" name="直接连接符 43">
                    <a:extLst>
                      <a:ext uri="{FF2B5EF4-FFF2-40B4-BE49-F238E27FC236}">
                        <a16:creationId xmlns:a16="http://schemas.microsoft.com/office/drawing/2014/main" id="{690E3C0B-47BA-D347-94D9-FDF9F6D381DB}"/>
                      </a:ext>
                    </a:extLst>
                  </p:cNvPr>
                  <p:cNvCxnSpPr>
                    <a:cxnSpLocks noChangeShapeType="1"/>
                  </p:cNvCxnSpPr>
                  <p:nvPr/>
                </p:nvCxnSpPr>
                <p:spPr bwMode="auto">
                  <a:xfrm rot="16200000" flipH="1">
                    <a:off x="4865916" y="3523307"/>
                    <a:ext cx="289692" cy="5669"/>
                  </a:xfrm>
                  <a:prstGeom prst="line">
                    <a:avLst/>
                  </a:prstGeom>
                  <a:noFill/>
                  <a:ln w="12700" algn="ctr">
                    <a:solidFill>
                      <a:schemeClr val="tx2"/>
                    </a:solidFill>
                    <a:round/>
                    <a:headEnd/>
                    <a:tailEnd/>
                  </a:ln>
                  <a:extLst>
                    <a:ext uri="{909E8E84-426E-40DD-AFC4-6F175D3DCCD1}">
                      <a14:hiddenFill xmlns:a14="http://schemas.microsoft.com/office/drawing/2010/main">
                        <a:noFill/>
                      </a14:hiddenFill>
                    </a:ext>
                  </a:extLst>
                </p:spPr>
              </p:cxnSp>
              <p:cxnSp>
                <p:nvCxnSpPr>
                  <p:cNvPr id="181" name="直接连接符 44">
                    <a:extLst>
                      <a:ext uri="{FF2B5EF4-FFF2-40B4-BE49-F238E27FC236}">
                        <a16:creationId xmlns:a16="http://schemas.microsoft.com/office/drawing/2014/main" id="{CE85F7EA-A0A8-EC43-A830-207D664A14BD}"/>
                      </a:ext>
                    </a:extLst>
                  </p:cNvPr>
                  <p:cNvCxnSpPr>
                    <a:cxnSpLocks noChangeShapeType="1"/>
                  </p:cNvCxnSpPr>
                  <p:nvPr/>
                </p:nvCxnSpPr>
                <p:spPr bwMode="auto">
                  <a:xfrm rot="5400000">
                    <a:off x="4925281" y="3523146"/>
                    <a:ext cx="289668" cy="6000"/>
                  </a:xfrm>
                  <a:prstGeom prst="line">
                    <a:avLst/>
                  </a:prstGeom>
                  <a:noFill/>
                  <a:ln w="12700" algn="ctr">
                    <a:solidFill>
                      <a:schemeClr val="tx2"/>
                    </a:solidFill>
                    <a:round/>
                    <a:headEnd/>
                    <a:tailEnd/>
                  </a:ln>
                  <a:extLst>
                    <a:ext uri="{909E8E84-426E-40DD-AFC4-6F175D3DCCD1}">
                      <a14:hiddenFill xmlns:a14="http://schemas.microsoft.com/office/drawing/2010/main">
                        <a:noFill/>
                      </a14:hiddenFill>
                    </a:ext>
                  </a:extLst>
                </p:spPr>
              </p:cxnSp>
            </p:grpSp>
            <p:grpSp>
              <p:nvGrpSpPr>
                <p:cNvPr id="160" name="组合 49">
                  <a:extLst>
                    <a:ext uri="{FF2B5EF4-FFF2-40B4-BE49-F238E27FC236}">
                      <a16:creationId xmlns:a16="http://schemas.microsoft.com/office/drawing/2014/main" id="{E4996497-9F28-9B4A-89FE-BCA8AF1E14CA}"/>
                    </a:ext>
                  </a:extLst>
                </p:cNvPr>
                <p:cNvGrpSpPr>
                  <a:grpSpLocks/>
                </p:cNvGrpSpPr>
                <p:nvPr/>
              </p:nvGrpSpPr>
              <p:grpSpPr bwMode="auto">
                <a:xfrm rot="-5400000">
                  <a:off x="3905269" y="4202153"/>
                  <a:ext cx="486564" cy="324000"/>
                  <a:chOff x="4805814" y="3336325"/>
                  <a:chExt cx="475335" cy="341632"/>
                </a:xfrm>
              </p:grpSpPr>
              <p:sp>
                <p:nvSpPr>
                  <p:cNvPr id="176" name="矩形 50">
                    <a:extLst>
                      <a:ext uri="{FF2B5EF4-FFF2-40B4-BE49-F238E27FC236}">
                        <a16:creationId xmlns:a16="http://schemas.microsoft.com/office/drawing/2014/main" id="{5D210DAA-277F-C84F-9B23-9EE32E3BD779}"/>
                      </a:ext>
                    </a:extLst>
                  </p:cNvPr>
                  <p:cNvSpPr>
                    <a:spLocks noChangeArrowheads="1"/>
                  </p:cNvSpPr>
                  <p:nvPr/>
                </p:nvSpPr>
                <p:spPr bwMode="auto">
                  <a:xfrm>
                    <a:off x="4805814" y="3336325"/>
                    <a:ext cx="475335" cy="341632"/>
                  </a:xfrm>
                  <a:prstGeom prst="rect">
                    <a:avLst/>
                  </a:prstGeom>
                  <a:solidFill>
                    <a:schemeClr val="bg1"/>
                  </a:solidFill>
                  <a:ln w="12700" algn="ctr">
                    <a:solidFill>
                      <a:schemeClr val="bg1"/>
                    </a:solidFill>
                    <a:round/>
                    <a:headEnd/>
                    <a:tailEnd/>
                  </a:ln>
                </p:spPr>
                <p:txBody>
                  <a:bodyPr vert="eaVert"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cxnSp>
                <p:nvCxnSpPr>
                  <p:cNvPr id="177" name="直接连接符 51">
                    <a:extLst>
                      <a:ext uri="{FF2B5EF4-FFF2-40B4-BE49-F238E27FC236}">
                        <a16:creationId xmlns:a16="http://schemas.microsoft.com/office/drawing/2014/main" id="{A0EAE54D-50D4-5C4E-83F7-E7BFAE53893D}"/>
                      </a:ext>
                    </a:extLst>
                  </p:cNvPr>
                  <p:cNvCxnSpPr>
                    <a:cxnSpLocks noChangeShapeType="1"/>
                  </p:cNvCxnSpPr>
                  <p:nvPr/>
                </p:nvCxnSpPr>
                <p:spPr bwMode="auto">
                  <a:xfrm rot="16200000" flipH="1">
                    <a:off x="4865916" y="3523307"/>
                    <a:ext cx="289692" cy="5669"/>
                  </a:xfrm>
                  <a:prstGeom prst="line">
                    <a:avLst/>
                  </a:prstGeom>
                  <a:noFill/>
                  <a:ln w="12700" algn="ctr">
                    <a:solidFill>
                      <a:schemeClr val="tx2"/>
                    </a:solidFill>
                    <a:round/>
                    <a:headEnd/>
                    <a:tailEnd/>
                  </a:ln>
                  <a:extLst>
                    <a:ext uri="{909E8E84-426E-40DD-AFC4-6F175D3DCCD1}">
                      <a14:hiddenFill xmlns:a14="http://schemas.microsoft.com/office/drawing/2010/main">
                        <a:noFill/>
                      </a14:hiddenFill>
                    </a:ext>
                  </a:extLst>
                </p:spPr>
              </p:cxnSp>
              <p:cxnSp>
                <p:nvCxnSpPr>
                  <p:cNvPr id="178" name="直接连接符 52">
                    <a:extLst>
                      <a:ext uri="{FF2B5EF4-FFF2-40B4-BE49-F238E27FC236}">
                        <a16:creationId xmlns:a16="http://schemas.microsoft.com/office/drawing/2014/main" id="{B1992227-44AD-2E4E-A879-2AD70770E365}"/>
                      </a:ext>
                    </a:extLst>
                  </p:cNvPr>
                  <p:cNvCxnSpPr>
                    <a:cxnSpLocks noChangeShapeType="1"/>
                  </p:cNvCxnSpPr>
                  <p:nvPr/>
                </p:nvCxnSpPr>
                <p:spPr bwMode="auto">
                  <a:xfrm rot="5400000">
                    <a:off x="4925281" y="3523146"/>
                    <a:ext cx="289668" cy="6000"/>
                  </a:xfrm>
                  <a:prstGeom prst="line">
                    <a:avLst/>
                  </a:prstGeom>
                  <a:noFill/>
                  <a:ln w="12700" algn="ctr">
                    <a:solidFill>
                      <a:schemeClr val="tx2"/>
                    </a:solidFill>
                    <a:round/>
                    <a:headEnd/>
                    <a:tailEnd/>
                  </a:ln>
                  <a:extLst>
                    <a:ext uri="{909E8E84-426E-40DD-AFC4-6F175D3DCCD1}">
                      <a14:hiddenFill xmlns:a14="http://schemas.microsoft.com/office/drawing/2010/main">
                        <a:noFill/>
                      </a14:hiddenFill>
                    </a:ext>
                  </a:extLst>
                </p:spPr>
              </p:cxnSp>
            </p:grpSp>
            <p:grpSp>
              <p:nvGrpSpPr>
                <p:cNvPr id="161" name="组合 53">
                  <a:extLst>
                    <a:ext uri="{FF2B5EF4-FFF2-40B4-BE49-F238E27FC236}">
                      <a16:creationId xmlns:a16="http://schemas.microsoft.com/office/drawing/2014/main" id="{85B91B43-9600-CB45-9CE4-09F29589BD1F}"/>
                    </a:ext>
                  </a:extLst>
                </p:cNvPr>
                <p:cNvGrpSpPr/>
                <p:nvPr/>
              </p:nvGrpSpPr>
              <p:grpSpPr>
                <a:xfrm rot="16200000" flipV="1">
                  <a:off x="5849313" y="4161150"/>
                  <a:ext cx="73449" cy="353627"/>
                  <a:chOff x="5007927" y="3309742"/>
                  <a:chExt cx="65188" cy="394805"/>
                </a:xfrm>
                <a:solidFill>
                  <a:schemeClr val="bg1"/>
                </a:solidFill>
              </p:grpSpPr>
              <p:sp>
                <p:nvSpPr>
                  <p:cNvPr id="173" name="矩形 172">
                    <a:extLst>
                      <a:ext uri="{FF2B5EF4-FFF2-40B4-BE49-F238E27FC236}">
                        <a16:creationId xmlns:a16="http://schemas.microsoft.com/office/drawing/2014/main" id="{F4A6A7B3-8691-344B-BB71-F7DAE31464F0}"/>
                      </a:ext>
                    </a:extLst>
                  </p:cNvPr>
                  <p:cNvSpPr/>
                  <p:nvPr/>
                </p:nvSpPr>
                <p:spPr bwMode="auto">
                  <a:xfrm>
                    <a:off x="5016842" y="3309742"/>
                    <a:ext cx="45812" cy="394805"/>
                  </a:xfrm>
                  <a:prstGeom prst="rect">
                    <a:avLst/>
                  </a:prstGeom>
                  <a:grpFill/>
                  <a:ln w="12700" cap="flat" cmpd="sng" algn="ctr">
                    <a:solidFill>
                      <a:schemeClr val="bg1"/>
                    </a:solidFill>
                    <a:prstDash val="solid"/>
                    <a:round/>
                    <a:headEnd type="none" w="med" len="med"/>
                    <a:tailEnd type="none" w="med" len="med"/>
                  </a:ln>
                  <a:effectLst/>
                </p:spPr>
                <p:txBody>
                  <a:bodyPr anchor="ctr">
                    <a:spAutoFit/>
                  </a:bodyPr>
                  <a:lstStyle/>
                  <a:p>
                    <a:pPr algn="ctr" fontAlgn="auto">
                      <a:lnSpc>
                        <a:spcPct val="90000"/>
                      </a:lnSpc>
                      <a:spcBef>
                        <a:spcPts val="0"/>
                      </a:spcBef>
                      <a:spcAft>
                        <a:spcPts val="0"/>
                      </a:spcAft>
                      <a:buClr>
                        <a:schemeClr val="accent2"/>
                      </a:buClr>
                      <a:buFont typeface="Wingdings" pitchFamily="2" charset="2"/>
                      <a:buNone/>
                      <a:defRPr/>
                    </a:pPr>
                    <a:endParaRPr lang="zh-CN" altLang="en-US">
                      <a:latin typeface="+mn-lt"/>
                      <a:cs typeface="Arial" pitchFamily="34" charset="0"/>
                    </a:endParaRPr>
                  </a:p>
                </p:txBody>
              </p:sp>
              <p:cxnSp>
                <p:nvCxnSpPr>
                  <p:cNvPr id="174" name="直接连接符 55">
                    <a:extLst>
                      <a:ext uri="{FF2B5EF4-FFF2-40B4-BE49-F238E27FC236}">
                        <a16:creationId xmlns:a16="http://schemas.microsoft.com/office/drawing/2014/main" id="{A33981F8-D922-4447-A97E-92A7F943576B}"/>
                      </a:ext>
                    </a:extLst>
                  </p:cNvPr>
                  <p:cNvCxnSpPr/>
                  <p:nvPr/>
                </p:nvCxnSpPr>
                <p:spPr bwMode="auto">
                  <a:xfrm rot="16200000" flipH="1">
                    <a:off x="4865916" y="3523307"/>
                    <a:ext cx="289692" cy="5669"/>
                  </a:xfrm>
                  <a:prstGeom prst="line">
                    <a:avLst/>
                  </a:prstGeom>
                  <a:grpFill/>
                  <a:ln w="12700" cap="flat" cmpd="sng" algn="ctr">
                    <a:solidFill>
                      <a:schemeClr val="tx2"/>
                    </a:solidFill>
                    <a:prstDash val="solid"/>
                    <a:round/>
                    <a:headEnd type="none" w="med" len="med"/>
                    <a:tailEnd type="none" w="med" len="med"/>
                  </a:ln>
                  <a:effectLst/>
                </p:spPr>
              </p:cxnSp>
              <p:cxnSp>
                <p:nvCxnSpPr>
                  <p:cNvPr id="175" name="直接连接符 56">
                    <a:extLst>
                      <a:ext uri="{FF2B5EF4-FFF2-40B4-BE49-F238E27FC236}">
                        <a16:creationId xmlns:a16="http://schemas.microsoft.com/office/drawing/2014/main" id="{45D15E98-618B-BC4E-8793-07A7BDAC1D7F}"/>
                      </a:ext>
                    </a:extLst>
                  </p:cNvPr>
                  <p:cNvCxnSpPr/>
                  <p:nvPr/>
                </p:nvCxnSpPr>
                <p:spPr bwMode="auto">
                  <a:xfrm rot="5400000">
                    <a:off x="4925281" y="3523146"/>
                    <a:ext cx="289668" cy="6000"/>
                  </a:xfrm>
                  <a:prstGeom prst="line">
                    <a:avLst/>
                  </a:prstGeom>
                  <a:grpFill/>
                  <a:ln w="12700" cap="flat" cmpd="sng" algn="ctr">
                    <a:solidFill>
                      <a:schemeClr val="tx2"/>
                    </a:solidFill>
                    <a:prstDash val="solid"/>
                    <a:round/>
                    <a:headEnd type="none" w="med" len="med"/>
                    <a:tailEnd type="none" w="med" len="med"/>
                  </a:ln>
                  <a:effectLst/>
                </p:spPr>
              </p:cxnSp>
            </p:grpSp>
            <p:grpSp>
              <p:nvGrpSpPr>
                <p:cNvPr id="162" name="组合 49">
                  <a:extLst>
                    <a:ext uri="{FF2B5EF4-FFF2-40B4-BE49-F238E27FC236}">
                      <a16:creationId xmlns:a16="http://schemas.microsoft.com/office/drawing/2014/main" id="{34106E2E-8803-5748-BA9C-0E8A5AE506DF}"/>
                    </a:ext>
                  </a:extLst>
                </p:cNvPr>
                <p:cNvGrpSpPr>
                  <a:grpSpLocks/>
                </p:cNvGrpSpPr>
                <p:nvPr/>
              </p:nvGrpSpPr>
              <p:grpSpPr bwMode="auto">
                <a:xfrm rot="-3209988">
                  <a:off x="4106653" y="3663843"/>
                  <a:ext cx="486564" cy="316799"/>
                  <a:chOff x="4755107" y="3338619"/>
                  <a:chExt cx="568547" cy="341631"/>
                </a:xfrm>
              </p:grpSpPr>
              <p:sp>
                <p:nvSpPr>
                  <p:cNvPr id="170" name="矩形 64">
                    <a:extLst>
                      <a:ext uri="{FF2B5EF4-FFF2-40B4-BE49-F238E27FC236}">
                        <a16:creationId xmlns:a16="http://schemas.microsoft.com/office/drawing/2014/main" id="{8C345F7B-8280-6145-A039-2FB0AB434395}"/>
                      </a:ext>
                    </a:extLst>
                  </p:cNvPr>
                  <p:cNvSpPr>
                    <a:spLocks noChangeArrowheads="1"/>
                  </p:cNvSpPr>
                  <p:nvPr/>
                </p:nvSpPr>
                <p:spPr bwMode="auto">
                  <a:xfrm>
                    <a:off x="4755107" y="3338619"/>
                    <a:ext cx="568547" cy="341631"/>
                  </a:xfrm>
                  <a:prstGeom prst="rect">
                    <a:avLst/>
                  </a:prstGeom>
                  <a:solidFill>
                    <a:schemeClr val="bg1"/>
                  </a:solidFill>
                  <a:ln w="12700" algn="ctr">
                    <a:solidFill>
                      <a:schemeClr val="bg1"/>
                    </a:solidFill>
                    <a:round/>
                    <a:headEnd/>
                    <a:tailEnd/>
                  </a:ln>
                </p:spPr>
                <p:txBody>
                  <a:bodyPr vert="eaVert"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cxnSp>
                <p:nvCxnSpPr>
                  <p:cNvPr id="171" name="直接连接符 65">
                    <a:extLst>
                      <a:ext uri="{FF2B5EF4-FFF2-40B4-BE49-F238E27FC236}">
                        <a16:creationId xmlns:a16="http://schemas.microsoft.com/office/drawing/2014/main" id="{0D475E27-EA3E-5D4F-8C06-835F59FBD8C8}"/>
                      </a:ext>
                    </a:extLst>
                  </p:cNvPr>
                  <p:cNvCxnSpPr>
                    <a:cxnSpLocks noChangeShapeType="1"/>
                  </p:cNvCxnSpPr>
                  <p:nvPr/>
                </p:nvCxnSpPr>
                <p:spPr bwMode="auto">
                  <a:xfrm rot="16200000" flipH="1">
                    <a:off x="4865916" y="3523307"/>
                    <a:ext cx="289692" cy="5669"/>
                  </a:xfrm>
                  <a:prstGeom prst="line">
                    <a:avLst/>
                  </a:prstGeom>
                  <a:noFill/>
                  <a:ln w="12700" algn="ctr">
                    <a:solidFill>
                      <a:schemeClr val="tx2"/>
                    </a:solidFill>
                    <a:round/>
                    <a:headEnd/>
                    <a:tailEnd/>
                  </a:ln>
                  <a:extLst>
                    <a:ext uri="{909E8E84-426E-40DD-AFC4-6F175D3DCCD1}">
                      <a14:hiddenFill xmlns:a14="http://schemas.microsoft.com/office/drawing/2010/main">
                        <a:noFill/>
                      </a14:hiddenFill>
                    </a:ext>
                  </a:extLst>
                </p:spPr>
              </p:cxnSp>
              <p:cxnSp>
                <p:nvCxnSpPr>
                  <p:cNvPr id="172" name="直接连接符 66">
                    <a:extLst>
                      <a:ext uri="{FF2B5EF4-FFF2-40B4-BE49-F238E27FC236}">
                        <a16:creationId xmlns:a16="http://schemas.microsoft.com/office/drawing/2014/main" id="{DA5ECD6B-E4B0-BB45-AABF-25BAC7015845}"/>
                      </a:ext>
                    </a:extLst>
                  </p:cNvPr>
                  <p:cNvCxnSpPr>
                    <a:cxnSpLocks noChangeShapeType="1"/>
                  </p:cNvCxnSpPr>
                  <p:nvPr/>
                </p:nvCxnSpPr>
                <p:spPr bwMode="auto">
                  <a:xfrm rot="5400000">
                    <a:off x="4925281" y="3523146"/>
                    <a:ext cx="289668" cy="6000"/>
                  </a:xfrm>
                  <a:prstGeom prst="line">
                    <a:avLst/>
                  </a:prstGeom>
                  <a:noFill/>
                  <a:ln w="12700" algn="ctr">
                    <a:solidFill>
                      <a:schemeClr val="tx2"/>
                    </a:solidFill>
                    <a:round/>
                    <a:headEnd/>
                    <a:tailEnd/>
                  </a:ln>
                  <a:extLst>
                    <a:ext uri="{909E8E84-426E-40DD-AFC4-6F175D3DCCD1}">
                      <a14:hiddenFill xmlns:a14="http://schemas.microsoft.com/office/drawing/2010/main">
                        <a:noFill/>
                      </a14:hiddenFill>
                    </a:ext>
                  </a:extLst>
                </p:spPr>
              </p:cxnSp>
            </p:grpSp>
            <p:grpSp>
              <p:nvGrpSpPr>
                <p:cNvPr id="163" name="组合 53">
                  <a:extLst>
                    <a:ext uri="{FF2B5EF4-FFF2-40B4-BE49-F238E27FC236}">
                      <a16:creationId xmlns:a16="http://schemas.microsoft.com/office/drawing/2014/main" id="{984B1C3E-C550-294A-972F-75DFD3F60EC9}"/>
                    </a:ext>
                  </a:extLst>
                </p:cNvPr>
                <p:cNvGrpSpPr/>
                <p:nvPr/>
              </p:nvGrpSpPr>
              <p:grpSpPr>
                <a:xfrm rot="18390012" flipV="1">
                  <a:off x="5636604" y="4735790"/>
                  <a:ext cx="61407" cy="353628"/>
                  <a:chOff x="5007927" y="3320706"/>
                  <a:chExt cx="65188" cy="372872"/>
                </a:xfrm>
                <a:solidFill>
                  <a:schemeClr val="bg1"/>
                </a:solidFill>
              </p:grpSpPr>
              <p:sp>
                <p:nvSpPr>
                  <p:cNvPr id="167" name="矩形 166">
                    <a:extLst>
                      <a:ext uri="{FF2B5EF4-FFF2-40B4-BE49-F238E27FC236}">
                        <a16:creationId xmlns:a16="http://schemas.microsoft.com/office/drawing/2014/main" id="{0E70827E-0F6E-BE41-9009-B7E62CC0151A}"/>
                      </a:ext>
                    </a:extLst>
                  </p:cNvPr>
                  <p:cNvSpPr/>
                  <p:nvPr/>
                </p:nvSpPr>
                <p:spPr bwMode="auto">
                  <a:xfrm>
                    <a:off x="5016839" y="3320706"/>
                    <a:ext cx="45812" cy="372872"/>
                  </a:xfrm>
                  <a:prstGeom prst="rect">
                    <a:avLst/>
                  </a:prstGeom>
                  <a:grpFill/>
                  <a:ln w="12700" cap="flat" cmpd="sng" algn="ctr">
                    <a:solidFill>
                      <a:schemeClr val="bg1"/>
                    </a:solidFill>
                    <a:prstDash val="solid"/>
                    <a:round/>
                    <a:headEnd type="none" w="med" len="med"/>
                    <a:tailEnd type="none" w="med" len="med"/>
                  </a:ln>
                  <a:effectLst/>
                </p:spPr>
                <p:txBody>
                  <a:bodyPr anchor="ctr">
                    <a:spAutoFit/>
                  </a:bodyPr>
                  <a:lstStyle/>
                  <a:p>
                    <a:pPr algn="ctr" fontAlgn="auto">
                      <a:lnSpc>
                        <a:spcPct val="90000"/>
                      </a:lnSpc>
                      <a:spcBef>
                        <a:spcPts val="0"/>
                      </a:spcBef>
                      <a:spcAft>
                        <a:spcPts val="0"/>
                      </a:spcAft>
                      <a:buClr>
                        <a:schemeClr val="accent2"/>
                      </a:buClr>
                      <a:buFont typeface="Wingdings" pitchFamily="2" charset="2"/>
                      <a:buNone/>
                      <a:defRPr/>
                    </a:pPr>
                    <a:endParaRPr lang="zh-CN" altLang="en-US">
                      <a:latin typeface="+mn-lt"/>
                      <a:cs typeface="Arial" pitchFamily="34" charset="0"/>
                    </a:endParaRPr>
                  </a:p>
                </p:txBody>
              </p:sp>
              <p:cxnSp>
                <p:nvCxnSpPr>
                  <p:cNvPr id="168" name="直接连接符 62">
                    <a:extLst>
                      <a:ext uri="{FF2B5EF4-FFF2-40B4-BE49-F238E27FC236}">
                        <a16:creationId xmlns:a16="http://schemas.microsoft.com/office/drawing/2014/main" id="{51438CCC-01B0-9E4B-BE38-AB68CC9764B2}"/>
                      </a:ext>
                    </a:extLst>
                  </p:cNvPr>
                  <p:cNvCxnSpPr/>
                  <p:nvPr/>
                </p:nvCxnSpPr>
                <p:spPr bwMode="auto">
                  <a:xfrm rot="16200000" flipH="1">
                    <a:off x="4865916" y="3523307"/>
                    <a:ext cx="289692" cy="5669"/>
                  </a:xfrm>
                  <a:prstGeom prst="line">
                    <a:avLst/>
                  </a:prstGeom>
                  <a:grpFill/>
                  <a:ln w="12700" cap="flat" cmpd="sng" algn="ctr">
                    <a:solidFill>
                      <a:schemeClr val="tx2"/>
                    </a:solidFill>
                    <a:prstDash val="solid"/>
                    <a:round/>
                    <a:headEnd type="none" w="med" len="med"/>
                    <a:tailEnd type="none" w="med" len="med"/>
                  </a:ln>
                  <a:effectLst/>
                </p:spPr>
              </p:cxnSp>
              <p:cxnSp>
                <p:nvCxnSpPr>
                  <p:cNvPr id="169" name="直接连接符 63">
                    <a:extLst>
                      <a:ext uri="{FF2B5EF4-FFF2-40B4-BE49-F238E27FC236}">
                        <a16:creationId xmlns:a16="http://schemas.microsoft.com/office/drawing/2014/main" id="{216BE775-B9BC-CF48-BB80-937A9F93DF10}"/>
                      </a:ext>
                    </a:extLst>
                  </p:cNvPr>
                  <p:cNvCxnSpPr/>
                  <p:nvPr/>
                </p:nvCxnSpPr>
                <p:spPr bwMode="auto">
                  <a:xfrm rot="5400000">
                    <a:off x="4925281" y="3523146"/>
                    <a:ext cx="289668" cy="6000"/>
                  </a:xfrm>
                  <a:prstGeom prst="line">
                    <a:avLst/>
                  </a:prstGeom>
                  <a:grpFill/>
                  <a:ln w="12700" cap="flat" cmpd="sng" algn="ctr">
                    <a:solidFill>
                      <a:schemeClr val="tx2"/>
                    </a:solidFill>
                    <a:prstDash val="solid"/>
                    <a:round/>
                    <a:headEnd type="none" w="med" len="med"/>
                    <a:tailEnd type="none" w="med" len="med"/>
                  </a:ln>
                  <a:effectLst/>
                </p:spPr>
              </p:cxnSp>
            </p:grpSp>
            <p:grpSp>
              <p:nvGrpSpPr>
                <p:cNvPr id="164" name="组合 71">
                  <a:extLst>
                    <a:ext uri="{FF2B5EF4-FFF2-40B4-BE49-F238E27FC236}">
                      <a16:creationId xmlns:a16="http://schemas.microsoft.com/office/drawing/2014/main" id="{8985F3C1-BA4E-F040-830D-425D000C0FDB}"/>
                    </a:ext>
                  </a:extLst>
                </p:cNvPr>
                <p:cNvGrpSpPr>
                  <a:grpSpLocks/>
                </p:cNvGrpSpPr>
                <p:nvPr/>
              </p:nvGrpSpPr>
              <p:grpSpPr bwMode="auto">
                <a:xfrm>
                  <a:off x="4085380" y="4766191"/>
                  <a:ext cx="554400" cy="208451"/>
                  <a:chOff x="4085380" y="4766191"/>
                  <a:chExt cx="554400" cy="208451"/>
                </a:xfrm>
              </p:grpSpPr>
              <p:sp>
                <p:nvSpPr>
                  <p:cNvPr id="165" name="左箭头 69">
                    <a:extLst>
                      <a:ext uri="{FF2B5EF4-FFF2-40B4-BE49-F238E27FC236}">
                        <a16:creationId xmlns:a16="http://schemas.microsoft.com/office/drawing/2014/main" id="{24B5FE56-172A-AF41-9E1F-292926D379F5}"/>
                      </a:ext>
                    </a:extLst>
                  </p:cNvPr>
                  <p:cNvSpPr>
                    <a:spLocks noChangeArrowheads="1"/>
                  </p:cNvSpPr>
                  <p:nvPr/>
                </p:nvSpPr>
                <p:spPr bwMode="auto">
                  <a:xfrm rot="-7442357">
                    <a:off x="4272580" y="4607442"/>
                    <a:ext cx="180000" cy="554400"/>
                  </a:xfrm>
                  <a:prstGeom prst="leftArrow">
                    <a:avLst>
                      <a:gd name="adj1" fmla="val 50000"/>
                      <a:gd name="adj2" fmla="val 79477"/>
                    </a:avLst>
                  </a:prstGeom>
                  <a:solidFill>
                    <a:schemeClr val="bg1"/>
                  </a:solidFill>
                  <a:ln w="12700" algn="ctr">
                    <a:solidFill>
                      <a:srgbClr val="002060"/>
                    </a:solidFill>
                    <a:round/>
                    <a:headEnd/>
                    <a:tailEnd/>
                  </a:ln>
                </p:spPr>
                <p:txBody>
                  <a:bodyPr vert="eaVert"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166" name="矩形 70">
                    <a:extLst>
                      <a:ext uri="{FF2B5EF4-FFF2-40B4-BE49-F238E27FC236}">
                        <a16:creationId xmlns:a16="http://schemas.microsoft.com/office/drawing/2014/main" id="{A7C63930-4A12-6B44-8999-F585918A2F38}"/>
                      </a:ext>
                    </a:extLst>
                  </p:cNvPr>
                  <p:cNvSpPr>
                    <a:spLocks noChangeArrowheads="1"/>
                  </p:cNvSpPr>
                  <p:nvPr/>
                </p:nvSpPr>
                <p:spPr bwMode="auto">
                  <a:xfrm rot="-2048877">
                    <a:off x="4173804" y="4766191"/>
                    <a:ext cx="262800" cy="69282"/>
                  </a:xfrm>
                  <a:prstGeom prst="rect">
                    <a:avLst/>
                  </a:prstGeom>
                  <a:solidFill>
                    <a:schemeClr val="bg1"/>
                  </a:solidFill>
                  <a:ln>
                    <a:noFill/>
                  </a:ln>
                  <a:extLst>
                    <a:ext uri="{91240B29-F687-4F45-9708-019B960494DF}">
                      <a14:hiddenLine xmlns:a14="http://schemas.microsoft.com/office/drawing/2010/main" w="12700" algn="ctr">
                        <a:solidFill>
                          <a:srgbClr val="000000"/>
                        </a:solidFill>
                        <a:round/>
                        <a:headEnd/>
                        <a:tailEnd/>
                      </a14:hiddenLine>
                    </a:ext>
                  </a:extLst>
                </p:spPr>
                <p:txBody>
                  <a:bodyPr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grpSp>
          </p:grpSp>
          <p:grpSp>
            <p:nvGrpSpPr>
              <p:cNvPr id="53" name="组合 73">
                <a:extLst>
                  <a:ext uri="{FF2B5EF4-FFF2-40B4-BE49-F238E27FC236}">
                    <a16:creationId xmlns:a16="http://schemas.microsoft.com/office/drawing/2014/main" id="{4C222D7F-EE96-334D-B7B0-F95209A31129}"/>
                  </a:ext>
                </a:extLst>
              </p:cNvPr>
              <p:cNvGrpSpPr>
                <a:grpSpLocks/>
              </p:cNvGrpSpPr>
              <p:nvPr/>
            </p:nvGrpSpPr>
            <p:grpSpPr bwMode="auto">
              <a:xfrm flipH="1">
                <a:off x="3847779" y="1411344"/>
                <a:ext cx="1549724" cy="1629227"/>
                <a:chOff x="3988685" y="3282678"/>
                <a:chExt cx="2074167" cy="2093758"/>
              </a:xfrm>
            </p:grpSpPr>
            <p:sp>
              <p:nvSpPr>
                <p:cNvPr id="122" name="流程图: 顺序访问存储器 74">
                  <a:extLst>
                    <a:ext uri="{FF2B5EF4-FFF2-40B4-BE49-F238E27FC236}">
                      <a16:creationId xmlns:a16="http://schemas.microsoft.com/office/drawing/2014/main" id="{09719806-9071-4448-8C9F-79FE88230123}"/>
                    </a:ext>
                  </a:extLst>
                </p:cNvPr>
                <p:cNvSpPr>
                  <a:spLocks noChangeArrowheads="1"/>
                </p:cNvSpPr>
                <p:nvPr/>
              </p:nvSpPr>
              <p:spPr bwMode="auto">
                <a:xfrm flipH="1">
                  <a:off x="4028303" y="3385751"/>
                  <a:ext cx="1977080" cy="1927654"/>
                </a:xfrm>
                <a:prstGeom prst="flowChartMagneticTape">
                  <a:avLst/>
                </a:prstGeom>
                <a:solidFill>
                  <a:schemeClr val="bg1"/>
                </a:solidFill>
                <a:ln w="12700" algn="ctr">
                  <a:solidFill>
                    <a:srgbClr val="002060"/>
                  </a:solidFill>
                  <a:round/>
                  <a:headEnd/>
                  <a:tailEnd/>
                </a:ln>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123" name="椭圆 75">
                  <a:extLst>
                    <a:ext uri="{FF2B5EF4-FFF2-40B4-BE49-F238E27FC236}">
                      <a16:creationId xmlns:a16="http://schemas.microsoft.com/office/drawing/2014/main" id="{295310E7-EA3F-CD4A-8884-0E7148501E91}"/>
                    </a:ext>
                  </a:extLst>
                </p:cNvPr>
                <p:cNvSpPr>
                  <a:spLocks noChangeArrowheads="1"/>
                </p:cNvSpPr>
                <p:nvPr/>
              </p:nvSpPr>
              <p:spPr bwMode="auto">
                <a:xfrm>
                  <a:off x="4293273" y="3661129"/>
                  <a:ext cx="1447141" cy="1355712"/>
                </a:xfrm>
                <a:prstGeom prst="ellipse">
                  <a:avLst/>
                </a:prstGeom>
                <a:solidFill>
                  <a:schemeClr val="bg1"/>
                </a:solidFill>
                <a:ln w="12700" algn="ctr">
                  <a:solidFill>
                    <a:srgbClr val="002060"/>
                  </a:solidFill>
                  <a:round/>
                  <a:headEnd/>
                  <a:tailEnd/>
                </a:ln>
              </p:spPr>
              <p:txBody>
                <a:bodyPr lIns="36000" rIns="36000"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r>
                    <a:rPr lang="en-US" altLang="zh-CN" sz="1200" b="1" dirty="0"/>
                    <a:t>Daily SCRUM</a:t>
                  </a:r>
                </a:p>
                <a:p>
                  <a:pPr algn="ctr" eaLnBrk="1" hangingPunct="1">
                    <a:lnSpc>
                      <a:spcPct val="90000"/>
                    </a:lnSpc>
                    <a:buClr>
                      <a:schemeClr val="accent2"/>
                    </a:buClr>
                    <a:buFont typeface="Wingdings" pitchFamily="2" charset="2"/>
                    <a:buNone/>
                  </a:pPr>
                  <a:r>
                    <a:rPr lang="zh-CN" altLang="en-US" sz="1200" dirty="0"/>
                    <a:t>每</a:t>
                  </a:r>
                  <a:r>
                    <a:rPr lang="en-US" altLang="zh-CN" sz="1200" dirty="0"/>
                    <a:t>24</a:t>
                  </a:r>
                </a:p>
                <a:p>
                  <a:pPr algn="ctr" eaLnBrk="1" hangingPunct="1">
                    <a:lnSpc>
                      <a:spcPct val="90000"/>
                    </a:lnSpc>
                    <a:buClr>
                      <a:schemeClr val="accent2"/>
                    </a:buClr>
                    <a:buFont typeface="Wingdings" pitchFamily="2" charset="2"/>
                    <a:buNone/>
                  </a:pPr>
                  <a:r>
                    <a:rPr lang="zh-CN" altLang="en-US" sz="1200" dirty="0"/>
                    <a:t>小时</a:t>
                  </a:r>
                </a:p>
              </p:txBody>
            </p:sp>
            <p:grpSp>
              <p:nvGrpSpPr>
                <p:cNvPr id="124" name="组合 36">
                  <a:extLst>
                    <a:ext uri="{FF2B5EF4-FFF2-40B4-BE49-F238E27FC236}">
                      <a16:creationId xmlns:a16="http://schemas.microsoft.com/office/drawing/2014/main" id="{9564E0C5-DD5D-DF41-ADF2-069D34908CEF}"/>
                    </a:ext>
                  </a:extLst>
                </p:cNvPr>
                <p:cNvGrpSpPr>
                  <a:grpSpLocks/>
                </p:cNvGrpSpPr>
                <p:nvPr/>
              </p:nvGrpSpPr>
              <p:grpSpPr bwMode="auto">
                <a:xfrm>
                  <a:off x="4886036" y="3282678"/>
                  <a:ext cx="258612" cy="380557"/>
                  <a:chOff x="4896176" y="3269720"/>
                  <a:chExt cx="288690" cy="401268"/>
                </a:xfrm>
              </p:grpSpPr>
              <p:sp>
                <p:nvSpPr>
                  <p:cNvPr id="152" name="矩形 104">
                    <a:extLst>
                      <a:ext uri="{FF2B5EF4-FFF2-40B4-BE49-F238E27FC236}">
                        <a16:creationId xmlns:a16="http://schemas.microsoft.com/office/drawing/2014/main" id="{38AE0884-0C10-0A4C-9BA0-32D97E39D0BD}"/>
                      </a:ext>
                    </a:extLst>
                  </p:cNvPr>
                  <p:cNvSpPr>
                    <a:spLocks noChangeArrowheads="1"/>
                  </p:cNvSpPr>
                  <p:nvPr/>
                </p:nvSpPr>
                <p:spPr bwMode="auto">
                  <a:xfrm>
                    <a:off x="4896176" y="3269720"/>
                    <a:ext cx="288690" cy="387910"/>
                  </a:xfrm>
                  <a:prstGeom prst="rect">
                    <a:avLst/>
                  </a:prstGeom>
                  <a:solidFill>
                    <a:schemeClr val="bg1"/>
                  </a:solidFill>
                  <a:ln w="12700" algn="ctr">
                    <a:solidFill>
                      <a:schemeClr val="bg1"/>
                    </a:solidFill>
                    <a:round/>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cxnSp>
                <p:nvCxnSpPr>
                  <p:cNvPr id="153" name="直接连接符 105">
                    <a:extLst>
                      <a:ext uri="{FF2B5EF4-FFF2-40B4-BE49-F238E27FC236}">
                        <a16:creationId xmlns:a16="http://schemas.microsoft.com/office/drawing/2014/main" id="{E965CBD8-ED92-EB4F-8ACF-DCBCF7D81299}"/>
                      </a:ext>
                    </a:extLst>
                  </p:cNvPr>
                  <p:cNvCxnSpPr>
                    <a:cxnSpLocks noChangeShapeType="1"/>
                  </p:cNvCxnSpPr>
                  <p:nvPr/>
                </p:nvCxnSpPr>
                <p:spPr bwMode="auto">
                  <a:xfrm rot="16200000" flipH="1">
                    <a:off x="4865916" y="3523307"/>
                    <a:ext cx="289692" cy="5669"/>
                  </a:xfrm>
                  <a:prstGeom prst="line">
                    <a:avLst/>
                  </a:prstGeom>
                  <a:noFill/>
                  <a:ln w="12700" algn="ctr">
                    <a:solidFill>
                      <a:schemeClr val="tx2"/>
                    </a:solidFill>
                    <a:round/>
                    <a:headEnd/>
                    <a:tailEnd/>
                  </a:ln>
                  <a:extLst>
                    <a:ext uri="{909E8E84-426E-40DD-AFC4-6F175D3DCCD1}">
                      <a14:hiddenFill xmlns:a14="http://schemas.microsoft.com/office/drawing/2010/main">
                        <a:noFill/>
                      </a14:hiddenFill>
                    </a:ext>
                  </a:extLst>
                </p:spPr>
              </p:cxnSp>
              <p:cxnSp>
                <p:nvCxnSpPr>
                  <p:cNvPr id="154" name="直接连接符 106">
                    <a:extLst>
                      <a:ext uri="{FF2B5EF4-FFF2-40B4-BE49-F238E27FC236}">
                        <a16:creationId xmlns:a16="http://schemas.microsoft.com/office/drawing/2014/main" id="{61A523FA-70A9-814A-941B-3F460393D98B}"/>
                      </a:ext>
                    </a:extLst>
                  </p:cNvPr>
                  <p:cNvCxnSpPr>
                    <a:cxnSpLocks noChangeShapeType="1"/>
                  </p:cNvCxnSpPr>
                  <p:nvPr/>
                </p:nvCxnSpPr>
                <p:spPr bwMode="auto">
                  <a:xfrm rot="5400000">
                    <a:off x="4925281" y="3523146"/>
                    <a:ext cx="289668" cy="6000"/>
                  </a:xfrm>
                  <a:prstGeom prst="line">
                    <a:avLst/>
                  </a:prstGeom>
                  <a:noFill/>
                  <a:ln w="12700" algn="ctr">
                    <a:solidFill>
                      <a:schemeClr val="tx2"/>
                    </a:solidFill>
                    <a:round/>
                    <a:headEnd/>
                    <a:tailEnd/>
                  </a:ln>
                  <a:extLst>
                    <a:ext uri="{909E8E84-426E-40DD-AFC4-6F175D3DCCD1}">
                      <a14:hiddenFill xmlns:a14="http://schemas.microsoft.com/office/drawing/2010/main">
                        <a:noFill/>
                      </a14:hiddenFill>
                    </a:ext>
                  </a:extLst>
                </p:spPr>
              </p:cxnSp>
            </p:grpSp>
            <p:grpSp>
              <p:nvGrpSpPr>
                <p:cNvPr id="125" name="组合 37">
                  <a:extLst>
                    <a:ext uri="{FF2B5EF4-FFF2-40B4-BE49-F238E27FC236}">
                      <a16:creationId xmlns:a16="http://schemas.microsoft.com/office/drawing/2014/main" id="{F36E86AC-73DA-9345-A121-7AD183B9A201}"/>
                    </a:ext>
                  </a:extLst>
                </p:cNvPr>
                <p:cNvGrpSpPr/>
                <p:nvPr/>
              </p:nvGrpSpPr>
              <p:grpSpPr>
                <a:xfrm flipV="1">
                  <a:off x="5002778" y="5008546"/>
                  <a:ext cx="64277" cy="367890"/>
                  <a:chOff x="5007927" y="3321875"/>
                  <a:chExt cx="65188" cy="356087"/>
                </a:xfrm>
                <a:solidFill>
                  <a:schemeClr val="bg1"/>
                </a:solidFill>
              </p:grpSpPr>
              <p:sp>
                <p:nvSpPr>
                  <p:cNvPr id="149" name="矩形 148">
                    <a:extLst>
                      <a:ext uri="{FF2B5EF4-FFF2-40B4-BE49-F238E27FC236}">
                        <a16:creationId xmlns:a16="http://schemas.microsoft.com/office/drawing/2014/main" id="{182A20ED-174F-3946-A560-BBB33B2CF054}"/>
                      </a:ext>
                    </a:extLst>
                  </p:cNvPr>
                  <p:cNvSpPr/>
                  <p:nvPr/>
                </p:nvSpPr>
                <p:spPr bwMode="auto">
                  <a:xfrm>
                    <a:off x="5016842" y="3321875"/>
                    <a:ext cx="45812" cy="356087"/>
                  </a:xfrm>
                  <a:prstGeom prst="rect">
                    <a:avLst/>
                  </a:prstGeom>
                  <a:grpFill/>
                  <a:ln w="12700" cap="flat" cmpd="sng" algn="ctr">
                    <a:solidFill>
                      <a:schemeClr val="bg1"/>
                    </a:solidFill>
                    <a:prstDash val="solid"/>
                    <a:round/>
                    <a:headEnd type="none" w="med" len="med"/>
                    <a:tailEnd type="none" w="med" len="med"/>
                  </a:ln>
                  <a:effectLst/>
                </p:spPr>
                <p:txBody>
                  <a:bodyPr anchor="ctr">
                    <a:spAutoFit/>
                  </a:bodyPr>
                  <a:lstStyle/>
                  <a:p>
                    <a:pPr algn="ctr" fontAlgn="auto">
                      <a:lnSpc>
                        <a:spcPct val="90000"/>
                      </a:lnSpc>
                      <a:spcBef>
                        <a:spcPts val="0"/>
                      </a:spcBef>
                      <a:spcAft>
                        <a:spcPts val="0"/>
                      </a:spcAft>
                      <a:buClr>
                        <a:schemeClr val="accent2"/>
                      </a:buClr>
                      <a:buFont typeface="Wingdings" pitchFamily="2" charset="2"/>
                      <a:buNone/>
                      <a:defRPr/>
                    </a:pPr>
                    <a:endParaRPr lang="zh-CN" altLang="en-US">
                      <a:latin typeface="+mn-lt"/>
                      <a:cs typeface="Arial" pitchFamily="34" charset="0"/>
                    </a:endParaRPr>
                  </a:p>
                </p:txBody>
              </p:sp>
              <p:cxnSp>
                <p:nvCxnSpPr>
                  <p:cNvPr id="150" name="直接连接符 102">
                    <a:extLst>
                      <a:ext uri="{FF2B5EF4-FFF2-40B4-BE49-F238E27FC236}">
                        <a16:creationId xmlns:a16="http://schemas.microsoft.com/office/drawing/2014/main" id="{20D8B594-F6B2-3E45-86B9-B8ED8CF63F1D}"/>
                      </a:ext>
                    </a:extLst>
                  </p:cNvPr>
                  <p:cNvCxnSpPr/>
                  <p:nvPr/>
                </p:nvCxnSpPr>
                <p:spPr bwMode="auto">
                  <a:xfrm rot="16200000" flipH="1">
                    <a:off x="4865916" y="3523307"/>
                    <a:ext cx="289692" cy="5669"/>
                  </a:xfrm>
                  <a:prstGeom prst="line">
                    <a:avLst/>
                  </a:prstGeom>
                  <a:grpFill/>
                  <a:ln w="12700" cap="flat" cmpd="sng" algn="ctr">
                    <a:solidFill>
                      <a:schemeClr val="tx2"/>
                    </a:solidFill>
                    <a:prstDash val="solid"/>
                    <a:round/>
                    <a:headEnd type="none" w="med" len="med"/>
                    <a:tailEnd type="none" w="med" len="med"/>
                  </a:ln>
                  <a:effectLst/>
                </p:spPr>
              </p:cxnSp>
              <p:cxnSp>
                <p:nvCxnSpPr>
                  <p:cNvPr id="151" name="直接连接符 103">
                    <a:extLst>
                      <a:ext uri="{FF2B5EF4-FFF2-40B4-BE49-F238E27FC236}">
                        <a16:creationId xmlns:a16="http://schemas.microsoft.com/office/drawing/2014/main" id="{E775494D-348C-9145-9C09-47A4A2B6F68F}"/>
                      </a:ext>
                    </a:extLst>
                  </p:cNvPr>
                  <p:cNvCxnSpPr/>
                  <p:nvPr/>
                </p:nvCxnSpPr>
                <p:spPr bwMode="auto">
                  <a:xfrm rot="5400000">
                    <a:off x="4925281" y="3523146"/>
                    <a:ext cx="289668" cy="6000"/>
                  </a:xfrm>
                  <a:prstGeom prst="line">
                    <a:avLst/>
                  </a:prstGeom>
                  <a:grpFill/>
                  <a:ln w="12700" cap="flat" cmpd="sng" algn="ctr">
                    <a:solidFill>
                      <a:schemeClr val="tx2"/>
                    </a:solidFill>
                    <a:prstDash val="solid"/>
                    <a:round/>
                    <a:headEnd type="none" w="med" len="med"/>
                    <a:tailEnd type="none" w="med" len="med"/>
                  </a:ln>
                  <a:effectLst/>
                </p:spPr>
              </p:cxnSp>
            </p:grpSp>
            <p:grpSp>
              <p:nvGrpSpPr>
                <p:cNvPr id="126" name="组合 41">
                  <a:extLst>
                    <a:ext uri="{FF2B5EF4-FFF2-40B4-BE49-F238E27FC236}">
                      <a16:creationId xmlns:a16="http://schemas.microsoft.com/office/drawing/2014/main" id="{8E42F124-55D0-F748-945B-9A29869D496F}"/>
                    </a:ext>
                  </a:extLst>
                </p:cNvPr>
                <p:cNvGrpSpPr>
                  <a:grpSpLocks/>
                </p:cNvGrpSpPr>
                <p:nvPr/>
              </p:nvGrpSpPr>
              <p:grpSpPr bwMode="auto">
                <a:xfrm rot="2700000">
                  <a:off x="5422372" y="3633044"/>
                  <a:ext cx="486563" cy="311084"/>
                  <a:chOff x="4772345" y="3338633"/>
                  <a:chExt cx="543156" cy="339324"/>
                </a:xfrm>
              </p:grpSpPr>
              <p:sp>
                <p:nvSpPr>
                  <p:cNvPr id="146" name="矩形 98">
                    <a:extLst>
                      <a:ext uri="{FF2B5EF4-FFF2-40B4-BE49-F238E27FC236}">
                        <a16:creationId xmlns:a16="http://schemas.microsoft.com/office/drawing/2014/main" id="{36DC1EEA-ECF2-AA4D-BA01-1D41A2CD8A19}"/>
                      </a:ext>
                    </a:extLst>
                  </p:cNvPr>
                  <p:cNvSpPr>
                    <a:spLocks noChangeArrowheads="1"/>
                  </p:cNvSpPr>
                  <p:nvPr/>
                </p:nvSpPr>
                <p:spPr bwMode="auto">
                  <a:xfrm>
                    <a:off x="4772345" y="3338633"/>
                    <a:ext cx="543156" cy="339324"/>
                  </a:xfrm>
                  <a:prstGeom prst="rect">
                    <a:avLst/>
                  </a:prstGeom>
                  <a:solidFill>
                    <a:schemeClr val="bg1"/>
                  </a:solidFill>
                  <a:ln w="12700" algn="ctr">
                    <a:solidFill>
                      <a:schemeClr val="bg1"/>
                    </a:solidFill>
                    <a:round/>
                    <a:headEnd/>
                    <a:tailEnd/>
                  </a:ln>
                </p:spPr>
                <p:txBody>
                  <a:bodyPr vert="eaVert"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cxnSp>
                <p:nvCxnSpPr>
                  <p:cNvPr id="147" name="直接连接符 99">
                    <a:extLst>
                      <a:ext uri="{FF2B5EF4-FFF2-40B4-BE49-F238E27FC236}">
                        <a16:creationId xmlns:a16="http://schemas.microsoft.com/office/drawing/2014/main" id="{FCAEFD94-590E-5C48-AEBF-B121130748C6}"/>
                      </a:ext>
                    </a:extLst>
                  </p:cNvPr>
                  <p:cNvCxnSpPr>
                    <a:cxnSpLocks noChangeShapeType="1"/>
                  </p:cNvCxnSpPr>
                  <p:nvPr/>
                </p:nvCxnSpPr>
                <p:spPr bwMode="auto">
                  <a:xfrm rot="16200000" flipH="1">
                    <a:off x="4865916" y="3523307"/>
                    <a:ext cx="289692" cy="5669"/>
                  </a:xfrm>
                  <a:prstGeom prst="line">
                    <a:avLst/>
                  </a:prstGeom>
                  <a:noFill/>
                  <a:ln w="12700" algn="ctr">
                    <a:solidFill>
                      <a:schemeClr val="tx2"/>
                    </a:solidFill>
                    <a:round/>
                    <a:headEnd/>
                    <a:tailEnd/>
                  </a:ln>
                  <a:extLst>
                    <a:ext uri="{909E8E84-426E-40DD-AFC4-6F175D3DCCD1}">
                      <a14:hiddenFill xmlns:a14="http://schemas.microsoft.com/office/drawing/2010/main">
                        <a:noFill/>
                      </a14:hiddenFill>
                    </a:ext>
                  </a:extLst>
                </p:spPr>
              </p:cxnSp>
              <p:cxnSp>
                <p:nvCxnSpPr>
                  <p:cNvPr id="148" name="直接连接符 100">
                    <a:extLst>
                      <a:ext uri="{FF2B5EF4-FFF2-40B4-BE49-F238E27FC236}">
                        <a16:creationId xmlns:a16="http://schemas.microsoft.com/office/drawing/2014/main" id="{96AFAFD5-BAA6-6B4C-89A6-9E560ADCE1A0}"/>
                      </a:ext>
                    </a:extLst>
                  </p:cNvPr>
                  <p:cNvCxnSpPr>
                    <a:cxnSpLocks noChangeShapeType="1"/>
                  </p:cNvCxnSpPr>
                  <p:nvPr/>
                </p:nvCxnSpPr>
                <p:spPr bwMode="auto">
                  <a:xfrm rot="5400000">
                    <a:off x="4925281" y="3523146"/>
                    <a:ext cx="289668" cy="6000"/>
                  </a:xfrm>
                  <a:prstGeom prst="line">
                    <a:avLst/>
                  </a:prstGeom>
                  <a:noFill/>
                  <a:ln w="12700" algn="ctr">
                    <a:solidFill>
                      <a:schemeClr val="tx2"/>
                    </a:solidFill>
                    <a:round/>
                    <a:headEnd/>
                    <a:tailEnd/>
                  </a:ln>
                  <a:extLst>
                    <a:ext uri="{909E8E84-426E-40DD-AFC4-6F175D3DCCD1}">
                      <a14:hiddenFill xmlns:a14="http://schemas.microsoft.com/office/drawing/2010/main">
                        <a:noFill/>
                      </a14:hiddenFill>
                    </a:ext>
                  </a:extLst>
                </p:spPr>
              </p:cxnSp>
            </p:grpSp>
            <p:grpSp>
              <p:nvGrpSpPr>
                <p:cNvPr id="127" name="组合 49">
                  <a:extLst>
                    <a:ext uri="{FF2B5EF4-FFF2-40B4-BE49-F238E27FC236}">
                      <a16:creationId xmlns:a16="http://schemas.microsoft.com/office/drawing/2014/main" id="{55236CB9-5D2E-6F48-93A3-33AB3160058C}"/>
                    </a:ext>
                  </a:extLst>
                </p:cNvPr>
                <p:cNvGrpSpPr>
                  <a:grpSpLocks/>
                </p:cNvGrpSpPr>
                <p:nvPr/>
              </p:nvGrpSpPr>
              <p:grpSpPr bwMode="auto">
                <a:xfrm rot="-5400000">
                  <a:off x="3907404" y="4206192"/>
                  <a:ext cx="486564" cy="324001"/>
                  <a:chOff x="4801866" y="3338573"/>
                  <a:chExt cx="475334" cy="341633"/>
                </a:xfrm>
              </p:grpSpPr>
              <p:sp>
                <p:nvSpPr>
                  <p:cNvPr id="143" name="矩形 95">
                    <a:extLst>
                      <a:ext uri="{FF2B5EF4-FFF2-40B4-BE49-F238E27FC236}">
                        <a16:creationId xmlns:a16="http://schemas.microsoft.com/office/drawing/2014/main" id="{04030957-A835-DB49-BC11-745D7E6EAB48}"/>
                      </a:ext>
                    </a:extLst>
                  </p:cNvPr>
                  <p:cNvSpPr>
                    <a:spLocks noChangeArrowheads="1"/>
                  </p:cNvSpPr>
                  <p:nvPr/>
                </p:nvSpPr>
                <p:spPr bwMode="auto">
                  <a:xfrm>
                    <a:off x="4801866" y="3338573"/>
                    <a:ext cx="475334" cy="341633"/>
                  </a:xfrm>
                  <a:prstGeom prst="rect">
                    <a:avLst/>
                  </a:prstGeom>
                  <a:solidFill>
                    <a:schemeClr val="bg1"/>
                  </a:solidFill>
                  <a:ln w="12700" algn="ctr">
                    <a:solidFill>
                      <a:schemeClr val="bg1"/>
                    </a:solidFill>
                    <a:round/>
                    <a:headEnd/>
                    <a:tailEnd/>
                  </a:ln>
                </p:spPr>
                <p:txBody>
                  <a:bodyPr rot="10800000" vert="eaVert"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cxnSp>
                <p:nvCxnSpPr>
                  <p:cNvPr id="144" name="直接连接符 96">
                    <a:extLst>
                      <a:ext uri="{FF2B5EF4-FFF2-40B4-BE49-F238E27FC236}">
                        <a16:creationId xmlns:a16="http://schemas.microsoft.com/office/drawing/2014/main" id="{F07DA035-F8EE-5B45-84DD-FBC55B8E4432}"/>
                      </a:ext>
                    </a:extLst>
                  </p:cNvPr>
                  <p:cNvCxnSpPr>
                    <a:cxnSpLocks noChangeShapeType="1"/>
                  </p:cNvCxnSpPr>
                  <p:nvPr/>
                </p:nvCxnSpPr>
                <p:spPr bwMode="auto">
                  <a:xfrm rot="16200000" flipH="1">
                    <a:off x="4865916" y="3523307"/>
                    <a:ext cx="289692" cy="5669"/>
                  </a:xfrm>
                  <a:prstGeom prst="line">
                    <a:avLst/>
                  </a:prstGeom>
                  <a:noFill/>
                  <a:ln w="12700" algn="ctr">
                    <a:solidFill>
                      <a:schemeClr val="tx2"/>
                    </a:solidFill>
                    <a:round/>
                    <a:headEnd/>
                    <a:tailEnd/>
                  </a:ln>
                  <a:extLst>
                    <a:ext uri="{909E8E84-426E-40DD-AFC4-6F175D3DCCD1}">
                      <a14:hiddenFill xmlns:a14="http://schemas.microsoft.com/office/drawing/2010/main">
                        <a:noFill/>
                      </a14:hiddenFill>
                    </a:ext>
                  </a:extLst>
                </p:spPr>
              </p:cxnSp>
              <p:cxnSp>
                <p:nvCxnSpPr>
                  <p:cNvPr id="145" name="直接连接符 97">
                    <a:extLst>
                      <a:ext uri="{FF2B5EF4-FFF2-40B4-BE49-F238E27FC236}">
                        <a16:creationId xmlns:a16="http://schemas.microsoft.com/office/drawing/2014/main" id="{82BFDDFA-C5D8-6B42-A191-8DE85F1B01DE}"/>
                      </a:ext>
                    </a:extLst>
                  </p:cNvPr>
                  <p:cNvCxnSpPr>
                    <a:cxnSpLocks noChangeShapeType="1"/>
                  </p:cNvCxnSpPr>
                  <p:nvPr/>
                </p:nvCxnSpPr>
                <p:spPr bwMode="auto">
                  <a:xfrm rot="5400000">
                    <a:off x="4925281" y="3523146"/>
                    <a:ext cx="289668" cy="6000"/>
                  </a:xfrm>
                  <a:prstGeom prst="line">
                    <a:avLst/>
                  </a:prstGeom>
                  <a:noFill/>
                  <a:ln w="12700" algn="ctr">
                    <a:solidFill>
                      <a:schemeClr val="tx2"/>
                    </a:solidFill>
                    <a:round/>
                    <a:headEnd/>
                    <a:tailEnd/>
                  </a:ln>
                  <a:extLst>
                    <a:ext uri="{909E8E84-426E-40DD-AFC4-6F175D3DCCD1}">
                      <a14:hiddenFill xmlns:a14="http://schemas.microsoft.com/office/drawing/2010/main">
                        <a:noFill/>
                      </a14:hiddenFill>
                    </a:ext>
                  </a:extLst>
                </p:spPr>
              </p:cxnSp>
            </p:grpSp>
            <p:grpSp>
              <p:nvGrpSpPr>
                <p:cNvPr id="128" name="组合 53">
                  <a:extLst>
                    <a:ext uri="{FF2B5EF4-FFF2-40B4-BE49-F238E27FC236}">
                      <a16:creationId xmlns:a16="http://schemas.microsoft.com/office/drawing/2014/main" id="{71BDC3C8-25BC-804B-B1F0-E8633D64F70F}"/>
                    </a:ext>
                  </a:extLst>
                </p:cNvPr>
                <p:cNvGrpSpPr/>
                <p:nvPr/>
              </p:nvGrpSpPr>
              <p:grpSpPr>
                <a:xfrm rot="16200000" flipV="1">
                  <a:off x="5849314" y="4161073"/>
                  <a:ext cx="73450" cy="353627"/>
                  <a:chOff x="5007927" y="3309741"/>
                  <a:chExt cx="65188" cy="394805"/>
                </a:xfrm>
                <a:solidFill>
                  <a:schemeClr val="bg1"/>
                </a:solidFill>
              </p:grpSpPr>
              <p:sp>
                <p:nvSpPr>
                  <p:cNvPr id="140" name="矩形 139">
                    <a:extLst>
                      <a:ext uri="{FF2B5EF4-FFF2-40B4-BE49-F238E27FC236}">
                        <a16:creationId xmlns:a16="http://schemas.microsoft.com/office/drawing/2014/main" id="{24426AB1-1A63-8941-9EA4-E292991CC3EA}"/>
                      </a:ext>
                    </a:extLst>
                  </p:cNvPr>
                  <p:cNvSpPr/>
                  <p:nvPr/>
                </p:nvSpPr>
                <p:spPr bwMode="auto">
                  <a:xfrm>
                    <a:off x="5016845" y="3309741"/>
                    <a:ext cx="45812" cy="394805"/>
                  </a:xfrm>
                  <a:prstGeom prst="rect">
                    <a:avLst/>
                  </a:prstGeom>
                  <a:grpFill/>
                  <a:ln w="12700" cap="flat" cmpd="sng" algn="ctr">
                    <a:solidFill>
                      <a:schemeClr val="bg1"/>
                    </a:solidFill>
                    <a:prstDash val="solid"/>
                    <a:round/>
                    <a:headEnd type="none" w="med" len="med"/>
                    <a:tailEnd type="none" w="med" len="med"/>
                  </a:ln>
                  <a:effectLst/>
                </p:spPr>
                <p:txBody>
                  <a:bodyPr anchor="ctr">
                    <a:spAutoFit/>
                  </a:bodyPr>
                  <a:lstStyle/>
                  <a:p>
                    <a:pPr algn="ctr" fontAlgn="auto">
                      <a:lnSpc>
                        <a:spcPct val="90000"/>
                      </a:lnSpc>
                      <a:spcBef>
                        <a:spcPts val="0"/>
                      </a:spcBef>
                      <a:spcAft>
                        <a:spcPts val="0"/>
                      </a:spcAft>
                      <a:buClr>
                        <a:schemeClr val="accent2"/>
                      </a:buClr>
                      <a:buFont typeface="Wingdings" pitchFamily="2" charset="2"/>
                      <a:buNone/>
                      <a:defRPr/>
                    </a:pPr>
                    <a:endParaRPr lang="zh-CN" altLang="en-US">
                      <a:latin typeface="+mn-lt"/>
                      <a:cs typeface="Arial" pitchFamily="34" charset="0"/>
                    </a:endParaRPr>
                  </a:p>
                </p:txBody>
              </p:sp>
              <p:cxnSp>
                <p:nvCxnSpPr>
                  <p:cNvPr id="141" name="直接连接符 93">
                    <a:extLst>
                      <a:ext uri="{FF2B5EF4-FFF2-40B4-BE49-F238E27FC236}">
                        <a16:creationId xmlns:a16="http://schemas.microsoft.com/office/drawing/2014/main" id="{6EB0BEF5-3979-3347-AA66-1019D230E718}"/>
                      </a:ext>
                    </a:extLst>
                  </p:cNvPr>
                  <p:cNvCxnSpPr/>
                  <p:nvPr/>
                </p:nvCxnSpPr>
                <p:spPr bwMode="auto">
                  <a:xfrm rot="16200000" flipH="1">
                    <a:off x="4865916" y="3523307"/>
                    <a:ext cx="289692" cy="5669"/>
                  </a:xfrm>
                  <a:prstGeom prst="line">
                    <a:avLst/>
                  </a:prstGeom>
                  <a:grpFill/>
                  <a:ln w="12700" cap="flat" cmpd="sng" algn="ctr">
                    <a:solidFill>
                      <a:schemeClr val="tx2"/>
                    </a:solidFill>
                    <a:prstDash val="solid"/>
                    <a:round/>
                    <a:headEnd type="none" w="med" len="med"/>
                    <a:tailEnd type="none" w="med" len="med"/>
                  </a:ln>
                  <a:effectLst/>
                </p:spPr>
              </p:cxnSp>
              <p:cxnSp>
                <p:nvCxnSpPr>
                  <p:cNvPr id="142" name="直接连接符 94">
                    <a:extLst>
                      <a:ext uri="{FF2B5EF4-FFF2-40B4-BE49-F238E27FC236}">
                        <a16:creationId xmlns:a16="http://schemas.microsoft.com/office/drawing/2014/main" id="{DBD25327-183C-E249-821A-23337D65CD87}"/>
                      </a:ext>
                    </a:extLst>
                  </p:cNvPr>
                  <p:cNvCxnSpPr/>
                  <p:nvPr/>
                </p:nvCxnSpPr>
                <p:spPr bwMode="auto">
                  <a:xfrm rot="5400000">
                    <a:off x="4925281" y="3523146"/>
                    <a:ext cx="289668" cy="6000"/>
                  </a:xfrm>
                  <a:prstGeom prst="line">
                    <a:avLst/>
                  </a:prstGeom>
                  <a:grpFill/>
                  <a:ln w="12700" cap="flat" cmpd="sng" algn="ctr">
                    <a:solidFill>
                      <a:schemeClr val="tx2"/>
                    </a:solidFill>
                    <a:prstDash val="solid"/>
                    <a:round/>
                    <a:headEnd type="none" w="med" len="med"/>
                    <a:tailEnd type="none" w="med" len="med"/>
                  </a:ln>
                  <a:effectLst/>
                </p:spPr>
              </p:cxnSp>
            </p:grpSp>
            <p:grpSp>
              <p:nvGrpSpPr>
                <p:cNvPr id="129" name="组合 49">
                  <a:extLst>
                    <a:ext uri="{FF2B5EF4-FFF2-40B4-BE49-F238E27FC236}">
                      <a16:creationId xmlns:a16="http://schemas.microsoft.com/office/drawing/2014/main" id="{4335BC2C-F15A-FD4A-A6A1-E934ED6FCF2F}"/>
                    </a:ext>
                  </a:extLst>
                </p:cNvPr>
                <p:cNvGrpSpPr>
                  <a:grpSpLocks/>
                </p:cNvGrpSpPr>
                <p:nvPr/>
              </p:nvGrpSpPr>
              <p:grpSpPr bwMode="auto">
                <a:xfrm rot="-3209988">
                  <a:off x="4096553" y="3688222"/>
                  <a:ext cx="486564" cy="316800"/>
                  <a:chOff x="4725182" y="3345498"/>
                  <a:chExt cx="568548" cy="341632"/>
                </a:xfrm>
              </p:grpSpPr>
              <p:sp>
                <p:nvSpPr>
                  <p:cNvPr id="137" name="矩形 89">
                    <a:extLst>
                      <a:ext uri="{FF2B5EF4-FFF2-40B4-BE49-F238E27FC236}">
                        <a16:creationId xmlns:a16="http://schemas.microsoft.com/office/drawing/2014/main" id="{6F3751CA-D570-514B-B7BE-3C48E7239AAA}"/>
                      </a:ext>
                    </a:extLst>
                  </p:cNvPr>
                  <p:cNvSpPr>
                    <a:spLocks noChangeArrowheads="1"/>
                  </p:cNvSpPr>
                  <p:nvPr/>
                </p:nvSpPr>
                <p:spPr bwMode="auto">
                  <a:xfrm>
                    <a:off x="4725182" y="3345498"/>
                    <a:ext cx="568548" cy="341632"/>
                  </a:xfrm>
                  <a:prstGeom prst="rect">
                    <a:avLst/>
                  </a:prstGeom>
                  <a:solidFill>
                    <a:schemeClr val="bg1"/>
                  </a:solidFill>
                  <a:ln w="12700" algn="ctr">
                    <a:solidFill>
                      <a:schemeClr val="bg1"/>
                    </a:solidFill>
                    <a:round/>
                    <a:headEnd/>
                    <a:tailEnd/>
                  </a:ln>
                </p:spPr>
                <p:txBody>
                  <a:bodyPr rot="10800000" vert="eaVert"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cxnSp>
                <p:nvCxnSpPr>
                  <p:cNvPr id="138" name="直接连接符 90">
                    <a:extLst>
                      <a:ext uri="{FF2B5EF4-FFF2-40B4-BE49-F238E27FC236}">
                        <a16:creationId xmlns:a16="http://schemas.microsoft.com/office/drawing/2014/main" id="{43C2A2EA-C1DD-4C4F-923F-2A245753EFBD}"/>
                      </a:ext>
                    </a:extLst>
                  </p:cNvPr>
                  <p:cNvCxnSpPr>
                    <a:cxnSpLocks noChangeShapeType="1"/>
                  </p:cNvCxnSpPr>
                  <p:nvPr/>
                </p:nvCxnSpPr>
                <p:spPr bwMode="auto">
                  <a:xfrm rot="16200000" flipH="1">
                    <a:off x="4865916" y="3523307"/>
                    <a:ext cx="289692" cy="5669"/>
                  </a:xfrm>
                  <a:prstGeom prst="line">
                    <a:avLst/>
                  </a:prstGeom>
                  <a:noFill/>
                  <a:ln w="12700" algn="ctr">
                    <a:solidFill>
                      <a:schemeClr val="tx2"/>
                    </a:solidFill>
                    <a:round/>
                    <a:headEnd/>
                    <a:tailEnd/>
                  </a:ln>
                  <a:extLst>
                    <a:ext uri="{909E8E84-426E-40DD-AFC4-6F175D3DCCD1}">
                      <a14:hiddenFill xmlns:a14="http://schemas.microsoft.com/office/drawing/2010/main">
                        <a:noFill/>
                      </a14:hiddenFill>
                    </a:ext>
                  </a:extLst>
                </p:spPr>
              </p:cxnSp>
              <p:cxnSp>
                <p:nvCxnSpPr>
                  <p:cNvPr id="139" name="直接连接符 91">
                    <a:extLst>
                      <a:ext uri="{FF2B5EF4-FFF2-40B4-BE49-F238E27FC236}">
                        <a16:creationId xmlns:a16="http://schemas.microsoft.com/office/drawing/2014/main" id="{0E5B32F3-4258-804E-B186-B5A985301BD0}"/>
                      </a:ext>
                    </a:extLst>
                  </p:cNvPr>
                  <p:cNvCxnSpPr>
                    <a:cxnSpLocks noChangeShapeType="1"/>
                  </p:cNvCxnSpPr>
                  <p:nvPr/>
                </p:nvCxnSpPr>
                <p:spPr bwMode="auto">
                  <a:xfrm rot="5400000">
                    <a:off x="4925281" y="3523146"/>
                    <a:ext cx="289668" cy="6000"/>
                  </a:xfrm>
                  <a:prstGeom prst="line">
                    <a:avLst/>
                  </a:prstGeom>
                  <a:noFill/>
                  <a:ln w="12700" algn="ctr">
                    <a:solidFill>
                      <a:schemeClr val="tx2"/>
                    </a:solidFill>
                    <a:round/>
                    <a:headEnd/>
                    <a:tailEnd/>
                  </a:ln>
                  <a:extLst>
                    <a:ext uri="{909E8E84-426E-40DD-AFC4-6F175D3DCCD1}">
                      <a14:hiddenFill xmlns:a14="http://schemas.microsoft.com/office/drawing/2010/main">
                        <a:noFill/>
                      </a14:hiddenFill>
                    </a:ext>
                  </a:extLst>
                </p:spPr>
              </p:cxnSp>
            </p:grpSp>
            <p:grpSp>
              <p:nvGrpSpPr>
                <p:cNvPr id="130" name="组合 53">
                  <a:extLst>
                    <a:ext uri="{FF2B5EF4-FFF2-40B4-BE49-F238E27FC236}">
                      <a16:creationId xmlns:a16="http://schemas.microsoft.com/office/drawing/2014/main" id="{9216BE0D-3607-0E44-9408-B7714F699B20}"/>
                    </a:ext>
                  </a:extLst>
                </p:cNvPr>
                <p:cNvGrpSpPr/>
                <p:nvPr/>
              </p:nvGrpSpPr>
              <p:grpSpPr>
                <a:xfrm rot="18390012" flipV="1">
                  <a:off x="5636604" y="4735790"/>
                  <a:ext cx="61407" cy="353628"/>
                  <a:chOff x="5007927" y="3320706"/>
                  <a:chExt cx="65188" cy="372872"/>
                </a:xfrm>
                <a:solidFill>
                  <a:schemeClr val="bg1"/>
                </a:solidFill>
              </p:grpSpPr>
              <p:sp>
                <p:nvSpPr>
                  <p:cNvPr id="134" name="矩形 133">
                    <a:extLst>
                      <a:ext uri="{FF2B5EF4-FFF2-40B4-BE49-F238E27FC236}">
                        <a16:creationId xmlns:a16="http://schemas.microsoft.com/office/drawing/2014/main" id="{04CF4EFB-70D4-274E-B883-EE7722CC65C6}"/>
                      </a:ext>
                    </a:extLst>
                  </p:cNvPr>
                  <p:cNvSpPr/>
                  <p:nvPr/>
                </p:nvSpPr>
                <p:spPr bwMode="auto">
                  <a:xfrm>
                    <a:off x="5016844" y="3320706"/>
                    <a:ext cx="45812" cy="372872"/>
                  </a:xfrm>
                  <a:prstGeom prst="rect">
                    <a:avLst/>
                  </a:prstGeom>
                  <a:grpFill/>
                  <a:ln w="12700" cap="flat" cmpd="sng" algn="ctr">
                    <a:solidFill>
                      <a:schemeClr val="bg1"/>
                    </a:solidFill>
                    <a:prstDash val="solid"/>
                    <a:round/>
                    <a:headEnd type="none" w="med" len="med"/>
                    <a:tailEnd type="none" w="med" len="med"/>
                  </a:ln>
                  <a:effectLst/>
                </p:spPr>
                <p:txBody>
                  <a:bodyPr anchor="ctr">
                    <a:spAutoFit/>
                  </a:bodyPr>
                  <a:lstStyle/>
                  <a:p>
                    <a:pPr algn="ctr" fontAlgn="auto">
                      <a:lnSpc>
                        <a:spcPct val="90000"/>
                      </a:lnSpc>
                      <a:spcBef>
                        <a:spcPts val="0"/>
                      </a:spcBef>
                      <a:spcAft>
                        <a:spcPts val="0"/>
                      </a:spcAft>
                      <a:buClr>
                        <a:schemeClr val="accent2"/>
                      </a:buClr>
                      <a:buFont typeface="Wingdings" pitchFamily="2" charset="2"/>
                      <a:buNone/>
                      <a:defRPr/>
                    </a:pPr>
                    <a:endParaRPr lang="zh-CN" altLang="en-US">
                      <a:latin typeface="+mn-lt"/>
                      <a:cs typeface="Arial" pitchFamily="34" charset="0"/>
                    </a:endParaRPr>
                  </a:p>
                </p:txBody>
              </p:sp>
              <p:cxnSp>
                <p:nvCxnSpPr>
                  <p:cNvPr id="135" name="直接连接符 87">
                    <a:extLst>
                      <a:ext uri="{FF2B5EF4-FFF2-40B4-BE49-F238E27FC236}">
                        <a16:creationId xmlns:a16="http://schemas.microsoft.com/office/drawing/2014/main" id="{CE0EC9BA-698B-024A-BE55-84A880EEB2B8}"/>
                      </a:ext>
                    </a:extLst>
                  </p:cNvPr>
                  <p:cNvCxnSpPr/>
                  <p:nvPr/>
                </p:nvCxnSpPr>
                <p:spPr bwMode="auto">
                  <a:xfrm rot="16200000" flipH="1">
                    <a:off x="4865916" y="3523307"/>
                    <a:ext cx="289692" cy="5669"/>
                  </a:xfrm>
                  <a:prstGeom prst="line">
                    <a:avLst/>
                  </a:prstGeom>
                  <a:grpFill/>
                  <a:ln w="12700" cap="flat" cmpd="sng" algn="ctr">
                    <a:solidFill>
                      <a:schemeClr val="tx2"/>
                    </a:solidFill>
                    <a:prstDash val="solid"/>
                    <a:round/>
                    <a:headEnd type="none" w="med" len="med"/>
                    <a:tailEnd type="none" w="med" len="med"/>
                  </a:ln>
                  <a:effectLst/>
                </p:spPr>
              </p:cxnSp>
              <p:cxnSp>
                <p:nvCxnSpPr>
                  <p:cNvPr id="136" name="直接连接符 88">
                    <a:extLst>
                      <a:ext uri="{FF2B5EF4-FFF2-40B4-BE49-F238E27FC236}">
                        <a16:creationId xmlns:a16="http://schemas.microsoft.com/office/drawing/2014/main" id="{97C6A56D-DBCE-0947-9B1D-7C0A7896E83A}"/>
                      </a:ext>
                    </a:extLst>
                  </p:cNvPr>
                  <p:cNvCxnSpPr/>
                  <p:nvPr/>
                </p:nvCxnSpPr>
                <p:spPr bwMode="auto">
                  <a:xfrm rot="5400000">
                    <a:off x="4925281" y="3523146"/>
                    <a:ext cx="289668" cy="6000"/>
                  </a:xfrm>
                  <a:prstGeom prst="line">
                    <a:avLst/>
                  </a:prstGeom>
                  <a:grpFill/>
                  <a:ln w="12700" cap="flat" cmpd="sng" algn="ctr">
                    <a:solidFill>
                      <a:schemeClr val="tx2"/>
                    </a:solidFill>
                    <a:prstDash val="solid"/>
                    <a:round/>
                    <a:headEnd type="none" w="med" len="med"/>
                    <a:tailEnd type="none" w="med" len="med"/>
                  </a:ln>
                  <a:effectLst/>
                </p:spPr>
              </p:cxnSp>
            </p:grpSp>
            <p:grpSp>
              <p:nvGrpSpPr>
                <p:cNvPr id="131" name="组合 71">
                  <a:extLst>
                    <a:ext uri="{FF2B5EF4-FFF2-40B4-BE49-F238E27FC236}">
                      <a16:creationId xmlns:a16="http://schemas.microsoft.com/office/drawing/2014/main" id="{01E446B1-DDBB-A442-961E-9CBE1CE8FAFD}"/>
                    </a:ext>
                  </a:extLst>
                </p:cNvPr>
                <p:cNvGrpSpPr>
                  <a:grpSpLocks/>
                </p:cNvGrpSpPr>
                <p:nvPr/>
              </p:nvGrpSpPr>
              <p:grpSpPr bwMode="auto">
                <a:xfrm>
                  <a:off x="4085380" y="4766191"/>
                  <a:ext cx="554400" cy="208451"/>
                  <a:chOff x="4085380" y="4766191"/>
                  <a:chExt cx="554400" cy="208451"/>
                </a:xfrm>
              </p:grpSpPr>
              <p:sp>
                <p:nvSpPr>
                  <p:cNvPr id="132" name="左箭头 84">
                    <a:extLst>
                      <a:ext uri="{FF2B5EF4-FFF2-40B4-BE49-F238E27FC236}">
                        <a16:creationId xmlns:a16="http://schemas.microsoft.com/office/drawing/2014/main" id="{CE8FD3E3-178B-1A45-A316-98E6AF51B248}"/>
                      </a:ext>
                    </a:extLst>
                  </p:cNvPr>
                  <p:cNvSpPr>
                    <a:spLocks noChangeArrowheads="1"/>
                  </p:cNvSpPr>
                  <p:nvPr/>
                </p:nvSpPr>
                <p:spPr bwMode="auto">
                  <a:xfrm rot="-7442357">
                    <a:off x="4272580" y="4607442"/>
                    <a:ext cx="180000" cy="554400"/>
                  </a:xfrm>
                  <a:prstGeom prst="leftArrow">
                    <a:avLst>
                      <a:gd name="adj1" fmla="val 50000"/>
                      <a:gd name="adj2" fmla="val 79477"/>
                    </a:avLst>
                  </a:prstGeom>
                  <a:solidFill>
                    <a:schemeClr val="bg1"/>
                  </a:solidFill>
                  <a:ln w="12700" algn="ctr">
                    <a:solidFill>
                      <a:srgbClr val="002060"/>
                    </a:solidFill>
                    <a:round/>
                    <a:headEnd/>
                    <a:tailEnd/>
                  </a:ln>
                </p:spPr>
                <p:txBody>
                  <a:bodyPr rot="10800000" vert="eaVert"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133" name="矩形 85">
                    <a:extLst>
                      <a:ext uri="{FF2B5EF4-FFF2-40B4-BE49-F238E27FC236}">
                        <a16:creationId xmlns:a16="http://schemas.microsoft.com/office/drawing/2014/main" id="{AFB83D6A-5E68-9C4C-9098-FE0B59BB2E26}"/>
                      </a:ext>
                    </a:extLst>
                  </p:cNvPr>
                  <p:cNvSpPr>
                    <a:spLocks noChangeArrowheads="1"/>
                  </p:cNvSpPr>
                  <p:nvPr/>
                </p:nvSpPr>
                <p:spPr bwMode="auto">
                  <a:xfrm rot="-2048877">
                    <a:off x="4173804" y="4766191"/>
                    <a:ext cx="262800" cy="69282"/>
                  </a:xfrm>
                  <a:prstGeom prst="rect">
                    <a:avLst/>
                  </a:prstGeom>
                  <a:solidFill>
                    <a:schemeClr val="bg1"/>
                  </a:solidFill>
                  <a:ln>
                    <a:noFill/>
                  </a:ln>
                  <a:extLst>
                    <a:ext uri="{91240B29-F687-4F45-9708-019B960494DF}">
                      <a14:hiddenLine xmlns:a14="http://schemas.microsoft.com/office/drawing/2010/main" w="12700" algn="ctr">
                        <a:solidFill>
                          <a:srgbClr val="000000"/>
                        </a:solidFill>
                        <a:round/>
                        <a:headEnd/>
                        <a:tailEnd/>
                      </a14:hiddenLine>
                    </a:ext>
                  </a:extLst>
                </p:spPr>
                <p:txBody>
                  <a:bodyPr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grpSp>
          </p:grpSp>
          <p:cxnSp>
            <p:nvCxnSpPr>
              <p:cNvPr id="54" name="直接连接符 108">
                <a:extLst>
                  <a:ext uri="{FF2B5EF4-FFF2-40B4-BE49-F238E27FC236}">
                    <a16:creationId xmlns:a16="http://schemas.microsoft.com/office/drawing/2014/main" id="{77181A60-84F2-CB42-BBF2-F8B0C94CF171}"/>
                  </a:ext>
                </a:extLst>
              </p:cNvPr>
              <p:cNvCxnSpPr>
                <a:cxnSpLocks noChangeShapeType="1"/>
              </p:cNvCxnSpPr>
              <p:nvPr/>
            </p:nvCxnSpPr>
            <p:spPr bwMode="auto">
              <a:xfrm>
                <a:off x="4648200" y="2992438"/>
                <a:ext cx="646113" cy="0"/>
              </a:xfrm>
              <a:prstGeom prst="line">
                <a:avLst/>
              </a:prstGeom>
              <a:noFill/>
              <a:ln w="25400" algn="ctr">
                <a:solidFill>
                  <a:schemeClr val="bg1"/>
                </a:solidFill>
                <a:round/>
                <a:headEnd/>
                <a:tailEnd/>
              </a:ln>
              <a:extLst>
                <a:ext uri="{909E8E84-426E-40DD-AFC4-6F175D3DCCD1}">
                  <a14:hiddenFill xmlns:a14="http://schemas.microsoft.com/office/drawing/2010/main">
                    <a:noFill/>
                  </a14:hiddenFill>
                </a:ext>
              </a:extLst>
            </p:spPr>
          </p:cxnSp>
          <p:cxnSp>
            <p:nvCxnSpPr>
              <p:cNvPr id="55" name="直接连接符 109">
                <a:extLst>
                  <a:ext uri="{FF2B5EF4-FFF2-40B4-BE49-F238E27FC236}">
                    <a16:creationId xmlns:a16="http://schemas.microsoft.com/office/drawing/2014/main" id="{DA1F4C3D-6639-D249-B2EE-A8894CCE8F52}"/>
                  </a:ext>
                </a:extLst>
              </p:cNvPr>
              <p:cNvCxnSpPr>
                <a:cxnSpLocks noChangeShapeType="1"/>
              </p:cNvCxnSpPr>
              <p:nvPr/>
            </p:nvCxnSpPr>
            <p:spPr bwMode="auto">
              <a:xfrm>
                <a:off x="4673600" y="2986088"/>
                <a:ext cx="646113" cy="1587"/>
              </a:xfrm>
              <a:prstGeom prst="line">
                <a:avLst/>
              </a:prstGeom>
              <a:noFill/>
              <a:ln w="25400" algn="ctr">
                <a:solidFill>
                  <a:srgbClr val="002060"/>
                </a:solidFill>
                <a:prstDash val="dash"/>
                <a:round/>
                <a:headEnd/>
                <a:tailEnd/>
              </a:ln>
              <a:extLst>
                <a:ext uri="{909E8E84-426E-40DD-AFC4-6F175D3DCCD1}">
                  <a14:hiddenFill xmlns:a14="http://schemas.microsoft.com/office/drawing/2010/main">
                    <a:noFill/>
                  </a14:hiddenFill>
                </a:ext>
              </a:extLst>
            </p:spPr>
          </p:cxnSp>
          <p:sp>
            <p:nvSpPr>
              <p:cNvPr id="56" name="五边形 111">
                <a:extLst>
                  <a:ext uri="{FF2B5EF4-FFF2-40B4-BE49-F238E27FC236}">
                    <a16:creationId xmlns:a16="http://schemas.microsoft.com/office/drawing/2014/main" id="{7C4FEA60-B54A-DD45-9564-D3459BEF7E41}"/>
                  </a:ext>
                </a:extLst>
              </p:cNvPr>
              <p:cNvSpPr>
                <a:spLocks noChangeArrowheads="1"/>
              </p:cNvSpPr>
              <p:nvPr/>
            </p:nvSpPr>
            <p:spPr bwMode="auto">
              <a:xfrm>
                <a:off x="3990975" y="4059238"/>
                <a:ext cx="587375" cy="220662"/>
              </a:xfrm>
              <a:prstGeom prst="homePlate">
                <a:avLst>
                  <a:gd name="adj" fmla="val 29626"/>
                </a:avLst>
              </a:prstGeom>
              <a:noFill/>
              <a:ln w="12700" algn="ctr">
                <a:solidFill>
                  <a:srgbClr val="00206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grpSp>
            <p:nvGrpSpPr>
              <p:cNvPr id="57" name="组合 133">
                <a:extLst>
                  <a:ext uri="{FF2B5EF4-FFF2-40B4-BE49-F238E27FC236}">
                    <a16:creationId xmlns:a16="http://schemas.microsoft.com/office/drawing/2014/main" id="{A11B6105-F8FD-8448-BD05-1E8A3B7C1E4A}"/>
                  </a:ext>
                </a:extLst>
              </p:cNvPr>
              <p:cNvGrpSpPr>
                <a:grpSpLocks/>
              </p:cNvGrpSpPr>
              <p:nvPr/>
            </p:nvGrpSpPr>
            <p:grpSpPr bwMode="auto">
              <a:xfrm>
                <a:off x="514351" y="3490912"/>
                <a:ext cx="579438" cy="2474311"/>
                <a:chOff x="650841" y="3040589"/>
                <a:chExt cx="576469" cy="3318976"/>
              </a:xfrm>
            </p:grpSpPr>
            <p:sp>
              <p:nvSpPr>
                <p:cNvPr id="103" name="AutoShape 79">
                  <a:extLst>
                    <a:ext uri="{FF2B5EF4-FFF2-40B4-BE49-F238E27FC236}">
                      <a16:creationId xmlns:a16="http://schemas.microsoft.com/office/drawing/2014/main" id="{8A1E075E-A598-6A4A-92F0-ABE301C37FD0}"/>
                    </a:ext>
                  </a:extLst>
                </p:cNvPr>
                <p:cNvSpPr>
                  <a:spLocks noChangeArrowheads="1"/>
                </p:cNvSpPr>
                <p:nvPr/>
              </p:nvSpPr>
              <p:spPr bwMode="auto">
                <a:xfrm>
                  <a:off x="655353" y="3040589"/>
                  <a:ext cx="565924" cy="510257"/>
                </a:xfrm>
                <a:prstGeom prst="cube">
                  <a:avLst>
                    <a:gd name="adj" fmla="val 25000"/>
                  </a:avLst>
                </a:prstGeom>
                <a:solidFill>
                  <a:srgbClr val="0000FF"/>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104" name="AutoShape 80">
                  <a:extLst>
                    <a:ext uri="{FF2B5EF4-FFF2-40B4-BE49-F238E27FC236}">
                      <a16:creationId xmlns:a16="http://schemas.microsoft.com/office/drawing/2014/main" id="{5722716A-EA5F-3141-B839-67F217ED5CE6}"/>
                    </a:ext>
                  </a:extLst>
                </p:cNvPr>
                <p:cNvSpPr>
                  <a:spLocks noChangeArrowheads="1"/>
                </p:cNvSpPr>
                <p:nvPr/>
              </p:nvSpPr>
              <p:spPr bwMode="auto">
                <a:xfrm>
                  <a:off x="655352" y="3193908"/>
                  <a:ext cx="565923" cy="510257"/>
                </a:xfrm>
                <a:prstGeom prst="cube">
                  <a:avLst>
                    <a:gd name="adj" fmla="val 25000"/>
                  </a:avLst>
                </a:prstGeom>
                <a:solidFill>
                  <a:srgbClr val="0000FF"/>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105" name="AutoShape 81">
                  <a:extLst>
                    <a:ext uri="{FF2B5EF4-FFF2-40B4-BE49-F238E27FC236}">
                      <a16:creationId xmlns:a16="http://schemas.microsoft.com/office/drawing/2014/main" id="{9356FAF6-03BA-6844-A191-75CA688B1570}"/>
                    </a:ext>
                  </a:extLst>
                </p:cNvPr>
                <p:cNvSpPr>
                  <a:spLocks noChangeArrowheads="1"/>
                </p:cNvSpPr>
                <p:nvPr/>
              </p:nvSpPr>
              <p:spPr bwMode="auto">
                <a:xfrm>
                  <a:off x="655352" y="3345097"/>
                  <a:ext cx="567503" cy="510257"/>
                </a:xfrm>
                <a:prstGeom prst="cube">
                  <a:avLst>
                    <a:gd name="adj" fmla="val 25000"/>
                  </a:avLst>
                </a:prstGeom>
                <a:solidFill>
                  <a:srgbClr val="0000FF"/>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106" name="AutoShape 82">
                  <a:extLst>
                    <a:ext uri="{FF2B5EF4-FFF2-40B4-BE49-F238E27FC236}">
                      <a16:creationId xmlns:a16="http://schemas.microsoft.com/office/drawing/2014/main" id="{F6FDD09C-40C1-7549-A0EE-E552E29C4115}"/>
                    </a:ext>
                  </a:extLst>
                </p:cNvPr>
                <p:cNvSpPr>
                  <a:spLocks noChangeArrowheads="1"/>
                </p:cNvSpPr>
                <p:nvPr/>
              </p:nvSpPr>
              <p:spPr bwMode="auto">
                <a:xfrm>
                  <a:off x="655352" y="3707102"/>
                  <a:ext cx="565923" cy="510257"/>
                </a:xfrm>
                <a:prstGeom prst="cube">
                  <a:avLst>
                    <a:gd name="adj" fmla="val 25000"/>
                  </a:avLst>
                </a:prstGeom>
                <a:solidFill>
                  <a:srgbClr val="00B050"/>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107" name="AutoShape 83">
                  <a:extLst>
                    <a:ext uri="{FF2B5EF4-FFF2-40B4-BE49-F238E27FC236}">
                      <a16:creationId xmlns:a16="http://schemas.microsoft.com/office/drawing/2014/main" id="{5909C455-056F-3D4A-B4E2-2911764142F2}"/>
                    </a:ext>
                  </a:extLst>
                </p:cNvPr>
                <p:cNvSpPr>
                  <a:spLocks noChangeArrowheads="1"/>
                </p:cNvSpPr>
                <p:nvPr/>
              </p:nvSpPr>
              <p:spPr bwMode="auto">
                <a:xfrm>
                  <a:off x="655352" y="3847643"/>
                  <a:ext cx="565923" cy="510257"/>
                </a:xfrm>
                <a:prstGeom prst="cube">
                  <a:avLst>
                    <a:gd name="adj" fmla="val 25000"/>
                  </a:avLst>
                </a:prstGeom>
                <a:solidFill>
                  <a:srgbClr val="00B050"/>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108" name="椭圆 107">
                  <a:extLst>
                    <a:ext uri="{FF2B5EF4-FFF2-40B4-BE49-F238E27FC236}">
                      <a16:creationId xmlns:a16="http://schemas.microsoft.com/office/drawing/2014/main" id="{EC5807CB-D0F2-8E40-B232-E3F1ADFB6962}"/>
                    </a:ext>
                  </a:extLst>
                </p:cNvPr>
                <p:cNvSpPr/>
                <p:nvPr/>
              </p:nvSpPr>
              <p:spPr bwMode="auto">
                <a:xfrm>
                  <a:off x="650841" y="3777698"/>
                  <a:ext cx="576469" cy="119269"/>
                </a:xfrm>
                <a:prstGeom prst="ellipse">
                  <a:avLst/>
                </a:prstGeom>
                <a:noFill/>
                <a:ln w="19050" cap="flat" cmpd="sng" algn="ctr">
                  <a:solidFill>
                    <a:srgbClr val="0000FF"/>
                  </a:solidFill>
                  <a:prstDash val="solid"/>
                  <a:round/>
                  <a:headEnd type="none" w="med" len="med"/>
                  <a:tailEnd type="none" w="med" len="med"/>
                </a:ln>
                <a:effectLst/>
                <a:scene3d>
                  <a:camera prst="perspectiveRelaxedModerately"/>
                  <a:lightRig rig="threePt" dir="t"/>
                </a:scene3d>
                <a:sp3d>
                  <a:bevelT w="38100" h="88900"/>
                  <a:bevelB w="0" h="0"/>
                </a:sp3d>
              </p:spPr>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en-US">
                    <a:latin typeface="+mn-lt"/>
                    <a:cs typeface="Arial" pitchFamily="34" charset="0"/>
                  </a:endParaRPr>
                </a:p>
              </p:txBody>
            </p:sp>
            <p:sp>
              <p:nvSpPr>
                <p:cNvPr id="109" name="AutoShape 80">
                  <a:extLst>
                    <a:ext uri="{FF2B5EF4-FFF2-40B4-BE49-F238E27FC236}">
                      <a16:creationId xmlns:a16="http://schemas.microsoft.com/office/drawing/2014/main" id="{5DD952B5-581F-2A4B-A757-A6F7726C3A7A}"/>
                    </a:ext>
                  </a:extLst>
                </p:cNvPr>
                <p:cNvSpPr>
                  <a:spLocks noChangeArrowheads="1"/>
                </p:cNvSpPr>
                <p:nvPr/>
              </p:nvSpPr>
              <p:spPr bwMode="auto">
                <a:xfrm>
                  <a:off x="655352" y="4156411"/>
                  <a:ext cx="567503" cy="510257"/>
                </a:xfrm>
                <a:prstGeom prst="cube">
                  <a:avLst>
                    <a:gd name="adj" fmla="val 25000"/>
                  </a:avLst>
                </a:prstGeom>
                <a:solidFill>
                  <a:srgbClr val="7030A0"/>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110" name="AutoShape 81">
                  <a:extLst>
                    <a:ext uri="{FF2B5EF4-FFF2-40B4-BE49-F238E27FC236}">
                      <a16:creationId xmlns:a16="http://schemas.microsoft.com/office/drawing/2014/main" id="{DE59BB2F-09A4-A64F-9AE9-882124AECF35}"/>
                    </a:ext>
                  </a:extLst>
                </p:cNvPr>
                <p:cNvSpPr>
                  <a:spLocks noChangeArrowheads="1"/>
                </p:cNvSpPr>
                <p:nvPr/>
              </p:nvSpPr>
              <p:spPr bwMode="auto">
                <a:xfrm>
                  <a:off x="655352" y="4305471"/>
                  <a:ext cx="565923" cy="510257"/>
                </a:xfrm>
                <a:prstGeom prst="cube">
                  <a:avLst>
                    <a:gd name="adj" fmla="val 25000"/>
                  </a:avLst>
                </a:prstGeom>
                <a:solidFill>
                  <a:srgbClr val="7030A0"/>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111" name="椭圆 110">
                  <a:extLst>
                    <a:ext uri="{FF2B5EF4-FFF2-40B4-BE49-F238E27FC236}">
                      <a16:creationId xmlns:a16="http://schemas.microsoft.com/office/drawing/2014/main" id="{1715DC10-CF8A-0948-A31D-100A00817210}"/>
                    </a:ext>
                  </a:extLst>
                </p:cNvPr>
                <p:cNvSpPr/>
                <p:nvPr/>
              </p:nvSpPr>
              <p:spPr bwMode="auto">
                <a:xfrm>
                  <a:off x="650841" y="4739723"/>
                  <a:ext cx="576469" cy="119269"/>
                </a:xfrm>
                <a:prstGeom prst="ellipse">
                  <a:avLst/>
                </a:prstGeom>
                <a:noFill/>
                <a:ln w="19050" cap="flat" cmpd="sng" algn="ctr">
                  <a:solidFill>
                    <a:srgbClr val="7030A0"/>
                  </a:solidFill>
                  <a:prstDash val="solid"/>
                  <a:round/>
                  <a:headEnd type="none" w="med" len="med"/>
                  <a:tailEnd type="none" w="med" len="med"/>
                </a:ln>
                <a:effectLst/>
                <a:scene3d>
                  <a:camera prst="perspectiveRelaxedModerately"/>
                  <a:lightRig rig="threePt" dir="t"/>
                </a:scene3d>
                <a:sp3d>
                  <a:bevelT w="38100" h="88900"/>
                  <a:bevelB w="0" h="0"/>
                </a:sp3d>
              </p:spPr>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en-US">
                    <a:latin typeface="+mn-lt"/>
                    <a:cs typeface="Arial" pitchFamily="34" charset="0"/>
                  </a:endParaRPr>
                </a:p>
              </p:txBody>
            </p:sp>
            <p:sp>
              <p:nvSpPr>
                <p:cNvPr id="112" name="椭圆 111">
                  <a:extLst>
                    <a:ext uri="{FF2B5EF4-FFF2-40B4-BE49-F238E27FC236}">
                      <a16:creationId xmlns:a16="http://schemas.microsoft.com/office/drawing/2014/main" id="{1EE04498-572D-6E45-9819-01ED1C4B6B7A}"/>
                    </a:ext>
                  </a:extLst>
                </p:cNvPr>
                <p:cNvSpPr/>
                <p:nvPr/>
              </p:nvSpPr>
              <p:spPr bwMode="auto">
                <a:xfrm>
                  <a:off x="650841" y="4263473"/>
                  <a:ext cx="576469" cy="119269"/>
                </a:xfrm>
                <a:prstGeom prst="ellipse">
                  <a:avLst/>
                </a:prstGeom>
                <a:noFill/>
                <a:ln w="19050" cap="flat" cmpd="sng" algn="ctr">
                  <a:solidFill>
                    <a:srgbClr val="00B050"/>
                  </a:solidFill>
                  <a:prstDash val="solid"/>
                  <a:round/>
                  <a:headEnd type="none" w="med" len="med"/>
                  <a:tailEnd type="none" w="med" len="med"/>
                </a:ln>
                <a:effectLst/>
                <a:scene3d>
                  <a:camera prst="perspectiveRelaxedModerately"/>
                  <a:lightRig rig="threePt" dir="t"/>
                </a:scene3d>
                <a:sp3d>
                  <a:bevelT w="38100" h="88900"/>
                  <a:bevelB w="0" h="0"/>
                </a:sp3d>
              </p:spPr>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en-US">
                    <a:latin typeface="+mn-lt"/>
                    <a:cs typeface="Arial" pitchFamily="34" charset="0"/>
                  </a:endParaRPr>
                </a:p>
              </p:txBody>
            </p:sp>
            <p:sp>
              <p:nvSpPr>
                <p:cNvPr id="113" name="AutoShape 82">
                  <a:extLst>
                    <a:ext uri="{FF2B5EF4-FFF2-40B4-BE49-F238E27FC236}">
                      <a16:creationId xmlns:a16="http://schemas.microsoft.com/office/drawing/2014/main" id="{50ED2B7D-8626-A642-A1F4-23728A899C36}"/>
                    </a:ext>
                  </a:extLst>
                </p:cNvPr>
                <p:cNvSpPr>
                  <a:spLocks noChangeArrowheads="1"/>
                </p:cNvSpPr>
                <p:nvPr/>
              </p:nvSpPr>
              <p:spPr bwMode="auto">
                <a:xfrm>
                  <a:off x="655352" y="4631273"/>
                  <a:ext cx="565923" cy="510257"/>
                </a:xfrm>
                <a:prstGeom prst="cube">
                  <a:avLst>
                    <a:gd name="adj" fmla="val 25000"/>
                  </a:avLst>
                </a:prstGeom>
                <a:solidFill>
                  <a:srgbClr val="00B050"/>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114" name="AutoShape 83">
                  <a:extLst>
                    <a:ext uri="{FF2B5EF4-FFF2-40B4-BE49-F238E27FC236}">
                      <a16:creationId xmlns:a16="http://schemas.microsoft.com/office/drawing/2014/main" id="{A40AA892-CB74-A84D-A6B2-7FE9BD97DAAF}"/>
                    </a:ext>
                  </a:extLst>
                </p:cNvPr>
                <p:cNvSpPr>
                  <a:spLocks noChangeArrowheads="1"/>
                </p:cNvSpPr>
                <p:nvPr/>
              </p:nvSpPr>
              <p:spPr bwMode="auto">
                <a:xfrm>
                  <a:off x="655352" y="4771817"/>
                  <a:ext cx="567503" cy="510257"/>
                </a:xfrm>
                <a:prstGeom prst="cube">
                  <a:avLst>
                    <a:gd name="adj" fmla="val 25000"/>
                  </a:avLst>
                </a:prstGeom>
                <a:solidFill>
                  <a:srgbClr val="00B050"/>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115" name="AutoShape 80">
                  <a:extLst>
                    <a:ext uri="{FF2B5EF4-FFF2-40B4-BE49-F238E27FC236}">
                      <a16:creationId xmlns:a16="http://schemas.microsoft.com/office/drawing/2014/main" id="{69AAE661-CE62-5047-B673-A4259AB559A6}"/>
                    </a:ext>
                  </a:extLst>
                </p:cNvPr>
                <p:cNvSpPr>
                  <a:spLocks noChangeArrowheads="1"/>
                </p:cNvSpPr>
                <p:nvPr/>
              </p:nvSpPr>
              <p:spPr bwMode="auto">
                <a:xfrm>
                  <a:off x="655352" y="5078455"/>
                  <a:ext cx="565923" cy="510257"/>
                </a:xfrm>
                <a:prstGeom prst="cube">
                  <a:avLst>
                    <a:gd name="adj" fmla="val 25000"/>
                  </a:avLst>
                </a:prstGeom>
                <a:solidFill>
                  <a:srgbClr val="FFC000"/>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116" name="AutoShape 81">
                  <a:extLst>
                    <a:ext uri="{FF2B5EF4-FFF2-40B4-BE49-F238E27FC236}">
                      <a16:creationId xmlns:a16="http://schemas.microsoft.com/office/drawing/2014/main" id="{6704273D-965D-3C42-8EC8-6C75D99AA47C}"/>
                    </a:ext>
                  </a:extLst>
                </p:cNvPr>
                <p:cNvSpPr>
                  <a:spLocks noChangeArrowheads="1"/>
                </p:cNvSpPr>
                <p:nvPr/>
              </p:nvSpPr>
              <p:spPr bwMode="auto">
                <a:xfrm>
                  <a:off x="655352" y="5229644"/>
                  <a:ext cx="565923" cy="510257"/>
                </a:xfrm>
                <a:prstGeom prst="cube">
                  <a:avLst>
                    <a:gd name="adj" fmla="val 25000"/>
                  </a:avLst>
                </a:prstGeom>
                <a:solidFill>
                  <a:srgbClr val="FFC000"/>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117" name="椭圆 116">
                  <a:extLst>
                    <a:ext uri="{FF2B5EF4-FFF2-40B4-BE49-F238E27FC236}">
                      <a16:creationId xmlns:a16="http://schemas.microsoft.com/office/drawing/2014/main" id="{1CFC7AB2-C981-0440-837F-94E440BE6A05}"/>
                    </a:ext>
                  </a:extLst>
                </p:cNvPr>
                <p:cNvSpPr/>
                <p:nvPr/>
              </p:nvSpPr>
              <p:spPr bwMode="auto">
                <a:xfrm>
                  <a:off x="650841" y="5663648"/>
                  <a:ext cx="576469" cy="119269"/>
                </a:xfrm>
                <a:prstGeom prst="ellipse">
                  <a:avLst/>
                </a:prstGeom>
                <a:noFill/>
                <a:ln w="19050" cap="flat" cmpd="sng" algn="ctr">
                  <a:solidFill>
                    <a:srgbClr val="FFC000"/>
                  </a:solidFill>
                  <a:prstDash val="solid"/>
                  <a:round/>
                  <a:headEnd type="none" w="med" len="med"/>
                  <a:tailEnd type="none" w="med" len="med"/>
                </a:ln>
                <a:effectLst/>
                <a:scene3d>
                  <a:camera prst="perspectiveRelaxedModerately"/>
                  <a:lightRig rig="threePt" dir="t"/>
                </a:scene3d>
                <a:sp3d>
                  <a:bevelT w="38100" h="88900"/>
                  <a:bevelB w="0" h="0"/>
                </a:sp3d>
              </p:spPr>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en-US">
                    <a:latin typeface="+mn-lt"/>
                    <a:cs typeface="Arial" pitchFamily="34" charset="0"/>
                  </a:endParaRPr>
                </a:p>
              </p:txBody>
            </p:sp>
            <p:sp>
              <p:nvSpPr>
                <p:cNvPr id="118" name="椭圆 117">
                  <a:extLst>
                    <a:ext uri="{FF2B5EF4-FFF2-40B4-BE49-F238E27FC236}">
                      <a16:creationId xmlns:a16="http://schemas.microsoft.com/office/drawing/2014/main" id="{F5C919D4-14EA-3848-AE85-CE1E370BA55E}"/>
                    </a:ext>
                  </a:extLst>
                </p:cNvPr>
                <p:cNvSpPr/>
                <p:nvPr/>
              </p:nvSpPr>
              <p:spPr bwMode="auto">
                <a:xfrm>
                  <a:off x="650841" y="5187398"/>
                  <a:ext cx="576469" cy="119269"/>
                </a:xfrm>
                <a:prstGeom prst="ellipse">
                  <a:avLst/>
                </a:prstGeom>
                <a:noFill/>
                <a:ln w="19050" cap="flat" cmpd="sng" algn="ctr">
                  <a:solidFill>
                    <a:srgbClr val="00B050"/>
                  </a:solidFill>
                  <a:prstDash val="solid"/>
                  <a:round/>
                  <a:headEnd type="none" w="med" len="med"/>
                  <a:tailEnd type="none" w="med" len="med"/>
                </a:ln>
                <a:effectLst/>
                <a:scene3d>
                  <a:camera prst="perspectiveRelaxedModerately"/>
                  <a:lightRig rig="threePt" dir="t"/>
                </a:scene3d>
                <a:sp3d>
                  <a:bevelT w="38100" h="88900"/>
                  <a:bevelB w="0" h="0"/>
                </a:sp3d>
              </p:spPr>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en-US">
                    <a:latin typeface="+mn-lt"/>
                    <a:cs typeface="Arial" pitchFamily="34" charset="0"/>
                  </a:endParaRPr>
                </a:p>
              </p:txBody>
            </p:sp>
            <p:sp>
              <p:nvSpPr>
                <p:cNvPr id="119" name="AutoShape 80">
                  <a:extLst>
                    <a:ext uri="{FF2B5EF4-FFF2-40B4-BE49-F238E27FC236}">
                      <a16:creationId xmlns:a16="http://schemas.microsoft.com/office/drawing/2014/main" id="{496AF351-0782-DA46-899E-D76E7C9D1B41}"/>
                    </a:ext>
                  </a:extLst>
                </p:cNvPr>
                <p:cNvSpPr>
                  <a:spLocks noChangeArrowheads="1"/>
                </p:cNvSpPr>
                <p:nvPr/>
              </p:nvSpPr>
              <p:spPr bwMode="auto">
                <a:xfrm>
                  <a:off x="655352" y="5546930"/>
                  <a:ext cx="567503" cy="510257"/>
                </a:xfrm>
                <a:prstGeom prst="cube">
                  <a:avLst>
                    <a:gd name="adj" fmla="val 25000"/>
                  </a:avLst>
                </a:prstGeom>
                <a:solidFill>
                  <a:srgbClr val="FFC000"/>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120" name="AutoShape 81">
                  <a:extLst>
                    <a:ext uri="{FF2B5EF4-FFF2-40B4-BE49-F238E27FC236}">
                      <a16:creationId xmlns:a16="http://schemas.microsoft.com/office/drawing/2014/main" id="{994E5B8A-8626-B64C-8536-F636B8DC6094}"/>
                    </a:ext>
                  </a:extLst>
                </p:cNvPr>
                <p:cNvSpPr>
                  <a:spLocks noChangeArrowheads="1"/>
                </p:cNvSpPr>
                <p:nvPr/>
              </p:nvSpPr>
              <p:spPr bwMode="auto">
                <a:xfrm>
                  <a:off x="655352" y="5695990"/>
                  <a:ext cx="565923" cy="510257"/>
                </a:xfrm>
                <a:prstGeom prst="cube">
                  <a:avLst>
                    <a:gd name="adj" fmla="val 25000"/>
                  </a:avLst>
                </a:prstGeom>
                <a:solidFill>
                  <a:srgbClr val="FFC000"/>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121" name="AutoShape 81">
                  <a:extLst>
                    <a:ext uri="{FF2B5EF4-FFF2-40B4-BE49-F238E27FC236}">
                      <a16:creationId xmlns:a16="http://schemas.microsoft.com/office/drawing/2014/main" id="{8015F98E-2012-3A4C-85B5-4800093D1CB8}"/>
                    </a:ext>
                  </a:extLst>
                </p:cNvPr>
                <p:cNvSpPr>
                  <a:spLocks noChangeArrowheads="1"/>
                </p:cNvSpPr>
                <p:nvPr/>
              </p:nvSpPr>
              <p:spPr bwMode="auto">
                <a:xfrm>
                  <a:off x="655579" y="5849308"/>
                  <a:ext cx="565413" cy="510257"/>
                </a:xfrm>
                <a:prstGeom prst="cube">
                  <a:avLst>
                    <a:gd name="adj" fmla="val 25000"/>
                  </a:avLst>
                </a:prstGeom>
                <a:solidFill>
                  <a:srgbClr val="FFC000"/>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grpSp>
          <p:sp>
            <p:nvSpPr>
              <p:cNvPr id="58" name="右大括号 134">
                <a:extLst>
                  <a:ext uri="{FF2B5EF4-FFF2-40B4-BE49-F238E27FC236}">
                    <a16:creationId xmlns:a16="http://schemas.microsoft.com/office/drawing/2014/main" id="{F7DE6FD1-BB4D-904C-B303-D845C831A450}"/>
                  </a:ext>
                </a:extLst>
              </p:cNvPr>
              <p:cNvSpPr>
                <a:spLocks/>
              </p:cNvSpPr>
              <p:nvPr/>
            </p:nvSpPr>
            <p:spPr bwMode="auto">
              <a:xfrm>
                <a:off x="1200150" y="3749675"/>
                <a:ext cx="304800" cy="876300"/>
              </a:xfrm>
              <a:prstGeom prst="rightBrace">
                <a:avLst>
                  <a:gd name="adj1" fmla="val 8332"/>
                  <a:gd name="adj2" fmla="val 50000"/>
                </a:avLst>
              </a:prstGeom>
              <a:noFill/>
              <a:ln w="12700" algn="ctr">
                <a:solidFill>
                  <a:srgbClr val="00206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grpSp>
            <p:nvGrpSpPr>
              <p:cNvPr id="59" name="组合 156">
                <a:extLst>
                  <a:ext uri="{FF2B5EF4-FFF2-40B4-BE49-F238E27FC236}">
                    <a16:creationId xmlns:a16="http://schemas.microsoft.com/office/drawing/2014/main" id="{DF90317C-FB2A-6049-9153-C2133DA7568E}"/>
                  </a:ext>
                </a:extLst>
              </p:cNvPr>
              <p:cNvGrpSpPr>
                <a:grpSpLocks/>
              </p:cNvGrpSpPr>
              <p:nvPr/>
            </p:nvGrpSpPr>
            <p:grpSpPr bwMode="auto">
              <a:xfrm>
                <a:off x="2065339" y="3521075"/>
                <a:ext cx="579437" cy="1210660"/>
                <a:chOff x="1771650" y="3112877"/>
                <a:chExt cx="579610" cy="1211819"/>
              </a:xfrm>
            </p:grpSpPr>
            <p:sp>
              <p:nvSpPr>
                <p:cNvPr id="95" name="AutoShape 79">
                  <a:extLst>
                    <a:ext uri="{FF2B5EF4-FFF2-40B4-BE49-F238E27FC236}">
                      <a16:creationId xmlns:a16="http://schemas.microsoft.com/office/drawing/2014/main" id="{90B4CA81-E013-3144-8B48-E73316B40BBE}"/>
                    </a:ext>
                  </a:extLst>
                </p:cNvPr>
                <p:cNvSpPr>
                  <a:spLocks noChangeArrowheads="1"/>
                </p:cNvSpPr>
                <p:nvPr/>
              </p:nvSpPr>
              <p:spPr bwMode="auto">
                <a:xfrm>
                  <a:off x="1776465" y="3112877"/>
                  <a:ext cx="568261" cy="380763"/>
                </a:xfrm>
                <a:prstGeom prst="cube">
                  <a:avLst>
                    <a:gd name="adj" fmla="val 25000"/>
                  </a:avLst>
                </a:prstGeom>
                <a:solidFill>
                  <a:srgbClr val="0000FF"/>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96" name="AutoShape 80">
                  <a:extLst>
                    <a:ext uri="{FF2B5EF4-FFF2-40B4-BE49-F238E27FC236}">
                      <a16:creationId xmlns:a16="http://schemas.microsoft.com/office/drawing/2014/main" id="{4C56EF46-3D6D-8F43-9C71-EDD31F916507}"/>
                    </a:ext>
                  </a:extLst>
                </p:cNvPr>
                <p:cNvSpPr>
                  <a:spLocks noChangeArrowheads="1"/>
                </p:cNvSpPr>
                <p:nvPr/>
              </p:nvSpPr>
              <p:spPr bwMode="auto">
                <a:xfrm>
                  <a:off x="1776464" y="3227286"/>
                  <a:ext cx="568261" cy="380763"/>
                </a:xfrm>
                <a:prstGeom prst="cube">
                  <a:avLst>
                    <a:gd name="adj" fmla="val 25000"/>
                  </a:avLst>
                </a:prstGeom>
                <a:solidFill>
                  <a:srgbClr val="0000FF"/>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97" name="AutoShape 81">
                  <a:extLst>
                    <a:ext uri="{FF2B5EF4-FFF2-40B4-BE49-F238E27FC236}">
                      <a16:creationId xmlns:a16="http://schemas.microsoft.com/office/drawing/2014/main" id="{C7817B24-448E-AA4E-BBAA-64184B3431F5}"/>
                    </a:ext>
                  </a:extLst>
                </p:cNvPr>
                <p:cNvSpPr>
                  <a:spLocks noChangeArrowheads="1"/>
                </p:cNvSpPr>
                <p:nvPr/>
              </p:nvSpPr>
              <p:spPr bwMode="auto">
                <a:xfrm>
                  <a:off x="1776464" y="3338517"/>
                  <a:ext cx="568261" cy="380763"/>
                </a:xfrm>
                <a:prstGeom prst="cube">
                  <a:avLst>
                    <a:gd name="adj" fmla="val 25000"/>
                  </a:avLst>
                </a:prstGeom>
                <a:solidFill>
                  <a:srgbClr val="0000FF"/>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98" name="AutoShape 82">
                  <a:extLst>
                    <a:ext uri="{FF2B5EF4-FFF2-40B4-BE49-F238E27FC236}">
                      <a16:creationId xmlns:a16="http://schemas.microsoft.com/office/drawing/2014/main" id="{590B89F1-FFEC-AF4A-8331-E20D73966D11}"/>
                    </a:ext>
                  </a:extLst>
                </p:cNvPr>
                <p:cNvSpPr>
                  <a:spLocks noChangeArrowheads="1"/>
                </p:cNvSpPr>
                <p:nvPr/>
              </p:nvSpPr>
              <p:spPr bwMode="auto">
                <a:xfrm>
                  <a:off x="1776464" y="3610239"/>
                  <a:ext cx="568261" cy="380763"/>
                </a:xfrm>
                <a:prstGeom prst="cube">
                  <a:avLst>
                    <a:gd name="adj" fmla="val 25000"/>
                  </a:avLst>
                </a:prstGeom>
                <a:solidFill>
                  <a:srgbClr val="00B050"/>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99" name="AutoShape 83">
                  <a:extLst>
                    <a:ext uri="{FF2B5EF4-FFF2-40B4-BE49-F238E27FC236}">
                      <a16:creationId xmlns:a16="http://schemas.microsoft.com/office/drawing/2014/main" id="{FC743A51-C064-4C40-BDD2-E120E8195162}"/>
                    </a:ext>
                  </a:extLst>
                </p:cNvPr>
                <p:cNvSpPr>
                  <a:spLocks noChangeArrowheads="1"/>
                </p:cNvSpPr>
                <p:nvPr/>
              </p:nvSpPr>
              <p:spPr bwMode="auto">
                <a:xfrm>
                  <a:off x="1776464" y="3713526"/>
                  <a:ext cx="568261" cy="380763"/>
                </a:xfrm>
                <a:prstGeom prst="cube">
                  <a:avLst>
                    <a:gd name="adj" fmla="val 25000"/>
                  </a:avLst>
                </a:prstGeom>
                <a:solidFill>
                  <a:srgbClr val="00B050"/>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100" name="椭圆 99">
                  <a:extLst>
                    <a:ext uri="{FF2B5EF4-FFF2-40B4-BE49-F238E27FC236}">
                      <a16:creationId xmlns:a16="http://schemas.microsoft.com/office/drawing/2014/main" id="{00CDC657-5592-6A44-817D-649F60F3E30D}"/>
                    </a:ext>
                  </a:extLst>
                </p:cNvPr>
                <p:cNvSpPr/>
                <p:nvPr/>
              </p:nvSpPr>
              <p:spPr bwMode="auto">
                <a:xfrm>
                  <a:off x="1771650" y="3662605"/>
                  <a:ext cx="579610" cy="88916"/>
                </a:xfrm>
                <a:prstGeom prst="ellipse">
                  <a:avLst/>
                </a:prstGeom>
                <a:noFill/>
                <a:ln w="19050" cap="flat" cmpd="sng" algn="ctr">
                  <a:solidFill>
                    <a:srgbClr val="0000FF"/>
                  </a:solidFill>
                  <a:prstDash val="solid"/>
                  <a:round/>
                  <a:headEnd type="none" w="med" len="med"/>
                  <a:tailEnd type="none" w="med" len="med"/>
                </a:ln>
                <a:effectLst/>
                <a:scene3d>
                  <a:camera prst="perspectiveRelaxedModerately"/>
                  <a:lightRig rig="threePt" dir="t"/>
                </a:scene3d>
                <a:sp3d>
                  <a:bevelT w="38100" h="88900"/>
                  <a:bevelB w="0" h="0"/>
                </a:sp3d>
              </p:spPr>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en-US">
                    <a:latin typeface="+mn-lt"/>
                    <a:cs typeface="Arial" pitchFamily="34" charset="0"/>
                  </a:endParaRPr>
                </a:p>
              </p:txBody>
            </p:sp>
            <p:sp>
              <p:nvSpPr>
                <p:cNvPr id="101" name="AutoShape 80">
                  <a:extLst>
                    <a:ext uri="{FF2B5EF4-FFF2-40B4-BE49-F238E27FC236}">
                      <a16:creationId xmlns:a16="http://schemas.microsoft.com/office/drawing/2014/main" id="{CCB94ECB-2FD4-4548-B25B-BCA3756445EA}"/>
                    </a:ext>
                  </a:extLst>
                </p:cNvPr>
                <p:cNvSpPr>
                  <a:spLocks noChangeArrowheads="1"/>
                </p:cNvSpPr>
                <p:nvPr/>
              </p:nvSpPr>
              <p:spPr bwMode="auto">
                <a:xfrm>
                  <a:off x="1776414" y="3943933"/>
                  <a:ext cx="568495" cy="380763"/>
                </a:xfrm>
                <a:prstGeom prst="cube">
                  <a:avLst>
                    <a:gd name="adj" fmla="val 25000"/>
                  </a:avLst>
                </a:prstGeom>
                <a:solidFill>
                  <a:srgbClr val="7030A0"/>
                </a:solidFill>
                <a:ln w="12700">
                  <a:solidFill>
                    <a:schemeClr val="tx1"/>
                  </a:solidFill>
                  <a:miter lim="800000"/>
                  <a:headEnd/>
                  <a:tailEnd/>
                </a:ln>
              </p:spPr>
              <p:txBody>
                <a:bodyPr anchor="ctr">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102" name="椭圆 101">
                  <a:extLst>
                    <a:ext uri="{FF2B5EF4-FFF2-40B4-BE49-F238E27FC236}">
                      <a16:creationId xmlns:a16="http://schemas.microsoft.com/office/drawing/2014/main" id="{CBC50ACE-A1B6-7B44-9AC7-044C33DC5BDF}"/>
                    </a:ext>
                  </a:extLst>
                </p:cNvPr>
                <p:cNvSpPr/>
                <p:nvPr/>
              </p:nvSpPr>
              <p:spPr bwMode="auto">
                <a:xfrm>
                  <a:off x="1771650" y="4024753"/>
                  <a:ext cx="579610" cy="88916"/>
                </a:xfrm>
                <a:prstGeom prst="ellipse">
                  <a:avLst/>
                </a:prstGeom>
                <a:noFill/>
                <a:ln w="19050" cap="flat" cmpd="sng" algn="ctr">
                  <a:solidFill>
                    <a:srgbClr val="00B050"/>
                  </a:solidFill>
                  <a:prstDash val="solid"/>
                  <a:round/>
                  <a:headEnd type="none" w="med" len="med"/>
                  <a:tailEnd type="none" w="med" len="med"/>
                </a:ln>
                <a:effectLst/>
                <a:scene3d>
                  <a:camera prst="perspectiveRelaxedModerately"/>
                  <a:lightRig rig="threePt" dir="t"/>
                </a:scene3d>
                <a:sp3d>
                  <a:bevelT w="38100" h="88900"/>
                  <a:bevelB w="0" h="0"/>
                </a:sp3d>
              </p:spPr>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en-US">
                    <a:latin typeface="+mn-lt"/>
                    <a:cs typeface="Arial" pitchFamily="34" charset="0"/>
                  </a:endParaRPr>
                </a:p>
              </p:txBody>
            </p:sp>
          </p:grpSp>
          <p:cxnSp>
            <p:nvCxnSpPr>
              <p:cNvPr id="60" name="直接箭头连接符 158">
                <a:extLst>
                  <a:ext uri="{FF2B5EF4-FFF2-40B4-BE49-F238E27FC236}">
                    <a16:creationId xmlns:a16="http://schemas.microsoft.com/office/drawing/2014/main" id="{A2A22D33-EF81-4949-8959-D8DC3AC6F72A}"/>
                  </a:ext>
                </a:extLst>
              </p:cNvPr>
              <p:cNvCxnSpPr>
                <a:cxnSpLocks noChangeShapeType="1"/>
                <a:stCxn id="58" idx="1"/>
              </p:cNvCxnSpPr>
              <p:nvPr/>
            </p:nvCxnSpPr>
            <p:spPr bwMode="auto">
              <a:xfrm rot="10800000" flipH="1" flipV="1">
                <a:off x="1504950" y="4187825"/>
                <a:ext cx="522288" cy="3175"/>
              </a:xfrm>
              <a:prstGeom prst="straightConnector1">
                <a:avLst/>
              </a:prstGeom>
              <a:noFill/>
              <a:ln w="15875" algn="ctr">
                <a:solidFill>
                  <a:srgbClr val="002060"/>
                </a:solidFill>
                <a:round/>
                <a:headEnd/>
                <a:tailEnd type="arrow" w="med" len="med"/>
              </a:ln>
              <a:extLst>
                <a:ext uri="{909E8E84-426E-40DD-AFC4-6F175D3DCCD1}">
                  <a14:hiddenFill xmlns:a14="http://schemas.microsoft.com/office/drawing/2010/main">
                    <a:noFill/>
                  </a14:hiddenFill>
                </a:ext>
              </a:extLst>
            </p:spPr>
          </p:cxnSp>
          <p:sp>
            <p:nvSpPr>
              <p:cNvPr id="61" name="TextBox 164">
                <a:extLst>
                  <a:ext uri="{FF2B5EF4-FFF2-40B4-BE49-F238E27FC236}">
                    <a16:creationId xmlns:a16="http://schemas.microsoft.com/office/drawing/2014/main" id="{AE9C42A4-B98B-6D47-8D92-8840E2A73D36}"/>
                  </a:ext>
                </a:extLst>
              </p:cNvPr>
              <p:cNvSpPr txBox="1">
                <a:spLocks noChangeArrowheads="1"/>
              </p:cNvSpPr>
              <p:nvPr/>
            </p:nvSpPr>
            <p:spPr bwMode="auto">
              <a:xfrm>
                <a:off x="1386169" y="3883831"/>
                <a:ext cx="643963" cy="230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r>
                  <a:rPr lang="zh-CN" altLang="en-US" sz="1000" dirty="0"/>
                  <a:t>高优先级</a:t>
                </a:r>
              </a:p>
            </p:txBody>
          </p:sp>
          <p:sp>
            <p:nvSpPr>
              <p:cNvPr id="62" name="五边形 165">
                <a:extLst>
                  <a:ext uri="{FF2B5EF4-FFF2-40B4-BE49-F238E27FC236}">
                    <a16:creationId xmlns:a16="http://schemas.microsoft.com/office/drawing/2014/main" id="{893E5446-9538-CA4A-8B18-BD81E66C0200}"/>
                  </a:ext>
                </a:extLst>
              </p:cNvPr>
              <p:cNvSpPr>
                <a:spLocks noChangeArrowheads="1"/>
              </p:cNvSpPr>
              <p:nvPr/>
            </p:nvSpPr>
            <p:spPr bwMode="auto">
              <a:xfrm>
                <a:off x="5940425" y="4073525"/>
                <a:ext cx="588963" cy="220663"/>
              </a:xfrm>
              <a:prstGeom prst="homePlate">
                <a:avLst>
                  <a:gd name="adj" fmla="val 29706"/>
                </a:avLst>
              </a:prstGeom>
              <a:noFill/>
              <a:ln w="12700" algn="ctr">
                <a:solidFill>
                  <a:srgbClr val="00206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sp>
            <p:nvSpPr>
              <p:cNvPr id="63" name="立方体 166">
                <a:extLst>
                  <a:ext uri="{FF2B5EF4-FFF2-40B4-BE49-F238E27FC236}">
                    <a16:creationId xmlns:a16="http://schemas.microsoft.com/office/drawing/2014/main" id="{CDF399F1-586B-E54A-B6E1-3B0C2FA62957}"/>
                  </a:ext>
                </a:extLst>
              </p:cNvPr>
              <p:cNvSpPr>
                <a:spLocks noChangeArrowheads="1"/>
              </p:cNvSpPr>
              <p:nvPr/>
            </p:nvSpPr>
            <p:spPr bwMode="auto">
              <a:xfrm>
                <a:off x="6732588" y="3947870"/>
                <a:ext cx="1256517" cy="484207"/>
              </a:xfrm>
              <a:prstGeom prst="cube">
                <a:avLst>
                  <a:gd name="adj" fmla="val 26886"/>
                </a:avLst>
              </a:prstGeom>
              <a:solidFill>
                <a:schemeClr val="accent1"/>
              </a:solidFill>
              <a:ln w="25400" algn="ctr">
                <a:solidFill>
                  <a:srgbClr val="385D8A"/>
                </a:solidFill>
                <a:miter lim="800000"/>
                <a:headEnd/>
                <a:tailEnd/>
              </a:ln>
            </p:spPr>
            <p:txBody>
              <a:bodyPr lIns="0" tIns="0" rIns="0" bIns="0"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en-US" altLang="zh-CN" sz="1200" b="1" dirty="0">
                  <a:solidFill>
                    <a:schemeClr val="bg1"/>
                  </a:solidFill>
                </a:endParaRPr>
              </a:p>
              <a:p>
                <a:pPr algn="ctr" eaLnBrk="1" hangingPunct="1">
                  <a:lnSpc>
                    <a:spcPct val="90000"/>
                  </a:lnSpc>
                  <a:buClr>
                    <a:schemeClr val="accent2"/>
                  </a:buClr>
                  <a:buFont typeface="Wingdings" pitchFamily="2" charset="2"/>
                  <a:buNone/>
                </a:pPr>
                <a:r>
                  <a:rPr lang="zh-CN" altLang="en-US" sz="1200" b="1" dirty="0">
                    <a:solidFill>
                      <a:schemeClr val="bg1"/>
                    </a:solidFill>
                  </a:rPr>
                  <a:t>可运行的软件</a:t>
                </a:r>
              </a:p>
              <a:p>
                <a:pPr algn="ctr" eaLnBrk="1" hangingPunct="1">
                  <a:lnSpc>
                    <a:spcPct val="90000"/>
                  </a:lnSpc>
                  <a:buClr>
                    <a:schemeClr val="accent2"/>
                  </a:buClr>
                  <a:buFont typeface="Wingdings" pitchFamily="2" charset="2"/>
                  <a:buNone/>
                </a:pPr>
                <a:endParaRPr lang="en-US" altLang="zh-CN" sz="1200" b="1" dirty="0">
                  <a:solidFill>
                    <a:schemeClr val="bg1"/>
                  </a:solidFill>
                </a:endParaRPr>
              </a:p>
            </p:txBody>
          </p:sp>
          <p:cxnSp>
            <p:nvCxnSpPr>
              <p:cNvPr id="64" name="直接箭头连接符 179">
                <a:extLst>
                  <a:ext uri="{FF2B5EF4-FFF2-40B4-BE49-F238E27FC236}">
                    <a16:creationId xmlns:a16="http://schemas.microsoft.com/office/drawing/2014/main" id="{1AE5403E-69C9-AD4A-8CA5-6872650E2410}"/>
                  </a:ext>
                </a:extLst>
              </p:cNvPr>
              <p:cNvCxnSpPr>
                <a:cxnSpLocks noChangeShapeType="1"/>
              </p:cNvCxnSpPr>
              <p:nvPr/>
            </p:nvCxnSpPr>
            <p:spPr bwMode="auto">
              <a:xfrm>
                <a:off x="2727325" y="4191000"/>
                <a:ext cx="504825" cy="1588"/>
              </a:xfrm>
              <a:prstGeom prst="straightConnector1">
                <a:avLst/>
              </a:prstGeom>
              <a:noFill/>
              <a:ln w="15875" algn="ctr">
                <a:solidFill>
                  <a:srgbClr val="002060"/>
                </a:solidFill>
                <a:round/>
                <a:headEnd/>
                <a:tailEnd type="arrow" w="med" len="med"/>
              </a:ln>
              <a:extLst>
                <a:ext uri="{909E8E84-426E-40DD-AFC4-6F175D3DCCD1}">
                  <a14:hiddenFill xmlns:a14="http://schemas.microsoft.com/office/drawing/2010/main">
                    <a:noFill/>
                  </a14:hiddenFill>
                </a:ext>
              </a:extLst>
            </p:spPr>
          </p:cxnSp>
          <p:grpSp>
            <p:nvGrpSpPr>
              <p:cNvPr id="65" name="组合 197">
                <a:extLst>
                  <a:ext uri="{FF2B5EF4-FFF2-40B4-BE49-F238E27FC236}">
                    <a16:creationId xmlns:a16="http://schemas.microsoft.com/office/drawing/2014/main" id="{9BEEF6BD-7798-E043-8423-927D23A98922}"/>
                  </a:ext>
                </a:extLst>
              </p:cNvPr>
              <p:cNvGrpSpPr>
                <a:grpSpLocks/>
              </p:cNvGrpSpPr>
              <p:nvPr/>
            </p:nvGrpSpPr>
            <p:grpSpPr bwMode="auto">
              <a:xfrm>
                <a:off x="3271838" y="3313317"/>
                <a:ext cx="380682" cy="1511554"/>
                <a:chOff x="3272003" y="3527488"/>
                <a:chExt cx="380666" cy="1510319"/>
              </a:xfrm>
            </p:grpSpPr>
            <p:grpSp>
              <p:nvGrpSpPr>
                <p:cNvPr id="77" name="组合 187">
                  <a:extLst>
                    <a:ext uri="{FF2B5EF4-FFF2-40B4-BE49-F238E27FC236}">
                      <a16:creationId xmlns:a16="http://schemas.microsoft.com/office/drawing/2014/main" id="{3496B17E-F112-E74A-AF66-C6AB5DD56867}"/>
                    </a:ext>
                  </a:extLst>
                </p:cNvPr>
                <p:cNvGrpSpPr>
                  <a:grpSpLocks/>
                </p:cNvGrpSpPr>
                <p:nvPr/>
              </p:nvGrpSpPr>
              <p:grpSpPr bwMode="auto">
                <a:xfrm>
                  <a:off x="3272003" y="3527488"/>
                  <a:ext cx="380666" cy="915415"/>
                  <a:chOff x="3272003" y="3527488"/>
                  <a:chExt cx="380666" cy="915415"/>
                </a:xfrm>
              </p:grpSpPr>
              <p:sp>
                <p:nvSpPr>
                  <p:cNvPr id="87" name="AutoShape 79">
                    <a:extLst>
                      <a:ext uri="{FF2B5EF4-FFF2-40B4-BE49-F238E27FC236}">
                        <a16:creationId xmlns:a16="http://schemas.microsoft.com/office/drawing/2014/main" id="{40E578CB-F7FE-0D42-97C5-F8C67895366A}"/>
                      </a:ext>
                    </a:extLst>
                  </p:cNvPr>
                  <p:cNvSpPr>
                    <a:spLocks noChangeArrowheads="1"/>
                  </p:cNvSpPr>
                  <p:nvPr/>
                </p:nvSpPr>
                <p:spPr bwMode="auto">
                  <a:xfrm>
                    <a:off x="3271613" y="3527421"/>
                    <a:ext cx="354634" cy="391808"/>
                  </a:xfrm>
                  <a:prstGeom prst="cube">
                    <a:avLst>
                      <a:gd name="adj" fmla="val 25000"/>
                    </a:avLst>
                  </a:prstGeom>
                  <a:solidFill>
                    <a:schemeClr val="tx2">
                      <a:lumMod val="40000"/>
                      <a:lumOff val="60000"/>
                    </a:schemeClr>
                  </a:solidFill>
                  <a:ln w="12700">
                    <a:solidFill>
                      <a:schemeClr val="tx1"/>
                    </a:solidFill>
                    <a:miter lim="800000"/>
                    <a:headEnd/>
                    <a:tailEnd/>
                  </a:ln>
                  <a:effectLst/>
                </p:spPr>
                <p:txBody>
                  <a:bodyPr anchor="ctr">
                    <a:spAutoFit/>
                  </a:bodyPr>
                  <a:lstStyle/>
                  <a:p>
                    <a:pPr algn="ctr" fontAlgn="auto">
                      <a:lnSpc>
                        <a:spcPct val="90000"/>
                      </a:lnSpc>
                      <a:spcBef>
                        <a:spcPts val="0"/>
                      </a:spcBef>
                      <a:spcAft>
                        <a:spcPts val="0"/>
                      </a:spcAft>
                      <a:buClr>
                        <a:schemeClr val="accent2"/>
                      </a:buClr>
                      <a:buFont typeface="Wingdings" pitchFamily="2" charset="2"/>
                      <a:buNone/>
                      <a:defRPr/>
                    </a:pPr>
                    <a:endParaRPr lang="zh-CN" altLang="zh-CN">
                      <a:latin typeface="+mn-lt"/>
                      <a:ea typeface="+mn-ea"/>
                      <a:cs typeface="Arial" charset="0"/>
                    </a:endParaRPr>
                  </a:p>
                </p:txBody>
              </p:sp>
              <p:sp>
                <p:nvSpPr>
                  <p:cNvPr id="88" name="AutoShape 80">
                    <a:extLst>
                      <a:ext uri="{FF2B5EF4-FFF2-40B4-BE49-F238E27FC236}">
                        <a16:creationId xmlns:a16="http://schemas.microsoft.com/office/drawing/2014/main" id="{166B8ED4-CF59-4446-89F2-78AF9D1C424F}"/>
                      </a:ext>
                    </a:extLst>
                  </p:cNvPr>
                  <p:cNvSpPr>
                    <a:spLocks noChangeArrowheads="1"/>
                  </p:cNvSpPr>
                  <p:nvPr/>
                </p:nvSpPr>
                <p:spPr bwMode="auto">
                  <a:xfrm>
                    <a:off x="3271613" y="3597217"/>
                    <a:ext cx="354634" cy="391808"/>
                  </a:xfrm>
                  <a:prstGeom prst="cube">
                    <a:avLst>
                      <a:gd name="adj" fmla="val 25000"/>
                    </a:avLst>
                  </a:prstGeom>
                  <a:solidFill>
                    <a:schemeClr val="tx2">
                      <a:lumMod val="40000"/>
                      <a:lumOff val="60000"/>
                    </a:schemeClr>
                  </a:solidFill>
                  <a:ln w="12700">
                    <a:solidFill>
                      <a:schemeClr val="tx1"/>
                    </a:solidFill>
                    <a:miter lim="800000"/>
                    <a:headEnd/>
                    <a:tailEnd/>
                  </a:ln>
                  <a:effectLst/>
                </p:spPr>
                <p:txBody>
                  <a:bodyPr anchor="ctr">
                    <a:spAutoFit/>
                  </a:bodyPr>
                  <a:lstStyle/>
                  <a:p>
                    <a:pPr algn="ctr" fontAlgn="auto">
                      <a:lnSpc>
                        <a:spcPct val="90000"/>
                      </a:lnSpc>
                      <a:spcBef>
                        <a:spcPts val="0"/>
                      </a:spcBef>
                      <a:spcAft>
                        <a:spcPts val="0"/>
                      </a:spcAft>
                      <a:buClr>
                        <a:schemeClr val="accent2"/>
                      </a:buClr>
                      <a:buFont typeface="Wingdings" pitchFamily="2" charset="2"/>
                      <a:buNone/>
                      <a:defRPr/>
                    </a:pPr>
                    <a:endParaRPr lang="zh-CN" altLang="zh-CN">
                      <a:latin typeface="+mn-lt"/>
                      <a:ea typeface="+mn-ea"/>
                      <a:cs typeface="Arial" charset="0"/>
                    </a:endParaRPr>
                  </a:p>
                </p:txBody>
              </p:sp>
              <p:sp>
                <p:nvSpPr>
                  <p:cNvPr id="89" name="AutoShape 81">
                    <a:extLst>
                      <a:ext uri="{FF2B5EF4-FFF2-40B4-BE49-F238E27FC236}">
                        <a16:creationId xmlns:a16="http://schemas.microsoft.com/office/drawing/2014/main" id="{9912685E-462C-0844-836B-2FE497ED4E6C}"/>
                      </a:ext>
                    </a:extLst>
                  </p:cNvPr>
                  <p:cNvSpPr>
                    <a:spLocks noChangeArrowheads="1"/>
                  </p:cNvSpPr>
                  <p:nvPr/>
                </p:nvSpPr>
                <p:spPr bwMode="auto">
                  <a:xfrm>
                    <a:off x="3271613" y="3665426"/>
                    <a:ext cx="354634" cy="391809"/>
                  </a:xfrm>
                  <a:prstGeom prst="cube">
                    <a:avLst>
                      <a:gd name="adj" fmla="val 25000"/>
                    </a:avLst>
                  </a:prstGeom>
                  <a:solidFill>
                    <a:schemeClr val="tx2">
                      <a:lumMod val="40000"/>
                      <a:lumOff val="60000"/>
                    </a:schemeClr>
                  </a:solidFill>
                  <a:ln w="12700">
                    <a:solidFill>
                      <a:schemeClr val="tx1"/>
                    </a:solidFill>
                    <a:miter lim="800000"/>
                    <a:headEnd/>
                    <a:tailEnd/>
                  </a:ln>
                  <a:effectLst/>
                </p:spPr>
                <p:txBody>
                  <a:bodyPr anchor="ctr">
                    <a:spAutoFit/>
                  </a:bodyPr>
                  <a:lstStyle/>
                  <a:p>
                    <a:pPr algn="ctr" fontAlgn="auto">
                      <a:lnSpc>
                        <a:spcPct val="90000"/>
                      </a:lnSpc>
                      <a:spcBef>
                        <a:spcPts val="0"/>
                      </a:spcBef>
                      <a:spcAft>
                        <a:spcPts val="0"/>
                      </a:spcAft>
                      <a:buClr>
                        <a:schemeClr val="accent2"/>
                      </a:buClr>
                      <a:buFont typeface="Wingdings" pitchFamily="2" charset="2"/>
                      <a:buNone/>
                      <a:defRPr/>
                    </a:pPr>
                    <a:endParaRPr lang="zh-CN" altLang="zh-CN">
                      <a:latin typeface="+mn-lt"/>
                      <a:ea typeface="+mn-ea"/>
                      <a:cs typeface="Arial" charset="0"/>
                    </a:endParaRPr>
                  </a:p>
                </p:txBody>
              </p:sp>
              <p:sp>
                <p:nvSpPr>
                  <p:cNvPr id="90" name="AutoShape 82">
                    <a:extLst>
                      <a:ext uri="{FF2B5EF4-FFF2-40B4-BE49-F238E27FC236}">
                        <a16:creationId xmlns:a16="http://schemas.microsoft.com/office/drawing/2014/main" id="{C57C323F-A208-3E4D-AEF6-DA9486913F40}"/>
                      </a:ext>
                    </a:extLst>
                  </p:cNvPr>
                  <p:cNvSpPr>
                    <a:spLocks noChangeArrowheads="1"/>
                  </p:cNvSpPr>
                  <p:nvPr/>
                </p:nvSpPr>
                <p:spPr bwMode="auto">
                  <a:xfrm>
                    <a:off x="3271613" y="3831985"/>
                    <a:ext cx="354634" cy="391808"/>
                  </a:xfrm>
                  <a:prstGeom prst="cube">
                    <a:avLst>
                      <a:gd name="adj" fmla="val 25000"/>
                    </a:avLst>
                  </a:prstGeom>
                  <a:solidFill>
                    <a:schemeClr val="tx2">
                      <a:lumMod val="40000"/>
                      <a:lumOff val="60000"/>
                    </a:schemeClr>
                  </a:solidFill>
                  <a:ln w="12700">
                    <a:solidFill>
                      <a:schemeClr val="tx1"/>
                    </a:solidFill>
                    <a:miter lim="800000"/>
                    <a:headEnd/>
                    <a:tailEnd/>
                  </a:ln>
                  <a:effectLst/>
                </p:spPr>
                <p:txBody>
                  <a:bodyPr anchor="ctr">
                    <a:spAutoFit/>
                  </a:bodyPr>
                  <a:lstStyle/>
                  <a:p>
                    <a:pPr algn="ctr" fontAlgn="auto">
                      <a:lnSpc>
                        <a:spcPct val="90000"/>
                      </a:lnSpc>
                      <a:spcBef>
                        <a:spcPts val="0"/>
                      </a:spcBef>
                      <a:spcAft>
                        <a:spcPts val="0"/>
                      </a:spcAft>
                      <a:buClr>
                        <a:schemeClr val="accent2"/>
                      </a:buClr>
                      <a:buFont typeface="Wingdings" pitchFamily="2" charset="2"/>
                      <a:buNone/>
                      <a:defRPr/>
                    </a:pPr>
                    <a:endParaRPr lang="zh-CN" altLang="zh-CN">
                      <a:latin typeface="+mn-lt"/>
                      <a:ea typeface="+mn-ea"/>
                      <a:cs typeface="Arial" charset="0"/>
                    </a:endParaRPr>
                  </a:p>
                </p:txBody>
              </p:sp>
              <p:sp>
                <p:nvSpPr>
                  <p:cNvPr id="91" name="AutoShape 83">
                    <a:extLst>
                      <a:ext uri="{FF2B5EF4-FFF2-40B4-BE49-F238E27FC236}">
                        <a16:creationId xmlns:a16="http://schemas.microsoft.com/office/drawing/2014/main" id="{DD12B24D-7AEB-5649-BF4C-431A7B9A5EF6}"/>
                      </a:ext>
                    </a:extLst>
                  </p:cNvPr>
                  <p:cNvSpPr>
                    <a:spLocks noChangeArrowheads="1"/>
                  </p:cNvSpPr>
                  <p:nvPr/>
                </p:nvSpPr>
                <p:spPr bwMode="auto">
                  <a:xfrm>
                    <a:off x="3271613" y="3895436"/>
                    <a:ext cx="354634" cy="391808"/>
                  </a:xfrm>
                  <a:prstGeom prst="cube">
                    <a:avLst>
                      <a:gd name="adj" fmla="val 25000"/>
                    </a:avLst>
                  </a:prstGeom>
                  <a:solidFill>
                    <a:schemeClr val="tx2">
                      <a:lumMod val="40000"/>
                      <a:lumOff val="60000"/>
                    </a:schemeClr>
                  </a:solidFill>
                  <a:ln w="12700">
                    <a:solidFill>
                      <a:schemeClr val="tx1"/>
                    </a:solidFill>
                    <a:miter lim="800000"/>
                    <a:headEnd/>
                    <a:tailEnd/>
                  </a:ln>
                  <a:effectLst/>
                </p:spPr>
                <p:txBody>
                  <a:bodyPr anchor="ctr">
                    <a:spAutoFit/>
                  </a:bodyPr>
                  <a:lstStyle/>
                  <a:p>
                    <a:pPr algn="ctr" fontAlgn="auto">
                      <a:lnSpc>
                        <a:spcPct val="90000"/>
                      </a:lnSpc>
                      <a:spcBef>
                        <a:spcPts val="0"/>
                      </a:spcBef>
                      <a:spcAft>
                        <a:spcPts val="0"/>
                      </a:spcAft>
                      <a:buClr>
                        <a:schemeClr val="accent2"/>
                      </a:buClr>
                      <a:buFont typeface="Wingdings" pitchFamily="2" charset="2"/>
                      <a:buNone/>
                      <a:defRPr/>
                    </a:pPr>
                    <a:endParaRPr lang="zh-CN" altLang="zh-CN">
                      <a:latin typeface="+mn-lt"/>
                      <a:ea typeface="+mn-ea"/>
                      <a:cs typeface="Arial" charset="0"/>
                    </a:endParaRPr>
                  </a:p>
                </p:txBody>
              </p:sp>
              <p:sp>
                <p:nvSpPr>
                  <p:cNvPr id="92" name="椭圆 91">
                    <a:extLst>
                      <a:ext uri="{FF2B5EF4-FFF2-40B4-BE49-F238E27FC236}">
                        <a16:creationId xmlns:a16="http://schemas.microsoft.com/office/drawing/2014/main" id="{ABA2BA2E-BC33-394C-A692-50E99943A04B}"/>
                      </a:ext>
                    </a:extLst>
                  </p:cNvPr>
                  <p:cNvSpPr/>
                  <p:nvPr/>
                </p:nvSpPr>
                <p:spPr bwMode="auto">
                  <a:xfrm>
                    <a:off x="3314700" y="3942681"/>
                    <a:ext cx="324000" cy="54417"/>
                  </a:xfrm>
                  <a:prstGeom prst="ellipse">
                    <a:avLst/>
                  </a:prstGeom>
                  <a:noFill/>
                  <a:ln w="19050" cap="flat" cmpd="sng" algn="ctr">
                    <a:solidFill>
                      <a:schemeClr val="tx2">
                        <a:lumMod val="40000"/>
                        <a:lumOff val="60000"/>
                      </a:schemeClr>
                    </a:solidFill>
                    <a:prstDash val="solid"/>
                    <a:round/>
                    <a:headEnd type="none" w="med" len="med"/>
                    <a:tailEnd type="none" w="med" len="med"/>
                  </a:ln>
                  <a:effectLst/>
                  <a:scene3d>
                    <a:camera prst="perspectiveRelaxedModerately"/>
                    <a:lightRig rig="threePt" dir="t"/>
                  </a:scene3d>
                  <a:sp3d>
                    <a:bevelT w="38100" h="88900"/>
                    <a:bevelB w="0" h="0"/>
                  </a:sp3d>
                </p:spPr>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en-US">
                      <a:latin typeface="+mn-lt"/>
                      <a:cs typeface="Arial" pitchFamily="34" charset="0"/>
                    </a:endParaRPr>
                  </a:p>
                </p:txBody>
              </p:sp>
              <p:sp>
                <p:nvSpPr>
                  <p:cNvPr id="93" name="AutoShape 80">
                    <a:extLst>
                      <a:ext uri="{FF2B5EF4-FFF2-40B4-BE49-F238E27FC236}">
                        <a16:creationId xmlns:a16="http://schemas.microsoft.com/office/drawing/2014/main" id="{5E9B0494-304A-6444-AC9D-D38E2681FB90}"/>
                      </a:ext>
                    </a:extLst>
                  </p:cNvPr>
                  <p:cNvSpPr>
                    <a:spLocks noChangeArrowheads="1"/>
                  </p:cNvSpPr>
                  <p:nvPr/>
                </p:nvSpPr>
                <p:spPr bwMode="auto">
                  <a:xfrm>
                    <a:off x="3271613" y="4050890"/>
                    <a:ext cx="354634" cy="391808"/>
                  </a:xfrm>
                  <a:prstGeom prst="cube">
                    <a:avLst>
                      <a:gd name="adj" fmla="val 25000"/>
                    </a:avLst>
                  </a:prstGeom>
                  <a:solidFill>
                    <a:schemeClr val="tx2">
                      <a:lumMod val="40000"/>
                      <a:lumOff val="60000"/>
                    </a:schemeClr>
                  </a:solidFill>
                  <a:ln w="12700">
                    <a:solidFill>
                      <a:schemeClr val="tx1"/>
                    </a:solidFill>
                    <a:miter lim="800000"/>
                    <a:headEnd/>
                    <a:tailEnd/>
                  </a:ln>
                  <a:effectLst/>
                </p:spPr>
                <p:txBody>
                  <a:bodyPr anchor="ctr">
                    <a:spAutoFit/>
                  </a:bodyPr>
                  <a:lstStyle/>
                  <a:p>
                    <a:pPr algn="ctr" fontAlgn="auto">
                      <a:lnSpc>
                        <a:spcPct val="90000"/>
                      </a:lnSpc>
                      <a:spcBef>
                        <a:spcPts val="0"/>
                      </a:spcBef>
                      <a:spcAft>
                        <a:spcPts val="0"/>
                      </a:spcAft>
                      <a:buClr>
                        <a:schemeClr val="accent2"/>
                      </a:buClr>
                      <a:buFont typeface="Wingdings" pitchFamily="2" charset="2"/>
                      <a:buNone/>
                      <a:defRPr/>
                    </a:pPr>
                    <a:endParaRPr lang="zh-CN" altLang="zh-CN">
                      <a:latin typeface="+mn-lt"/>
                      <a:ea typeface="+mn-ea"/>
                      <a:cs typeface="Arial" charset="0"/>
                    </a:endParaRPr>
                  </a:p>
                </p:txBody>
              </p:sp>
              <p:sp>
                <p:nvSpPr>
                  <p:cNvPr id="94" name="椭圆 93">
                    <a:extLst>
                      <a:ext uri="{FF2B5EF4-FFF2-40B4-BE49-F238E27FC236}">
                        <a16:creationId xmlns:a16="http://schemas.microsoft.com/office/drawing/2014/main" id="{6AD8CFD5-79E8-F04A-9557-8EA92239091D}"/>
                      </a:ext>
                    </a:extLst>
                  </p:cNvPr>
                  <p:cNvSpPr/>
                  <p:nvPr/>
                </p:nvSpPr>
                <p:spPr bwMode="auto">
                  <a:xfrm>
                    <a:off x="3314700" y="4164316"/>
                    <a:ext cx="324000" cy="54417"/>
                  </a:xfrm>
                  <a:prstGeom prst="ellipse">
                    <a:avLst/>
                  </a:prstGeom>
                  <a:noFill/>
                  <a:ln w="19050" cap="flat" cmpd="sng" algn="ctr">
                    <a:solidFill>
                      <a:schemeClr val="tx2">
                        <a:lumMod val="40000"/>
                        <a:lumOff val="60000"/>
                      </a:schemeClr>
                    </a:solidFill>
                    <a:prstDash val="solid"/>
                    <a:round/>
                    <a:headEnd type="none" w="med" len="med"/>
                    <a:tailEnd type="none" w="med" len="med"/>
                  </a:ln>
                  <a:effectLst/>
                  <a:scene3d>
                    <a:camera prst="perspectiveRelaxedModerately"/>
                    <a:lightRig rig="threePt" dir="t"/>
                  </a:scene3d>
                  <a:sp3d>
                    <a:bevelT w="38100" h="88900"/>
                    <a:bevelB w="0" h="0"/>
                  </a:sp3d>
                </p:spPr>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en-US">
                      <a:latin typeface="+mn-lt"/>
                      <a:cs typeface="Arial" pitchFamily="34" charset="0"/>
                    </a:endParaRPr>
                  </a:p>
                </p:txBody>
              </p:sp>
            </p:grpSp>
            <p:grpSp>
              <p:nvGrpSpPr>
                <p:cNvPr id="78" name="组合 188">
                  <a:extLst>
                    <a:ext uri="{FF2B5EF4-FFF2-40B4-BE49-F238E27FC236}">
                      <a16:creationId xmlns:a16="http://schemas.microsoft.com/office/drawing/2014/main" id="{1C1442A4-02E9-5446-8BF7-2FB6524D53DC}"/>
                    </a:ext>
                  </a:extLst>
                </p:cNvPr>
                <p:cNvGrpSpPr>
                  <a:grpSpLocks/>
                </p:cNvGrpSpPr>
                <p:nvPr/>
              </p:nvGrpSpPr>
              <p:grpSpPr bwMode="auto">
                <a:xfrm>
                  <a:off x="3272003" y="4133659"/>
                  <a:ext cx="380666" cy="904148"/>
                  <a:chOff x="3272003" y="3539299"/>
                  <a:chExt cx="380666" cy="904148"/>
                </a:xfrm>
              </p:grpSpPr>
              <p:sp>
                <p:nvSpPr>
                  <p:cNvPr id="79" name="AutoShape 79">
                    <a:extLst>
                      <a:ext uri="{FF2B5EF4-FFF2-40B4-BE49-F238E27FC236}">
                        <a16:creationId xmlns:a16="http://schemas.microsoft.com/office/drawing/2014/main" id="{0C1B7FF1-880D-AE42-9772-B55FC223B443}"/>
                      </a:ext>
                    </a:extLst>
                  </p:cNvPr>
                  <p:cNvSpPr>
                    <a:spLocks noChangeArrowheads="1"/>
                  </p:cNvSpPr>
                  <p:nvPr/>
                </p:nvSpPr>
                <p:spPr bwMode="auto">
                  <a:xfrm>
                    <a:off x="3271613" y="3539016"/>
                    <a:ext cx="354634" cy="391808"/>
                  </a:xfrm>
                  <a:prstGeom prst="cube">
                    <a:avLst>
                      <a:gd name="adj" fmla="val 25000"/>
                    </a:avLst>
                  </a:prstGeom>
                  <a:solidFill>
                    <a:schemeClr val="tx2">
                      <a:lumMod val="40000"/>
                      <a:lumOff val="60000"/>
                    </a:schemeClr>
                  </a:solidFill>
                  <a:ln w="12700">
                    <a:solidFill>
                      <a:schemeClr val="tx1"/>
                    </a:solidFill>
                    <a:miter lim="800000"/>
                    <a:headEnd/>
                    <a:tailEnd/>
                  </a:ln>
                  <a:effectLst/>
                </p:spPr>
                <p:txBody>
                  <a:bodyPr anchor="ctr">
                    <a:spAutoFit/>
                  </a:bodyPr>
                  <a:lstStyle/>
                  <a:p>
                    <a:pPr algn="ctr" fontAlgn="auto">
                      <a:lnSpc>
                        <a:spcPct val="90000"/>
                      </a:lnSpc>
                      <a:spcBef>
                        <a:spcPts val="0"/>
                      </a:spcBef>
                      <a:spcAft>
                        <a:spcPts val="0"/>
                      </a:spcAft>
                      <a:buClr>
                        <a:schemeClr val="accent2"/>
                      </a:buClr>
                      <a:buFont typeface="Wingdings" pitchFamily="2" charset="2"/>
                      <a:buNone/>
                      <a:defRPr/>
                    </a:pPr>
                    <a:endParaRPr lang="zh-CN" altLang="zh-CN">
                      <a:latin typeface="+mn-lt"/>
                      <a:ea typeface="+mn-ea"/>
                      <a:cs typeface="Arial" charset="0"/>
                    </a:endParaRPr>
                  </a:p>
                </p:txBody>
              </p:sp>
              <p:sp>
                <p:nvSpPr>
                  <p:cNvPr id="80" name="AutoShape 80">
                    <a:extLst>
                      <a:ext uri="{FF2B5EF4-FFF2-40B4-BE49-F238E27FC236}">
                        <a16:creationId xmlns:a16="http://schemas.microsoft.com/office/drawing/2014/main" id="{480FC12E-68ED-054D-B253-133D3A23FB24}"/>
                      </a:ext>
                    </a:extLst>
                  </p:cNvPr>
                  <p:cNvSpPr>
                    <a:spLocks noChangeArrowheads="1"/>
                  </p:cNvSpPr>
                  <p:nvPr/>
                </p:nvSpPr>
                <p:spPr bwMode="auto">
                  <a:xfrm>
                    <a:off x="3271613" y="3597708"/>
                    <a:ext cx="354634" cy="391809"/>
                  </a:xfrm>
                  <a:prstGeom prst="cube">
                    <a:avLst>
                      <a:gd name="adj" fmla="val 25000"/>
                    </a:avLst>
                  </a:prstGeom>
                  <a:solidFill>
                    <a:schemeClr val="tx2">
                      <a:lumMod val="40000"/>
                      <a:lumOff val="60000"/>
                    </a:schemeClr>
                  </a:solidFill>
                  <a:ln w="12700">
                    <a:solidFill>
                      <a:schemeClr val="tx1"/>
                    </a:solidFill>
                    <a:miter lim="800000"/>
                    <a:headEnd/>
                    <a:tailEnd/>
                  </a:ln>
                  <a:effectLst/>
                </p:spPr>
                <p:txBody>
                  <a:bodyPr anchor="ctr">
                    <a:spAutoFit/>
                  </a:bodyPr>
                  <a:lstStyle/>
                  <a:p>
                    <a:pPr algn="ctr" fontAlgn="auto">
                      <a:lnSpc>
                        <a:spcPct val="90000"/>
                      </a:lnSpc>
                      <a:spcBef>
                        <a:spcPts val="0"/>
                      </a:spcBef>
                      <a:spcAft>
                        <a:spcPts val="0"/>
                      </a:spcAft>
                      <a:buClr>
                        <a:schemeClr val="accent2"/>
                      </a:buClr>
                      <a:buFont typeface="Wingdings" pitchFamily="2" charset="2"/>
                      <a:buNone/>
                      <a:defRPr/>
                    </a:pPr>
                    <a:endParaRPr lang="zh-CN" altLang="zh-CN">
                      <a:latin typeface="+mn-lt"/>
                      <a:ea typeface="+mn-ea"/>
                      <a:cs typeface="Arial" charset="0"/>
                    </a:endParaRPr>
                  </a:p>
                </p:txBody>
              </p:sp>
              <p:sp>
                <p:nvSpPr>
                  <p:cNvPr id="81" name="AutoShape 81">
                    <a:extLst>
                      <a:ext uri="{FF2B5EF4-FFF2-40B4-BE49-F238E27FC236}">
                        <a16:creationId xmlns:a16="http://schemas.microsoft.com/office/drawing/2014/main" id="{60346FF6-2BE9-F04D-9C65-90DA7E6B6D9B}"/>
                      </a:ext>
                    </a:extLst>
                  </p:cNvPr>
                  <p:cNvSpPr>
                    <a:spLocks noChangeArrowheads="1"/>
                  </p:cNvSpPr>
                  <p:nvPr/>
                </p:nvSpPr>
                <p:spPr bwMode="auto">
                  <a:xfrm>
                    <a:off x="3271613" y="3665918"/>
                    <a:ext cx="354634" cy="391808"/>
                  </a:xfrm>
                  <a:prstGeom prst="cube">
                    <a:avLst>
                      <a:gd name="adj" fmla="val 25000"/>
                    </a:avLst>
                  </a:prstGeom>
                  <a:solidFill>
                    <a:schemeClr val="tx2">
                      <a:lumMod val="40000"/>
                      <a:lumOff val="60000"/>
                    </a:schemeClr>
                  </a:solidFill>
                  <a:ln w="12700">
                    <a:solidFill>
                      <a:schemeClr val="tx1"/>
                    </a:solidFill>
                    <a:miter lim="800000"/>
                    <a:headEnd/>
                    <a:tailEnd/>
                  </a:ln>
                  <a:effectLst/>
                </p:spPr>
                <p:txBody>
                  <a:bodyPr anchor="ctr">
                    <a:spAutoFit/>
                  </a:bodyPr>
                  <a:lstStyle/>
                  <a:p>
                    <a:pPr algn="ctr" fontAlgn="auto">
                      <a:lnSpc>
                        <a:spcPct val="90000"/>
                      </a:lnSpc>
                      <a:spcBef>
                        <a:spcPts val="0"/>
                      </a:spcBef>
                      <a:spcAft>
                        <a:spcPts val="0"/>
                      </a:spcAft>
                      <a:buClr>
                        <a:schemeClr val="accent2"/>
                      </a:buClr>
                      <a:buFont typeface="Wingdings" pitchFamily="2" charset="2"/>
                      <a:buNone/>
                      <a:defRPr/>
                    </a:pPr>
                    <a:endParaRPr lang="zh-CN" altLang="zh-CN">
                      <a:latin typeface="+mn-lt"/>
                      <a:ea typeface="+mn-ea"/>
                      <a:cs typeface="Arial" charset="0"/>
                    </a:endParaRPr>
                  </a:p>
                </p:txBody>
              </p:sp>
              <p:sp>
                <p:nvSpPr>
                  <p:cNvPr id="82" name="AutoShape 82">
                    <a:extLst>
                      <a:ext uri="{FF2B5EF4-FFF2-40B4-BE49-F238E27FC236}">
                        <a16:creationId xmlns:a16="http://schemas.microsoft.com/office/drawing/2014/main" id="{76FA4E01-35BC-A547-9151-B8AF28A460E6}"/>
                      </a:ext>
                    </a:extLst>
                  </p:cNvPr>
                  <p:cNvSpPr>
                    <a:spLocks noChangeArrowheads="1"/>
                  </p:cNvSpPr>
                  <p:nvPr/>
                </p:nvSpPr>
                <p:spPr bwMode="auto">
                  <a:xfrm>
                    <a:off x="3271613" y="3832476"/>
                    <a:ext cx="354634" cy="391809"/>
                  </a:xfrm>
                  <a:prstGeom prst="cube">
                    <a:avLst>
                      <a:gd name="adj" fmla="val 25000"/>
                    </a:avLst>
                  </a:prstGeom>
                  <a:solidFill>
                    <a:schemeClr val="tx2">
                      <a:lumMod val="40000"/>
                      <a:lumOff val="60000"/>
                    </a:schemeClr>
                  </a:solidFill>
                  <a:ln w="12700">
                    <a:solidFill>
                      <a:schemeClr val="tx1"/>
                    </a:solidFill>
                    <a:miter lim="800000"/>
                    <a:headEnd/>
                    <a:tailEnd/>
                  </a:ln>
                  <a:effectLst/>
                </p:spPr>
                <p:txBody>
                  <a:bodyPr anchor="ctr">
                    <a:spAutoFit/>
                  </a:bodyPr>
                  <a:lstStyle/>
                  <a:p>
                    <a:pPr algn="ctr" fontAlgn="auto">
                      <a:lnSpc>
                        <a:spcPct val="90000"/>
                      </a:lnSpc>
                      <a:spcBef>
                        <a:spcPts val="0"/>
                      </a:spcBef>
                      <a:spcAft>
                        <a:spcPts val="0"/>
                      </a:spcAft>
                      <a:buClr>
                        <a:schemeClr val="accent2"/>
                      </a:buClr>
                      <a:buFont typeface="Wingdings" pitchFamily="2" charset="2"/>
                      <a:buNone/>
                      <a:defRPr/>
                    </a:pPr>
                    <a:endParaRPr lang="zh-CN" altLang="zh-CN">
                      <a:latin typeface="+mn-lt"/>
                      <a:ea typeface="+mn-ea"/>
                      <a:cs typeface="Arial" charset="0"/>
                    </a:endParaRPr>
                  </a:p>
                </p:txBody>
              </p:sp>
              <p:sp>
                <p:nvSpPr>
                  <p:cNvPr id="83" name="AutoShape 83">
                    <a:extLst>
                      <a:ext uri="{FF2B5EF4-FFF2-40B4-BE49-F238E27FC236}">
                        <a16:creationId xmlns:a16="http://schemas.microsoft.com/office/drawing/2014/main" id="{7F3FCAB0-895A-A547-AD42-CFDBF3BC360C}"/>
                      </a:ext>
                    </a:extLst>
                  </p:cNvPr>
                  <p:cNvSpPr>
                    <a:spLocks noChangeArrowheads="1"/>
                  </p:cNvSpPr>
                  <p:nvPr/>
                </p:nvSpPr>
                <p:spPr bwMode="auto">
                  <a:xfrm>
                    <a:off x="3271613" y="3895927"/>
                    <a:ext cx="354634" cy="391809"/>
                  </a:xfrm>
                  <a:prstGeom prst="cube">
                    <a:avLst>
                      <a:gd name="adj" fmla="val 25000"/>
                    </a:avLst>
                  </a:prstGeom>
                  <a:solidFill>
                    <a:schemeClr val="tx2">
                      <a:lumMod val="40000"/>
                      <a:lumOff val="60000"/>
                    </a:schemeClr>
                  </a:solidFill>
                  <a:ln w="12700">
                    <a:solidFill>
                      <a:schemeClr val="tx1"/>
                    </a:solidFill>
                    <a:miter lim="800000"/>
                    <a:headEnd/>
                    <a:tailEnd/>
                  </a:ln>
                  <a:effectLst/>
                </p:spPr>
                <p:txBody>
                  <a:bodyPr anchor="ctr">
                    <a:spAutoFit/>
                  </a:bodyPr>
                  <a:lstStyle/>
                  <a:p>
                    <a:pPr algn="ctr" fontAlgn="auto">
                      <a:lnSpc>
                        <a:spcPct val="90000"/>
                      </a:lnSpc>
                      <a:spcBef>
                        <a:spcPts val="0"/>
                      </a:spcBef>
                      <a:spcAft>
                        <a:spcPts val="0"/>
                      </a:spcAft>
                      <a:buClr>
                        <a:schemeClr val="accent2"/>
                      </a:buClr>
                      <a:buFont typeface="Wingdings" pitchFamily="2" charset="2"/>
                      <a:buNone/>
                      <a:defRPr/>
                    </a:pPr>
                    <a:endParaRPr lang="zh-CN" altLang="zh-CN">
                      <a:latin typeface="+mn-lt"/>
                      <a:ea typeface="+mn-ea"/>
                      <a:cs typeface="Arial" charset="0"/>
                    </a:endParaRPr>
                  </a:p>
                </p:txBody>
              </p:sp>
              <p:sp>
                <p:nvSpPr>
                  <p:cNvPr id="84" name="椭圆 83">
                    <a:extLst>
                      <a:ext uri="{FF2B5EF4-FFF2-40B4-BE49-F238E27FC236}">
                        <a16:creationId xmlns:a16="http://schemas.microsoft.com/office/drawing/2014/main" id="{92714126-049B-784C-8D8C-F69E4344EAC1}"/>
                      </a:ext>
                    </a:extLst>
                  </p:cNvPr>
                  <p:cNvSpPr/>
                  <p:nvPr/>
                </p:nvSpPr>
                <p:spPr bwMode="auto">
                  <a:xfrm>
                    <a:off x="3314700" y="3942681"/>
                    <a:ext cx="324000" cy="54417"/>
                  </a:xfrm>
                  <a:prstGeom prst="ellipse">
                    <a:avLst/>
                  </a:prstGeom>
                  <a:noFill/>
                  <a:ln w="19050" cap="flat" cmpd="sng" algn="ctr">
                    <a:solidFill>
                      <a:schemeClr val="tx2">
                        <a:lumMod val="40000"/>
                        <a:lumOff val="60000"/>
                      </a:schemeClr>
                    </a:solidFill>
                    <a:prstDash val="solid"/>
                    <a:round/>
                    <a:headEnd type="none" w="med" len="med"/>
                    <a:tailEnd type="none" w="med" len="med"/>
                  </a:ln>
                  <a:effectLst/>
                  <a:scene3d>
                    <a:camera prst="perspectiveRelaxedModerately"/>
                    <a:lightRig rig="threePt" dir="t"/>
                  </a:scene3d>
                  <a:sp3d>
                    <a:bevelT w="38100" h="88900"/>
                    <a:bevelB w="0" h="0"/>
                  </a:sp3d>
                </p:spPr>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en-US">
                      <a:latin typeface="+mn-lt"/>
                      <a:cs typeface="Arial" pitchFamily="34" charset="0"/>
                    </a:endParaRPr>
                  </a:p>
                </p:txBody>
              </p:sp>
              <p:sp>
                <p:nvSpPr>
                  <p:cNvPr id="85" name="AutoShape 80">
                    <a:extLst>
                      <a:ext uri="{FF2B5EF4-FFF2-40B4-BE49-F238E27FC236}">
                        <a16:creationId xmlns:a16="http://schemas.microsoft.com/office/drawing/2014/main" id="{6B3E1D54-2104-2449-B080-C66485816BEC}"/>
                      </a:ext>
                    </a:extLst>
                  </p:cNvPr>
                  <p:cNvSpPr>
                    <a:spLocks noChangeArrowheads="1"/>
                  </p:cNvSpPr>
                  <p:nvPr/>
                </p:nvSpPr>
                <p:spPr bwMode="auto">
                  <a:xfrm>
                    <a:off x="3271613" y="4051381"/>
                    <a:ext cx="354634" cy="391809"/>
                  </a:xfrm>
                  <a:prstGeom prst="cube">
                    <a:avLst>
                      <a:gd name="adj" fmla="val 25000"/>
                    </a:avLst>
                  </a:prstGeom>
                  <a:solidFill>
                    <a:schemeClr val="tx2">
                      <a:lumMod val="40000"/>
                      <a:lumOff val="60000"/>
                    </a:schemeClr>
                  </a:solidFill>
                  <a:ln w="12700">
                    <a:solidFill>
                      <a:schemeClr val="tx1"/>
                    </a:solidFill>
                    <a:miter lim="800000"/>
                    <a:headEnd/>
                    <a:tailEnd/>
                  </a:ln>
                  <a:effectLst/>
                </p:spPr>
                <p:txBody>
                  <a:bodyPr anchor="ctr">
                    <a:spAutoFit/>
                  </a:bodyPr>
                  <a:lstStyle/>
                  <a:p>
                    <a:pPr algn="ctr" fontAlgn="auto">
                      <a:lnSpc>
                        <a:spcPct val="90000"/>
                      </a:lnSpc>
                      <a:spcBef>
                        <a:spcPts val="0"/>
                      </a:spcBef>
                      <a:spcAft>
                        <a:spcPts val="0"/>
                      </a:spcAft>
                      <a:buClr>
                        <a:schemeClr val="accent2"/>
                      </a:buClr>
                      <a:buFont typeface="Wingdings" pitchFamily="2" charset="2"/>
                      <a:buNone/>
                      <a:defRPr/>
                    </a:pPr>
                    <a:endParaRPr lang="zh-CN" altLang="zh-CN">
                      <a:latin typeface="+mn-lt"/>
                      <a:ea typeface="+mn-ea"/>
                      <a:cs typeface="Arial" charset="0"/>
                    </a:endParaRPr>
                  </a:p>
                </p:txBody>
              </p:sp>
              <p:sp>
                <p:nvSpPr>
                  <p:cNvPr id="86" name="椭圆 85">
                    <a:extLst>
                      <a:ext uri="{FF2B5EF4-FFF2-40B4-BE49-F238E27FC236}">
                        <a16:creationId xmlns:a16="http://schemas.microsoft.com/office/drawing/2014/main" id="{CA40B357-FFD6-E841-A40C-E981DB3F326B}"/>
                      </a:ext>
                    </a:extLst>
                  </p:cNvPr>
                  <p:cNvSpPr/>
                  <p:nvPr/>
                </p:nvSpPr>
                <p:spPr bwMode="auto">
                  <a:xfrm>
                    <a:off x="3314700" y="4164316"/>
                    <a:ext cx="324000" cy="54417"/>
                  </a:xfrm>
                  <a:prstGeom prst="ellipse">
                    <a:avLst/>
                  </a:prstGeom>
                  <a:noFill/>
                  <a:ln w="19050" cap="flat" cmpd="sng" algn="ctr">
                    <a:solidFill>
                      <a:schemeClr val="tx2">
                        <a:lumMod val="40000"/>
                        <a:lumOff val="60000"/>
                      </a:schemeClr>
                    </a:solidFill>
                    <a:prstDash val="solid"/>
                    <a:round/>
                    <a:headEnd type="none" w="med" len="med"/>
                    <a:tailEnd type="none" w="med" len="med"/>
                  </a:ln>
                  <a:effectLst/>
                  <a:scene3d>
                    <a:camera prst="perspectiveRelaxedModerately"/>
                    <a:lightRig rig="threePt" dir="t"/>
                  </a:scene3d>
                  <a:sp3d>
                    <a:bevelT w="38100" h="88900"/>
                    <a:bevelB w="0" h="0"/>
                  </a:sp3d>
                </p:spPr>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en-US">
                      <a:latin typeface="+mn-lt"/>
                      <a:cs typeface="Arial" pitchFamily="34" charset="0"/>
                    </a:endParaRPr>
                  </a:p>
                </p:txBody>
              </p:sp>
            </p:grpSp>
          </p:grpSp>
          <p:sp>
            <p:nvSpPr>
              <p:cNvPr id="66" name="TextBox 198">
                <a:extLst>
                  <a:ext uri="{FF2B5EF4-FFF2-40B4-BE49-F238E27FC236}">
                    <a16:creationId xmlns:a16="http://schemas.microsoft.com/office/drawing/2014/main" id="{717A8E98-0C0E-DD40-803A-56AC53DB58C3}"/>
                  </a:ext>
                </a:extLst>
              </p:cNvPr>
              <p:cNvSpPr txBox="1">
                <a:spLocks noChangeArrowheads="1"/>
              </p:cNvSpPr>
              <p:nvPr/>
            </p:nvSpPr>
            <p:spPr bwMode="auto">
              <a:xfrm>
                <a:off x="2696503" y="3773253"/>
                <a:ext cx="525588" cy="369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r>
                  <a:rPr lang="zh-CN" altLang="en-US" sz="1000" dirty="0"/>
                  <a:t>工作项</a:t>
                </a:r>
              </a:p>
              <a:p>
                <a:pPr algn="ctr" eaLnBrk="1" hangingPunct="1">
                  <a:lnSpc>
                    <a:spcPct val="90000"/>
                  </a:lnSpc>
                  <a:buClr>
                    <a:schemeClr val="accent2"/>
                  </a:buClr>
                  <a:buFont typeface="Wingdings" pitchFamily="2" charset="2"/>
                  <a:buNone/>
                </a:pPr>
                <a:r>
                  <a:rPr lang="zh-CN" altLang="en-US" sz="1000" dirty="0"/>
                  <a:t>分解</a:t>
                </a:r>
              </a:p>
            </p:txBody>
          </p:sp>
          <p:sp>
            <p:nvSpPr>
              <p:cNvPr id="67" name="右大括号 201">
                <a:extLst>
                  <a:ext uri="{FF2B5EF4-FFF2-40B4-BE49-F238E27FC236}">
                    <a16:creationId xmlns:a16="http://schemas.microsoft.com/office/drawing/2014/main" id="{0E42C845-0FE4-634F-97C6-4697ECD955F9}"/>
                  </a:ext>
                </a:extLst>
              </p:cNvPr>
              <p:cNvSpPr>
                <a:spLocks/>
              </p:cNvSpPr>
              <p:nvPr/>
            </p:nvSpPr>
            <p:spPr bwMode="auto">
              <a:xfrm rot="5400000">
                <a:off x="2281306" y="3781751"/>
                <a:ext cx="366215" cy="2331926"/>
              </a:xfrm>
              <a:prstGeom prst="rightBrace">
                <a:avLst>
                  <a:gd name="adj1" fmla="val 8316"/>
                  <a:gd name="adj2" fmla="val 50366"/>
                </a:avLst>
              </a:prstGeom>
              <a:noFill/>
              <a:ln w="12700" algn="ctr">
                <a:solidFill>
                  <a:srgbClr val="002060"/>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endParaRPr lang="zh-CN" altLang="zh-CN"/>
              </a:p>
            </p:txBody>
          </p:sp>
          <p:cxnSp>
            <p:nvCxnSpPr>
              <p:cNvPr id="68" name="直接箭头连接符 204">
                <a:extLst>
                  <a:ext uri="{FF2B5EF4-FFF2-40B4-BE49-F238E27FC236}">
                    <a16:creationId xmlns:a16="http://schemas.microsoft.com/office/drawing/2014/main" id="{88E3D637-E458-144B-B5AD-9EA5DF74EB44}"/>
                  </a:ext>
                </a:extLst>
              </p:cNvPr>
              <p:cNvCxnSpPr>
                <a:cxnSpLocks noChangeShapeType="1"/>
                <a:stCxn id="74" idx="0"/>
                <a:endCxn id="166" idx="2"/>
              </p:cNvCxnSpPr>
              <p:nvPr/>
            </p:nvCxnSpPr>
            <p:spPr bwMode="auto">
              <a:xfrm flipH="1" flipV="1">
                <a:off x="4849448" y="3904029"/>
                <a:ext cx="86204" cy="1276254"/>
              </a:xfrm>
              <a:prstGeom prst="straightConnector1">
                <a:avLst/>
              </a:prstGeom>
              <a:noFill/>
              <a:ln w="12700" algn="ctr">
                <a:solidFill>
                  <a:srgbClr val="002060"/>
                </a:solidFill>
                <a:round/>
                <a:headEnd/>
                <a:tailEnd type="arrow" w="med" len="med"/>
              </a:ln>
              <a:extLst>
                <a:ext uri="{909E8E84-426E-40DD-AFC4-6F175D3DCCD1}">
                  <a14:hiddenFill xmlns:a14="http://schemas.microsoft.com/office/drawing/2010/main">
                    <a:noFill/>
                  </a14:hiddenFill>
                </a:ext>
              </a:extLst>
            </p:spPr>
          </p:cxnSp>
          <p:cxnSp>
            <p:nvCxnSpPr>
              <p:cNvPr id="69" name="直接箭头连接符 206">
                <a:extLst>
                  <a:ext uri="{FF2B5EF4-FFF2-40B4-BE49-F238E27FC236}">
                    <a16:creationId xmlns:a16="http://schemas.microsoft.com/office/drawing/2014/main" id="{65EBD45E-3801-9E4B-8EBA-979BE46DDBAB}"/>
                  </a:ext>
                </a:extLst>
              </p:cNvPr>
              <p:cNvCxnSpPr>
                <a:cxnSpLocks noChangeShapeType="1"/>
                <a:stCxn id="75" idx="0"/>
              </p:cNvCxnSpPr>
              <p:nvPr/>
            </p:nvCxnSpPr>
            <p:spPr bwMode="auto">
              <a:xfrm flipH="1" flipV="1">
                <a:off x="4984750" y="4016376"/>
                <a:ext cx="2266715" cy="1145572"/>
              </a:xfrm>
              <a:prstGeom prst="straightConnector1">
                <a:avLst/>
              </a:prstGeom>
              <a:noFill/>
              <a:ln w="12700" algn="ctr">
                <a:solidFill>
                  <a:srgbClr val="002060"/>
                </a:solidFill>
                <a:round/>
                <a:headEnd/>
                <a:tailEnd type="arrow" w="med" len="med"/>
              </a:ln>
              <a:extLst>
                <a:ext uri="{909E8E84-426E-40DD-AFC4-6F175D3DCCD1}">
                  <a14:hiddenFill xmlns:a14="http://schemas.microsoft.com/office/drawing/2010/main">
                    <a:noFill/>
                  </a14:hiddenFill>
                </a:ext>
              </a:extLst>
            </p:spPr>
          </p:cxnSp>
          <p:sp>
            <p:nvSpPr>
              <p:cNvPr id="70" name="AutoShape 325">
                <a:extLst>
                  <a:ext uri="{FF2B5EF4-FFF2-40B4-BE49-F238E27FC236}">
                    <a16:creationId xmlns:a16="http://schemas.microsoft.com/office/drawing/2014/main" id="{D087F869-98B5-3345-9B06-AFFF6F70BD92}"/>
                  </a:ext>
                </a:extLst>
              </p:cNvPr>
              <p:cNvSpPr>
                <a:spLocks noChangeArrowheads="1"/>
              </p:cNvSpPr>
              <p:nvPr/>
            </p:nvSpPr>
            <p:spPr bwMode="auto">
              <a:xfrm>
                <a:off x="143070" y="2704629"/>
                <a:ext cx="1320409" cy="484209"/>
              </a:xfrm>
              <a:prstGeom prst="foldedCorner">
                <a:avLst>
                  <a:gd name="adj" fmla="val 12500"/>
                </a:avLst>
              </a:prstGeom>
              <a:ln>
                <a:headEnd/>
                <a:tailEnd/>
              </a:ln>
            </p:spPr>
            <p:style>
              <a:lnRef idx="1">
                <a:schemeClr val="accent4"/>
              </a:lnRef>
              <a:fillRef idx="2">
                <a:schemeClr val="accent4"/>
              </a:fillRef>
              <a:effectRef idx="1">
                <a:schemeClr val="accent4"/>
              </a:effectRef>
              <a:fontRef idx="minor">
                <a:schemeClr val="dk1"/>
              </a:fontRef>
            </p:style>
            <p:txBody>
              <a:bodyPr lIns="0" rIns="0"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r>
                  <a:rPr lang="zh-CN" altLang="en-US" sz="1200" b="1" dirty="0">
                    <a:solidFill>
                      <a:srgbClr val="C00000"/>
                    </a:solidFill>
                  </a:rPr>
                  <a:t>产品订单</a:t>
                </a:r>
              </a:p>
              <a:p>
                <a:pPr algn="ctr" eaLnBrk="1" hangingPunct="1">
                  <a:lnSpc>
                    <a:spcPct val="90000"/>
                  </a:lnSpc>
                  <a:buClr>
                    <a:schemeClr val="accent2"/>
                  </a:buClr>
                  <a:buFont typeface="Wingdings" pitchFamily="2" charset="2"/>
                  <a:buNone/>
                </a:pPr>
                <a:r>
                  <a:rPr lang="en-US" altLang="zh-CN" sz="1200" b="1" dirty="0">
                    <a:solidFill>
                      <a:srgbClr val="C00000"/>
                    </a:solidFill>
                  </a:rPr>
                  <a:t>Product  Backlog</a:t>
                </a:r>
              </a:p>
            </p:txBody>
          </p:sp>
          <p:sp>
            <p:nvSpPr>
              <p:cNvPr id="71" name="AutoShape 325">
                <a:extLst>
                  <a:ext uri="{FF2B5EF4-FFF2-40B4-BE49-F238E27FC236}">
                    <a16:creationId xmlns:a16="http://schemas.microsoft.com/office/drawing/2014/main" id="{6EDC0EAD-2E0F-7B42-AC95-1F74CCC003C7}"/>
                  </a:ext>
                </a:extLst>
              </p:cNvPr>
              <p:cNvSpPr>
                <a:spLocks noChangeArrowheads="1"/>
              </p:cNvSpPr>
              <p:nvPr/>
            </p:nvSpPr>
            <p:spPr bwMode="auto">
              <a:xfrm>
                <a:off x="2158994" y="2715278"/>
                <a:ext cx="1333598" cy="484207"/>
              </a:xfrm>
              <a:prstGeom prst="foldedCorner">
                <a:avLst>
                  <a:gd name="adj" fmla="val 12500"/>
                </a:avLst>
              </a:prstGeom>
              <a:ln>
                <a:headEnd/>
                <a:tailEnd/>
              </a:ln>
            </p:spPr>
            <p:style>
              <a:lnRef idx="1">
                <a:schemeClr val="accent3"/>
              </a:lnRef>
              <a:fillRef idx="2">
                <a:schemeClr val="accent3"/>
              </a:fillRef>
              <a:effectRef idx="1">
                <a:schemeClr val="accent3"/>
              </a:effectRef>
              <a:fontRef idx="minor">
                <a:schemeClr val="dk1"/>
              </a:fontRef>
            </p:style>
            <p:txBody>
              <a:bodyPr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r>
                  <a:rPr lang="zh-CN" altLang="en-US" sz="1200" b="1" dirty="0">
                    <a:solidFill>
                      <a:srgbClr val="C00000"/>
                    </a:solidFill>
                  </a:rPr>
                  <a:t>迭代订单</a:t>
                </a:r>
              </a:p>
              <a:p>
                <a:pPr algn="ctr" eaLnBrk="1" hangingPunct="1">
                  <a:lnSpc>
                    <a:spcPct val="90000"/>
                  </a:lnSpc>
                  <a:buClr>
                    <a:schemeClr val="accent2"/>
                  </a:buClr>
                  <a:buFont typeface="Wingdings" pitchFamily="2" charset="2"/>
                  <a:buNone/>
                </a:pPr>
                <a:r>
                  <a:rPr lang="en-US" altLang="zh-CN" sz="1200" b="1" dirty="0">
                    <a:solidFill>
                      <a:srgbClr val="C00000"/>
                    </a:solidFill>
                  </a:rPr>
                  <a:t>Sprint Backlog</a:t>
                </a:r>
              </a:p>
            </p:txBody>
          </p:sp>
          <p:sp>
            <p:nvSpPr>
              <p:cNvPr id="72" name="AutoShape 325">
                <a:extLst>
                  <a:ext uri="{FF2B5EF4-FFF2-40B4-BE49-F238E27FC236}">
                    <a16:creationId xmlns:a16="http://schemas.microsoft.com/office/drawing/2014/main" id="{00D214EE-0466-054E-A581-0B374CA22FA9}"/>
                  </a:ext>
                </a:extLst>
              </p:cNvPr>
              <p:cNvSpPr>
                <a:spLocks noChangeArrowheads="1"/>
              </p:cNvSpPr>
              <p:nvPr/>
            </p:nvSpPr>
            <p:spPr bwMode="auto">
              <a:xfrm>
                <a:off x="6843655" y="3223603"/>
                <a:ext cx="871968" cy="484207"/>
              </a:xfrm>
              <a:prstGeom prst="foldedCorner">
                <a:avLst>
                  <a:gd name="adj" fmla="val 31483"/>
                </a:avLst>
              </a:prstGeom>
              <a:ln>
                <a:headEnd/>
                <a:tailEnd/>
              </a:ln>
            </p:spPr>
            <p:style>
              <a:lnRef idx="1">
                <a:schemeClr val="accent5"/>
              </a:lnRef>
              <a:fillRef idx="2">
                <a:schemeClr val="accent5"/>
              </a:fillRef>
              <a:effectRef idx="1">
                <a:schemeClr val="accent5"/>
              </a:effectRef>
              <a:fontRef idx="minor">
                <a:schemeClr val="dk1"/>
              </a:fontRef>
            </p:style>
            <p:txBody>
              <a:bodyPr anchor="ctr"/>
              <a:lstStyle/>
              <a:p>
                <a:pPr algn="ctr" fontAlgn="auto">
                  <a:lnSpc>
                    <a:spcPct val="90000"/>
                  </a:lnSpc>
                  <a:spcBef>
                    <a:spcPts val="0"/>
                  </a:spcBef>
                  <a:spcAft>
                    <a:spcPts val="0"/>
                  </a:spcAft>
                  <a:buClr>
                    <a:schemeClr val="accent2"/>
                  </a:buClr>
                  <a:buFont typeface="Wingdings" pitchFamily="2" charset="2"/>
                  <a:buNone/>
                  <a:defRPr/>
                </a:pPr>
                <a:endParaRPr lang="en-US" altLang="zh-CN" sz="1200" b="1" dirty="0">
                  <a:solidFill>
                    <a:srgbClr val="C00000"/>
                  </a:solidFill>
                </a:endParaRPr>
              </a:p>
              <a:p>
                <a:pPr algn="ctr" fontAlgn="auto">
                  <a:lnSpc>
                    <a:spcPct val="90000"/>
                  </a:lnSpc>
                  <a:spcBef>
                    <a:spcPts val="0"/>
                  </a:spcBef>
                  <a:spcAft>
                    <a:spcPts val="0"/>
                  </a:spcAft>
                  <a:buClr>
                    <a:schemeClr val="accent2"/>
                  </a:buClr>
                  <a:buFont typeface="Wingdings" pitchFamily="2" charset="2"/>
                  <a:buNone/>
                  <a:defRPr/>
                </a:pPr>
                <a:r>
                  <a:rPr lang="zh-CN" altLang="en-US" sz="1200" b="1" dirty="0">
                    <a:solidFill>
                      <a:srgbClr val="C00000"/>
                    </a:solidFill>
                  </a:rPr>
                  <a:t>新的功能增量</a:t>
                </a:r>
              </a:p>
            </p:txBody>
          </p:sp>
          <p:sp>
            <p:nvSpPr>
              <p:cNvPr id="73" name="五边形 72">
                <a:extLst>
                  <a:ext uri="{FF2B5EF4-FFF2-40B4-BE49-F238E27FC236}">
                    <a16:creationId xmlns:a16="http://schemas.microsoft.com/office/drawing/2014/main" id="{3250EF7C-DBA5-AF42-8813-F88ADEF69E0E}"/>
                  </a:ext>
                </a:extLst>
              </p:cNvPr>
              <p:cNvSpPr/>
              <p:nvPr/>
            </p:nvSpPr>
            <p:spPr bwMode="auto">
              <a:xfrm>
                <a:off x="1398550" y="5186813"/>
                <a:ext cx="2500129" cy="861814"/>
              </a:xfrm>
              <a:prstGeom prst="homePlate">
                <a:avLst>
                  <a:gd name="adj" fmla="val 41781"/>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r>
                  <a:rPr lang="zh-CN" altLang="en-US" b="1" dirty="0"/>
                  <a:t>迭代规划会议</a:t>
                </a:r>
              </a:p>
              <a:p>
                <a:pPr algn="ctr" eaLnBrk="1" hangingPunct="1">
                  <a:lnSpc>
                    <a:spcPct val="90000"/>
                  </a:lnSpc>
                  <a:buClr>
                    <a:schemeClr val="accent2"/>
                  </a:buClr>
                  <a:buFont typeface="Wingdings" pitchFamily="2" charset="2"/>
                  <a:buNone/>
                </a:pPr>
                <a:r>
                  <a:rPr lang="en-US" altLang="zh-CN" b="1" dirty="0"/>
                  <a:t>Sprint Plan</a:t>
                </a:r>
                <a:endParaRPr lang="zh-CN" altLang="en-US" sz="1100" dirty="0"/>
              </a:p>
            </p:txBody>
          </p:sp>
          <p:sp>
            <p:nvSpPr>
              <p:cNvPr id="74" name="五边形 73">
                <a:extLst>
                  <a:ext uri="{FF2B5EF4-FFF2-40B4-BE49-F238E27FC236}">
                    <a16:creationId xmlns:a16="http://schemas.microsoft.com/office/drawing/2014/main" id="{9F83F9F8-B0BB-D542-B70D-6C716FF4A4DC}"/>
                  </a:ext>
                </a:extLst>
              </p:cNvPr>
              <p:cNvSpPr/>
              <p:nvPr/>
            </p:nvSpPr>
            <p:spPr bwMode="auto">
              <a:xfrm>
                <a:off x="4131691" y="5180284"/>
                <a:ext cx="1940311" cy="861816"/>
              </a:xfrm>
              <a:prstGeom prst="homePlate">
                <a:avLst>
                  <a:gd name="adj" fmla="val 41781"/>
                </a:avLst>
              </a:prstGeom>
              <a:ln>
                <a:solidFill>
                  <a:schemeClr val="tx1"/>
                </a:solidFill>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r>
                  <a:rPr lang="zh-CN" altLang="en-US" b="1"/>
                  <a:t>迭代复审会议</a:t>
                </a:r>
              </a:p>
              <a:p>
                <a:pPr algn="ctr" eaLnBrk="1" hangingPunct="1">
                  <a:lnSpc>
                    <a:spcPct val="90000"/>
                  </a:lnSpc>
                  <a:buClr>
                    <a:schemeClr val="accent2"/>
                  </a:buClr>
                  <a:buFont typeface="Wingdings" pitchFamily="2" charset="2"/>
                  <a:buNone/>
                </a:pPr>
                <a:r>
                  <a:rPr lang="en-US" altLang="zh-CN" b="1"/>
                  <a:t>Sprint Review</a:t>
                </a:r>
                <a:endParaRPr lang="en-US" altLang="zh-CN" sz="1000"/>
              </a:p>
            </p:txBody>
          </p:sp>
          <p:sp>
            <p:nvSpPr>
              <p:cNvPr id="75" name="五边形 74">
                <a:extLst>
                  <a:ext uri="{FF2B5EF4-FFF2-40B4-BE49-F238E27FC236}">
                    <a16:creationId xmlns:a16="http://schemas.microsoft.com/office/drawing/2014/main" id="{89869E60-3ED6-6A47-821F-A0D3201F8DF2}"/>
                  </a:ext>
                </a:extLst>
              </p:cNvPr>
              <p:cNvSpPr/>
              <p:nvPr/>
            </p:nvSpPr>
            <p:spPr bwMode="auto">
              <a:xfrm>
                <a:off x="6239068" y="5161949"/>
                <a:ext cx="2366770" cy="886678"/>
              </a:xfrm>
              <a:prstGeom prst="homePlate">
                <a:avLst>
                  <a:gd name="adj" fmla="val 41781"/>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r>
                  <a:rPr lang="zh-CN" altLang="en-US" b="1" dirty="0"/>
                  <a:t>迭代回顾会议</a:t>
                </a:r>
                <a:endParaRPr lang="zh-CN" altLang="en-US" sz="1000" dirty="0"/>
              </a:p>
            </p:txBody>
          </p:sp>
          <p:sp>
            <p:nvSpPr>
              <p:cNvPr id="76" name="五边形 75">
                <a:extLst>
                  <a:ext uri="{FF2B5EF4-FFF2-40B4-BE49-F238E27FC236}">
                    <a16:creationId xmlns:a16="http://schemas.microsoft.com/office/drawing/2014/main" id="{6A83D61C-24BA-EE44-B397-880CEDEBC9A2}"/>
                  </a:ext>
                </a:extLst>
              </p:cNvPr>
              <p:cNvSpPr/>
              <p:nvPr/>
            </p:nvSpPr>
            <p:spPr bwMode="auto">
              <a:xfrm>
                <a:off x="5601580" y="1787182"/>
                <a:ext cx="2690308" cy="728785"/>
              </a:xfrm>
              <a:prstGeom prst="homePlate">
                <a:avLst>
                  <a:gd name="adj" fmla="val 41781"/>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anchor="ct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r>
                  <a:rPr lang="zh-CN" altLang="en-US" b="1" dirty="0"/>
                  <a:t>每日站立会议</a:t>
                </a:r>
              </a:p>
              <a:p>
                <a:pPr algn="ctr" eaLnBrk="1" hangingPunct="1">
                  <a:lnSpc>
                    <a:spcPct val="90000"/>
                  </a:lnSpc>
                  <a:buClr>
                    <a:schemeClr val="accent2"/>
                  </a:buClr>
                  <a:buFont typeface="Wingdings" pitchFamily="2" charset="2"/>
                  <a:buNone/>
                </a:pPr>
                <a:r>
                  <a:rPr lang="en-US" altLang="zh-CN" b="1" dirty="0"/>
                  <a:t>Daily Scrum Meeting</a:t>
                </a:r>
                <a:endParaRPr lang="en-US" altLang="zh-CN" sz="1000" dirty="0">
                  <a:solidFill>
                    <a:srgbClr val="000000"/>
                  </a:solidFill>
                </a:endParaRPr>
              </a:p>
            </p:txBody>
          </p:sp>
        </p:grpSp>
        <p:grpSp>
          <p:nvGrpSpPr>
            <p:cNvPr id="10" name="组合 170">
              <a:extLst>
                <a:ext uri="{FF2B5EF4-FFF2-40B4-BE49-F238E27FC236}">
                  <a16:creationId xmlns:a16="http://schemas.microsoft.com/office/drawing/2014/main" id="{C665AFD7-2DA7-044D-B146-6190289B2F89}"/>
                </a:ext>
              </a:extLst>
            </p:cNvPr>
            <p:cNvGrpSpPr>
              <a:grpSpLocks/>
            </p:cNvGrpSpPr>
            <p:nvPr/>
          </p:nvGrpSpPr>
          <p:grpSpPr bwMode="auto">
            <a:xfrm>
              <a:off x="5297417" y="5703890"/>
              <a:ext cx="3121471" cy="757535"/>
              <a:chOff x="5297490" y="5500690"/>
              <a:chExt cx="3121516" cy="757535"/>
            </a:xfrm>
          </p:grpSpPr>
          <p:grpSp>
            <p:nvGrpSpPr>
              <p:cNvPr id="37" name="组合 241">
                <a:extLst>
                  <a:ext uri="{FF2B5EF4-FFF2-40B4-BE49-F238E27FC236}">
                    <a16:creationId xmlns:a16="http://schemas.microsoft.com/office/drawing/2014/main" id="{ADD40EAB-D64E-154A-9BA0-A9155A623CB8}"/>
                  </a:ext>
                </a:extLst>
              </p:cNvPr>
              <p:cNvGrpSpPr>
                <a:grpSpLocks/>
              </p:cNvGrpSpPr>
              <p:nvPr/>
            </p:nvGrpSpPr>
            <p:grpSpPr bwMode="auto">
              <a:xfrm>
                <a:off x="5297490" y="5500692"/>
                <a:ext cx="880727" cy="757533"/>
                <a:chOff x="811911" y="5450537"/>
                <a:chExt cx="1410643" cy="1033368"/>
              </a:xfrm>
            </p:grpSpPr>
            <p:grpSp>
              <p:nvGrpSpPr>
                <p:cNvPr id="48" name="组合 213">
                  <a:extLst>
                    <a:ext uri="{FF2B5EF4-FFF2-40B4-BE49-F238E27FC236}">
                      <a16:creationId xmlns:a16="http://schemas.microsoft.com/office/drawing/2014/main" id="{9700D16E-1AF9-5449-A2C6-F91D3580971F}"/>
                    </a:ext>
                  </a:extLst>
                </p:cNvPr>
                <p:cNvGrpSpPr>
                  <a:grpSpLocks/>
                </p:cNvGrpSpPr>
                <p:nvPr/>
              </p:nvGrpSpPr>
              <p:grpSpPr bwMode="auto">
                <a:xfrm>
                  <a:off x="1272259" y="5450537"/>
                  <a:ext cx="287327" cy="645333"/>
                  <a:chOff x="626800" y="2115666"/>
                  <a:chExt cx="287327" cy="645333"/>
                </a:xfrm>
              </p:grpSpPr>
              <p:sp>
                <p:nvSpPr>
                  <p:cNvPr id="50" name="椭圆 49">
                    <a:extLst>
                      <a:ext uri="{FF2B5EF4-FFF2-40B4-BE49-F238E27FC236}">
                        <a16:creationId xmlns:a16="http://schemas.microsoft.com/office/drawing/2014/main" id="{2957F20E-CD72-0748-89FE-14507FE93695}"/>
                      </a:ext>
                    </a:extLst>
                  </p:cNvPr>
                  <p:cNvSpPr/>
                  <p:nvPr/>
                </p:nvSpPr>
                <p:spPr bwMode="auto">
                  <a:xfrm>
                    <a:off x="697431" y="2116026"/>
                    <a:ext cx="222991" cy="197072"/>
                  </a:xfrm>
                  <a:prstGeom prst="ellipse">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sp>
                <p:nvSpPr>
                  <p:cNvPr id="51" name="平行四边形 50">
                    <a:extLst>
                      <a:ext uri="{FF2B5EF4-FFF2-40B4-BE49-F238E27FC236}">
                        <a16:creationId xmlns:a16="http://schemas.microsoft.com/office/drawing/2014/main" id="{CD3185CD-5736-3043-92E1-16A5C1C2B39E}"/>
                      </a:ext>
                    </a:extLst>
                  </p:cNvPr>
                  <p:cNvSpPr/>
                  <p:nvPr/>
                </p:nvSpPr>
                <p:spPr bwMode="auto">
                  <a:xfrm>
                    <a:off x="627013" y="2367240"/>
                    <a:ext cx="293410" cy="394146"/>
                  </a:xfrm>
                  <a:prstGeom prst="parallelogram">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grpSp>
            <p:sp>
              <p:nvSpPr>
                <p:cNvPr id="49" name="TextBox 216">
                  <a:extLst>
                    <a:ext uri="{FF2B5EF4-FFF2-40B4-BE49-F238E27FC236}">
                      <a16:creationId xmlns:a16="http://schemas.microsoft.com/office/drawing/2014/main" id="{0D45F3DC-5FBC-B743-8A6E-24492C3534B6}"/>
                    </a:ext>
                  </a:extLst>
                </p:cNvPr>
                <p:cNvSpPr txBox="1">
                  <a:spLocks noChangeArrowheads="1"/>
                </p:cNvSpPr>
                <p:nvPr/>
              </p:nvSpPr>
              <p:spPr bwMode="auto">
                <a:xfrm>
                  <a:off x="811911" y="6131191"/>
                  <a:ext cx="1410643" cy="352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r>
                    <a:rPr lang="zh-CN" altLang="en-US" sz="1200" b="1"/>
                    <a:t>产品负责人</a:t>
                  </a:r>
                </a:p>
              </p:txBody>
            </p:sp>
          </p:grpSp>
          <p:grpSp>
            <p:nvGrpSpPr>
              <p:cNvPr id="38" name="组合 240">
                <a:extLst>
                  <a:ext uri="{FF2B5EF4-FFF2-40B4-BE49-F238E27FC236}">
                    <a16:creationId xmlns:a16="http://schemas.microsoft.com/office/drawing/2014/main" id="{B7B39546-13FF-0E4E-8BF4-6F68F83B8123}"/>
                  </a:ext>
                </a:extLst>
              </p:cNvPr>
              <p:cNvGrpSpPr>
                <a:grpSpLocks/>
              </p:cNvGrpSpPr>
              <p:nvPr/>
            </p:nvGrpSpPr>
            <p:grpSpPr bwMode="auto">
              <a:xfrm>
                <a:off x="6443662" y="5500695"/>
                <a:ext cx="895524" cy="754173"/>
                <a:chOff x="2335410" y="4554071"/>
                <a:chExt cx="1292680" cy="1035947"/>
              </a:xfrm>
            </p:grpSpPr>
            <p:grpSp>
              <p:nvGrpSpPr>
                <p:cNvPr id="44" name="组合 217">
                  <a:extLst>
                    <a:ext uri="{FF2B5EF4-FFF2-40B4-BE49-F238E27FC236}">
                      <a16:creationId xmlns:a16="http://schemas.microsoft.com/office/drawing/2014/main" id="{B5AEF523-B1D7-0746-BB78-281C85DB6CF0}"/>
                    </a:ext>
                  </a:extLst>
                </p:cNvPr>
                <p:cNvGrpSpPr>
                  <a:grpSpLocks/>
                </p:cNvGrpSpPr>
                <p:nvPr/>
              </p:nvGrpSpPr>
              <p:grpSpPr bwMode="auto">
                <a:xfrm>
                  <a:off x="2796144" y="4554071"/>
                  <a:ext cx="288737" cy="645465"/>
                  <a:chOff x="626685" y="2115671"/>
                  <a:chExt cx="288737" cy="645465"/>
                </a:xfrm>
              </p:grpSpPr>
              <p:sp>
                <p:nvSpPr>
                  <p:cNvPr id="46" name="椭圆 45">
                    <a:extLst>
                      <a:ext uri="{FF2B5EF4-FFF2-40B4-BE49-F238E27FC236}">
                        <a16:creationId xmlns:a16="http://schemas.microsoft.com/office/drawing/2014/main" id="{96B05C13-ACC0-FB49-8255-66553267433E}"/>
                      </a:ext>
                    </a:extLst>
                  </p:cNvPr>
                  <p:cNvSpPr/>
                  <p:nvPr/>
                </p:nvSpPr>
                <p:spPr bwMode="auto">
                  <a:xfrm>
                    <a:off x="701401" y="2116030"/>
                    <a:ext cx="213661" cy="196264"/>
                  </a:xfrm>
                  <a:prstGeom prst="ellipse">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sp>
                <p:nvSpPr>
                  <p:cNvPr id="47" name="平行四边形 46">
                    <a:extLst>
                      <a:ext uri="{FF2B5EF4-FFF2-40B4-BE49-F238E27FC236}">
                        <a16:creationId xmlns:a16="http://schemas.microsoft.com/office/drawing/2014/main" id="{0B9DB312-0A4A-4C48-918B-C5FBD33D5566}"/>
                      </a:ext>
                    </a:extLst>
                  </p:cNvPr>
                  <p:cNvSpPr/>
                  <p:nvPr/>
                </p:nvSpPr>
                <p:spPr bwMode="auto">
                  <a:xfrm>
                    <a:off x="627361" y="2366811"/>
                    <a:ext cx="287702" cy="394710"/>
                  </a:xfrm>
                  <a:prstGeom prst="parallelogram">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grpSp>
            <p:sp>
              <p:nvSpPr>
                <p:cNvPr id="45" name="TextBox 220">
                  <a:extLst>
                    <a:ext uri="{FF2B5EF4-FFF2-40B4-BE49-F238E27FC236}">
                      <a16:creationId xmlns:a16="http://schemas.microsoft.com/office/drawing/2014/main" id="{943EF9A4-F408-874D-9ABE-E4EE21012BD4}"/>
                    </a:ext>
                  </a:extLst>
                </p:cNvPr>
                <p:cNvSpPr txBox="1">
                  <a:spLocks noChangeArrowheads="1"/>
                </p:cNvSpPr>
                <p:nvPr/>
              </p:nvSpPr>
              <p:spPr bwMode="auto">
                <a:xfrm>
                  <a:off x="2335410" y="5234849"/>
                  <a:ext cx="1292680" cy="355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r>
                    <a:rPr lang="en-GB" altLang="zh-CN" sz="1200" b="1"/>
                    <a:t>Scrum</a:t>
                  </a:r>
                  <a:r>
                    <a:rPr lang="zh-CN" altLang="en-US" sz="1200" b="1"/>
                    <a:t>主管</a:t>
                  </a:r>
                </a:p>
              </p:txBody>
            </p:sp>
          </p:grpSp>
          <p:grpSp>
            <p:nvGrpSpPr>
              <p:cNvPr id="39" name="组合 239">
                <a:extLst>
                  <a:ext uri="{FF2B5EF4-FFF2-40B4-BE49-F238E27FC236}">
                    <a16:creationId xmlns:a16="http://schemas.microsoft.com/office/drawing/2014/main" id="{3E3A01DD-ED4B-2448-8610-CF245E21503A}"/>
                  </a:ext>
                </a:extLst>
              </p:cNvPr>
              <p:cNvGrpSpPr>
                <a:grpSpLocks/>
              </p:cNvGrpSpPr>
              <p:nvPr/>
            </p:nvGrpSpPr>
            <p:grpSpPr bwMode="auto">
              <a:xfrm>
                <a:off x="7680331" y="5500690"/>
                <a:ext cx="738675" cy="744855"/>
                <a:chOff x="3821650" y="4867829"/>
                <a:chExt cx="1214031" cy="1042500"/>
              </a:xfrm>
            </p:grpSpPr>
            <p:grpSp>
              <p:nvGrpSpPr>
                <p:cNvPr id="40" name="组合 221">
                  <a:extLst>
                    <a:ext uri="{FF2B5EF4-FFF2-40B4-BE49-F238E27FC236}">
                      <a16:creationId xmlns:a16="http://schemas.microsoft.com/office/drawing/2014/main" id="{D01E5D29-428B-3647-905C-ECE7C331AAF9}"/>
                    </a:ext>
                  </a:extLst>
                </p:cNvPr>
                <p:cNvGrpSpPr>
                  <a:grpSpLocks/>
                </p:cNvGrpSpPr>
                <p:nvPr/>
              </p:nvGrpSpPr>
              <p:grpSpPr bwMode="auto">
                <a:xfrm>
                  <a:off x="4257553" y="4867829"/>
                  <a:ext cx="287006" cy="644342"/>
                  <a:chOff x="626847" y="2115664"/>
                  <a:chExt cx="287006" cy="644342"/>
                </a:xfrm>
              </p:grpSpPr>
              <p:sp>
                <p:nvSpPr>
                  <p:cNvPr id="42" name="椭圆 41">
                    <a:extLst>
                      <a:ext uri="{FF2B5EF4-FFF2-40B4-BE49-F238E27FC236}">
                        <a16:creationId xmlns:a16="http://schemas.microsoft.com/office/drawing/2014/main" id="{FAE67652-2522-5441-AA5E-37FD8A0E7D31}"/>
                      </a:ext>
                    </a:extLst>
                  </p:cNvPr>
                  <p:cNvSpPr/>
                  <p:nvPr/>
                </p:nvSpPr>
                <p:spPr bwMode="auto">
                  <a:xfrm>
                    <a:off x="699803" y="2116036"/>
                    <a:ext cx="214367" cy="197754"/>
                  </a:xfrm>
                  <a:prstGeom prst="ellipse">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sp>
                <p:nvSpPr>
                  <p:cNvPr id="43" name="平行四边形 42">
                    <a:extLst>
                      <a:ext uri="{FF2B5EF4-FFF2-40B4-BE49-F238E27FC236}">
                        <a16:creationId xmlns:a16="http://schemas.microsoft.com/office/drawing/2014/main" id="{C36FE90D-8232-5840-9525-4E6FAEFA4390}"/>
                      </a:ext>
                    </a:extLst>
                  </p:cNvPr>
                  <p:cNvSpPr/>
                  <p:nvPr/>
                </p:nvSpPr>
                <p:spPr bwMode="auto">
                  <a:xfrm>
                    <a:off x="627545" y="2364896"/>
                    <a:ext cx="286625" cy="395509"/>
                  </a:xfrm>
                  <a:prstGeom prst="parallelogram">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grpSp>
            <p:sp>
              <p:nvSpPr>
                <p:cNvPr id="41" name="TextBox 224">
                  <a:extLst>
                    <a:ext uri="{FF2B5EF4-FFF2-40B4-BE49-F238E27FC236}">
                      <a16:creationId xmlns:a16="http://schemas.microsoft.com/office/drawing/2014/main" id="{06568551-3D5F-1D45-BBB0-409548A79E67}"/>
                    </a:ext>
                  </a:extLst>
                </p:cNvPr>
                <p:cNvSpPr txBox="1">
                  <a:spLocks noChangeArrowheads="1"/>
                </p:cNvSpPr>
                <p:nvPr/>
              </p:nvSpPr>
              <p:spPr bwMode="auto">
                <a:xfrm>
                  <a:off x="3821650" y="5548442"/>
                  <a:ext cx="1214031" cy="36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buClr>
                      <a:schemeClr val="accent2"/>
                    </a:buClr>
                    <a:buFont typeface="Wingdings" pitchFamily="2" charset="2"/>
                    <a:buNone/>
                  </a:pPr>
                  <a:r>
                    <a:rPr lang="zh-CN" altLang="en-US" sz="1200" b="1"/>
                    <a:t>开发团队</a:t>
                  </a:r>
                </a:p>
              </p:txBody>
            </p:sp>
          </p:grpSp>
        </p:grpSp>
        <p:grpSp>
          <p:nvGrpSpPr>
            <p:cNvPr id="11" name="组合 236">
              <a:extLst>
                <a:ext uri="{FF2B5EF4-FFF2-40B4-BE49-F238E27FC236}">
                  <a16:creationId xmlns:a16="http://schemas.microsoft.com/office/drawing/2014/main" id="{BE733B88-CFB8-5B42-80E8-C6D033CAA269}"/>
                </a:ext>
              </a:extLst>
            </p:cNvPr>
            <p:cNvGrpSpPr>
              <a:grpSpLocks/>
            </p:cNvGrpSpPr>
            <p:nvPr/>
          </p:nvGrpSpPr>
          <p:grpSpPr bwMode="auto">
            <a:xfrm>
              <a:off x="768344" y="5724525"/>
              <a:ext cx="169861" cy="430213"/>
              <a:chOff x="627529" y="2115671"/>
              <a:chExt cx="286871" cy="645459"/>
            </a:xfrm>
          </p:grpSpPr>
          <p:sp>
            <p:nvSpPr>
              <p:cNvPr id="35" name="椭圆 34">
                <a:extLst>
                  <a:ext uri="{FF2B5EF4-FFF2-40B4-BE49-F238E27FC236}">
                    <a16:creationId xmlns:a16="http://schemas.microsoft.com/office/drawing/2014/main" id="{BF9132C6-8747-FA41-A8ED-27510BB1188C}"/>
                  </a:ext>
                </a:extLst>
              </p:cNvPr>
              <p:cNvSpPr/>
              <p:nvPr/>
            </p:nvSpPr>
            <p:spPr bwMode="auto">
              <a:xfrm>
                <a:off x="698538" y="2116075"/>
                <a:ext cx="215324" cy="197695"/>
              </a:xfrm>
              <a:prstGeom prst="ellipse">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sp>
            <p:nvSpPr>
              <p:cNvPr id="36" name="平行四边形 35">
                <a:extLst>
                  <a:ext uri="{FF2B5EF4-FFF2-40B4-BE49-F238E27FC236}">
                    <a16:creationId xmlns:a16="http://schemas.microsoft.com/office/drawing/2014/main" id="{BD6FEFC3-4FBE-BB4D-A6C6-C3C203387AB0}"/>
                  </a:ext>
                </a:extLst>
              </p:cNvPr>
              <p:cNvSpPr/>
              <p:nvPr/>
            </p:nvSpPr>
            <p:spPr bwMode="auto">
              <a:xfrm>
                <a:off x="626762" y="2366171"/>
                <a:ext cx="287100" cy="395389"/>
              </a:xfrm>
              <a:prstGeom prst="parallelogram">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grpSp>
        <p:grpSp>
          <p:nvGrpSpPr>
            <p:cNvPr id="15" name="组合 251">
              <a:extLst>
                <a:ext uri="{FF2B5EF4-FFF2-40B4-BE49-F238E27FC236}">
                  <a16:creationId xmlns:a16="http://schemas.microsoft.com/office/drawing/2014/main" id="{F12EF111-609C-A64E-B597-1E7F466A9064}"/>
                </a:ext>
              </a:extLst>
            </p:cNvPr>
            <p:cNvGrpSpPr>
              <a:grpSpLocks/>
            </p:cNvGrpSpPr>
            <p:nvPr/>
          </p:nvGrpSpPr>
          <p:grpSpPr bwMode="auto">
            <a:xfrm>
              <a:off x="2644740" y="5689600"/>
              <a:ext cx="441319" cy="514350"/>
              <a:chOff x="2994210" y="5163671"/>
              <a:chExt cx="672354" cy="851647"/>
            </a:xfrm>
          </p:grpSpPr>
          <p:grpSp>
            <p:nvGrpSpPr>
              <p:cNvPr id="26" name="组合 242">
                <a:extLst>
                  <a:ext uri="{FF2B5EF4-FFF2-40B4-BE49-F238E27FC236}">
                    <a16:creationId xmlns:a16="http://schemas.microsoft.com/office/drawing/2014/main" id="{15B9B5AE-EEA2-A74C-975E-A4EBDA31DFEC}"/>
                  </a:ext>
                </a:extLst>
              </p:cNvPr>
              <p:cNvGrpSpPr>
                <a:grpSpLocks/>
              </p:cNvGrpSpPr>
              <p:nvPr/>
            </p:nvGrpSpPr>
            <p:grpSpPr bwMode="auto">
              <a:xfrm>
                <a:off x="3209516" y="5163671"/>
                <a:ext cx="287810" cy="646621"/>
                <a:chOff x="627681" y="2115671"/>
                <a:chExt cx="287810" cy="646621"/>
              </a:xfrm>
            </p:grpSpPr>
            <p:sp>
              <p:nvSpPr>
                <p:cNvPr id="33" name="椭圆 32">
                  <a:extLst>
                    <a:ext uri="{FF2B5EF4-FFF2-40B4-BE49-F238E27FC236}">
                      <a16:creationId xmlns:a16="http://schemas.microsoft.com/office/drawing/2014/main" id="{D58AC61F-5A83-4D41-BD13-D97B277C8D86}"/>
                    </a:ext>
                  </a:extLst>
                </p:cNvPr>
                <p:cNvSpPr/>
                <p:nvPr/>
              </p:nvSpPr>
              <p:spPr bwMode="auto">
                <a:xfrm>
                  <a:off x="701069" y="2116113"/>
                  <a:ext cx="214339" cy="197150"/>
                </a:xfrm>
                <a:prstGeom prst="ellipse">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sp>
              <p:nvSpPr>
                <p:cNvPr id="34" name="平行四边形 33">
                  <a:extLst>
                    <a:ext uri="{FF2B5EF4-FFF2-40B4-BE49-F238E27FC236}">
                      <a16:creationId xmlns:a16="http://schemas.microsoft.com/office/drawing/2014/main" id="{FC47A7E1-AB8D-E046-A903-F88746E02E1C}"/>
                    </a:ext>
                  </a:extLst>
                </p:cNvPr>
                <p:cNvSpPr/>
                <p:nvPr/>
              </p:nvSpPr>
              <p:spPr bwMode="auto">
                <a:xfrm>
                  <a:off x="627391" y="2368464"/>
                  <a:ext cx="288017" cy="394298"/>
                </a:xfrm>
                <a:prstGeom prst="parallelogram">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grpSp>
          <p:grpSp>
            <p:nvGrpSpPr>
              <p:cNvPr id="27" name="组合 245">
                <a:extLst>
                  <a:ext uri="{FF2B5EF4-FFF2-40B4-BE49-F238E27FC236}">
                    <a16:creationId xmlns:a16="http://schemas.microsoft.com/office/drawing/2014/main" id="{ECF3F7AD-CF3E-4643-A049-7DE5CCCA2E96}"/>
                  </a:ext>
                </a:extLst>
              </p:cNvPr>
              <p:cNvGrpSpPr>
                <a:grpSpLocks/>
              </p:cNvGrpSpPr>
              <p:nvPr/>
            </p:nvGrpSpPr>
            <p:grpSpPr bwMode="auto">
              <a:xfrm>
                <a:off x="2994263" y="5342411"/>
                <a:ext cx="287812" cy="646621"/>
                <a:chOff x="627582" y="2115116"/>
                <a:chExt cx="287812" cy="646621"/>
              </a:xfrm>
            </p:grpSpPr>
            <p:sp>
              <p:nvSpPr>
                <p:cNvPr id="31" name="椭圆 30">
                  <a:extLst>
                    <a:ext uri="{FF2B5EF4-FFF2-40B4-BE49-F238E27FC236}">
                      <a16:creationId xmlns:a16="http://schemas.microsoft.com/office/drawing/2014/main" id="{4F093A66-0FCD-B04F-A61C-D9BDE5E63482}"/>
                    </a:ext>
                  </a:extLst>
                </p:cNvPr>
                <p:cNvSpPr/>
                <p:nvPr/>
              </p:nvSpPr>
              <p:spPr bwMode="auto">
                <a:xfrm>
                  <a:off x="701884" y="2115566"/>
                  <a:ext cx="214338" cy="197150"/>
                </a:xfrm>
                <a:prstGeom prst="ellipse">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sp>
              <p:nvSpPr>
                <p:cNvPr id="32" name="平行四边形 31">
                  <a:extLst>
                    <a:ext uri="{FF2B5EF4-FFF2-40B4-BE49-F238E27FC236}">
                      <a16:creationId xmlns:a16="http://schemas.microsoft.com/office/drawing/2014/main" id="{E7CDEF97-60CB-2C4C-B1A2-5437FDFDCCB8}"/>
                    </a:ext>
                  </a:extLst>
                </p:cNvPr>
                <p:cNvSpPr/>
                <p:nvPr/>
              </p:nvSpPr>
              <p:spPr bwMode="auto">
                <a:xfrm>
                  <a:off x="628206" y="2367917"/>
                  <a:ext cx="288016" cy="394298"/>
                </a:xfrm>
                <a:prstGeom prst="parallelogram">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grpSp>
          <p:grpSp>
            <p:nvGrpSpPr>
              <p:cNvPr id="28" name="组合 248">
                <a:extLst>
                  <a:ext uri="{FF2B5EF4-FFF2-40B4-BE49-F238E27FC236}">
                    <a16:creationId xmlns:a16="http://schemas.microsoft.com/office/drawing/2014/main" id="{5971B886-0A2A-704F-BE6D-A3C82D383DB7}"/>
                  </a:ext>
                </a:extLst>
              </p:cNvPr>
              <p:cNvGrpSpPr>
                <a:grpSpLocks/>
              </p:cNvGrpSpPr>
              <p:nvPr/>
            </p:nvGrpSpPr>
            <p:grpSpPr bwMode="auto">
              <a:xfrm>
                <a:off x="3378817" y="5368697"/>
                <a:ext cx="287809" cy="646621"/>
                <a:chOff x="626653" y="2114509"/>
                <a:chExt cx="287809" cy="646621"/>
              </a:xfrm>
            </p:grpSpPr>
            <p:sp>
              <p:nvSpPr>
                <p:cNvPr id="29" name="椭圆 28">
                  <a:extLst>
                    <a:ext uri="{FF2B5EF4-FFF2-40B4-BE49-F238E27FC236}">
                      <a16:creationId xmlns:a16="http://schemas.microsoft.com/office/drawing/2014/main" id="{64A7A844-3560-6148-B520-1107CEC377FE}"/>
                    </a:ext>
                  </a:extLst>
                </p:cNvPr>
                <p:cNvSpPr/>
                <p:nvPr/>
              </p:nvSpPr>
              <p:spPr bwMode="auto">
                <a:xfrm>
                  <a:off x="700425" y="2114959"/>
                  <a:ext cx="214338" cy="197150"/>
                </a:xfrm>
                <a:prstGeom prst="ellipse">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sp>
              <p:nvSpPr>
                <p:cNvPr id="30" name="平行四边形 29">
                  <a:extLst>
                    <a:ext uri="{FF2B5EF4-FFF2-40B4-BE49-F238E27FC236}">
                      <a16:creationId xmlns:a16="http://schemas.microsoft.com/office/drawing/2014/main" id="{AFDCCB9F-FED1-3541-A9CF-47ECA422AC37}"/>
                    </a:ext>
                  </a:extLst>
                </p:cNvPr>
                <p:cNvSpPr/>
                <p:nvPr/>
              </p:nvSpPr>
              <p:spPr bwMode="auto">
                <a:xfrm>
                  <a:off x="626747" y="2367310"/>
                  <a:ext cx="288016" cy="394298"/>
                </a:xfrm>
                <a:prstGeom prst="parallelogram">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grpSp>
        </p:grpSp>
        <p:grpSp>
          <p:nvGrpSpPr>
            <p:cNvPr id="16" name="组合 252">
              <a:extLst>
                <a:ext uri="{FF2B5EF4-FFF2-40B4-BE49-F238E27FC236}">
                  <a16:creationId xmlns:a16="http://schemas.microsoft.com/office/drawing/2014/main" id="{2A319229-5027-2742-9F2A-A5ED3B500F2B}"/>
                </a:ext>
              </a:extLst>
            </p:cNvPr>
            <p:cNvGrpSpPr>
              <a:grpSpLocks/>
            </p:cNvGrpSpPr>
            <p:nvPr/>
          </p:nvGrpSpPr>
          <p:grpSpPr bwMode="auto">
            <a:xfrm>
              <a:off x="5251380" y="3695701"/>
              <a:ext cx="438220" cy="469899"/>
              <a:chOff x="2994210" y="5163671"/>
              <a:chExt cx="672354" cy="851647"/>
            </a:xfrm>
          </p:grpSpPr>
          <p:grpSp>
            <p:nvGrpSpPr>
              <p:cNvPr id="17" name="组合 242">
                <a:extLst>
                  <a:ext uri="{FF2B5EF4-FFF2-40B4-BE49-F238E27FC236}">
                    <a16:creationId xmlns:a16="http://schemas.microsoft.com/office/drawing/2014/main" id="{7D526623-76F8-2B4A-8439-C15747868EF5}"/>
                  </a:ext>
                </a:extLst>
              </p:cNvPr>
              <p:cNvGrpSpPr>
                <a:grpSpLocks/>
              </p:cNvGrpSpPr>
              <p:nvPr/>
            </p:nvGrpSpPr>
            <p:grpSpPr bwMode="auto">
              <a:xfrm>
                <a:off x="3210349" y="5163671"/>
                <a:ext cx="286226" cy="644980"/>
                <a:chOff x="628514" y="2115671"/>
                <a:chExt cx="286226" cy="644980"/>
              </a:xfrm>
            </p:grpSpPr>
            <p:sp>
              <p:nvSpPr>
                <p:cNvPr id="24" name="椭圆 23">
                  <a:extLst>
                    <a:ext uri="{FF2B5EF4-FFF2-40B4-BE49-F238E27FC236}">
                      <a16:creationId xmlns:a16="http://schemas.microsoft.com/office/drawing/2014/main" id="{DA6486B1-8CE3-FF44-8D4C-07D50C5A57EB}"/>
                    </a:ext>
                  </a:extLst>
                </p:cNvPr>
                <p:cNvSpPr/>
                <p:nvPr/>
              </p:nvSpPr>
              <p:spPr bwMode="auto">
                <a:xfrm>
                  <a:off x="697087" y="2116001"/>
                  <a:ext cx="211357" cy="198535"/>
                </a:xfrm>
                <a:prstGeom prst="ellipse">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sp>
              <p:nvSpPr>
                <p:cNvPr id="25" name="平行四边形 24">
                  <a:extLst>
                    <a:ext uri="{FF2B5EF4-FFF2-40B4-BE49-F238E27FC236}">
                      <a16:creationId xmlns:a16="http://schemas.microsoft.com/office/drawing/2014/main" id="{C0940950-4053-1A44-8F24-9590ECF0493E}"/>
                    </a:ext>
                  </a:extLst>
                </p:cNvPr>
                <p:cNvSpPr/>
                <p:nvPr/>
              </p:nvSpPr>
              <p:spPr bwMode="auto">
                <a:xfrm>
                  <a:off x="625136" y="2366328"/>
                  <a:ext cx="283308" cy="394191"/>
                </a:xfrm>
                <a:prstGeom prst="parallelogram">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grpSp>
          <p:grpSp>
            <p:nvGrpSpPr>
              <p:cNvPr id="18" name="组合 245">
                <a:extLst>
                  <a:ext uri="{FF2B5EF4-FFF2-40B4-BE49-F238E27FC236}">
                    <a16:creationId xmlns:a16="http://schemas.microsoft.com/office/drawing/2014/main" id="{17744D74-AE8D-F34E-95B0-320A36DA33E0}"/>
                  </a:ext>
                </a:extLst>
              </p:cNvPr>
              <p:cNvGrpSpPr>
                <a:grpSpLocks/>
              </p:cNvGrpSpPr>
              <p:nvPr/>
            </p:nvGrpSpPr>
            <p:grpSpPr bwMode="auto">
              <a:xfrm>
                <a:off x="2994329" y="5343085"/>
                <a:ext cx="286227" cy="644980"/>
                <a:chOff x="627648" y="2115790"/>
                <a:chExt cx="286227" cy="644980"/>
              </a:xfrm>
            </p:grpSpPr>
            <p:sp>
              <p:nvSpPr>
                <p:cNvPr id="22" name="椭圆 21">
                  <a:extLst>
                    <a:ext uri="{FF2B5EF4-FFF2-40B4-BE49-F238E27FC236}">
                      <a16:creationId xmlns:a16="http://schemas.microsoft.com/office/drawing/2014/main" id="{B7EE006A-37BF-2948-8E71-3964BCB27DCF}"/>
                    </a:ext>
                  </a:extLst>
                </p:cNvPr>
                <p:cNvSpPr/>
                <p:nvPr/>
              </p:nvSpPr>
              <p:spPr bwMode="auto">
                <a:xfrm>
                  <a:off x="694139" y="2115099"/>
                  <a:ext cx="215854" cy="198535"/>
                </a:xfrm>
                <a:prstGeom prst="ellipse">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sp>
              <p:nvSpPr>
                <p:cNvPr id="23" name="平行四边形 22">
                  <a:extLst>
                    <a:ext uri="{FF2B5EF4-FFF2-40B4-BE49-F238E27FC236}">
                      <a16:creationId xmlns:a16="http://schemas.microsoft.com/office/drawing/2014/main" id="{1682940F-AEF7-E541-A2D1-43FAA3E37164}"/>
                    </a:ext>
                  </a:extLst>
                </p:cNvPr>
                <p:cNvSpPr/>
                <p:nvPr/>
              </p:nvSpPr>
              <p:spPr bwMode="auto">
                <a:xfrm>
                  <a:off x="626685" y="2365426"/>
                  <a:ext cx="283308" cy="445982"/>
                </a:xfrm>
                <a:prstGeom prst="parallelogram">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grpSp>
          <p:grpSp>
            <p:nvGrpSpPr>
              <p:cNvPr id="19" name="组合 248">
                <a:extLst>
                  <a:ext uri="{FF2B5EF4-FFF2-40B4-BE49-F238E27FC236}">
                    <a16:creationId xmlns:a16="http://schemas.microsoft.com/office/drawing/2014/main" id="{6C584CB5-018A-3E44-9ED0-321DC92B55B7}"/>
                  </a:ext>
                </a:extLst>
              </p:cNvPr>
              <p:cNvGrpSpPr>
                <a:grpSpLocks/>
              </p:cNvGrpSpPr>
              <p:nvPr/>
            </p:nvGrpSpPr>
            <p:grpSpPr bwMode="auto">
              <a:xfrm>
                <a:off x="3380467" y="5370338"/>
                <a:ext cx="286226" cy="644980"/>
                <a:chOff x="628303" y="2116150"/>
                <a:chExt cx="286226" cy="644980"/>
              </a:xfrm>
            </p:grpSpPr>
            <p:sp>
              <p:nvSpPr>
                <p:cNvPr id="20" name="椭圆 19">
                  <a:extLst>
                    <a:ext uri="{FF2B5EF4-FFF2-40B4-BE49-F238E27FC236}">
                      <a16:creationId xmlns:a16="http://schemas.microsoft.com/office/drawing/2014/main" id="{6F382B86-D2CA-B141-BA99-9BE4312F51F1}"/>
                    </a:ext>
                  </a:extLst>
                </p:cNvPr>
                <p:cNvSpPr/>
                <p:nvPr/>
              </p:nvSpPr>
              <p:spPr bwMode="auto">
                <a:xfrm>
                  <a:off x="702139" y="2116980"/>
                  <a:ext cx="211357" cy="198535"/>
                </a:xfrm>
                <a:prstGeom prst="ellipse">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sp>
              <p:nvSpPr>
                <p:cNvPr id="21" name="平行四边形 20">
                  <a:extLst>
                    <a:ext uri="{FF2B5EF4-FFF2-40B4-BE49-F238E27FC236}">
                      <a16:creationId xmlns:a16="http://schemas.microsoft.com/office/drawing/2014/main" id="{1792A344-E82F-5B45-AB34-A906C6D46A9E}"/>
                    </a:ext>
                  </a:extLst>
                </p:cNvPr>
                <p:cNvSpPr/>
                <p:nvPr/>
              </p:nvSpPr>
              <p:spPr bwMode="auto">
                <a:xfrm>
                  <a:off x="627940" y="2367307"/>
                  <a:ext cx="285556" cy="394191"/>
                </a:xfrm>
                <a:prstGeom prst="parallelogram">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wrap="none" anchor="ctr"/>
                <a:lstStyle/>
                <a:p>
                  <a:pPr algn="ctr" fontAlgn="auto">
                    <a:lnSpc>
                      <a:spcPct val="90000"/>
                    </a:lnSpc>
                    <a:spcBef>
                      <a:spcPts val="0"/>
                    </a:spcBef>
                    <a:spcAft>
                      <a:spcPts val="0"/>
                    </a:spcAft>
                    <a:buClr>
                      <a:schemeClr val="accent2"/>
                    </a:buClr>
                    <a:buFont typeface="Wingdings" pitchFamily="2" charset="2"/>
                    <a:buNone/>
                    <a:defRPr/>
                  </a:pPr>
                  <a:endParaRPr lang="zh-CN" altLang="zh-CN">
                    <a:solidFill>
                      <a:schemeClr val="tx1"/>
                    </a:solidFill>
                  </a:endParaRPr>
                </a:p>
              </p:txBody>
            </p:sp>
          </p:grpSp>
        </p:grpSp>
      </p:grpSp>
    </p:spTree>
    <p:extLst>
      <p:ext uri="{BB962C8B-B14F-4D97-AF65-F5344CB8AC3E}">
        <p14:creationId xmlns:p14="http://schemas.microsoft.com/office/powerpoint/2010/main" val="248839963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SCRUM</a:t>
            </a:r>
            <a:r>
              <a:rPr lang="zh-CN" altLang="en-US" sz="2800" dirty="0">
                <a:solidFill>
                  <a:srgbClr val="4E8F00"/>
                </a:solidFill>
              </a:rPr>
              <a:t>的总体骨架</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31</a:t>
            </a:fld>
            <a:endParaRPr lang="zh-CN" altLang="en-US"/>
          </a:p>
        </p:txBody>
      </p:sp>
      <p:pic>
        <p:nvPicPr>
          <p:cNvPr id="2" name="图片 1">
            <a:extLst>
              <a:ext uri="{FF2B5EF4-FFF2-40B4-BE49-F238E27FC236}">
                <a16:creationId xmlns:a16="http://schemas.microsoft.com/office/drawing/2014/main" id="{E6DDB368-D0AA-AB43-B950-BC685A1452E7}"/>
              </a:ext>
            </a:extLst>
          </p:cNvPr>
          <p:cNvPicPr>
            <a:picLocks noChangeAspect="1"/>
          </p:cNvPicPr>
          <p:nvPr/>
        </p:nvPicPr>
        <p:blipFill>
          <a:blip r:embed="rId2"/>
          <a:stretch>
            <a:fillRect/>
          </a:stretch>
        </p:blipFill>
        <p:spPr>
          <a:xfrm>
            <a:off x="166856" y="2041072"/>
            <a:ext cx="8810288" cy="3886450"/>
          </a:xfrm>
          <a:prstGeom prst="rect">
            <a:avLst/>
          </a:prstGeom>
        </p:spPr>
      </p:pic>
    </p:spTree>
    <p:extLst>
      <p:ext uri="{BB962C8B-B14F-4D97-AF65-F5344CB8AC3E}">
        <p14:creationId xmlns:p14="http://schemas.microsoft.com/office/powerpoint/2010/main" val="20596736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A7BD2C01-A17F-F245-A4A8-EBA04FDF9A1B}"/>
              </a:ext>
            </a:extLst>
          </p:cNvPr>
          <p:cNvSpPr>
            <a:spLocks noGrp="1"/>
          </p:cNvSpPr>
          <p:nvPr>
            <p:ph type="dt" sz="half" idx="10"/>
          </p:nvPr>
        </p:nvSpPr>
        <p:spPr/>
        <p:txBody>
          <a:bodyPr/>
          <a:lstStyle/>
          <a:p>
            <a:fld id="{B2CB8352-4891-804B-8CB8-EAFD4E57CF78}" type="datetime1">
              <a:rPr lang="zh-CN" altLang="en-US" smtClean="0"/>
              <a:t>2025/2/6</a:t>
            </a:fld>
            <a:endParaRPr lang="en-US" dirty="0"/>
          </a:p>
        </p:txBody>
      </p:sp>
      <p:sp>
        <p:nvSpPr>
          <p:cNvPr id="4" name="灯片编号占位符 3">
            <a:extLst>
              <a:ext uri="{FF2B5EF4-FFF2-40B4-BE49-F238E27FC236}">
                <a16:creationId xmlns:a16="http://schemas.microsoft.com/office/drawing/2014/main" id="{5BBEBA22-4676-4048-B0AA-0F15FEF292F8}"/>
              </a:ext>
            </a:extLst>
          </p:cNvPr>
          <p:cNvSpPr>
            <a:spLocks noGrp="1"/>
          </p:cNvSpPr>
          <p:nvPr>
            <p:ph type="sldNum" sz="quarter" idx="12"/>
          </p:nvPr>
        </p:nvSpPr>
        <p:spPr/>
        <p:txBody>
          <a:bodyPr/>
          <a:lstStyle/>
          <a:p>
            <a:fld id="{9CD8D479-8942-46E8-A226-A4E01F7A105C}" type="slidenum">
              <a:rPr lang="en-US" altLang="zh-CN" smtClean="0"/>
              <a:pPr/>
              <a:t>32</a:t>
            </a:fld>
            <a:endParaRPr lang="zh-CN" altLang="en-US" dirty="0"/>
          </a:p>
        </p:txBody>
      </p:sp>
      <p:sp>
        <p:nvSpPr>
          <p:cNvPr id="6" name="页脚占位符 5">
            <a:extLst>
              <a:ext uri="{FF2B5EF4-FFF2-40B4-BE49-F238E27FC236}">
                <a16:creationId xmlns:a16="http://schemas.microsoft.com/office/drawing/2014/main" id="{793D08BA-8BB8-C740-9F48-AE74FE64FCEC}"/>
              </a:ext>
            </a:extLst>
          </p:cNvPr>
          <p:cNvSpPr>
            <a:spLocks noGrp="1"/>
          </p:cNvSpPr>
          <p:nvPr>
            <p:ph type="ftr" sz="quarter" idx="11"/>
          </p:nvPr>
        </p:nvSpPr>
        <p:spPr/>
        <p:txBody>
          <a:bodyPr/>
          <a:lstStyle/>
          <a:p>
            <a:r>
              <a:rPr lang="zh-CN" altLang="en-US"/>
              <a:t>重庆大学大数据与软件学院</a:t>
            </a:r>
            <a:endParaRPr lang="zh-CN" altLang="en-US" dirty="0"/>
          </a:p>
        </p:txBody>
      </p:sp>
      <p:pic>
        <p:nvPicPr>
          <p:cNvPr id="7" name="图片 6">
            <a:extLst>
              <a:ext uri="{FF2B5EF4-FFF2-40B4-BE49-F238E27FC236}">
                <a16:creationId xmlns:a16="http://schemas.microsoft.com/office/drawing/2014/main" id="{7DC14FC1-A136-654F-8D11-DF0AB4032E5E}"/>
              </a:ext>
            </a:extLst>
          </p:cNvPr>
          <p:cNvPicPr>
            <a:picLocks noChangeAspect="1"/>
          </p:cNvPicPr>
          <p:nvPr/>
        </p:nvPicPr>
        <p:blipFill>
          <a:blip r:embed="rId2"/>
          <a:stretch>
            <a:fillRect/>
          </a:stretch>
        </p:blipFill>
        <p:spPr>
          <a:xfrm>
            <a:off x="1884492" y="1037202"/>
            <a:ext cx="6705625" cy="5504148"/>
          </a:xfrm>
          <a:prstGeom prst="rect">
            <a:avLst/>
          </a:prstGeom>
        </p:spPr>
      </p:pic>
      <p:sp>
        <p:nvSpPr>
          <p:cNvPr id="8" name="Rectangle 2">
            <a:extLst>
              <a:ext uri="{FF2B5EF4-FFF2-40B4-BE49-F238E27FC236}">
                <a16:creationId xmlns:a16="http://schemas.microsoft.com/office/drawing/2014/main" id="{65A41A02-CA28-AE4D-B590-9A370780BBE7}"/>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SCRUM</a:t>
            </a:r>
            <a:r>
              <a:rPr lang="zh-CN" altLang="en-US" sz="2800" dirty="0">
                <a:solidFill>
                  <a:srgbClr val="4E8F00"/>
                </a:solidFill>
              </a:rPr>
              <a:t>的总体骨架</a:t>
            </a:r>
          </a:p>
        </p:txBody>
      </p:sp>
      <p:sp>
        <p:nvSpPr>
          <p:cNvPr id="9" name="Rectangle 3">
            <a:extLst>
              <a:ext uri="{FF2B5EF4-FFF2-40B4-BE49-F238E27FC236}">
                <a16:creationId xmlns:a16="http://schemas.microsoft.com/office/drawing/2014/main" id="{AA1F506D-B6F2-C67A-CBEE-0CBDDE85A898}"/>
              </a:ext>
            </a:extLst>
          </p:cNvPr>
          <p:cNvSpPr txBox="1">
            <a:spLocks noChangeArrowheads="1"/>
          </p:cNvSpPr>
          <p:nvPr/>
        </p:nvSpPr>
        <p:spPr>
          <a:xfrm>
            <a:off x="618305" y="4673149"/>
            <a:ext cx="1830560" cy="64684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indent="-285750">
              <a:lnSpc>
                <a:spcPct val="130000"/>
              </a:lnSpc>
              <a:buFont typeface="Arial" panose="020B0604020202020204" pitchFamily="34" charset="0"/>
              <a:buChar char="•"/>
            </a:pPr>
            <a:r>
              <a:rPr lang="en-US" altLang="zh-CN" sz="1800" dirty="0">
                <a:solidFill>
                  <a:srgbClr val="000000"/>
                </a:solidFill>
                <a:latin typeface="Microsoft YaHei" panose="020B0503020204020204" pitchFamily="34" charset="-122"/>
                <a:ea typeface="Microsoft YaHei" panose="020B0503020204020204" pitchFamily="34" charset="-122"/>
              </a:rPr>
              <a:t>PDCA</a:t>
            </a:r>
            <a:r>
              <a:rPr lang="zh-CN" altLang="en-US" sz="1800" dirty="0">
                <a:solidFill>
                  <a:srgbClr val="000000"/>
                </a:solidFill>
                <a:latin typeface="Microsoft YaHei" panose="020B0503020204020204" pitchFamily="34" charset="-122"/>
                <a:ea typeface="Microsoft YaHei" panose="020B0503020204020204" pitchFamily="34" charset="-122"/>
              </a:rPr>
              <a:t> 周期</a:t>
            </a:r>
            <a:endParaRPr lang="en-US" altLang="zh-CN" sz="1800" dirty="0">
              <a:solidFill>
                <a:srgbClr val="000000"/>
              </a:solidFill>
              <a:latin typeface="Microsoft YaHei" panose="020B0503020204020204" pitchFamily="34" charset="-122"/>
              <a:ea typeface="Microsoft YaHei" panose="020B0503020204020204" pitchFamily="34" charset="-122"/>
            </a:endParaRPr>
          </a:p>
          <a:p>
            <a:pPr lvl="1" indent="0" algn="just">
              <a:lnSpc>
                <a:spcPct val="120000"/>
              </a:lnSpc>
              <a:buSzPct val="60000"/>
              <a:buNone/>
            </a:pPr>
            <a:endParaRPr lang="en-US" altLang="zh-CN" sz="1600" dirty="0">
              <a:solidFill>
                <a:srgbClr val="000000"/>
              </a:solidFill>
              <a:latin typeface="FrutigerNext LT Regular"/>
            </a:endParaRPr>
          </a:p>
          <a:p>
            <a:pPr marL="285750" indent="-285750">
              <a:lnSpc>
                <a:spcPct val="125000"/>
              </a:lnSpc>
              <a:buFont typeface="Arial" panose="020B0604020202020204" pitchFamily="34" charset="0"/>
              <a:buChar char="•"/>
            </a:pPr>
            <a:endParaRPr lang="en-US" altLang="zh-CN" sz="1600" dirty="0">
              <a:solidFill>
                <a:srgbClr val="000000"/>
              </a:solidFill>
            </a:endParaRPr>
          </a:p>
          <a:p>
            <a:pPr>
              <a:lnSpc>
                <a:spcPct val="125000"/>
              </a:lnSpc>
            </a:pPr>
            <a:endParaRPr lang="zh-CN" altLang="en-US" sz="1400" dirty="0">
              <a:solidFill>
                <a:srgbClr val="000000"/>
              </a:solidFill>
            </a:endParaRPr>
          </a:p>
          <a:p>
            <a:pPr>
              <a:buFont typeface="Wingdings" pitchFamily="2" charset="2"/>
              <a:buNone/>
            </a:pPr>
            <a:endParaRPr lang="zh-CN" altLang="en-US" sz="1600" dirty="0">
              <a:solidFill>
                <a:schemeClr val="tx2"/>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7938286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SCRUM</a:t>
            </a:r>
            <a:r>
              <a:rPr lang="zh-CN" altLang="en-US" sz="2800" dirty="0">
                <a:solidFill>
                  <a:srgbClr val="4E8F00"/>
                </a:solidFill>
              </a:rPr>
              <a:t>实践</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33</a:t>
            </a:fld>
            <a:endParaRPr lang="zh-CN" altLang="en-US"/>
          </a:p>
        </p:txBody>
      </p:sp>
      <p:sp>
        <p:nvSpPr>
          <p:cNvPr id="27" name="Rectangle 3">
            <a:extLst>
              <a:ext uri="{FF2B5EF4-FFF2-40B4-BE49-F238E27FC236}">
                <a16:creationId xmlns:a16="http://schemas.microsoft.com/office/drawing/2014/main" id="{B5005454-91B1-5240-A0BB-25FE17487ACE}"/>
              </a:ext>
            </a:extLst>
          </p:cNvPr>
          <p:cNvSpPr>
            <a:spLocks noGrp="1" noChangeArrowheads="1"/>
          </p:cNvSpPr>
          <p:nvPr>
            <p:ph idx="1"/>
          </p:nvPr>
        </p:nvSpPr>
        <p:spPr>
          <a:xfrm>
            <a:off x="741363" y="1294946"/>
            <a:ext cx="7726977" cy="4824413"/>
          </a:xfrm>
        </p:spPr>
        <p:txBody>
          <a:bodyPr>
            <a:noAutofit/>
          </a:bodyPr>
          <a:lstStyle/>
          <a:p>
            <a:pPr>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1.</a:t>
            </a:r>
            <a:r>
              <a:rPr lang="zh-CN" altLang="en-US" sz="1600" dirty="0">
                <a:solidFill>
                  <a:srgbClr val="C00000"/>
                </a:solidFill>
                <a:latin typeface="Microsoft YaHei" panose="020B0503020204020204" pitchFamily="34" charset="-122"/>
                <a:ea typeface="Microsoft YaHei" panose="020B0503020204020204" pitchFamily="34" charset="-122"/>
              </a:rPr>
              <a:t> </a:t>
            </a:r>
            <a:r>
              <a:rPr lang="en-US" altLang="zh-CN" sz="1600" dirty="0">
                <a:solidFill>
                  <a:srgbClr val="C00000"/>
                </a:solidFill>
                <a:latin typeface="Microsoft YaHei" panose="020B0503020204020204" pitchFamily="34" charset="-122"/>
                <a:ea typeface="Microsoft YaHei" panose="020B0503020204020204" pitchFamily="34" charset="-122"/>
              </a:rPr>
              <a:t>Scrum</a:t>
            </a:r>
            <a:r>
              <a:rPr lang="zh-CN" altLang="en-US" sz="1600" dirty="0">
                <a:solidFill>
                  <a:srgbClr val="C00000"/>
                </a:solidFill>
                <a:latin typeface="Microsoft YaHei" panose="020B0503020204020204" pitchFamily="34" charset="-122"/>
                <a:ea typeface="Microsoft YaHei" panose="020B0503020204020204" pitchFamily="34" charset="-122"/>
              </a:rPr>
              <a:t>团队</a:t>
            </a:r>
            <a:endParaRPr lang="en-US" altLang="zh-CN" sz="1600" dirty="0">
              <a:solidFill>
                <a:srgbClr val="C00000"/>
              </a:solidFill>
              <a:latin typeface="Microsoft YaHei" panose="020B0503020204020204" pitchFamily="34" charset="-122"/>
              <a:ea typeface="Microsoft YaHei" panose="020B0503020204020204" pitchFamily="34" charset="-122"/>
            </a:endParaRPr>
          </a:p>
          <a:p>
            <a:pPr marL="512762" lvl="1" indent="-285750">
              <a:lnSpc>
                <a:spcPct val="120000"/>
              </a:lnSpc>
              <a:spcBef>
                <a:spcPts val="825"/>
              </a:spcBef>
              <a:buSzPct val="100000"/>
              <a:buFontTx/>
              <a:buChar char="-"/>
            </a:pPr>
            <a:r>
              <a:rPr lang="en-US" altLang="zh-CN" sz="1600" b="1" dirty="0">
                <a:latin typeface="Kaiti SC" panose="02010600040101010101" pitchFamily="2" charset="-122"/>
                <a:ea typeface="Kaiti SC" panose="02010600040101010101" pitchFamily="2" charset="-122"/>
              </a:rPr>
              <a:t>5-7</a:t>
            </a:r>
            <a:r>
              <a:rPr lang="zh-CN" altLang="en-US" sz="1600" b="1" dirty="0">
                <a:latin typeface="Kaiti SC" panose="02010600040101010101" pitchFamily="2" charset="-122"/>
                <a:ea typeface="Kaiti SC" panose="02010600040101010101" pitchFamily="2" charset="-122"/>
              </a:rPr>
              <a:t>个人的小项目团队， 团队的负责人可能担负起</a:t>
            </a:r>
            <a:r>
              <a:rPr lang="en-US" altLang="zh-CN" sz="1600" b="1" dirty="0">
                <a:latin typeface="Kaiti SC" panose="02010600040101010101" pitchFamily="2" charset="-122"/>
                <a:ea typeface="Kaiti SC" panose="02010600040101010101" pitchFamily="2" charset="-122"/>
              </a:rPr>
              <a:t>Scrum Master</a:t>
            </a:r>
            <a:r>
              <a:rPr lang="zh-CN" altLang="en-US" sz="1600" b="1" dirty="0">
                <a:latin typeface="Kaiti SC" panose="02010600040101010101" pitchFamily="2" charset="-122"/>
                <a:ea typeface="Kaiti SC" panose="02010600040101010101" pitchFamily="2" charset="-122"/>
              </a:rPr>
              <a:t>的角色</a:t>
            </a:r>
            <a:endParaRPr lang="en-US" altLang="zh-CN" sz="1600" b="1" dirty="0">
              <a:latin typeface="Kaiti SC" panose="02010600040101010101" pitchFamily="2" charset="-122"/>
              <a:ea typeface="Kaiti SC" panose="02010600040101010101" pitchFamily="2" charset="-122"/>
            </a:endParaRPr>
          </a:p>
          <a:p>
            <a:pPr>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2.</a:t>
            </a:r>
            <a:r>
              <a:rPr lang="zh-CN" altLang="en-US" sz="1600" dirty="0">
                <a:solidFill>
                  <a:srgbClr val="C00000"/>
                </a:solidFill>
                <a:latin typeface="Microsoft YaHei" panose="020B0503020204020204" pitchFamily="34" charset="-122"/>
                <a:ea typeface="Microsoft YaHei" panose="020B0503020204020204" pitchFamily="34" charset="-122"/>
              </a:rPr>
              <a:t> </a:t>
            </a:r>
            <a:r>
              <a:rPr lang="en-US" altLang="zh-CN" sz="1600" dirty="0">
                <a:solidFill>
                  <a:srgbClr val="C00000"/>
                </a:solidFill>
                <a:latin typeface="Microsoft YaHei" panose="020B0503020204020204" pitchFamily="34" charset="-122"/>
                <a:ea typeface="Microsoft YaHei" panose="020B0503020204020204" pitchFamily="34" charset="-122"/>
              </a:rPr>
              <a:t>Backlog</a:t>
            </a:r>
            <a:r>
              <a:rPr lang="zh-CN" altLang="en-US" sz="1600" dirty="0">
                <a:ea typeface="宋体" panose="02010600030101010101" pitchFamily="2" charset="-122"/>
              </a:rPr>
              <a:t>（待办的工作）</a:t>
            </a:r>
            <a:endParaRPr lang="zh-CN" altLang="en-US" sz="1600" dirty="0">
              <a:solidFill>
                <a:srgbClr val="C00000"/>
              </a:solidFill>
              <a:latin typeface="Microsoft YaHei" panose="020B0503020204020204" pitchFamily="34" charset="-122"/>
              <a:ea typeface="Microsoft YaHei" panose="020B0503020204020204" pitchFamily="34" charset="-122"/>
            </a:endParaRPr>
          </a:p>
          <a:p>
            <a:pPr marL="512762" lvl="1" indent="-285750">
              <a:lnSpc>
                <a:spcPct val="120000"/>
              </a:lnSpc>
              <a:spcBef>
                <a:spcPts val="825"/>
              </a:spcBef>
              <a:buSzPct val="100000"/>
              <a:buFontTx/>
              <a:buChar char="-"/>
            </a:pPr>
            <a:r>
              <a:rPr lang="zh-CN" altLang="en-US" sz="1600" b="1" dirty="0">
                <a:latin typeface="Kaiti SC" panose="02010600040101010101" pitchFamily="2" charset="-122"/>
                <a:ea typeface="Kaiti SC" panose="02010600040101010101" pitchFamily="2" charset="-122"/>
              </a:rPr>
              <a:t>急待完成的一系列任务，包括：未细化的产品功能要求、</a:t>
            </a:r>
            <a:r>
              <a:rPr lang="en-US" altLang="zh-CN" sz="1600" b="1" dirty="0">
                <a:latin typeface="Kaiti SC" panose="02010600040101010101" pitchFamily="2" charset="-122"/>
                <a:ea typeface="Kaiti SC" panose="02010600040101010101" pitchFamily="2" charset="-122"/>
              </a:rPr>
              <a:t>Bugs</a:t>
            </a:r>
            <a:r>
              <a:rPr lang="zh-CN" altLang="en-US" sz="1600" b="1" dirty="0">
                <a:latin typeface="Kaiti SC" panose="02010600040101010101" pitchFamily="2" charset="-122"/>
                <a:ea typeface="Kaiti SC" panose="02010600040101010101" pitchFamily="2" charset="-122"/>
              </a:rPr>
              <a:t>、缺陷、用户提出的改进、具竞争力的功能及技术升级等，按优先级定义出来，这些任务可能不是完整的，甚至可能随时会更改或添加</a:t>
            </a:r>
          </a:p>
          <a:p>
            <a:pPr>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3.</a:t>
            </a:r>
            <a:r>
              <a:rPr lang="zh-CN" altLang="en-US" sz="1600" dirty="0">
                <a:solidFill>
                  <a:srgbClr val="C00000"/>
                </a:solidFill>
                <a:latin typeface="Microsoft YaHei" panose="020B0503020204020204" pitchFamily="34" charset="-122"/>
                <a:ea typeface="Microsoft YaHei" panose="020B0503020204020204" pitchFamily="34" charset="-122"/>
              </a:rPr>
              <a:t> </a:t>
            </a:r>
            <a:r>
              <a:rPr lang="en-US" altLang="zh-CN" sz="1600" dirty="0">
                <a:solidFill>
                  <a:srgbClr val="C00000"/>
                </a:solidFill>
                <a:latin typeface="Microsoft YaHei" panose="020B0503020204020204" pitchFamily="34" charset="-122"/>
                <a:ea typeface="Microsoft YaHei" panose="020B0503020204020204" pitchFamily="34" charset="-122"/>
              </a:rPr>
              <a:t>Sprint</a:t>
            </a:r>
            <a:r>
              <a:rPr lang="zh-CN" altLang="en-US" sz="1600" dirty="0">
                <a:ea typeface="宋体" panose="02010600030101010101" pitchFamily="2" charset="-122"/>
              </a:rPr>
              <a:t>（迭代</a:t>
            </a:r>
            <a:r>
              <a:rPr lang="en-US" altLang="zh-CN" sz="1600" dirty="0">
                <a:ea typeface="宋体" panose="02010600030101010101" pitchFamily="2" charset="-122"/>
              </a:rPr>
              <a:t>/</a:t>
            </a:r>
            <a:r>
              <a:rPr lang="zh-CN" altLang="en-US" sz="1600" dirty="0">
                <a:ea typeface="宋体" panose="02010600030101010101" pitchFamily="2" charset="-122"/>
              </a:rPr>
              <a:t>冲刺）</a:t>
            </a:r>
            <a:endParaRPr lang="zh-CN" altLang="en-US" sz="1600" dirty="0">
              <a:solidFill>
                <a:srgbClr val="C00000"/>
              </a:solidFill>
              <a:latin typeface="Microsoft YaHei" panose="020B0503020204020204" pitchFamily="34" charset="-122"/>
              <a:ea typeface="Microsoft YaHei" panose="020B0503020204020204" pitchFamily="34" charset="-122"/>
            </a:endParaRPr>
          </a:p>
          <a:p>
            <a:pPr marL="512762" indent="-285750">
              <a:spcBef>
                <a:spcPts val="600"/>
              </a:spcBef>
              <a:buFontTx/>
              <a:buChar char="-"/>
            </a:pPr>
            <a:r>
              <a:rPr lang="zh-CN" altLang="en-US" sz="1600" b="1" dirty="0">
                <a:latin typeface="Kaiti SC" panose="02010600040101010101" pitchFamily="2" charset="-122"/>
                <a:ea typeface="Kaiti SC" panose="02010600040101010101" pitchFamily="2" charset="-122"/>
              </a:rPr>
              <a:t>通常为</a:t>
            </a:r>
            <a:r>
              <a:rPr lang="en-US" altLang="zh-CN" sz="1600" b="1" dirty="0">
                <a:latin typeface="Kaiti SC" panose="02010600040101010101" pitchFamily="2" charset="-122"/>
                <a:ea typeface="Kaiti SC" panose="02010600040101010101" pitchFamily="2" charset="-122"/>
              </a:rPr>
              <a:t>30</a:t>
            </a:r>
            <a:r>
              <a:rPr lang="zh-CN" altLang="en-US" sz="1600" b="1" dirty="0">
                <a:latin typeface="Kaiti SC" panose="02010600040101010101" pitchFamily="2" charset="-122"/>
                <a:ea typeface="Kaiti SC" panose="02010600040101010101" pitchFamily="2" charset="-122"/>
              </a:rPr>
              <a:t>天的迭代时间，把</a:t>
            </a:r>
            <a:r>
              <a:rPr lang="en-US" altLang="zh-CN" sz="1600" b="1" dirty="0">
                <a:latin typeface="Kaiti SC" panose="02010600040101010101" pitchFamily="2" charset="-122"/>
                <a:ea typeface="Kaiti SC" panose="02010600040101010101" pitchFamily="2" charset="-122"/>
              </a:rPr>
              <a:t>Backlog</a:t>
            </a:r>
            <a:r>
              <a:rPr lang="zh-CN" altLang="en-US" sz="1600" b="1" dirty="0">
                <a:latin typeface="Kaiti SC" panose="02010600040101010101" pitchFamily="2" charset="-122"/>
                <a:ea typeface="Kaiti SC" panose="02010600040101010101" pitchFamily="2" charset="-122"/>
              </a:rPr>
              <a:t>中的每一项安排在</a:t>
            </a:r>
            <a:r>
              <a:rPr lang="en-US" altLang="zh-CN" sz="1600" b="1" dirty="0">
                <a:latin typeface="Kaiti SC" panose="02010600040101010101" pitchFamily="2" charset="-122"/>
                <a:ea typeface="Kaiti SC" panose="02010600040101010101" pitchFamily="2" charset="-122"/>
              </a:rPr>
              <a:t>Sprint</a:t>
            </a:r>
            <a:r>
              <a:rPr lang="zh-CN" altLang="en-US" sz="1600" b="1" dirty="0">
                <a:latin typeface="Kaiti SC" panose="02010600040101010101" pitchFamily="2" charset="-122"/>
                <a:ea typeface="Kaiti SC" panose="02010600040101010101" pitchFamily="2" charset="-122"/>
              </a:rPr>
              <a:t>中，由团队估算出所需要的时间（按小时记）。 每一次</a:t>
            </a:r>
            <a:r>
              <a:rPr lang="en-US" altLang="zh-CN" sz="1600" b="1" dirty="0">
                <a:latin typeface="Kaiti SC" panose="02010600040101010101" pitchFamily="2" charset="-122"/>
                <a:ea typeface="Kaiti SC" panose="02010600040101010101" pitchFamily="2" charset="-122"/>
              </a:rPr>
              <a:t>Sprint</a:t>
            </a:r>
            <a:r>
              <a:rPr lang="zh-CN" altLang="en-US" sz="1600" b="1" dirty="0">
                <a:latin typeface="Kaiti SC" panose="02010600040101010101" pitchFamily="2" charset="-122"/>
                <a:ea typeface="Kaiti SC" panose="02010600040101010101" pitchFamily="2" charset="-122"/>
              </a:rPr>
              <a:t>之后，一定要有可以交付使用的功能</a:t>
            </a:r>
          </a:p>
        </p:txBody>
      </p:sp>
    </p:spTree>
    <p:extLst>
      <p:ext uri="{BB962C8B-B14F-4D97-AF65-F5344CB8AC3E}">
        <p14:creationId xmlns:p14="http://schemas.microsoft.com/office/powerpoint/2010/main" val="197694383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SCRUM</a:t>
            </a:r>
            <a:r>
              <a:rPr lang="zh-CN" altLang="en-US" sz="2800" dirty="0">
                <a:solidFill>
                  <a:srgbClr val="4E8F00"/>
                </a:solidFill>
              </a:rPr>
              <a:t>实践</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34</a:t>
            </a:fld>
            <a:endParaRPr lang="zh-CN" altLang="en-US"/>
          </a:p>
        </p:txBody>
      </p:sp>
      <p:sp>
        <p:nvSpPr>
          <p:cNvPr id="27" name="Rectangle 3">
            <a:extLst>
              <a:ext uri="{FF2B5EF4-FFF2-40B4-BE49-F238E27FC236}">
                <a16:creationId xmlns:a16="http://schemas.microsoft.com/office/drawing/2014/main" id="{B5005454-91B1-5240-A0BB-25FE17487ACE}"/>
              </a:ext>
            </a:extLst>
          </p:cNvPr>
          <p:cNvSpPr>
            <a:spLocks noGrp="1" noChangeArrowheads="1"/>
          </p:cNvSpPr>
          <p:nvPr>
            <p:ph idx="1"/>
          </p:nvPr>
        </p:nvSpPr>
        <p:spPr>
          <a:xfrm>
            <a:off x="741363" y="1294946"/>
            <a:ext cx="7880123" cy="4824413"/>
          </a:xfrm>
        </p:spPr>
        <p:txBody>
          <a:bodyPr>
            <a:noAutofit/>
          </a:bodyPr>
          <a:lstStyle/>
          <a:p>
            <a:pPr>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4.</a:t>
            </a:r>
            <a:r>
              <a:rPr lang="zh-CN" altLang="en-US" sz="1600" dirty="0">
                <a:solidFill>
                  <a:srgbClr val="C00000"/>
                </a:solidFill>
                <a:latin typeface="Microsoft YaHei" panose="020B0503020204020204" pitchFamily="34" charset="-122"/>
                <a:ea typeface="Microsoft YaHei" panose="020B0503020204020204" pitchFamily="34" charset="-122"/>
              </a:rPr>
              <a:t> </a:t>
            </a:r>
            <a:r>
              <a:rPr lang="en-US" altLang="zh-CN" sz="1600" dirty="0">
                <a:solidFill>
                  <a:srgbClr val="C00000"/>
                </a:solidFill>
                <a:latin typeface="Microsoft YaHei" panose="020B0503020204020204" pitchFamily="34" charset="-122"/>
                <a:ea typeface="Microsoft YaHei" panose="020B0503020204020204" pitchFamily="34" charset="-122"/>
              </a:rPr>
              <a:t>Scrum</a:t>
            </a:r>
            <a:r>
              <a:rPr lang="zh-CN" altLang="en-US" sz="1600" dirty="0">
                <a:solidFill>
                  <a:srgbClr val="C00000"/>
                </a:solidFill>
                <a:latin typeface="Microsoft YaHei" panose="020B0503020204020204" pitchFamily="34" charset="-122"/>
                <a:ea typeface="Microsoft YaHei" panose="020B0503020204020204" pitchFamily="34" charset="-122"/>
              </a:rPr>
              <a:t>会议</a:t>
            </a:r>
            <a:endParaRPr lang="en-US" altLang="zh-CN" sz="1600" dirty="0">
              <a:solidFill>
                <a:srgbClr val="C00000"/>
              </a:solidFill>
              <a:latin typeface="Microsoft YaHei" panose="020B0503020204020204" pitchFamily="34" charset="-122"/>
              <a:ea typeface="Microsoft YaHei" panose="020B0503020204020204" pitchFamily="34" charset="-122"/>
            </a:endParaRPr>
          </a:p>
          <a:p>
            <a:pPr marL="512762" lvl="1" indent="-285750">
              <a:lnSpc>
                <a:spcPct val="120000"/>
              </a:lnSpc>
              <a:spcBef>
                <a:spcPts val="825"/>
              </a:spcBef>
              <a:buSzPct val="100000"/>
              <a:buFontTx/>
              <a:buChar char="-"/>
            </a:pPr>
            <a:r>
              <a:rPr lang="zh-CN" altLang="en-US" sz="1600" b="1" dirty="0">
                <a:latin typeface="Kaiti SC" panose="02010600040101010101" pitchFamily="2" charset="-122"/>
                <a:ea typeface="Kaiti SC" panose="02010600040101010101" pitchFamily="2" charset="-122"/>
              </a:rPr>
              <a:t>这是与传统方式最大的区别，每天</a:t>
            </a:r>
            <a:r>
              <a:rPr lang="en-US" altLang="zh-CN" sz="1600" b="1" dirty="0">
                <a:latin typeface="Kaiti SC" panose="02010600040101010101" pitchFamily="2" charset="-122"/>
                <a:ea typeface="Kaiti SC" panose="02010600040101010101" pitchFamily="2" charset="-122"/>
              </a:rPr>
              <a:t>15-20</a:t>
            </a:r>
            <a:r>
              <a:rPr lang="zh-CN" altLang="en-US" sz="1600" b="1" dirty="0">
                <a:latin typeface="Kaiti SC" panose="02010600040101010101" pitchFamily="2" charset="-122"/>
                <a:ea typeface="Kaiti SC" panose="02010600040101010101" pitchFamily="2" charset="-122"/>
              </a:rPr>
              <a:t>分钟的</a:t>
            </a:r>
            <a:r>
              <a:rPr lang="en-US" altLang="zh-CN" sz="1600" b="1" dirty="0">
                <a:latin typeface="Kaiti SC" panose="02010600040101010101" pitchFamily="2" charset="-122"/>
                <a:ea typeface="Kaiti SC" panose="02010600040101010101" pitchFamily="2" charset="-122"/>
              </a:rPr>
              <a:t>Scrum</a:t>
            </a:r>
            <a:r>
              <a:rPr lang="zh-CN" altLang="en-US" sz="1600" b="1" dirty="0">
                <a:latin typeface="Kaiti SC" panose="02010600040101010101" pitchFamily="2" charset="-122"/>
                <a:ea typeface="Kaiti SC" panose="02010600040101010101" pitchFamily="2" charset="-122"/>
              </a:rPr>
              <a:t>会议，通常在每天的同一时间和同一个房间内举行。</a:t>
            </a:r>
            <a:r>
              <a:rPr lang="en-US" altLang="zh-CN" sz="1600" b="1" dirty="0">
                <a:latin typeface="Kaiti SC" panose="02010600040101010101" pitchFamily="2" charset="-122"/>
                <a:ea typeface="Kaiti SC" panose="02010600040101010101" pitchFamily="2" charset="-122"/>
              </a:rPr>
              <a:t>Scrum</a:t>
            </a:r>
            <a:r>
              <a:rPr lang="zh-CN" altLang="en-US" sz="1600" b="1" dirty="0">
                <a:latin typeface="Kaiti SC" panose="02010600040101010101" pitchFamily="2" charset="-122"/>
                <a:ea typeface="Kaiti SC" panose="02010600040101010101" pitchFamily="2" charset="-122"/>
              </a:rPr>
              <a:t>团队所有人都参加，也可以有旁听者（但不允许旁听者指手划脚）。 在这个</a:t>
            </a:r>
            <a:r>
              <a:rPr lang="en-US" altLang="zh-CN" sz="1600" b="1" dirty="0">
                <a:latin typeface="Kaiti SC" panose="02010600040101010101" pitchFamily="2" charset="-122"/>
                <a:ea typeface="Kaiti SC" panose="02010600040101010101" pitchFamily="2" charset="-122"/>
              </a:rPr>
              <a:t>15</a:t>
            </a:r>
            <a:r>
              <a:rPr lang="zh-CN" altLang="en-US" sz="1600" b="1" dirty="0">
                <a:latin typeface="Kaiti SC" panose="02010600040101010101" pitchFamily="2" charset="-122"/>
                <a:ea typeface="Kaiti SC" panose="02010600040101010101" pitchFamily="2" charset="-122"/>
              </a:rPr>
              <a:t>分钟的会议上，</a:t>
            </a:r>
            <a:r>
              <a:rPr lang="en-US" altLang="zh-CN" sz="1600" b="1" dirty="0">
                <a:latin typeface="Kaiti SC" panose="02010600040101010101" pitchFamily="2" charset="-122"/>
                <a:ea typeface="Kaiti SC" panose="02010600040101010101" pitchFamily="2" charset="-122"/>
              </a:rPr>
              <a:t>Scrum Master</a:t>
            </a:r>
            <a:r>
              <a:rPr lang="zh-CN" altLang="en-US" sz="1600" b="1" dirty="0">
                <a:latin typeface="Kaiti SC" panose="02010600040101010101" pitchFamily="2" charset="-122"/>
                <a:ea typeface="Kaiti SC" panose="02010600040101010101" pitchFamily="2" charset="-122"/>
              </a:rPr>
              <a:t>会询问每个成员三个问题：</a:t>
            </a:r>
            <a:endParaRPr lang="en-US" altLang="zh-CN" sz="1600" b="1" dirty="0">
              <a:latin typeface="Kaiti SC" panose="02010600040101010101" pitchFamily="2" charset="-122"/>
              <a:ea typeface="Kaiti SC" panose="02010600040101010101" pitchFamily="2" charset="-122"/>
            </a:endParaRPr>
          </a:p>
          <a:p>
            <a:pPr marL="1055688" lvl="2" indent="-342900">
              <a:lnSpc>
                <a:spcPct val="100000"/>
              </a:lnSpc>
              <a:spcBef>
                <a:spcPts val="825"/>
              </a:spcBef>
              <a:buSzPct val="100000"/>
              <a:buAutoNum type="alphaLcParenR"/>
            </a:pPr>
            <a:r>
              <a:rPr lang="zh-CN" altLang="en-US" sz="1400" dirty="0">
                <a:solidFill>
                  <a:schemeClr val="tx2"/>
                </a:solidFill>
                <a:latin typeface="Kaiti SC" panose="02010600040101010101" pitchFamily="2" charset="-122"/>
                <a:ea typeface="Kaiti SC" panose="02010600040101010101" pitchFamily="2" charset="-122"/>
              </a:rPr>
              <a:t>自上次</a:t>
            </a:r>
            <a:r>
              <a:rPr lang="en-US" altLang="zh-CN" sz="1400" dirty="0">
                <a:solidFill>
                  <a:schemeClr val="tx2"/>
                </a:solidFill>
                <a:latin typeface="Kaiti SC" panose="02010600040101010101" pitchFamily="2" charset="-122"/>
                <a:ea typeface="Kaiti SC" panose="02010600040101010101" pitchFamily="2" charset="-122"/>
              </a:rPr>
              <a:t>Scrum</a:t>
            </a:r>
            <a:r>
              <a:rPr lang="zh-CN" altLang="en-US" sz="1400" dirty="0">
                <a:solidFill>
                  <a:schemeClr val="tx2"/>
                </a:solidFill>
                <a:latin typeface="Kaiti SC" panose="02010600040101010101" pitchFamily="2" charset="-122"/>
                <a:ea typeface="Kaiti SC" panose="02010600040101010101" pitchFamily="2" charset="-122"/>
              </a:rPr>
              <a:t>会议后的</a:t>
            </a:r>
            <a:r>
              <a:rPr lang="en-US" altLang="zh-CN" sz="1400" dirty="0">
                <a:solidFill>
                  <a:schemeClr val="tx2"/>
                </a:solidFill>
                <a:latin typeface="Kaiti SC" panose="02010600040101010101" pitchFamily="2" charset="-122"/>
                <a:ea typeface="Kaiti SC" panose="02010600040101010101" pitchFamily="2" charset="-122"/>
              </a:rPr>
              <a:t>1</a:t>
            </a:r>
            <a:r>
              <a:rPr lang="zh-CN" altLang="en-US" sz="1400" dirty="0">
                <a:solidFill>
                  <a:schemeClr val="tx2"/>
                </a:solidFill>
                <a:latin typeface="Kaiti SC" panose="02010600040101010101" pitchFamily="2" charset="-122"/>
                <a:ea typeface="Kaiti SC" panose="02010600040101010101" pitchFamily="2" charset="-122"/>
              </a:rPr>
              <a:t>天里你做了什么？</a:t>
            </a:r>
            <a:endParaRPr lang="en-US" altLang="zh-CN" sz="1400" dirty="0">
              <a:solidFill>
                <a:schemeClr val="tx2"/>
              </a:solidFill>
              <a:latin typeface="Kaiti SC" panose="02010600040101010101" pitchFamily="2" charset="-122"/>
              <a:ea typeface="Kaiti SC" panose="02010600040101010101" pitchFamily="2" charset="-122"/>
            </a:endParaRPr>
          </a:p>
          <a:p>
            <a:pPr marL="1055688" lvl="2" indent="-342900">
              <a:lnSpc>
                <a:spcPct val="100000"/>
              </a:lnSpc>
              <a:spcBef>
                <a:spcPts val="825"/>
              </a:spcBef>
              <a:buSzPct val="100000"/>
              <a:buAutoNum type="alphaLcParenR"/>
            </a:pPr>
            <a:r>
              <a:rPr lang="zh-CN" altLang="en-US" sz="1400" dirty="0">
                <a:solidFill>
                  <a:schemeClr val="tx2"/>
                </a:solidFill>
                <a:latin typeface="Kaiti SC" panose="02010600040101010101" pitchFamily="2" charset="-122"/>
                <a:ea typeface="Kaiti SC" panose="02010600040101010101" pitchFamily="2" charset="-122"/>
              </a:rPr>
              <a:t>从现在到下次</a:t>
            </a:r>
            <a:r>
              <a:rPr lang="en-US" altLang="zh-CN" sz="1400" dirty="0">
                <a:solidFill>
                  <a:schemeClr val="tx2"/>
                </a:solidFill>
                <a:latin typeface="Kaiti SC" panose="02010600040101010101" pitchFamily="2" charset="-122"/>
                <a:ea typeface="Kaiti SC" panose="02010600040101010101" pitchFamily="2" charset="-122"/>
              </a:rPr>
              <a:t>Scrum</a:t>
            </a:r>
            <a:r>
              <a:rPr lang="zh-CN" altLang="en-US" sz="1400" dirty="0">
                <a:solidFill>
                  <a:schemeClr val="tx2"/>
                </a:solidFill>
                <a:latin typeface="Kaiti SC" panose="02010600040101010101" pitchFamily="2" charset="-122"/>
                <a:ea typeface="Kaiti SC" panose="02010600040101010101" pitchFamily="2" charset="-122"/>
              </a:rPr>
              <a:t>会议的</a:t>
            </a:r>
            <a:r>
              <a:rPr lang="en-US" altLang="zh-CN" sz="1400" dirty="0">
                <a:solidFill>
                  <a:schemeClr val="tx2"/>
                </a:solidFill>
                <a:latin typeface="Kaiti SC" panose="02010600040101010101" pitchFamily="2" charset="-122"/>
                <a:ea typeface="Kaiti SC" panose="02010600040101010101" pitchFamily="2" charset="-122"/>
              </a:rPr>
              <a:t>1</a:t>
            </a:r>
            <a:r>
              <a:rPr lang="zh-CN" altLang="en-US" sz="1400" dirty="0">
                <a:solidFill>
                  <a:schemeClr val="tx2"/>
                </a:solidFill>
                <a:latin typeface="Kaiti SC" panose="02010600040101010101" pitchFamily="2" charset="-122"/>
                <a:ea typeface="Kaiti SC" panose="02010600040101010101" pitchFamily="2" charset="-122"/>
              </a:rPr>
              <a:t>天时间里你准备做什么？</a:t>
            </a:r>
            <a:endParaRPr lang="en-US" altLang="zh-CN" sz="1400" dirty="0">
              <a:solidFill>
                <a:schemeClr val="tx2"/>
              </a:solidFill>
              <a:latin typeface="Kaiti SC" panose="02010600040101010101" pitchFamily="2" charset="-122"/>
              <a:ea typeface="Kaiti SC" panose="02010600040101010101" pitchFamily="2" charset="-122"/>
            </a:endParaRPr>
          </a:p>
          <a:p>
            <a:pPr marL="1055688" lvl="2" indent="-342900">
              <a:lnSpc>
                <a:spcPct val="100000"/>
              </a:lnSpc>
              <a:spcBef>
                <a:spcPts val="825"/>
              </a:spcBef>
              <a:buSzPct val="100000"/>
              <a:buAutoNum type="alphaLcParenR"/>
            </a:pPr>
            <a:r>
              <a:rPr lang="zh-CN" altLang="en-US" sz="1400" dirty="0">
                <a:solidFill>
                  <a:schemeClr val="tx2"/>
                </a:solidFill>
                <a:latin typeface="Kaiti SC" panose="02010600040101010101" pitchFamily="2" charset="-122"/>
                <a:ea typeface="Kaiti SC" panose="02010600040101010101" pitchFamily="2" charset="-122"/>
              </a:rPr>
              <a:t>你在工作中遇到了哪些困难？</a:t>
            </a:r>
            <a:endParaRPr lang="en-US" altLang="zh-CN" sz="1400" dirty="0">
              <a:solidFill>
                <a:schemeClr val="tx2"/>
              </a:solidFill>
              <a:latin typeface="Kaiti SC" panose="02010600040101010101" pitchFamily="2" charset="-122"/>
              <a:ea typeface="Kaiti SC" panose="02010600040101010101" pitchFamily="2" charset="-122"/>
            </a:endParaRPr>
          </a:p>
          <a:p>
            <a:pPr marL="512762" lvl="1" indent="-285750">
              <a:lnSpc>
                <a:spcPct val="120000"/>
              </a:lnSpc>
              <a:spcBef>
                <a:spcPts val="825"/>
              </a:spcBef>
              <a:buSzPct val="100000"/>
              <a:buFontTx/>
              <a:buChar char="-"/>
            </a:pPr>
            <a:r>
              <a:rPr lang="zh-CN" altLang="en-US" sz="1600" b="1" dirty="0">
                <a:latin typeface="Kaiti SC" panose="02010600040101010101" pitchFamily="2" charset="-122"/>
                <a:ea typeface="Kaiti SC" panose="02010600040101010101" pitchFamily="2" charset="-122"/>
              </a:rPr>
              <a:t>每个成员在</a:t>
            </a:r>
            <a:r>
              <a:rPr lang="en-US" altLang="zh-CN" sz="1600" b="1" dirty="0">
                <a:latin typeface="Kaiti SC" panose="02010600040101010101" pitchFamily="2" charset="-122"/>
                <a:ea typeface="Kaiti SC" panose="02010600040101010101" pitchFamily="2" charset="-122"/>
              </a:rPr>
              <a:t>Backlog</a:t>
            </a:r>
            <a:r>
              <a:rPr lang="zh-CN" altLang="en-US" sz="1600" b="1" dirty="0">
                <a:latin typeface="Kaiti SC" panose="02010600040101010101" pitchFamily="2" charset="-122"/>
                <a:ea typeface="Kaiti SC" panose="02010600040101010101" pitchFamily="2" charset="-122"/>
              </a:rPr>
              <a:t>条目上所花费的时间会被记录到</a:t>
            </a:r>
            <a:r>
              <a:rPr lang="en-US" altLang="zh-CN" sz="1600" b="1" dirty="0">
                <a:latin typeface="Kaiti SC" panose="02010600040101010101" pitchFamily="2" charset="-122"/>
                <a:ea typeface="Kaiti SC" panose="02010600040101010101" pitchFamily="2" charset="-122"/>
              </a:rPr>
              <a:t>Spring backlog</a:t>
            </a:r>
            <a:r>
              <a:rPr lang="zh-CN" altLang="en-US" sz="1600" b="1" dirty="0">
                <a:latin typeface="Kaiti SC" panose="02010600040101010101" pitchFamily="2" charset="-122"/>
                <a:ea typeface="Kaiti SC" panose="02010600040101010101" pitchFamily="2" charset="-122"/>
              </a:rPr>
              <a:t>中。 </a:t>
            </a:r>
            <a:r>
              <a:rPr lang="en-US" altLang="zh-CN" sz="1600" b="1" dirty="0">
                <a:latin typeface="Kaiti SC" panose="02010600040101010101" pitchFamily="2" charset="-122"/>
                <a:ea typeface="Kaiti SC" panose="02010600040101010101" pitchFamily="2" charset="-122"/>
              </a:rPr>
              <a:t>Scrum Master</a:t>
            </a:r>
            <a:r>
              <a:rPr lang="zh-CN" altLang="en-US" sz="1600" b="1" dirty="0">
                <a:latin typeface="Kaiti SC" panose="02010600040101010101" pitchFamily="2" charset="-122"/>
                <a:ea typeface="Kaiti SC" panose="02010600040101010101" pitchFamily="2" charset="-122"/>
              </a:rPr>
              <a:t>在会上对存在的问题提出即时的解决方案或指导，使团队不断向着目标前进。</a:t>
            </a:r>
            <a:r>
              <a:rPr lang="en-US" altLang="zh-CN" sz="1600" b="1" dirty="0">
                <a:latin typeface="Kaiti SC" panose="02010600040101010101" pitchFamily="2" charset="-122"/>
                <a:ea typeface="Kaiti SC" panose="02010600040101010101" pitchFamily="2" charset="-122"/>
              </a:rPr>
              <a:t>Scrum</a:t>
            </a:r>
            <a:r>
              <a:rPr lang="zh-CN" altLang="en-US" sz="1600" b="1" dirty="0">
                <a:latin typeface="Kaiti SC" panose="02010600040101010101" pitchFamily="2" charset="-122"/>
                <a:ea typeface="Kaiti SC" panose="02010600040101010101" pitchFamily="2" charset="-122"/>
              </a:rPr>
              <a:t>会议不同于项目会议，对团队来说，它起到了快速简报的作用</a:t>
            </a:r>
            <a:endParaRPr lang="en-US" altLang="zh-CN" sz="1600" b="1" dirty="0">
              <a:latin typeface="Kaiti SC" panose="02010600040101010101" pitchFamily="2" charset="-122"/>
              <a:ea typeface="Kaiti SC" panose="02010600040101010101" pitchFamily="2" charset="-122"/>
            </a:endParaRPr>
          </a:p>
          <a:p>
            <a:pPr>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5.</a:t>
            </a:r>
            <a:r>
              <a:rPr lang="zh-CN" altLang="en-US" sz="1600" dirty="0">
                <a:solidFill>
                  <a:srgbClr val="C00000"/>
                </a:solidFill>
                <a:latin typeface="Microsoft YaHei" panose="020B0503020204020204" pitchFamily="34" charset="-122"/>
                <a:ea typeface="Microsoft YaHei" panose="020B0503020204020204" pitchFamily="34" charset="-122"/>
              </a:rPr>
              <a:t> 通过</a:t>
            </a:r>
            <a:r>
              <a:rPr lang="en-US" altLang="zh-CN" sz="1600" dirty="0">
                <a:solidFill>
                  <a:srgbClr val="C00000"/>
                </a:solidFill>
                <a:latin typeface="Microsoft YaHei" panose="020B0503020204020204" pitchFamily="34" charset="-122"/>
                <a:ea typeface="Microsoft YaHei" panose="020B0503020204020204" pitchFamily="34" charset="-122"/>
              </a:rPr>
              <a:t>Sprint Backlog</a:t>
            </a:r>
            <a:r>
              <a:rPr lang="zh-CN" altLang="en-US" sz="1600" dirty="0">
                <a:solidFill>
                  <a:srgbClr val="C00000"/>
                </a:solidFill>
                <a:latin typeface="Microsoft YaHei" panose="020B0503020204020204" pitchFamily="34" charset="-122"/>
                <a:ea typeface="Microsoft YaHei" panose="020B0503020204020204" pitchFamily="34" charset="-122"/>
              </a:rPr>
              <a:t>的分析，可以了解</a:t>
            </a:r>
            <a:r>
              <a:rPr lang="en-US" altLang="zh-CN" sz="1600" dirty="0">
                <a:solidFill>
                  <a:srgbClr val="C00000"/>
                </a:solidFill>
                <a:latin typeface="Microsoft YaHei" panose="020B0503020204020204" pitchFamily="34" charset="-122"/>
                <a:ea typeface="Microsoft YaHei" panose="020B0503020204020204" pitchFamily="34" charset="-122"/>
              </a:rPr>
              <a:t>Backlog</a:t>
            </a:r>
            <a:r>
              <a:rPr lang="zh-CN" altLang="en-US" sz="1600" dirty="0">
                <a:solidFill>
                  <a:srgbClr val="C00000"/>
                </a:solidFill>
                <a:latin typeface="Microsoft YaHei" panose="020B0503020204020204" pitchFamily="34" charset="-122"/>
                <a:ea typeface="Microsoft YaHei" panose="020B0503020204020204" pitchFamily="34" charset="-122"/>
              </a:rPr>
              <a:t>的进度，尽早的了解所发生的问题</a:t>
            </a:r>
          </a:p>
          <a:p>
            <a:pPr>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6.</a:t>
            </a:r>
            <a:r>
              <a:rPr lang="zh-CN" altLang="en-US" sz="1600" dirty="0">
                <a:solidFill>
                  <a:srgbClr val="C00000"/>
                </a:solidFill>
                <a:latin typeface="Microsoft YaHei" panose="020B0503020204020204" pitchFamily="34" charset="-122"/>
                <a:ea typeface="Microsoft YaHei" panose="020B0503020204020204" pitchFamily="34" charset="-122"/>
              </a:rPr>
              <a:t> 管理者不再是项目或团队的</a:t>
            </a:r>
            <a:r>
              <a:rPr lang="en-US" altLang="zh-CN" sz="1600" dirty="0">
                <a:solidFill>
                  <a:srgbClr val="C00000"/>
                </a:solidFill>
                <a:latin typeface="Microsoft YaHei" panose="020B0503020204020204" pitchFamily="34" charset="-122"/>
                <a:ea typeface="Microsoft YaHei" panose="020B0503020204020204" pitchFamily="34" charset="-122"/>
              </a:rPr>
              <a:t>“</a:t>
            </a:r>
            <a:r>
              <a:rPr lang="zh-CN" altLang="en-US" sz="1600" dirty="0">
                <a:solidFill>
                  <a:srgbClr val="C00000"/>
                </a:solidFill>
                <a:latin typeface="Microsoft YaHei" panose="020B0503020204020204" pitchFamily="34" charset="-122"/>
                <a:ea typeface="Microsoft YaHei" panose="020B0503020204020204" pitchFamily="34" charset="-122"/>
              </a:rPr>
              <a:t>老板”</a:t>
            </a:r>
            <a:r>
              <a:rPr lang="en-US" altLang="zh-CN" sz="1600" dirty="0">
                <a:solidFill>
                  <a:srgbClr val="C00000"/>
                </a:solidFill>
                <a:latin typeface="Microsoft YaHei" panose="020B0503020204020204" pitchFamily="34" charset="-122"/>
                <a:ea typeface="Microsoft YaHei" panose="020B0503020204020204" pitchFamily="34" charset="-122"/>
              </a:rPr>
              <a:t>, </a:t>
            </a:r>
            <a:r>
              <a:rPr lang="zh-CN" altLang="en-US" sz="1600" dirty="0">
                <a:solidFill>
                  <a:srgbClr val="C00000"/>
                </a:solidFill>
                <a:latin typeface="Microsoft YaHei" panose="020B0503020204020204" pitchFamily="34" charset="-122"/>
                <a:ea typeface="Microsoft YaHei" panose="020B0503020204020204" pitchFamily="34" charset="-122"/>
              </a:rPr>
              <a:t>而是帮助团队解决问题的“协调者”或“助手”</a:t>
            </a:r>
            <a:endParaRPr lang="en-US" altLang="zh-CN" sz="1600" dirty="0">
              <a:solidFill>
                <a:srgbClr val="C00000"/>
              </a:solidFill>
              <a:latin typeface="Microsoft YaHei" panose="020B0503020204020204" pitchFamily="34" charset="-122"/>
              <a:ea typeface="Microsoft YaHei" panose="020B0503020204020204" pitchFamily="34" charset="-122"/>
            </a:endParaRPr>
          </a:p>
          <a:p>
            <a:pPr marL="225425" indent="-225425">
              <a:lnSpc>
                <a:spcPct val="120000"/>
              </a:lnSpc>
              <a:buSzPct val="60000"/>
            </a:pPr>
            <a:r>
              <a:rPr lang="en-US" altLang="zh-CN" sz="1600" dirty="0">
                <a:solidFill>
                  <a:srgbClr val="C00000"/>
                </a:solidFill>
                <a:latin typeface="Microsoft YaHei" panose="020B0503020204020204" pitchFamily="34" charset="-122"/>
                <a:ea typeface="Microsoft YaHei" panose="020B0503020204020204" pitchFamily="34" charset="-122"/>
              </a:rPr>
              <a:t>7. </a:t>
            </a:r>
            <a:r>
              <a:rPr lang="zh-CN" altLang="en-US" sz="1600" dirty="0">
                <a:solidFill>
                  <a:srgbClr val="C00000"/>
                </a:solidFill>
                <a:latin typeface="Microsoft YaHei" panose="020B0503020204020204" pitchFamily="34" charset="-122"/>
                <a:ea typeface="Microsoft YaHei" panose="020B0503020204020204" pitchFamily="34" charset="-122"/>
              </a:rPr>
              <a:t>每一次</a:t>
            </a:r>
            <a:r>
              <a:rPr lang="en-US" altLang="zh-CN" sz="1600" dirty="0">
                <a:solidFill>
                  <a:srgbClr val="C00000"/>
                </a:solidFill>
                <a:latin typeface="Microsoft YaHei" panose="020B0503020204020204" pitchFamily="34" charset="-122"/>
                <a:ea typeface="Microsoft YaHei" panose="020B0503020204020204" pitchFamily="34" charset="-122"/>
              </a:rPr>
              <a:t>Sprint</a:t>
            </a:r>
            <a:r>
              <a:rPr lang="zh-CN" altLang="en-US" sz="1600" dirty="0">
                <a:solidFill>
                  <a:srgbClr val="C00000"/>
                </a:solidFill>
                <a:latin typeface="Microsoft YaHei" panose="020B0503020204020204" pitchFamily="34" charset="-122"/>
                <a:ea typeface="Microsoft YaHei" panose="020B0503020204020204" pitchFamily="34" charset="-122"/>
              </a:rPr>
              <a:t>之后要</a:t>
            </a:r>
            <a:r>
              <a:rPr lang="en-US" altLang="zh-CN" sz="1600" dirty="0">
                <a:solidFill>
                  <a:srgbClr val="C00000"/>
                </a:solidFill>
                <a:latin typeface="Microsoft YaHei" panose="020B0503020204020204" pitchFamily="34" charset="-122"/>
                <a:ea typeface="Microsoft YaHei" panose="020B0503020204020204" pitchFamily="34" charset="-122"/>
              </a:rPr>
              <a:t>Review</a:t>
            </a:r>
            <a:r>
              <a:rPr lang="zh-CN" altLang="en-US" sz="1600" dirty="0">
                <a:solidFill>
                  <a:srgbClr val="C00000"/>
                </a:solidFill>
                <a:latin typeface="Microsoft YaHei" panose="020B0503020204020204" pitchFamily="34" charset="-122"/>
                <a:ea typeface="Microsoft YaHei" panose="020B0503020204020204" pitchFamily="34" charset="-122"/>
              </a:rPr>
              <a:t>，团队按照既定的</a:t>
            </a:r>
            <a:r>
              <a:rPr lang="en-US" altLang="zh-CN" sz="1600" dirty="0">
                <a:solidFill>
                  <a:srgbClr val="C00000"/>
                </a:solidFill>
                <a:latin typeface="Microsoft YaHei" panose="020B0503020204020204" pitchFamily="34" charset="-122"/>
                <a:ea typeface="Microsoft YaHei" panose="020B0503020204020204" pitchFamily="34" charset="-122"/>
              </a:rPr>
              <a:t>Sprint Backlog</a:t>
            </a:r>
            <a:r>
              <a:rPr lang="zh-CN" altLang="en-US" sz="1600" dirty="0">
                <a:solidFill>
                  <a:srgbClr val="C00000"/>
                </a:solidFill>
                <a:latin typeface="Microsoft YaHei" panose="020B0503020204020204" pitchFamily="34" charset="-122"/>
                <a:ea typeface="Microsoft YaHei" panose="020B0503020204020204" pitchFamily="34" charset="-122"/>
              </a:rPr>
              <a:t>目标来演示完成的内容</a:t>
            </a:r>
            <a:r>
              <a:rPr lang="zh-CN" altLang="en-US" sz="1600" dirty="0">
                <a:ea typeface="宋体" panose="02010600030101010101" pitchFamily="2" charset="-122"/>
              </a:rPr>
              <a:t>。 </a:t>
            </a:r>
          </a:p>
        </p:txBody>
      </p:sp>
    </p:spTree>
    <p:extLst>
      <p:ext uri="{BB962C8B-B14F-4D97-AF65-F5344CB8AC3E}">
        <p14:creationId xmlns:p14="http://schemas.microsoft.com/office/powerpoint/2010/main" val="133918404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EA224511-CF2D-7371-CAB6-28FF692A4F94}"/>
              </a:ext>
            </a:extLst>
          </p:cNvPr>
          <p:cNvSpPr>
            <a:spLocks noGrp="1"/>
          </p:cNvSpPr>
          <p:nvPr>
            <p:ph type="dt" sz="half" idx="10"/>
          </p:nvPr>
        </p:nvSpPr>
        <p:spPr/>
        <p:txBody>
          <a:bodyPr/>
          <a:lstStyle/>
          <a:p>
            <a:fld id="{B2CB8352-4891-804B-8CB8-EAFD4E57CF78}" type="datetime1">
              <a:rPr lang="zh-CN" altLang="en-US" smtClean="0"/>
              <a:t>2025/2/6</a:t>
            </a:fld>
            <a:endParaRPr lang="en-US" dirty="0"/>
          </a:p>
        </p:txBody>
      </p:sp>
      <p:sp>
        <p:nvSpPr>
          <p:cNvPr id="4" name="灯片编号占位符 3">
            <a:extLst>
              <a:ext uri="{FF2B5EF4-FFF2-40B4-BE49-F238E27FC236}">
                <a16:creationId xmlns:a16="http://schemas.microsoft.com/office/drawing/2014/main" id="{7AFD99C9-64F8-0609-29F0-9B1A0B47B6DE}"/>
              </a:ext>
            </a:extLst>
          </p:cNvPr>
          <p:cNvSpPr>
            <a:spLocks noGrp="1"/>
          </p:cNvSpPr>
          <p:nvPr>
            <p:ph type="sldNum" sz="quarter" idx="12"/>
          </p:nvPr>
        </p:nvSpPr>
        <p:spPr/>
        <p:txBody>
          <a:bodyPr/>
          <a:lstStyle/>
          <a:p>
            <a:fld id="{9CD8D479-8942-46E8-A226-A4E01F7A105C}" type="slidenum">
              <a:rPr lang="en-US" altLang="zh-CN" smtClean="0"/>
              <a:pPr/>
              <a:t>35</a:t>
            </a:fld>
            <a:endParaRPr lang="zh-CN" altLang="en-US" dirty="0"/>
          </a:p>
        </p:txBody>
      </p:sp>
      <p:sp>
        <p:nvSpPr>
          <p:cNvPr id="6" name="页脚占位符 5">
            <a:extLst>
              <a:ext uri="{FF2B5EF4-FFF2-40B4-BE49-F238E27FC236}">
                <a16:creationId xmlns:a16="http://schemas.microsoft.com/office/drawing/2014/main" id="{69EA70AE-0E04-5320-7B3F-EF868716BE49}"/>
              </a:ext>
            </a:extLst>
          </p:cNvPr>
          <p:cNvSpPr>
            <a:spLocks noGrp="1"/>
          </p:cNvSpPr>
          <p:nvPr>
            <p:ph type="ftr" sz="quarter" idx="11"/>
          </p:nvPr>
        </p:nvSpPr>
        <p:spPr/>
        <p:txBody>
          <a:bodyPr/>
          <a:lstStyle/>
          <a:p>
            <a:r>
              <a:rPr lang="zh-CN" altLang="en-US"/>
              <a:t>重庆大学大数据与软件学院</a:t>
            </a:r>
            <a:endParaRPr lang="zh-CN" altLang="en-US" dirty="0"/>
          </a:p>
        </p:txBody>
      </p:sp>
      <p:pic>
        <p:nvPicPr>
          <p:cNvPr id="7" name="图片 6">
            <a:extLst>
              <a:ext uri="{FF2B5EF4-FFF2-40B4-BE49-F238E27FC236}">
                <a16:creationId xmlns:a16="http://schemas.microsoft.com/office/drawing/2014/main" id="{8A6C241E-4856-2ED5-A8A0-A637A01E7DD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55528" y="477322"/>
            <a:ext cx="3186822" cy="5665461"/>
          </a:xfrm>
          <a:prstGeom prst="rect">
            <a:avLst/>
          </a:prstGeom>
          <a:ln w="9525">
            <a:solidFill>
              <a:schemeClr val="bg1">
                <a:lumMod val="85000"/>
              </a:schemeClr>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8" name="图片 9">
            <a:extLst>
              <a:ext uri="{FF2B5EF4-FFF2-40B4-BE49-F238E27FC236}">
                <a16:creationId xmlns:a16="http://schemas.microsoft.com/office/drawing/2014/main" id="{D85F3147-675B-AE01-8D47-8D3188EFB9F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0035" y="322746"/>
            <a:ext cx="3186821" cy="5665460"/>
          </a:xfrm>
          <a:prstGeom prst="rect">
            <a:avLst/>
          </a:prstGeom>
          <a:ln w="9525">
            <a:solidFill>
              <a:schemeClr val="bg1">
                <a:lumMod val="85000"/>
              </a:schemeClr>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7683990F-93A2-5429-36A5-3A1DBB86553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40369" y="780585"/>
            <a:ext cx="3186821" cy="5665459"/>
          </a:xfrm>
          <a:prstGeom prst="rect">
            <a:avLst/>
          </a:prstGeom>
          <a:ln w="9525">
            <a:solidFill>
              <a:schemeClr val="bg1">
                <a:lumMod val="85000"/>
              </a:schemeClr>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844935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SCRUM</a:t>
            </a:r>
            <a:r>
              <a:rPr lang="zh-CN" altLang="en-US" sz="2800" dirty="0">
                <a:solidFill>
                  <a:srgbClr val="4E8F00"/>
                </a:solidFill>
              </a:rPr>
              <a:t>工具</a:t>
            </a: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36</a:t>
            </a:fld>
            <a:endParaRPr lang="zh-CN" altLang="en-US"/>
          </a:p>
        </p:txBody>
      </p:sp>
      <p:pic>
        <p:nvPicPr>
          <p:cNvPr id="4" name="图片 3">
            <a:extLst>
              <a:ext uri="{FF2B5EF4-FFF2-40B4-BE49-F238E27FC236}">
                <a16:creationId xmlns:a16="http://schemas.microsoft.com/office/drawing/2014/main" id="{102927B1-B37A-0449-B4C2-77AF61FB273C}"/>
              </a:ext>
            </a:extLst>
          </p:cNvPr>
          <p:cNvPicPr>
            <a:picLocks noChangeAspect="1"/>
          </p:cNvPicPr>
          <p:nvPr/>
        </p:nvPicPr>
        <p:blipFill>
          <a:blip r:embed="rId2"/>
          <a:stretch>
            <a:fillRect/>
          </a:stretch>
        </p:blipFill>
        <p:spPr>
          <a:xfrm>
            <a:off x="283480" y="555947"/>
            <a:ext cx="7785027" cy="5087583"/>
          </a:xfrm>
          <a:prstGeom prst="rect">
            <a:avLst/>
          </a:prstGeom>
          <a:ln w="19050">
            <a:solidFill>
              <a:schemeClr val="tx2"/>
            </a:solidFill>
          </a:ln>
          <a:effectLst>
            <a:outerShdw blurRad="292100" dist="139700" dir="2700000" algn="tl" rotWithShape="0">
              <a:srgbClr val="333333">
                <a:alpha val="65000"/>
              </a:srgbClr>
            </a:outerShdw>
          </a:effectLst>
        </p:spPr>
      </p:pic>
      <p:pic>
        <p:nvPicPr>
          <p:cNvPr id="5" name="图片 4">
            <a:extLst>
              <a:ext uri="{FF2B5EF4-FFF2-40B4-BE49-F238E27FC236}">
                <a16:creationId xmlns:a16="http://schemas.microsoft.com/office/drawing/2014/main" id="{788EBA89-D870-2742-8ECE-BD4E20CCC26E}"/>
              </a:ext>
            </a:extLst>
          </p:cNvPr>
          <p:cNvPicPr>
            <a:picLocks noChangeAspect="1"/>
          </p:cNvPicPr>
          <p:nvPr/>
        </p:nvPicPr>
        <p:blipFill>
          <a:blip r:embed="rId3"/>
          <a:stretch>
            <a:fillRect/>
          </a:stretch>
        </p:blipFill>
        <p:spPr>
          <a:xfrm>
            <a:off x="567038" y="941191"/>
            <a:ext cx="7785026" cy="5038032"/>
          </a:xfrm>
          <a:prstGeom prst="rect">
            <a:avLst/>
          </a:prstGeom>
          <a:ln w="19050">
            <a:solidFill>
              <a:schemeClr val="tx2"/>
            </a:solidFill>
          </a:ln>
          <a:effectLst>
            <a:outerShdw blurRad="292100" dist="139700" dir="2700000" algn="tl" rotWithShape="0">
              <a:srgbClr val="333333">
                <a:alpha val="65000"/>
              </a:srgbClr>
            </a:outerShdw>
          </a:effectLst>
        </p:spPr>
      </p:pic>
      <p:pic>
        <p:nvPicPr>
          <p:cNvPr id="6" name="图片 5">
            <a:extLst>
              <a:ext uri="{FF2B5EF4-FFF2-40B4-BE49-F238E27FC236}">
                <a16:creationId xmlns:a16="http://schemas.microsoft.com/office/drawing/2014/main" id="{1718F35B-755E-0244-A51E-9489040FD6E5}"/>
              </a:ext>
            </a:extLst>
          </p:cNvPr>
          <p:cNvPicPr>
            <a:picLocks noChangeAspect="1"/>
          </p:cNvPicPr>
          <p:nvPr/>
        </p:nvPicPr>
        <p:blipFill>
          <a:blip r:embed="rId4"/>
          <a:stretch>
            <a:fillRect/>
          </a:stretch>
        </p:blipFill>
        <p:spPr>
          <a:xfrm>
            <a:off x="791936" y="1206124"/>
            <a:ext cx="7785026" cy="5038032"/>
          </a:xfrm>
          <a:prstGeom prst="rect">
            <a:avLst/>
          </a:prstGeom>
          <a:ln w="19050">
            <a:solidFill>
              <a:schemeClr val="tx2"/>
            </a:solidFill>
          </a:ln>
          <a:effectLst>
            <a:outerShdw blurRad="292100" dist="139700" dir="2700000" algn="tl" rotWithShape="0">
              <a:srgbClr val="333333">
                <a:alpha val="65000"/>
              </a:srgbClr>
            </a:outerShdw>
          </a:effectLst>
        </p:spPr>
      </p:pic>
      <p:pic>
        <p:nvPicPr>
          <p:cNvPr id="7" name="图片 6">
            <a:extLst>
              <a:ext uri="{FF2B5EF4-FFF2-40B4-BE49-F238E27FC236}">
                <a16:creationId xmlns:a16="http://schemas.microsoft.com/office/drawing/2014/main" id="{23380D2A-59B4-904A-A32F-94124EEE07E3}"/>
              </a:ext>
            </a:extLst>
          </p:cNvPr>
          <p:cNvPicPr>
            <a:picLocks noChangeAspect="1"/>
          </p:cNvPicPr>
          <p:nvPr/>
        </p:nvPicPr>
        <p:blipFill>
          <a:blip r:embed="rId5"/>
          <a:stretch>
            <a:fillRect/>
          </a:stretch>
        </p:blipFill>
        <p:spPr>
          <a:xfrm>
            <a:off x="1075493" y="1473045"/>
            <a:ext cx="7785026" cy="5036044"/>
          </a:xfrm>
          <a:prstGeom prst="rect">
            <a:avLst/>
          </a:prstGeom>
          <a:ln w="19050">
            <a:solidFill>
              <a:schemeClr val="tx2"/>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088963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8A0D5A0F-2ACC-504C-8AA9-52D19E103B2B}"/>
              </a:ext>
            </a:extLst>
          </p:cNvPr>
          <p:cNvSpPr>
            <a:spLocks noGrp="1"/>
          </p:cNvSpPr>
          <p:nvPr>
            <p:ph type="title"/>
          </p:nvPr>
        </p:nvSpPr>
        <p:spPr>
          <a:xfrm>
            <a:off x="1313833" y="2502998"/>
            <a:ext cx="5212080" cy="926002"/>
          </a:xfrm>
        </p:spPr>
        <p:txBody>
          <a:bodyPr/>
          <a:lstStyle/>
          <a:p>
            <a:r>
              <a:rPr lang="zh-CN" altLang="en-US" dirty="0"/>
              <a:t>本章结束</a:t>
            </a:r>
          </a:p>
        </p:txBody>
      </p:sp>
    </p:spTree>
    <p:extLst>
      <p:ext uri="{BB962C8B-B14F-4D97-AF65-F5344CB8AC3E}">
        <p14:creationId xmlns:p14="http://schemas.microsoft.com/office/powerpoint/2010/main" val="234754760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theme/theme1.xml><?xml version="1.0" encoding="utf-8"?>
<a:theme xmlns:a="http://schemas.openxmlformats.org/drawingml/2006/main" name="试验1">
  <a:themeElements>
    <a:clrScheme name="Ecology">
      <a:dk1>
        <a:srgbClr val="4D3E2F"/>
      </a:dk1>
      <a:lt1>
        <a:sysClr val="window" lastClr="FFFFFF"/>
      </a:lt1>
      <a:dk2>
        <a:srgbClr val="000000"/>
      </a:dk2>
      <a:lt2>
        <a:srgbClr val="DDDDDD"/>
      </a:lt2>
      <a:accent1>
        <a:srgbClr val="8BAA00"/>
      </a:accent1>
      <a:accent2>
        <a:srgbClr val="2A6CB2"/>
      </a:accent2>
      <a:accent3>
        <a:srgbClr val="795837"/>
      </a:accent3>
      <a:accent4>
        <a:srgbClr val="D18316"/>
      </a:accent4>
      <a:accent5>
        <a:srgbClr val="79B4F0"/>
      </a:accent5>
      <a:accent6>
        <a:srgbClr val="CDC80F"/>
      </a:accent6>
      <a:hlink>
        <a:srgbClr val="2A6CB2"/>
      </a:hlink>
      <a:folHlink>
        <a:srgbClr val="808080"/>
      </a:folHlink>
    </a:clrScheme>
    <a:fontScheme name="Corbel">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试验1" id="{D0FC9D1F-E22A-42E8-A7DA-057A10670BAD}" vid="{05874D67-174A-4DBA-8E33-E98A4D4F3B7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试验1</Template>
  <TotalTime>0</TotalTime>
  <Words>3720</Words>
  <Application>Microsoft Office PowerPoint</Application>
  <PresentationFormat>全屏显示(4:3)</PresentationFormat>
  <Paragraphs>398</Paragraphs>
  <Slides>37</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37</vt:i4>
      </vt:variant>
    </vt:vector>
  </HeadingPairs>
  <TitlesOfParts>
    <vt:vector size="53" baseType="lpstr">
      <vt:lpstr>FrutigerNext LT Regular</vt:lpstr>
      <vt:lpstr>Gulim</vt:lpstr>
      <vt:lpstr>Kaiti SC</vt:lpstr>
      <vt:lpstr>Microsoft YaHei UI</vt:lpstr>
      <vt:lpstr>SimHei</vt:lpstr>
      <vt:lpstr>华文细黑</vt:lpstr>
      <vt:lpstr>华文中宋</vt:lpstr>
      <vt:lpstr>宋体</vt:lpstr>
      <vt:lpstr>微软雅黑</vt:lpstr>
      <vt:lpstr>微软雅黑</vt:lpstr>
      <vt:lpstr>Arial</vt:lpstr>
      <vt:lpstr>Calibri</vt:lpstr>
      <vt:lpstr>Corbel</vt:lpstr>
      <vt:lpstr>Wingdings</vt:lpstr>
      <vt:lpstr>试验1</vt:lpstr>
      <vt:lpstr>CorelDRAW</vt:lpstr>
      <vt:lpstr>软件工程导论</vt:lpstr>
      <vt:lpstr>PowerPoint 演示文稿</vt:lpstr>
      <vt:lpstr>典型的软件开发模型</vt:lpstr>
      <vt:lpstr>建模误区</vt:lpstr>
      <vt:lpstr>敏捷开发的起源</vt:lpstr>
      <vt:lpstr>什么是敏捷开发？</vt:lpstr>
      <vt:lpstr>敏捷开发方法</vt:lpstr>
      <vt:lpstr>敏捷开发特点</vt:lpstr>
      <vt:lpstr>敏捷宣言</vt:lpstr>
      <vt:lpstr>敏捷宣言</vt:lpstr>
      <vt:lpstr>敏捷宣言</vt:lpstr>
      <vt:lpstr>敏捷宣言</vt:lpstr>
      <vt:lpstr>PowerPoint 演示文稿</vt:lpstr>
      <vt:lpstr>敏捷规则（敏捷宣言遵循的原则）</vt:lpstr>
      <vt:lpstr>敏捷规则（敏捷开发应遵循的原则）</vt:lpstr>
      <vt:lpstr>我们为什么需要敏捷？</vt:lpstr>
      <vt:lpstr>我们为什么需要敏捷？</vt:lpstr>
      <vt:lpstr>谁在用敏捷</vt:lpstr>
      <vt:lpstr>敏捷实践</vt:lpstr>
      <vt:lpstr>什么是XP?</vt:lpstr>
      <vt:lpstr>什么是XP?</vt:lpstr>
      <vt:lpstr>XP的开发流程（计划/反馈循环）</vt:lpstr>
      <vt:lpstr>XP的关键实践</vt:lpstr>
      <vt:lpstr>XP的关键实践</vt:lpstr>
      <vt:lpstr>XP的关键实践</vt:lpstr>
      <vt:lpstr>XP的关键实践</vt:lpstr>
      <vt:lpstr>SCRUM方法（迭代式增量软件开发）</vt:lpstr>
      <vt:lpstr>SCRUM方法</vt:lpstr>
      <vt:lpstr>SCRUM的核心概念</vt:lpstr>
      <vt:lpstr>SCRUM的总体骨架</vt:lpstr>
      <vt:lpstr>SCRUM的总体骨架</vt:lpstr>
      <vt:lpstr>SCRUM的总体骨架</vt:lpstr>
      <vt:lpstr>SCRUM实践</vt:lpstr>
      <vt:lpstr>SCRUM实践</vt:lpstr>
      <vt:lpstr>PowerPoint 演示文稿</vt:lpstr>
      <vt:lpstr>SCRUM工具</vt:lpstr>
      <vt:lpstr>本章结束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2013-08-19T11:32:30Z</dcterms:created>
  <dcterms:modified xsi:type="dcterms:W3CDTF">2025-02-06T15:29:38Z</dcterms:modified>
</cp:coreProperties>
</file>