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3"/>
  </p:notesMasterIdLst>
  <p:sldIdLst>
    <p:sldId id="256" r:id="rId2"/>
    <p:sldId id="332" r:id="rId3"/>
    <p:sldId id="260" r:id="rId4"/>
    <p:sldId id="630" r:id="rId5"/>
    <p:sldId id="524" r:id="rId6"/>
    <p:sldId id="631" r:id="rId7"/>
    <p:sldId id="632" r:id="rId8"/>
    <p:sldId id="634" r:id="rId9"/>
    <p:sldId id="633" r:id="rId10"/>
    <p:sldId id="635" r:id="rId11"/>
    <p:sldId id="643" r:id="rId12"/>
    <p:sldId id="636" r:id="rId13"/>
    <p:sldId id="644" r:id="rId14"/>
    <p:sldId id="637" r:id="rId15"/>
    <p:sldId id="638" r:id="rId16"/>
    <p:sldId id="639" r:id="rId17"/>
    <p:sldId id="645" r:id="rId18"/>
    <p:sldId id="641" r:id="rId19"/>
    <p:sldId id="642" r:id="rId20"/>
    <p:sldId id="640" r:id="rId21"/>
    <p:sldId id="42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8F00"/>
    <a:srgbClr val="008000"/>
    <a:srgbClr val="CC9900"/>
    <a:srgbClr val="CC6600"/>
    <a:srgbClr val="FF9900"/>
    <a:srgbClr val="FFFF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6D237-0A8C-41AD-A549-C316A052396E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A3D49-478E-4229-8803-539C598C7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6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蓝色的天空中漂浮着朵朵白云" title="幻灯片设计图片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7400"/>
            <a:ext cx="1117854" cy="38862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200150" y="0"/>
            <a:ext cx="37719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Microsoft YaHei UI" panose="020B0503020204020204" pitchFamily="34" charset="-122"/>
            </a:endParaRPr>
          </a:p>
        </p:txBody>
      </p:sp>
      <p:pic>
        <p:nvPicPr>
          <p:cNvPr id="10" name="图片 9" descr="植物出芽特写" title="幻灯片设计图片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4347" y="2057400"/>
            <a:ext cx="1545575" cy="3886200"/>
          </a:xfrm>
          <a:prstGeom prst="rect">
            <a:avLst/>
          </a:prstGeom>
        </p:spPr>
      </p:pic>
      <p:pic>
        <p:nvPicPr>
          <p:cNvPr id="11" name="图片 10" descr="波形" title="幻灯片设计图片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2217" y="2057400"/>
            <a:ext cx="2462022" cy="38862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8730" y="303347"/>
            <a:ext cx="3634740" cy="2387600"/>
          </a:xfrm>
        </p:spPr>
        <p:txBody>
          <a:bodyPr anchor="b">
            <a:normAutofit/>
          </a:bodyPr>
          <a:lstStyle>
            <a:lvl1pPr algn="l" latinLnBrk="0">
              <a:lnSpc>
                <a:spcPct val="90000"/>
              </a:lnSpc>
              <a:defRPr lang="zh-CN"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13833" y="5381894"/>
            <a:ext cx="3634740" cy="448056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zh-CN" sz="1800">
                <a:solidFill>
                  <a:schemeClr val="bg1"/>
                </a:solidFill>
              </a:defRPr>
            </a:lvl1pPr>
            <a:lvl2pPr marL="342900" indent="0" algn="ctr" latinLnBrk="0">
              <a:buNone/>
              <a:defRPr lang="zh-CN" sz="1500"/>
            </a:lvl2pPr>
            <a:lvl3pPr marL="685800" indent="0" algn="ctr" latinLnBrk="0">
              <a:buNone/>
              <a:defRPr lang="zh-CN" sz="1350"/>
            </a:lvl3pPr>
            <a:lvl4pPr marL="1028700" indent="0" algn="ctr" latinLnBrk="0">
              <a:buNone/>
              <a:defRPr lang="zh-CN" sz="1200"/>
            </a:lvl4pPr>
            <a:lvl5pPr marL="1371600" indent="0" algn="ctr" latinLnBrk="0">
              <a:buNone/>
              <a:defRPr lang="zh-CN" sz="1200"/>
            </a:lvl5pPr>
            <a:lvl6pPr marL="1714500" indent="0" algn="ctr" latinLnBrk="0">
              <a:buNone/>
              <a:defRPr lang="zh-CN" sz="1200"/>
            </a:lvl6pPr>
            <a:lvl7pPr marL="2057400" indent="0" algn="ctr" latinLnBrk="0">
              <a:buNone/>
              <a:defRPr lang="zh-CN" sz="1200"/>
            </a:lvl7pPr>
            <a:lvl8pPr marL="2400300" indent="0" algn="ctr" latinLnBrk="0">
              <a:buNone/>
              <a:defRPr lang="zh-CN" sz="1200"/>
            </a:lvl8pPr>
            <a:lvl9pPr marL="2743200" indent="0" algn="ctr" latinLnBrk="0">
              <a:buNone/>
              <a:defRPr lang="zh-CN"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章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314" y="173261"/>
            <a:ext cx="7785026" cy="90200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8288" y="1413933"/>
            <a:ext cx="6688045" cy="4772751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 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>
            <a:lvl1pPr>
              <a:defRPr sz="800"/>
            </a:lvl1pPr>
          </a:lstStyle>
          <a:p>
            <a:fld id="{C69415A0-FAE7-FB41-9F48-9F24B7034EC9}" type="datetime1">
              <a:rPr lang="zh-CN" altLang="en-US" smtClean="0"/>
              <a:t>2025/2/6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800"/>
            </a:lvl1pPr>
          </a:lstStyle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>
            <a:lvl1pPr>
              <a:defRPr sz="800"/>
            </a:lvl1pPr>
          </a:lstStyle>
          <a:p>
            <a:fld id="{9CD8D479-8942-46E8-A226-A4E01F7A105C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8288" y="1413933"/>
            <a:ext cx="6688045" cy="4772751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lnSpc>
                <a:spcPct val="130000"/>
              </a:lnSpc>
              <a:defRPr sz="16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 第二级</a:t>
            </a:r>
            <a:endParaRPr lang="en-US" altLang="zh-CN" dirty="0"/>
          </a:p>
          <a:p>
            <a:pPr lvl="1"/>
            <a:r>
              <a:rPr lang="zh-CN" altLang="en-US" dirty="0"/>
              <a:t> 第二级</a:t>
            </a:r>
            <a:endParaRPr lang="en-US" altLang="zh-CN" dirty="0"/>
          </a:p>
          <a:p>
            <a:pPr lvl="2"/>
            <a:r>
              <a:rPr lang="zh-CN" altLang="en-US" dirty="0"/>
              <a:t> 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6040" y="6629400"/>
            <a:ext cx="647783" cy="228600"/>
          </a:xfrm>
        </p:spPr>
        <p:txBody>
          <a:bodyPr/>
          <a:lstStyle>
            <a:lvl1pPr>
              <a:defRPr sz="800"/>
            </a:lvl1pPr>
          </a:lstStyle>
          <a:p>
            <a:fld id="{B2CB8352-4891-804B-8CB8-EAFD4E57CF78}" type="datetime1">
              <a:rPr lang="zh-CN" altLang="en-US" smtClean="0"/>
              <a:t>2025/2/6</a:t>
            </a:fld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-1" y="6629400"/>
            <a:ext cx="426041" cy="228600"/>
          </a:xfrm>
        </p:spPr>
        <p:txBody>
          <a:bodyPr/>
          <a:lstStyle>
            <a:lvl1pPr>
              <a:defRPr sz="800"/>
            </a:lvl1pPr>
          </a:lstStyle>
          <a:p>
            <a:fld id="{9CD8D479-8942-46E8-A226-A4E01F7A105C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7" name="动作按钮: 第一张 6">
            <a:hlinkClick r:id="rId2" action="ppaction://hlinksldjump" highlightClick="1"/>
          </p:cNvPr>
          <p:cNvSpPr/>
          <p:nvPr userDrawn="1"/>
        </p:nvSpPr>
        <p:spPr>
          <a:xfrm>
            <a:off x="8888729" y="6623694"/>
            <a:ext cx="235393" cy="220133"/>
          </a:xfrm>
          <a:prstGeom prst="actionButtonHom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83314" y="173261"/>
            <a:ext cx="7785026" cy="90200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800"/>
            </a:lvl1pPr>
          </a:lstStyle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04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00149" y="2059146"/>
            <a:ext cx="5399772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3833" y="2263915"/>
            <a:ext cx="5212080" cy="2079486"/>
          </a:xfrm>
        </p:spPr>
        <p:txBody>
          <a:bodyPr anchor="b"/>
          <a:lstStyle>
            <a:lvl1pPr latinLnBrk="0">
              <a:defRPr lang="zh-CN" sz="45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13833" y="5381894"/>
            <a:ext cx="5212080" cy="449523"/>
          </a:xfrm>
        </p:spPr>
        <p:txBody>
          <a:bodyPr/>
          <a:lstStyle>
            <a:lvl1pPr marL="0" indent="0" latinLnBrk="0">
              <a:spcBef>
                <a:spcPts val="0"/>
              </a:spcBef>
              <a:buNone/>
              <a:defRPr lang="zh-CN" sz="1800">
                <a:solidFill>
                  <a:schemeClr val="bg1"/>
                </a:solidFill>
              </a:defRPr>
            </a:lvl1pPr>
            <a:lvl2pPr marL="342900" indent="0" latinLnBrk="0">
              <a:buNone/>
              <a:defRPr lang="zh-CN" sz="1500"/>
            </a:lvl2pPr>
            <a:lvl3pPr marL="685800" indent="0" latinLnBrk="0">
              <a:buNone/>
              <a:defRPr lang="zh-CN" sz="1350"/>
            </a:lvl3pPr>
            <a:lvl4pPr marL="1028700" indent="0" latinLnBrk="0">
              <a:buNone/>
              <a:defRPr lang="zh-CN" sz="1200"/>
            </a:lvl4pPr>
            <a:lvl5pPr marL="1371600" indent="0" latinLnBrk="0">
              <a:buNone/>
              <a:defRPr lang="zh-CN" sz="1200"/>
            </a:lvl5pPr>
            <a:lvl6pPr marL="1714500" indent="0" latinLnBrk="0">
              <a:buNone/>
              <a:defRPr lang="zh-CN" sz="1200"/>
            </a:lvl6pPr>
            <a:lvl7pPr marL="2057400" indent="0" latinLnBrk="0">
              <a:buNone/>
              <a:defRPr lang="zh-CN" sz="1200"/>
            </a:lvl7pPr>
            <a:lvl8pPr marL="2400300" indent="0" latinLnBrk="0">
              <a:buNone/>
              <a:defRPr lang="zh-CN" sz="1200"/>
            </a:lvl8pPr>
            <a:lvl9pPr marL="2743200" indent="0" latinLnBrk="0">
              <a:buNone/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9" name="图片 8" descr="波形" title="幻灯片设计图片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2217" y="2059146"/>
            <a:ext cx="2462022" cy="3886200"/>
          </a:xfrm>
          <a:prstGeom prst="rect">
            <a:avLst/>
          </a:prstGeom>
        </p:spPr>
      </p:pic>
      <p:pic>
        <p:nvPicPr>
          <p:cNvPr id="11" name="图片 10" descr="绿色植物特写" title="幻灯片设计图片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9146"/>
            <a:ext cx="111785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629400"/>
            <a:ext cx="1124712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Microsoft YaHei U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07008" y="6629400"/>
            <a:ext cx="7936992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chemeClr val="accent1">
                  <a:lumMod val="75000"/>
                </a:schemeClr>
              </a:solidFill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57520" y="276087"/>
            <a:ext cx="7028962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57520" y="1566001"/>
            <a:ext cx="7028961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3078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60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9CD8D479-8942-46E8-A226-A4E01F7A105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3326" y="6629400"/>
            <a:ext cx="7504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60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9FB283A0-CB17-A043-9B7A-AF1BF540E167}" type="datetime1">
              <a:rPr lang="zh-CN" altLang="en-US" smtClean="0"/>
              <a:t>2025/2/6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28288" y="6629400"/>
            <a:ext cx="685819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60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685800" rtl="0" eaLnBrk="1" latinLnBrk="0" hangingPunct="1">
        <a:spcBef>
          <a:spcPct val="0"/>
        </a:spcBef>
        <a:buNone/>
        <a:defRPr lang="zh-CN" sz="2550" kern="1200">
          <a:solidFill>
            <a:schemeClr val="accent1"/>
          </a:solidFill>
          <a:latin typeface="+mj-lt"/>
          <a:ea typeface="Microsoft YaHei UI" panose="020B0503020204020204" pitchFamily="34" charset="-122"/>
          <a:cs typeface="+mj-cs"/>
        </a:defRPr>
      </a:lvl1pPr>
    </p:titleStyle>
    <p:bodyStyle>
      <a:lvl1pPr marL="157734" indent="-157734" algn="l" defTabSz="68580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lang="zh-CN" sz="165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1pPr>
      <a:lvl2pPr marL="329184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2pPr>
      <a:lvl3pPr marL="5074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3pPr>
      <a:lvl4pPr marL="67894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4pPr>
      <a:lvl5pPr marL="8503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5pPr>
      <a:lvl6pPr marL="102184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932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6474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8730" y="1115365"/>
            <a:ext cx="3634740" cy="962631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软件工程导论</a:t>
            </a:r>
            <a:endParaRPr lang="zh-CN" altLang="en-US" sz="4400" dirty="0"/>
          </a:p>
        </p:txBody>
      </p:sp>
      <p:sp>
        <p:nvSpPr>
          <p:cNvPr id="5" name="矩形 4"/>
          <p:cNvSpPr/>
          <p:nvPr/>
        </p:nvSpPr>
        <p:spPr>
          <a:xfrm>
            <a:off x="1268730" y="2229450"/>
            <a:ext cx="3634740" cy="49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章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软件维护</a:t>
            </a:r>
            <a:endParaRPr lang="en-US" altLang="zh-CN" sz="2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1268730" y="4945463"/>
            <a:ext cx="3634740" cy="942871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重庆大学大数据与软件学院 </a:t>
            </a:r>
            <a:r>
              <a:rPr lang="en-US" altLang="zh-CN" sz="1600" dirty="0"/>
              <a:t>• </a:t>
            </a:r>
            <a:r>
              <a:rPr lang="zh-CN" altLang="en-US" sz="1600" dirty="0"/>
              <a:t>本科课程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讲授：胡健</a:t>
            </a:r>
          </a:p>
          <a:p>
            <a:endParaRPr lang="en-US" altLang="zh-CN" dirty="0"/>
          </a:p>
          <a:p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64063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87450" y="0"/>
            <a:ext cx="5400675" cy="5949950"/>
          </a:xfrm>
          <a:prstGeom prst="rect">
            <a:avLst/>
          </a:prstGeom>
          <a:solidFill>
            <a:srgbClr val="8B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63675" y="765175"/>
            <a:ext cx="4837113" cy="5111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sz="1350" kern="120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5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3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0307" indent="-210307" defTabSz="914377" fontAlgn="auto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软件工程概述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zh-CN" sz="2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 fontAlgn="auto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软件需求分析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软件设计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编码及实现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软件测试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章   </a:t>
            </a:r>
            <a:r>
              <a:rPr lang="zh-CN" altLang="en-US" sz="2400" b="1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软件维护</a:t>
            </a: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面向对象技术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敏捷开发方法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51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6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软件维护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6.1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软件维护的基本概念</a:t>
            </a:r>
            <a:endParaRPr lang="en-US" altLang="zh-CN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软件可维护性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软件维护的副作用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6.4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软件维护实施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软件维护的定义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lvl="1" indent="-260350" algn="just"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软件维护：就是在软件运行维护阶段，为了改正软件错误，或为了满足用户新的应用需要，而对软件进行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改错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变更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或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进化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的过程</a:t>
            </a:r>
          </a:p>
        </p:txBody>
      </p:sp>
    </p:spTree>
    <p:extLst>
      <p:ext uri="{BB962C8B-B14F-4D97-AF65-F5344CB8AC3E}">
        <p14:creationId xmlns:p14="http://schemas.microsoft.com/office/powerpoint/2010/main" val="106935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软件维护的原因：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修复在特定条件下，暴露出来的一些潜在程序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错误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或设计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缺陷</a:t>
            </a:r>
          </a:p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因在软件使用过程中，数据环境发生变化（如一个事务处理代码发生改变），或处理环境发生变化（如安装了新的硬件或操作系统），需要修改软件以适应这种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变化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用户在使用时，提出改进现有功能、增加新的功能，以及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改善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总体性能的要求，为满足这些要求，就需要修改软件，把这些要求纳入到软件之中</a:t>
            </a:r>
          </a:p>
        </p:txBody>
      </p:sp>
    </p:spTree>
    <p:extLst>
      <p:ext uri="{BB962C8B-B14F-4D97-AF65-F5344CB8AC3E}">
        <p14:creationId xmlns:p14="http://schemas.microsoft.com/office/powerpoint/2010/main" val="151282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软件维护的类型：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改正性维护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由于软件测试技术的限制，已投入使用的软件必然会有一些隐藏的错误或缺陷</a:t>
            </a: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这些隐藏下来的错误或缺陷，在某些特定的使用环境下，可能会暴露出来，并有可能影响到软件的正常使用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因此，软件技术人员需要对暴露出来的错误，进行诊断，并设法改正这个错误。这个诊断与改正错误的过程，称之为：改正性维护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982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软件维护的类型：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适应性维护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随着计算机技术的飞速发展，软件的工作环境，如：硬件设备、软件配置、数据环境、网络环境等，都有可能发生变化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为了使软件适应这种变化，往往需要对软件进行改造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这种为使软件适应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新的环境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，而对软件进行改造的过程，称之为：适应性维护</a:t>
            </a:r>
          </a:p>
        </p:txBody>
      </p:sp>
    </p:spTree>
    <p:extLst>
      <p:ext uri="{BB962C8B-B14F-4D97-AF65-F5344CB8AC3E}">
        <p14:creationId xmlns:p14="http://schemas.microsoft.com/office/powerpoint/2010/main" val="398715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软件维护的类型：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完善性维护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在软件使用过程中，用户难免会对软件提出一些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新的功能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性能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方面的要求，而为了满足这些要求，就必须对软件进行改造，以使软件在功能、性能、界面等方面有所进化。由于这些原因，而对软件进行的维护活动，称之为：完善性维护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770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软件维护的类型：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预防性维护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预防性维护是为了提高软件的可维护性和可靠性，采用先进的软件工程方法，对需要维护的软件或软件中的某一部分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重新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进行设计、编制和测试，为以后进一步维护和运行打好基础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55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6.1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软件维护的基本概念 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软件维护的类型：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5" y="2133075"/>
            <a:ext cx="4078824" cy="10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0" lvl="1" indent="-309563">
              <a:spcBef>
                <a:spcPts val="12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注意：在维护阶段的最初一、二年，改正性维护的工作量较大。</a:t>
            </a:r>
          </a:p>
        </p:txBody>
      </p:sp>
      <p:pic>
        <p:nvPicPr>
          <p:cNvPr id="8" name="Picture 6" descr="1301">
            <a:extLst>
              <a:ext uri="{FF2B5EF4-FFF2-40B4-BE49-F238E27FC236}">
                <a16:creationId xmlns:a16="http://schemas.microsoft.com/office/drawing/2014/main" id="{D3536657-176E-1248-8FA1-70313A1AB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998" y="348911"/>
            <a:ext cx="2960688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DD97726D-1541-F043-BD16-0D508C48690F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3082824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0" lvl="1" indent="-309563">
              <a:spcBef>
                <a:spcPts val="12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随着错误发现率急剧降低并趋于稳定，就进入了正常使用期。然而，由于改造的要求，适应性维护和完善性维护的工作量逐步增加，在这种维护过程中又会引入新的错误，从而加重了维护的工作量。</a:t>
            </a:r>
          </a:p>
          <a:p>
            <a:pPr marL="317500" lvl="1" indent="-309563">
              <a:spcBef>
                <a:spcPts val="12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实践表明，在几种维护活动中，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完善性维护所占的比重最大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。即：大部分维护工作是改变和加强软件，而不是纠错。用户要求扩充、加强软件功能和性能的维护活动约占整个维护工作的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50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％左右</a:t>
            </a:r>
          </a:p>
        </p:txBody>
      </p:sp>
    </p:spTree>
    <p:extLst>
      <p:ext uri="{BB962C8B-B14F-4D97-AF65-F5344CB8AC3E}">
        <p14:creationId xmlns:p14="http://schemas.microsoft.com/office/powerpoint/2010/main" val="308471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6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软件维护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软件维护的基本概念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6.2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软件可维护性</a:t>
            </a:r>
            <a:endParaRPr lang="en-US" altLang="zh-CN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软件维护的副作用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6.4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软件维护实施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10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6.2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软件可维护性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12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7163941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软件可维护性</a:t>
            </a:r>
            <a:endParaRPr lang="zh-CN" altLang="en-US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0" lvl="2" indent="-3095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软件可维护性：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是指维护人员对软件进行维护的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难易程度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，包括：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理解、改正、改动和改进软件的难易程度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-3095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容易维护的软件，可维护性好；不好维护的软件，可维护性差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-3095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决定软件可维护性的因素：主要有：系统的大小、系统的年龄、结构合理性、程序设计语言、数据库技术的应用、先进软件开发技术等因素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-3095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软件可维护性可通过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个质量特征来衡量：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可理解性、可测试性、可修改性、可靠性、可移植性、可使用性和效率</a:t>
            </a:r>
            <a:endParaRPr lang="zh-CN" altLang="en-US" sz="18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323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6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软件维护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软件维护的基本概念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软件可维护性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6.3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软件维护的副作用</a:t>
            </a:r>
            <a:endParaRPr lang="en-US" altLang="zh-CN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6.4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软件维护实施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51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6.3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软件维护的副作用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14</a:t>
            </a:fld>
            <a:endParaRPr lang="zh-CN" altLang="en-US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6AEAC5-0DF3-494E-9838-ED37271AF214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1421684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0" lvl="2" indent="-309563" algn="just"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通过维护可以延长软件的寿命，使其创造更多的价值，但是，修改软件是危险的，每修改一次，可能会产生新的潜在错误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-309563" algn="just"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软件维护的副作用：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是指因修改软件，而造成的错误或其他不希望发生的情况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22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6.3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软件维护的副作用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15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7163941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软件维护产生的副作用包括：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3BAF4-9083-2D4A-89D3-602FC8753EED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修改代码的副作用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在修改源代码时，由于软件的内在结构等原因，任何一个小的修改都可能引起新的错误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修改数据的副作用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在修改数据结构时，有可能造成软件设计与数据结构不匹配，因而，导致软件出错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对于修改数据副作用，可以通过详细的设计文档加以控制。此文档中描述了一种交叉作用，把数据元素、记录、文件和其他结构联系起来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0" algn="just">
              <a:spcBef>
                <a:spcPts val="600"/>
              </a:spcBef>
              <a:buNone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300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6.3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软件维护的副作用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16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7163941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软件维护产生的副作用包括：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3BAF4-9083-2D4A-89D3-602FC8753EED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修改文档的副作用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对软件结构、模块逻辑等进行修改时，必须对相关技术文档进行相应修改。如果对可执行程序的修改，不反映在文档里，会产生文档的副作用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例如：对交互输入的顺序或格式进行修改，如果没有正确地记入文档中，可能引起重大的问题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因此，必须在软件交付之前，对整个软件配置进行评审，以减少文档的副作用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0" algn="just">
              <a:spcBef>
                <a:spcPts val="600"/>
              </a:spcBef>
              <a:buNone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810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6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软件维护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软件维护的基本概念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软件可维护性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6.3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软件维护的副作用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6.4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软件维护实施</a:t>
            </a:r>
            <a:endParaRPr lang="en-US" altLang="zh-CN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sym typeface="微软雅黑" panose="020B0503020204020204" pitchFamily="34" charset="-122"/>
            </a:endParaRP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43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6.4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软件维护实施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18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7163941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维护实施过程如下：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3BAF4-9083-2D4A-89D3-602FC8753EED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首先要确定进行维护的类型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在许多情况下，用户可以把一个请求看作改正性维护，而软件开发者可以把这个请求，看作适应性或完善性维护。此时，对不同观点，就需要协商解决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对改正性维护从评价错误的严重性开始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如果存在一个严重的错误，例如，一个系统的重要功能不能执行，则有管理者组织有关人员立即开始分析问题。如果错误并不严重，则改正性维护与软件其他任务一起进行，统一安排，按计划进行维护工作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0" algn="just">
              <a:spcBef>
                <a:spcPts val="600"/>
              </a:spcBef>
              <a:buNone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35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6.4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软件维护实施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19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B2D398-F847-7149-A981-AF79FD28E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3" y="1314850"/>
            <a:ext cx="7163941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维护实施过程如下：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3BAF4-9083-2D4A-89D3-602FC8753EED}"/>
              </a:ext>
            </a:extLst>
          </p:cNvPr>
          <p:cNvSpPr txBox="1">
            <a:spLocks noChangeArrowheads="1"/>
          </p:cNvSpPr>
          <p:nvPr/>
        </p:nvSpPr>
        <p:spPr>
          <a:xfrm>
            <a:off x="1421174" y="2133075"/>
            <a:ext cx="6688045" cy="401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）适应性和完善性维护，如同它是另一个开发工作一样，建立每个请求的优先权，安排所需求的工作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1" indent="-708025" algn="just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 实施维护任务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5963" lvl="2" indent="-398463" algn="just">
              <a:spcBef>
                <a:spcPts val="6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不管维护类型如何，大体上要开展相同的技术工作。这些工作包括：修改软件设计、必要的代码修改、单元测试、集成测试、确认测试及复审。每种维护类型的侧重点不一样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lvl="2" indent="0" algn="just">
              <a:spcBef>
                <a:spcPts val="600"/>
              </a:spcBef>
              <a:buNone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985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4" y="348911"/>
            <a:ext cx="7785026" cy="64684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4E8F00"/>
                </a:solidFill>
              </a:rPr>
              <a:t>6.4 </a:t>
            </a:r>
            <a:r>
              <a:rPr lang="zh-CN" altLang="en-US" sz="2800" dirty="0">
                <a:solidFill>
                  <a:srgbClr val="4E8F00"/>
                </a:solidFill>
              </a:rPr>
              <a:t> </a:t>
            </a:r>
            <a:r>
              <a:rPr lang="zh-CN" altLang="en-US" sz="2800" dirty="0">
                <a:solidFill>
                  <a:srgbClr val="4E8F00"/>
                </a:solidFill>
                <a:sym typeface="微软雅黑" panose="020B0503020204020204" pitchFamily="34" charset="-122"/>
              </a:rPr>
              <a:t>软件维护实施</a:t>
            </a:r>
            <a:endParaRPr lang="zh-CN" altLang="en-US" sz="2800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2025/2/6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20</a:t>
            </a:fld>
            <a:endParaRPr lang="zh-CN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085A486-3F84-9144-8E0C-2692E499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41" y="6135209"/>
            <a:ext cx="2928938" cy="437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44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indent="-436563" algn="ctr" eaLnBrk="1" hangingPunct="1">
              <a:spcBef>
                <a:spcPts val="600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软件维护一般过程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A1BBD3-8527-1443-842C-C0207DA22A16}"/>
              </a:ext>
            </a:extLst>
          </p:cNvPr>
          <p:cNvGrpSpPr/>
          <p:nvPr/>
        </p:nvGrpSpPr>
        <p:grpSpPr>
          <a:xfrm>
            <a:off x="1200150" y="1100214"/>
            <a:ext cx="6696691" cy="4804606"/>
            <a:chOff x="1200150" y="1100214"/>
            <a:chExt cx="6696691" cy="480460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16E7BD0-7EE0-0249-AD7C-9604F2AB1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0587" y="1100214"/>
              <a:ext cx="6476254" cy="4804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803FB38-8A02-7948-A0E8-3107D8D6738E}"/>
                </a:ext>
              </a:extLst>
            </p:cNvPr>
            <p:cNvSpPr/>
            <p:nvPr/>
          </p:nvSpPr>
          <p:spPr>
            <a:xfrm>
              <a:off x="1200150" y="1804307"/>
              <a:ext cx="767443" cy="4327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6B0ED5E-326A-E544-B52D-F9B6CA5AAF11}"/>
                </a:ext>
              </a:extLst>
            </p:cNvPr>
            <p:cNvSpPr/>
            <p:nvPr/>
          </p:nvSpPr>
          <p:spPr>
            <a:xfrm>
              <a:off x="2307773" y="1671352"/>
              <a:ext cx="272142" cy="4976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26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A0D5A0F-2ACC-504C-8AA9-52D19E10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33" y="2502998"/>
            <a:ext cx="5212080" cy="926002"/>
          </a:xfrm>
        </p:spPr>
        <p:txBody>
          <a:bodyPr/>
          <a:lstStyle/>
          <a:p>
            <a:r>
              <a:rPr lang="zh-CN" altLang="en-US" dirty="0"/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234754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试验1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试验1" id="{D0FC9D1F-E22A-42E8-A7DA-057A10670BAD}" vid="{05874D67-174A-4DBA-8E33-E98A4D4F3B7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试验1</Template>
  <TotalTime>0</TotalTime>
  <Words>1502</Words>
  <Application>Microsoft Office PowerPoint</Application>
  <PresentationFormat>全屏显示(4:3)</PresentationFormat>
  <Paragraphs>157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Microsoft YaHei UI</vt:lpstr>
      <vt:lpstr>华文中宋</vt:lpstr>
      <vt:lpstr>微软雅黑</vt:lpstr>
      <vt:lpstr>Arial</vt:lpstr>
      <vt:lpstr>Calibri</vt:lpstr>
      <vt:lpstr>Corbel</vt:lpstr>
      <vt:lpstr>试验1</vt:lpstr>
      <vt:lpstr>软件工程导论</vt:lpstr>
      <vt:lpstr>PowerPoint 演示文稿</vt:lpstr>
      <vt:lpstr>第 6 章   软件维护</vt:lpstr>
      <vt:lpstr>6.1  软件维护的基本概念 </vt:lpstr>
      <vt:lpstr>6.1  软件维护的基本概念 </vt:lpstr>
      <vt:lpstr>6.1  软件维护的基本概念 </vt:lpstr>
      <vt:lpstr>6.1  软件维护的基本概念 </vt:lpstr>
      <vt:lpstr>6.1  软件维护的基本概念 </vt:lpstr>
      <vt:lpstr>6.1  软件维护的基本概念 </vt:lpstr>
      <vt:lpstr>6.1  软件维护的基本概念 </vt:lpstr>
      <vt:lpstr>第 6 章   软件维护</vt:lpstr>
      <vt:lpstr>6.2  软件可维护性</vt:lpstr>
      <vt:lpstr>第 6 章   软件维护</vt:lpstr>
      <vt:lpstr>6.3  软件维护的副作用</vt:lpstr>
      <vt:lpstr>6.3  软件维护的副作用</vt:lpstr>
      <vt:lpstr>6.3  软件维护的副作用</vt:lpstr>
      <vt:lpstr>第 6 章   软件维护</vt:lpstr>
      <vt:lpstr>6.4  软件维护实施</vt:lpstr>
      <vt:lpstr>6.4  软件维护实施</vt:lpstr>
      <vt:lpstr>6.4  软件维护实施</vt:lpstr>
      <vt:lpstr>本章结束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2013-08-19T11:32:30Z</dcterms:created>
  <dcterms:modified xsi:type="dcterms:W3CDTF">2025-02-06T15:29:23Z</dcterms:modified>
</cp:coreProperties>
</file>