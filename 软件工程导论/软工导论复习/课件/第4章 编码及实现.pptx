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1"/>
  </p:notesMasterIdLst>
  <p:sldIdLst>
    <p:sldId id="256" r:id="rId2"/>
    <p:sldId id="332" r:id="rId3"/>
    <p:sldId id="260" r:id="rId4"/>
    <p:sldId id="614" r:id="rId5"/>
    <p:sldId id="524" r:id="rId6"/>
    <p:sldId id="630" r:id="rId7"/>
    <p:sldId id="615" r:id="rId8"/>
    <p:sldId id="616" r:id="rId9"/>
    <p:sldId id="617" r:id="rId10"/>
    <p:sldId id="618" r:id="rId11"/>
    <p:sldId id="637" r:id="rId12"/>
    <p:sldId id="631" r:id="rId13"/>
    <p:sldId id="619" r:id="rId14"/>
    <p:sldId id="633" r:id="rId15"/>
    <p:sldId id="621" r:id="rId16"/>
    <p:sldId id="620" r:id="rId17"/>
    <p:sldId id="634" r:id="rId18"/>
    <p:sldId id="636" r:id="rId19"/>
    <p:sldId id="635" r:id="rId20"/>
    <p:sldId id="632" r:id="rId21"/>
    <p:sldId id="622" r:id="rId22"/>
    <p:sldId id="623" r:id="rId23"/>
    <p:sldId id="624" r:id="rId24"/>
    <p:sldId id="625" r:id="rId25"/>
    <p:sldId id="626" r:id="rId26"/>
    <p:sldId id="627" r:id="rId27"/>
    <p:sldId id="628" r:id="rId28"/>
    <p:sldId id="629" r:id="rId29"/>
    <p:sldId id="426"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8F00"/>
    <a:srgbClr val="008000"/>
    <a:srgbClr val="CC9900"/>
    <a:srgbClr val="CC6600"/>
    <a:srgbClr val="FF9900"/>
    <a:srgbClr val="FFFF00"/>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主题样式 2 - 强调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97" autoAdjust="0"/>
    <p:restoredTop sz="94660"/>
  </p:normalViewPr>
  <p:slideViewPr>
    <p:cSldViewPr snapToGrid="0">
      <p:cViewPr varScale="1">
        <p:scale>
          <a:sx n="78" d="100"/>
          <a:sy n="78" d="100"/>
        </p:scale>
        <p:origin x="1704" y="62"/>
      </p:cViewPr>
      <p:guideLst>
        <p:guide orient="horz" pos="2160"/>
        <p:guide pos="288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A6D237-0A8C-41AD-A549-C316A052396E}" type="datetimeFigureOut">
              <a:rPr lang="zh-CN" altLang="en-US" smtClean="0"/>
              <a:t>2025/2/6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2A3D49-478E-4229-8803-539C598C7A39}" type="slidenum">
              <a:rPr lang="zh-CN" altLang="en-US" smtClean="0"/>
              <a:t>‹#›</a:t>
            </a:fld>
            <a:endParaRPr lang="zh-CN" altLang="en-US"/>
          </a:p>
        </p:txBody>
      </p:sp>
    </p:spTree>
    <p:extLst>
      <p:ext uri="{BB962C8B-B14F-4D97-AF65-F5344CB8AC3E}">
        <p14:creationId xmlns:p14="http://schemas.microsoft.com/office/powerpoint/2010/main" val="131566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2A3D49-478E-4229-8803-539C598C7A39}" type="slidenum">
              <a:rPr lang="zh-CN" altLang="en-US" smtClean="0"/>
              <a:t>22</a:t>
            </a:fld>
            <a:endParaRPr lang="zh-CN" altLang="en-US"/>
          </a:p>
        </p:txBody>
      </p:sp>
    </p:spTree>
    <p:extLst>
      <p:ext uri="{BB962C8B-B14F-4D97-AF65-F5344CB8AC3E}">
        <p14:creationId xmlns:p14="http://schemas.microsoft.com/office/powerpoint/2010/main" val="19536024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8" name="图片 7" descr="深蓝色的天空中漂浮着朵朵白云" title="幻灯片设计图片"/>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0" y="2057400"/>
            <a:ext cx="1117854" cy="3886200"/>
          </a:xfrm>
          <a:prstGeom prst="rect">
            <a:avLst/>
          </a:prstGeom>
        </p:spPr>
      </p:pic>
      <p:sp>
        <p:nvSpPr>
          <p:cNvPr id="9" name="矩形 8"/>
          <p:cNvSpPr/>
          <p:nvPr/>
        </p:nvSpPr>
        <p:spPr>
          <a:xfrm>
            <a:off x="1200150" y="0"/>
            <a:ext cx="3771900" cy="5943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Microsoft YaHei UI" panose="020B0503020204020204" pitchFamily="34" charset="-122"/>
            </a:endParaRPr>
          </a:p>
        </p:txBody>
      </p:sp>
      <p:pic>
        <p:nvPicPr>
          <p:cNvPr id="10" name="图片 9" descr="植物出芽特写" title="幻灯片设计图片"/>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5054347" y="2057400"/>
            <a:ext cx="1545575" cy="3886200"/>
          </a:xfrm>
          <a:prstGeom prst="rect">
            <a:avLst/>
          </a:prstGeom>
        </p:spPr>
      </p:pic>
      <p:pic>
        <p:nvPicPr>
          <p:cNvPr id="11" name="图片 10" descr="波形" title="幻灯片设计图片"/>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6682217" y="2057400"/>
            <a:ext cx="2462022" cy="3886200"/>
          </a:xfrm>
          <a:prstGeom prst="rect">
            <a:avLst/>
          </a:prstGeom>
        </p:spPr>
      </p:pic>
      <p:sp>
        <p:nvSpPr>
          <p:cNvPr id="2" name="标题 1"/>
          <p:cNvSpPr>
            <a:spLocks noGrp="1"/>
          </p:cNvSpPr>
          <p:nvPr>
            <p:ph type="ctrTitle"/>
          </p:nvPr>
        </p:nvSpPr>
        <p:spPr>
          <a:xfrm>
            <a:off x="1268730" y="303347"/>
            <a:ext cx="3634740" cy="2387600"/>
          </a:xfrm>
        </p:spPr>
        <p:txBody>
          <a:bodyPr anchor="b">
            <a:normAutofit/>
          </a:bodyPr>
          <a:lstStyle>
            <a:lvl1pPr algn="l" latinLnBrk="0">
              <a:lnSpc>
                <a:spcPct val="90000"/>
              </a:lnSpc>
              <a:defRPr lang="zh-CN" sz="4400">
                <a:solidFill>
                  <a:schemeClr val="bg1"/>
                </a:solidFill>
              </a:defRPr>
            </a:lvl1pPr>
          </a:lstStyle>
          <a:p>
            <a:r>
              <a:rPr lang="zh-CN" altLang="en-US" dirty="0"/>
              <a:t>单击此处编辑母版标题样式</a:t>
            </a:r>
            <a:endParaRPr lang="zh-CN" dirty="0"/>
          </a:p>
        </p:txBody>
      </p:sp>
      <p:sp>
        <p:nvSpPr>
          <p:cNvPr id="3" name="副标题 2"/>
          <p:cNvSpPr>
            <a:spLocks noGrp="1"/>
          </p:cNvSpPr>
          <p:nvPr>
            <p:ph type="subTitle" idx="1"/>
          </p:nvPr>
        </p:nvSpPr>
        <p:spPr>
          <a:xfrm>
            <a:off x="1313833" y="5381894"/>
            <a:ext cx="3634740" cy="448056"/>
          </a:xfrm>
        </p:spPr>
        <p:txBody>
          <a:bodyPr>
            <a:normAutofit/>
          </a:bodyPr>
          <a:lstStyle>
            <a:lvl1pPr marL="0" indent="0" algn="l" latinLnBrk="0">
              <a:spcBef>
                <a:spcPts val="0"/>
              </a:spcBef>
              <a:buNone/>
              <a:defRPr lang="zh-CN" sz="1800">
                <a:solidFill>
                  <a:schemeClr val="bg1"/>
                </a:solidFill>
              </a:defRPr>
            </a:lvl1pPr>
            <a:lvl2pPr marL="342900" indent="0" algn="ctr" latinLnBrk="0">
              <a:buNone/>
              <a:defRPr lang="zh-CN" sz="1500"/>
            </a:lvl2pPr>
            <a:lvl3pPr marL="685800" indent="0" algn="ctr" latinLnBrk="0">
              <a:buNone/>
              <a:defRPr lang="zh-CN" sz="1350"/>
            </a:lvl3pPr>
            <a:lvl4pPr marL="1028700" indent="0" algn="ctr" latinLnBrk="0">
              <a:buNone/>
              <a:defRPr lang="zh-CN" sz="1200"/>
            </a:lvl4pPr>
            <a:lvl5pPr marL="1371600" indent="0" algn="ctr" latinLnBrk="0">
              <a:buNone/>
              <a:defRPr lang="zh-CN" sz="1200"/>
            </a:lvl5pPr>
            <a:lvl6pPr marL="1714500" indent="0" algn="ctr" latinLnBrk="0">
              <a:buNone/>
              <a:defRPr lang="zh-CN" sz="1200"/>
            </a:lvl6pPr>
            <a:lvl7pPr marL="2057400" indent="0" algn="ctr" latinLnBrk="0">
              <a:buNone/>
              <a:defRPr lang="zh-CN" sz="1200"/>
            </a:lvl7pPr>
            <a:lvl8pPr marL="2400300" indent="0" algn="ctr" latinLnBrk="0">
              <a:buNone/>
              <a:defRPr lang="zh-CN" sz="1200"/>
            </a:lvl8pPr>
            <a:lvl9pPr marL="2743200" indent="0" algn="ctr" latinLnBrk="0">
              <a:buNone/>
              <a:defRPr lang="zh-CN" sz="1200"/>
            </a:lvl9pPr>
          </a:lstStyle>
          <a:p>
            <a:r>
              <a:rPr lang="zh-CN" altLang="en-US" dirty="0"/>
              <a:t>单击此处编辑母版副标题样式</a:t>
            </a:r>
            <a:endParaRPr lang="zh-CN" dirty="0"/>
          </a:p>
        </p:txBody>
      </p:sp>
    </p:spTree>
    <p:extLst>
      <p:ext uri="{BB962C8B-B14F-4D97-AF65-F5344CB8AC3E}">
        <p14:creationId xmlns:p14="http://schemas.microsoft.com/office/powerpoint/2010/main" val="69873102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章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83314" y="173261"/>
            <a:ext cx="7785026" cy="902005"/>
          </a:xfrm>
        </p:spPr>
        <p:txBody>
          <a:bodyPr>
            <a:normAutofit/>
          </a:bodyPr>
          <a:lstStyle>
            <a:lvl1pPr>
              <a:defRPr sz="3200">
                <a:latin typeface="Arial" panose="020B0604020202020204" pitchFamily="34" charset="0"/>
                <a:cs typeface="Arial" panose="020B0604020202020204" pitchFamily="34" charset="0"/>
              </a:defRPr>
            </a:lvl1pPr>
          </a:lstStyle>
          <a:p>
            <a:r>
              <a:rPr lang="zh-CN" altLang="en-US" dirty="0"/>
              <a:t>单击此处编辑母版标题样式</a:t>
            </a:r>
            <a:endParaRPr lang="zh-CN" dirty="0"/>
          </a:p>
        </p:txBody>
      </p:sp>
      <p:sp>
        <p:nvSpPr>
          <p:cNvPr id="3" name="内容占位符 2"/>
          <p:cNvSpPr>
            <a:spLocks noGrp="1"/>
          </p:cNvSpPr>
          <p:nvPr>
            <p:ph idx="1"/>
          </p:nvPr>
        </p:nvSpPr>
        <p:spPr>
          <a:xfrm>
            <a:off x="1228288" y="1413933"/>
            <a:ext cx="6688045" cy="4772751"/>
          </a:xfrm>
        </p:spPr>
        <p:txBody>
          <a:bodyPr/>
          <a:lstStyle>
            <a:lvl1pPr marL="0" indent="0">
              <a:lnSpc>
                <a:spcPct val="150000"/>
              </a:lnSpc>
              <a:buNone/>
              <a:defRPr sz="2400">
                <a:latin typeface="Arial" panose="020B0604020202020204" pitchFamily="34" charset="0"/>
                <a:cs typeface="Arial" panose="020B0604020202020204" pitchFamily="34" charset="0"/>
              </a:defRPr>
            </a:lvl1pPr>
            <a:lvl2pPr>
              <a:lnSpc>
                <a:spcPct val="150000"/>
              </a:lnSpc>
              <a:defRPr sz="2000">
                <a:latin typeface="Arial" panose="020B0604020202020204" pitchFamily="34" charset="0"/>
                <a:cs typeface="Arial" panose="020B0604020202020204" pitchFamily="34" charset="0"/>
              </a:defRPr>
            </a:lvl2pPr>
          </a:lstStyle>
          <a:p>
            <a:pPr lvl="0"/>
            <a:r>
              <a:rPr lang="zh-CN" altLang="en-US" dirty="0"/>
              <a:t>单击此处编辑母版文本样式</a:t>
            </a:r>
          </a:p>
          <a:p>
            <a:pPr lvl="1"/>
            <a:r>
              <a:rPr lang="zh-CN" altLang="en-US" dirty="0"/>
              <a:t> 第二级</a:t>
            </a:r>
          </a:p>
        </p:txBody>
      </p:sp>
      <p:sp>
        <p:nvSpPr>
          <p:cNvPr id="4" name="日期占位符 3"/>
          <p:cNvSpPr>
            <a:spLocks noGrp="1"/>
          </p:cNvSpPr>
          <p:nvPr>
            <p:ph type="dt" sz="half" idx="10"/>
          </p:nvPr>
        </p:nvSpPr>
        <p:spPr>
          <a:xfrm>
            <a:off x="457200" y="6629400"/>
            <a:ext cx="616623" cy="228600"/>
          </a:xfrm>
        </p:spPr>
        <p:txBody>
          <a:bodyPr/>
          <a:lstStyle>
            <a:lvl1pPr>
              <a:defRPr sz="800"/>
            </a:lvl1pPr>
          </a:lstStyle>
          <a:p>
            <a:fld id="{C69415A0-FAE7-FB41-9F48-9F24B7034EC9}" type="datetime1">
              <a:rPr lang="zh-CN" altLang="en-US" smtClean="0"/>
              <a:t>2025/2/6</a:t>
            </a:fld>
            <a:endParaRPr lang="en-US" dirty="0"/>
          </a:p>
        </p:txBody>
      </p:sp>
      <p:sp>
        <p:nvSpPr>
          <p:cNvPr id="5" name="页脚占位符 4"/>
          <p:cNvSpPr>
            <a:spLocks noGrp="1"/>
          </p:cNvSpPr>
          <p:nvPr>
            <p:ph type="ftr" sz="quarter" idx="11"/>
          </p:nvPr>
        </p:nvSpPr>
        <p:spPr/>
        <p:txBody>
          <a:bodyPr/>
          <a:lstStyle>
            <a:lvl1pPr algn="r">
              <a:defRPr sz="800"/>
            </a:lvl1pPr>
          </a:lstStyle>
          <a:p>
            <a:r>
              <a:rPr lang="zh-CN" altLang="en-US"/>
              <a:t>重庆大学大数据与软件学院</a:t>
            </a:r>
            <a:endParaRPr lang="zh-CN" altLang="en-US" dirty="0"/>
          </a:p>
        </p:txBody>
      </p:sp>
      <p:sp>
        <p:nvSpPr>
          <p:cNvPr id="6" name="幻灯片编号占位符 5"/>
          <p:cNvSpPr>
            <a:spLocks noGrp="1"/>
          </p:cNvSpPr>
          <p:nvPr>
            <p:ph type="sldNum" sz="quarter" idx="12"/>
          </p:nvPr>
        </p:nvSpPr>
        <p:spPr>
          <a:xfrm>
            <a:off x="0" y="6629400"/>
            <a:ext cx="457200" cy="228600"/>
          </a:xfrm>
        </p:spPr>
        <p:txBody>
          <a:bodyPr/>
          <a:lstStyle>
            <a:lvl1pPr>
              <a:defRPr sz="800"/>
            </a:lvl1pPr>
          </a:lstStyle>
          <a:p>
            <a:fld id="{9CD8D479-8942-46E8-A226-A4E01F7A105C}" type="slidenum">
              <a:rPr lang="en-US" altLang="zh-CN" smtClean="0"/>
              <a:pPr/>
              <a:t>‹#›</a:t>
            </a:fld>
            <a:endParaRPr lang="zh-CN" altLang="en-US" dirty="0"/>
          </a:p>
        </p:txBody>
      </p:sp>
    </p:spTree>
    <p:extLst>
      <p:ext uri="{BB962C8B-B14F-4D97-AF65-F5344CB8AC3E}">
        <p14:creationId xmlns:p14="http://schemas.microsoft.com/office/powerpoint/2010/main" val="340511684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1228288" y="1413933"/>
            <a:ext cx="6688045" cy="4772751"/>
          </a:xfrm>
        </p:spPr>
        <p:txBody>
          <a:bodyPr/>
          <a:lstStyle>
            <a:lvl1pPr marL="0" indent="0">
              <a:lnSpc>
                <a:spcPct val="150000"/>
              </a:lnSpc>
              <a:buNone/>
              <a:defRPr sz="2200">
                <a:latin typeface="Arial" panose="020B0604020202020204" pitchFamily="34" charset="0"/>
                <a:ea typeface="微软雅黑" panose="020B0503020204020204" pitchFamily="34" charset="-122"/>
                <a:cs typeface="Arial" panose="020B0604020202020204" pitchFamily="34" charset="0"/>
              </a:defRPr>
            </a:lvl1pPr>
            <a:lvl2pPr>
              <a:lnSpc>
                <a:spcPct val="150000"/>
              </a:lnSpc>
              <a:defRPr sz="2000">
                <a:latin typeface="Arial" panose="020B0604020202020204" pitchFamily="34" charset="0"/>
                <a:ea typeface="微软雅黑" panose="020B0503020204020204" pitchFamily="34" charset="-122"/>
                <a:cs typeface="Arial" panose="020B0604020202020204" pitchFamily="34" charset="0"/>
              </a:defRPr>
            </a:lvl2pPr>
            <a:lvl3pPr>
              <a:lnSpc>
                <a:spcPct val="130000"/>
              </a:lnSpc>
              <a:defRPr sz="1600">
                <a:solidFill>
                  <a:schemeClr val="accent2">
                    <a:lumMod val="75000"/>
                  </a:schemeClr>
                </a:solidFill>
                <a:latin typeface="Arial" panose="020B0604020202020204" pitchFamily="34" charset="0"/>
                <a:cs typeface="Arial" panose="020B0604020202020204" pitchFamily="34" charset="0"/>
              </a:defRPr>
            </a:lvl3pPr>
          </a:lstStyle>
          <a:p>
            <a:pPr lvl="0"/>
            <a:r>
              <a:rPr lang="zh-CN" altLang="en-US" dirty="0"/>
              <a:t>单击此处编辑母版文本样式</a:t>
            </a:r>
          </a:p>
          <a:p>
            <a:pPr lvl="1"/>
            <a:r>
              <a:rPr lang="zh-CN" altLang="en-US" dirty="0"/>
              <a:t> 第二级</a:t>
            </a:r>
            <a:endParaRPr lang="en-US" altLang="zh-CN" dirty="0"/>
          </a:p>
          <a:p>
            <a:pPr lvl="1"/>
            <a:r>
              <a:rPr lang="zh-CN" altLang="en-US" dirty="0"/>
              <a:t> 第二级</a:t>
            </a:r>
            <a:endParaRPr lang="en-US" altLang="zh-CN" dirty="0"/>
          </a:p>
          <a:p>
            <a:pPr lvl="2"/>
            <a:r>
              <a:rPr lang="zh-CN" altLang="en-US" dirty="0"/>
              <a:t> 第三级</a:t>
            </a:r>
          </a:p>
        </p:txBody>
      </p:sp>
      <p:sp>
        <p:nvSpPr>
          <p:cNvPr id="4" name="日期占位符 3"/>
          <p:cNvSpPr>
            <a:spLocks noGrp="1"/>
          </p:cNvSpPr>
          <p:nvPr>
            <p:ph type="dt" sz="half" idx="10"/>
          </p:nvPr>
        </p:nvSpPr>
        <p:spPr>
          <a:xfrm>
            <a:off x="426040" y="6629400"/>
            <a:ext cx="647783" cy="228600"/>
          </a:xfrm>
        </p:spPr>
        <p:txBody>
          <a:bodyPr/>
          <a:lstStyle>
            <a:lvl1pPr>
              <a:defRPr sz="800"/>
            </a:lvl1pPr>
          </a:lstStyle>
          <a:p>
            <a:fld id="{B2CB8352-4891-804B-8CB8-EAFD4E57CF78}" type="datetime1">
              <a:rPr lang="zh-CN" altLang="en-US" smtClean="0"/>
              <a:t>2025/2/6</a:t>
            </a:fld>
            <a:endParaRPr lang="en-US" dirty="0"/>
          </a:p>
        </p:txBody>
      </p:sp>
      <p:sp>
        <p:nvSpPr>
          <p:cNvPr id="6" name="幻灯片编号占位符 5"/>
          <p:cNvSpPr>
            <a:spLocks noGrp="1"/>
          </p:cNvSpPr>
          <p:nvPr>
            <p:ph type="sldNum" sz="quarter" idx="12"/>
          </p:nvPr>
        </p:nvSpPr>
        <p:spPr>
          <a:xfrm>
            <a:off x="-1" y="6629400"/>
            <a:ext cx="426041" cy="228600"/>
          </a:xfrm>
        </p:spPr>
        <p:txBody>
          <a:bodyPr/>
          <a:lstStyle>
            <a:lvl1pPr>
              <a:defRPr sz="800"/>
            </a:lvl1pPr>
          </a:lstStyle>
          <a:p>
            <a:fld id="{9CD8D479-8942-46E8-A226-A4E01F7A105C}" type="slidenum">
              <a:rPr lang="en-US" altLang="zh-CN" smtClean="0"/>
              <a:pPr/>
              <a:t>‹#›</a:t>
            </a:fld>
            <a:endParaRPr lang="zh-CN" altLang="en-US" dirty="0"/>
          </a:p>
        </p:txBody>
      </p:sp>
      <p:sp>
        <p:nvSpPr>
          <p:cNvPr id="7" name="动作按钮: 第一张 6">
            <a:hlinkClick r:id="rId2" action="ppaction://hlinksldjump" highlightClick="1"/>
          </p:cNvPr>
          <p:cNvSpPr/>
          <p:nvPr userDrawn="1"/>
        </p:nvSpPr>
        <p:spPr>
          <a:xfrm>
            <a:off x="8888729" y="6623694"/>
            <a:ext cx="235393" cy="220133"/>
          </a:xfrm>
          <a:prstGeom prst="actionButtonHome">
            <a:avLst/>
          </a:prstGeom>
          <a:no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1"/>
          <p:cNvSpPr>
            <a:spLocks noGrp="1"/>
          </p:cNvSpPr>
          <p:nvPr>
            <p:ph type="title"/>
          </p:nvPr>
        </p:nvSpPr>
        <p:spPr>
          <a:xfrm>
            <a:off x="683314" y="173261"/>
            <a:ext cx="7785026" cy="902005"/>
          </a:xfrm>
        </p:spPr>
        <p:txBody>
          <a:bodyPr>
            <a:normAutofit/>
          </a:bodyPr>
          <a:lstStyle>
            <a:lvl1pPr>
              <a:defRPr sz="3200">
                <a:latin typeface="Arial" panose="020B0604020202020204" pitchFamily="34" charset="0"/>
                <a:cs typeface="Arial" panose="020B0604020202020204" pitchFamily="34" charset="0"/>
              </a:defRPr>
            </a:lvl1pPr>
          </a:lstStyle>
          <a:p>
            <a:r>
              <a:rPr lang="zh-CN" altLang="en-US" dirty="0"/>
              <a:t>单击此处编辑母版标题样式</a:t>
            </a:r>
            <a:endParaRPr lang="zh-CN" dirty="0"/>
          </a:p>
        </p:txBody>
      </p:sp>
      <p:sp>
        <p:nvSpPr>
          <p:cNvPr id="5" name="页脚占位符 4"/>
          <p:cNvSpPr>
            <a:spLocks noGrp="1"/>
          </p:cNvSpPr>
          <p:nvPr>
            <p:ph type="ftr" sz="quarter" idx="11"/>
          </p:nvPr>
        </p:nvSpPr>
        <p:spPr/>
        <p:txBody>
          <a:bodyPr/>
          <a:lstStyle>
            <a:lvl1pPr algn="r">
              <a:defRPr sz="800"/>
            </a:lvl1pPr>
          </a:lstStyle>
          <a:p>
            <a:r>
              <a:rPr lang="zh-CN" altLang="en-US"/>
              <a:t>重庆大学大数据与软件学院</a:t>
            </a:r>
            <a:endParaRPr lang="zh-CN" altLang="en-US" dirty="0"/>
          </a:p>
        </p:txBody>
      </p:sp>
    </p:spTree>
    <p:extLst>
      <p:ext uri="{BB962C8B-B14F-4D97-AF65-F5344CB8AC3E}">
        <p14:creationId xmlns:p14="http://schemas.microsoft.com/office/powerpoint/2010/main" val="337204420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矩形 7"/>
          <p:cNvSpPr/>
          <p:nvPr/>
        </p:nvSpPr>
        <p:spPr>
          <a:xfrm>
            <a:off x="1200149" y="2059146"/>
            <a:ext cx="5399772" cy="3886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Microsoft YaHei UI" panose="020B0503020204020204" pitchFamily="34" charset="-122"/>
            </a:endParaRPr>
          </a:p>
        </p:txBody>
      </p:sp>
      <p:sp>
        <p:nvSpPr>
          <p:cNvPr id="2" name="标题 1"/>
          <p:cNvSpPr>
            <a:spLocks noGrp="1"/>
          </p:cNvSpPr>
          <p:nvPr>
            <p:ph type="title"/>
          </p:nvPr>
        </p:nvSpPr>
        <p:spPr>
          <a:xfrm>
            <a:off x="1313833" y="2263915"/>
            <a:ext cx="5212080" cy="2079486"/>
          </a:xfrm>
        </p:spPr>
        <p:txBody>
          <a:bodyPr anchor="b"/>
          <a:lstStyle>
            <a:lvl1pPr latinLnBrk="0">
              <a:defRPr lang="zh-CN" sz="4500">
                <a:solidFill>
                  <a:schemeClr val="bg1"/>
                </a:solidFill>
              </a:defRPr>
            </a:lvl1pPr>
          </a:lstStyle>
          <a:p>
            <a:r>
              <a:rPr lang="zh-CN" altLang="en-US" dirty="0"/>
              <a:t>单击此处编辑母版标题样式</a:t>
            </a:r>
            <a:endParaRPr lang="zh-CN" dirty="0"/>
          </a:p>
        </p:txBody>
      </p:sp>
      <p:sp>
        <p:nvSpPr>
          <p:cNvPr id="3" name="文本占位符 2"/>
          <p:cNvSpPr>
            <a:spLocks noGrp="1"/>
          </p:cNvSpPr>
          <p:nvPr>
            <p:ph type="body" idx="1"/>
          </p:nvPr>
        </p:nvSpPr>
        <p:spPr>
          <a:xfrm>
            <a:off x="1313833" y="5381894"/>
            <a:ext cx="5212080" cy="449523"/>
          </a:xfrm>
        </p:spPr>
        <p:txBody>
          <a:bodyPr/>
          <a:lstStyle>
            <a:lvl1pPr marL="0" indent="0" latinLnBrk="0">
              <a:spcBef>
                <a:spcPts val="0"/>
              </a:spcBef>
              <a:buNone/>
              <a:defRPr lang="zh-CN" sz="1800">
                <a:solidFill>
                  <a:schemeClr val="bg1"/>
                </a:solidFill>
              </a:defRPr>
            </a:lvl1pPr>
            <a:lvl2pPr marL="342900" indent="0" latinLnBrk="0">
              <a:buNone/>
              <a:defRPr lang="zh-CN" sz="1500"/>
            </a:lvl2pPr>
            <a:lvl3pPr marL="685800" indent="0" latinLnBrk="0">
              <a:buNone/>
              <a:defRPr lang="zh-CN" sz="1350"/>
            </a:lvl3pPr>
            <a:lvl4pPr marL="1028700" indent="0" latinLnBrk="0">
              <a:buNone/>
              <a:defRPr lang="zh-CN" sz="1200"/>
            </a:lvl4pPr>
            <a:lvl5pPr marL="1371600" indent="0" latinLnBrk="0">
              <a:buNone/>
              <a:defRPr lang="zh-CN" sz="1200"/>
            </a:lvl5pPr>
            <a:lvl6pPr marL="1714500" indent="0" latinLnBrk="0">
              <a:buNone/>
              <a:defRPr lang="zh-CN" sz="1200"/>
            </a:lvl6pPr>
            <a:lvl7pPr marL="2057400" indent="0" latinLnBrk="0">
              <a:buNone/>
              <a:defRPr lang="zh-CN" sz="1200"/>
            </a:lvl7pPr>
            <a:lvl8pPr marL="2400300" indent="0" latinLnBrk="0">
              <a:buNone/>
              <a:defRPr lang="zh-CN" sz="1200"/>
            </a:lvl8pPr>
            <a:lvl9pPr marL="2743200" indent="0" latinLnBrk="0">
              <a:buNone/>
              <a:defRPr lang="zh-CN" sz="1200"/>
            </a:lvl9pPr>
          </a:lstStyle>
          <a:p>
            <a:pPr lvl="0"/>
            <a:r>
              <a:rPr lang="zh-CN" altLang="en-US"/>
              <a:t>单击此处编辑母版文本样式</a:t>
            </a:r>
          </a:p>
        </p:txBody>
      </p:sp>
      <p:pic>
        <p:nvPicPr>
          <p:cNvPr id="9" name="图片 8" descr="波形" title="幻灯片设计图片"/>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6682217" y="2059146"/>
            <a:ext cx="2462022" cy="3886200"/>
          </a:xfrm>
          <a:prstGeom prst="rect">
            <a:avLst/>
          </a:prstGeom>
        </p:spPr>
      </p:pic>
      <p:pic>
        <p:nvPicPr>
          <p:cNvPr id="11" name="图片 10" descr="绿色植物特写" title="幻灯片设计图片"/>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0" y="2059146"/>
            <a:ext cx="1117854" cy="3886200"/>
          </a:xfrm>
          <a:prstGeom prst="rect">
            <a:avLst/>
          </a:prstGeom>
        </p:spPr>
      </p:pic>
    </p:spTree>
    <p:extLst>
      <p:ext uri="{BB962C8B-B14F-4D97-AF65-F5344CB8AC3E}">
        <p14:creationId xmlns:p14="http://schemas.microsoft.com/office/powerpoint/2010/main" val="128989429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extLst>
    <p:ext uri="{DCECCB84-F9BA-43D5-87BE-67443E8EF086}">
      <p15:sldGuideLst xmlns:p15="http://schemas.microsoft.com/office/powerpoint/2012/main">
        <p15:guide id="1" orient="horz" pos="3768">
          <p15:clr>
            <a:srgbClr val="FDE53C"/>
          </p15:clr>
        </p15:guide>
        <p15:guide id="2" orient="horz" pos="1296">
          <p15:clr>
            <a:srgbClr val="FDE53C"/>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矩形 9"/>
          <p:cNvSpPr/>
          <p:nvPr/>
        </p:nvSpPr>
        <p:spPr>
          <a:xfrm>
            <a:off x="0" y="6629400"/>
            <a:ext cx="1124712" cy="228600"/>
          </a:xfrm>
          <a:prstGeom prst="rect">
            <a:avLst/>
          </a:prstGeom>
          <a:gradFill>
            <a:gsLst>
              <a:gs pos="0">
                <a:schemeClr val="accent1">
                  <a:lumMod val="15000"/>
                  <a:lumOff val="85000"/>
                </a:schemeClr>
              </a:gs>
              <a:gs pos="100000">
                <a:schemeClr val="accent1">
                  <a:lumMod val="15000"/>
                  <a:lumOff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Microsoft YaHei UI" panose="020B0503020204020204" pitchFamily="34" charset="-122"/>
            </a:endParaRPr>
          </a:p>
        </p:txBody>
      </p:sp>
      <p:sp>
        <p:nvSpPr>
          <p:cNvPr id="11" name="矩形 10"/>
          <p:cNvSpPr/>
          <p:nvPr/>
        </p:nvSpPr>
        <p:spPr>
          <a:xfrm>
            <a:off x="1207008" y="6629400"/>
            <a:ext cx="7936992" cy="228600"/>
          </a:xfrm>
          <a:prstGeom prst="rect">
            <a:avLst/>
          </a:prstGeom>
          <a:gradFill>
            <a:gsLst>
              <a:gs pos="0">
                <a:schemeClr val="accent1">
                  <a:lumMod val="35000"/>
                  <a:lumOff val="65000"/>
                </a:schemeClr>
              </a:gs>
              <a:gs pos="100000">
                <a:schemeClr val="accent1">
                  <a:lumMod val="35000"/>
                  <a:lumOff val="6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chemeClr val="accent1">
                  <a:lumMod val="75000"/>
                </a:schemeClr>
              </a:solidFill>
              <a:ea typeface="Microsoft YaHei UI" panose="020B0503020204020204" pitchFamily="34" charset="-122"/>
            </a:endParaRPr>
          </a:p>
        </p:txBody>
      </p:sp>
      <p:sp>
        <p:nvSpPr>
          <p:cNvPr id="2" name="标题占位符 1"/>
          <p:cNvSpPr>
            <a:spLocks noGrp="1"/>
          </p:cNvSpPr>
          <p:nvPr>
            <p:ph type="title"/>
          </p:nvPr>
        </p:nvSpPr>
        <p:spPr>
          <a:xfrm>
            <a:off x="1057520" y="276087"/>
            <a:ext cx="7028962" cy="1183566"/>
          </a:xfrm>
          <a:prstGeom prst="rect">
            <a:avLst/>
          </a:prstGeom>
        </p:spPr>
        <p:txBody>
          <a:bodyPr vert="horz" lIns="91440" tIns="45720" rIns="91440" bIns="45720" rtlCol="0" anchor="b">
            <a:normAutofit/>
          </a:bodyPr>
          <a:lstStyle/>
          <a:p>
            <a:r>
              <a:rPr lang="zh-CN" dirty="0"/>
              <a:t>单击此处编辑母版标题样式</a:t>
            </a:r>
          </a:p>
        </p:txBody>
      </p:sp>
      <p:sp>
        <p:nvSpPr>
          <p:cNvPr id="3" name="文本占位符 2"/>
          <p:cNvSpPr>
            <a:spLocks noGrp="1"/>
          </p:cNvSpPr>
          <p:nvPr>
            <p:ph type="body" idx="1"/>
          </p:nvPr>
        </p:nvSpPr>
        <p:spPr>
          <a:xfrm>
            <a:off x="1057520" y="1566001"/>
            <a:ext cx="7028961" cy="4620682"/>
          </a:xfrm>
          <a:prstGeom prst="rect">
            <a:avLst/>
          </a:prstGeom>
        </p:spPr>
        <p:txBody>
          <a:bodyPr vert="horz" lIns="91440" tIns="45720" rIns="91440" bIns="45720" rtlCol="0">
            <a:normAutofit/>
          </a:bodyPr>
          <a:lstStyle/>
          <a:p>
            <a:pPr lvl="0"/>
            <a:r>
              <a:rPr lang="zh-CN" dirty="0"/>
              <a:t>单击此处编辑母版文本样式</a:t>
            </a:r>
          </a:p>
          <a:p>
            <a:pPr lvl="1"/>
            <a:r>
              <a:rPr lang="zh-CN" dirty="0"/>
              <a:t>第二级</a:t>
            </a:r>
          </a:p>
          <a:p>
            <a:pPr lvl="2"/>
            <a:r>
              <a:rPr lang="zh-CN" dirty="0"/>
              <a:t>第三级</a:t>
            </a:r>
          </a:p>
          <a:p>
            <a:pPr lvl="3"/>
            <a:r>
              <a:rPr lang="zh-CN" dirty="0"/>
              <a:t>第四级</a:t>
            </a:r>
          </a:p>
          <a:p>
            <a:pPr lvl="4"/>
            <a:r>
              <a:rPr lang="zh-CN" dirty="0"/>
              <a:t>第五级</a:t>
            </a:r>
          </a:p>
        </p:txBody>
      </p:sp>
      <p:sp>
        <p:nvSpPr>
          <p:cNvPr id="6" name="幻灯片编号占位符 5"/>
          <p:cNvSpPr>
            <a:spLocks noGrp="1"/>
          </p:cNvSpPr>
          <p:nvPr>
            <p:ph type="sldNum" sz="quarter" idx="4"/>
          </p:nvPr>
        </p:nvSpPr>
        <p:spPr>
          <a:xfrm>
            <a:off x="0" y="6629400"/>
            <a:ext cx="307802" cy="228600"/>
          </a:xfrm>
          <a:prstGeom prst="rect">
            <a:avLst/>
          </a:prstGeom>
        </p:spPr>
        <p:txBody>
          <a:bodyPr vert="horz" lIns="91440" tIns="45720" rIns="91440" bIns="45720" rtlCol="0" anchor="ctr"/>
          <a:lstStyle>
            <a:lvl1pPr algn="r" latinLnBrk="0">
              <a:defRPr lang="zh-CN" sz="600">
                <a:solidFill>
                  <a:schemeClr val="accent1">
                    <a:lumMod val="75000"/>
                  </a:schemeClr>
                </a:solidFill>
                <a:ea typeface="Microsoft YaHei UI" panose="020B0503020204020204" pitchFamily="34" charset="-122"/>
              </a:defRPr>
            </a:lvl1pPr>
          </a:lstStyle>
          <a:p>
            <a:fld id="{9CD8D479-8942-46E8-A226-A4E01F7A105C}" type="slidenum">
              <a:rPr lang="en-US" altLang="zh-CN" smtClean="0"/>
              <a:pPr/>
              <a:t>‹#›</a:t>
            </a:fld>
            <a:endParaRPr lang="en-US" altLang="zh-CN" dirty="0"/>
          </a:p>
        </p:txBody>
      </p:sp>
      <p:sp>
        <p:nvSpPr>
          <p:cNvPr id="4" name="日期占位符 3"/>
          <p:cNvSpPr>
            <a:spLocks noGrp="1"/>
          </p:cNvSpPr>
          <p:nvPr>
            <p:ph type="dt" sz="half" idx="2"/>
          </p:nvPr>
        </p:nvSpPr>
        <p:spPr>
          <a:xfrm>
            <a:off x="323326" y="6629400"/>
            <a:ext cx="750497" cy="228600"/>
          </a:xfrm>
          <a:prstGeom prst="rect">
            <a:avLst/>
          </a:prstGeom>
        </p:spPr>
        <p:txBody>
          <a:bodyPr vert="horz" lIns="91440" tIns="45720" rIns="91440" bIns="45720" rtlCol="0" anchor="ctr"/>
          <a:lstStyle>
            <a:lvl1pPr algn="r" latinLnBrk="0">
              <a:defRPr lang="zh-CN" sz="600">
                <a:solidFill>
                  <a:schemeClr val="accent1">
                    <a:lumMod val="75000"/>
                  </a:schemeClr>
                </a:solidFill>
                <a:ea typeface="Microsoft YaHei UI" panose="020B0503020204020204" pitchFamily="34" charset="-122"/>
              </a:defRPr>
            </a:lvl1pPr>
          </a:lstStyle>
          <a:p>
            <a:fld id="{9FB283A0-CB17-A043-9B7A-AF1BF540E167}" type="datetime1">
              <a:rPr lang="zh-CN" altLang="en-US" smtClean="0"/>
              <a:t>2025/2/6</a:t>
            </a:fld>
            <a:endParaRPr lang="en-US" altLang="zh-CN" dirty="0"/>
          </a:p>
        </p:txBody>
      </p:sp>
      <p:sp>
        <p:nvSpPr>
          <p:cNvPr id="5" name="页脚占位符 4"/>
          <p:cNvSpPr>
            <a:spLocks noGrp="1"/>
          </p:cNvSpPr>
          <p:nvPr>
            <p:ph type="ftr" sz="quarter" idx="3"/>
          </p:nvPr>
        </p:nvSpPr>
        <p:spPr>
          <a:xfrm>
            <a:off x="1228288" y="6629400"/>
            <a:ext cx="6858194" cy="228600"/>
          </a:xfrm>
          <a:prstGeom prst="rect">
            <a:avLst/>
          </a:prstGeom>
        </p:spPr>
        <p:txBody>
          <a:bodyPr vert="horz" lIns="91440" tIns="45720" rIns="91440" bIns="45720" rtlCol="0" anchor="ctr"/>
          <a:lstStyle>
            <a:lvl1pPr algn="l" latinLnBrk="0">
              <a:defRPr lang="zh-CN" sz="600">
                <a:solidFill>
                  <a:schemeClr val="accent1">
                    <a:lumMod val="75000"/>
                  </a:schemeClr>
                </a:solidFill>
                <a:ea typeface="Microsoft YaHei UI" panose="020B0503020204020204" pitchFamily="34" charset="-122"/>
              </a:defRPr>
            </a:lvl1pPr>
          </a:lstStyle>
          <a:p>
            <a:r>
              <a:rPr lang="zh-CN" altLang="en-US"/>
              <a:t>重庆大学大数据与软件学院</a:t>
            </a:r>
            <a:endParaRPr lang="zh-CN" altLang="en-US" dirty="0"/>
          </a:p>
        </p:txBody>
      </p:sp>
    </p:spTree>
    <p:extLst>
      <p:ext uri="{BB962C8B-B14F-4D97-AF65-F5344CB8AC3E}">
        <p14:creationId xmlns:p14="http://schemas.microsoft.com/office/powerpoint/2010/main" val="28660464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1" r:id="rId4"/>
  </p:sldLayoutIdLst>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txStyles>
    <p:titleStyle>
      <a:lvl1pPr algn="l" defTabSz="685800" rtl="0" eaLnBrk="1" latinLnBrk="0" hangingPunct="1">
        <a:spcBef>
          <a:spcPct val="0"/>
        </a:spcBef>
        <a:buNone/>
        <a:defRPr lang="zh-CN" sz="2550" kern="1200">
          <a:solidFill>
            <a:schemeClr val="accent1"/>
          </a:solidFill>
          <a:latin typeface="+mj-lt"/>
          <a:ea typeface="Microsoft YaHei UI" panose="020B0503020204020204" pitchFamily="34" charset="-122"/>
          <a:cs typeface="+mj-cs"/>
        </a:defRPr>
      </a:lvl1pPr>
    </p:titleStyle>
    <p:bodyStyle>
      <a:lvl1pPr marL="157734" indent="-157734" algn="l" defTabSz="685800" rtl="0" eaLnBrk="1" latinLnBrk="0" hangingPunct="1">
        <a:lnSpc>
          <a:spcPct val="90000"/>
        </a:lnSpc>
        <a:spcBef>
          <a:spcPts val="825"/>
        </a:spcBef>
        <a:buFont typeface="Arial" panose="020B0604020202020204" pitchFamily="34" charset="0"/>
        <a:buChar char="•"/>
        <a:defRPr lang="zh-CN" sz="1650" kern="1200">
          <a:solidFill>
            <a:schemeClr val="tx1"/>
          </a:solidFill>
          <a:latin typeface="+mn-lt"/>
          <a:ea typeface="Microsoft YaHei UI" panose="020B0503020204020204" pitchFamily="34" charset="-122"/>
          <a:cs typeface="+mn-cs"/>
        </a:defRPr>
      </a:lvl1pPr>
      <a:lvl2pPr marL="329184" indent="-116586" algn="l" defTabSz="685800" rtl="0" eaLnBrk="1" latinLnBrk="0" hangingPunct="1">
        <a:lnSpc>
          <a:spcPct val="90000"/>
        </a:lnSpc>
        <a:spcBef>
          <a:spcPts val="300"/>
        </a:spcBef>
        <a:buFont typeface="Arial" panose="020B0604020202020204" pitchFamily="34" charset="0"/>
        <a:buChar char="•"/>
        <a:defRPr lang="zh-CN" sz="1350" kern="1200">
          <a:solidFill>
            <a:schemeClr val="tx1"/>
          </a:solidFill>
          <a:latin typeface="+mn-lt"/>
          <a:ea typeface="Microsoft YaHei UI" panose="020B0503020204020204" pitchFamily="34" charset="-122"/>
          <a:cs typeface="+mn-cs"/>
        </a:defRPr>
      </a:lvl2pPr>
      <a:lvl3pPr marL="5074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p:bodyStyle>
    <p:otherStyle>
      <a:defPPr>
        <a:defRPr lang="zh-CN"/>
      </a:defPPr>
      <a:lvl1pPr marL="0" algn="l" defTabSz="685800" rtl="0" eaLnBrk="1" latinLnBrk="0" hangingPunct="1">
        <a:defRPr lang="zh-CN" sz="1350" kern="1200">
          <a:solidFill>
            <a:schemeClr val="tx1"/>
          </a:solidFill>
          <a:latin typeface="+mn-lt"/>
          <a:ea typeface="+mn-ea"/>
          <a:cs typeface="+mn-cs"/>
        </a:defRPr>
      </a:lvl1pPr>
      <a:lvl2pPr marL="342900" algn="l" defTabSz="685800" rtl="0" eaLnBrk="1" latinLnBrk="0" hangingPunct="1">
        <a:defRPr lang="zh-CN" sz="1350" kern="1200">
          <a:solidFill>
            <a:schemeClr val="tx1"/>
          </a:solidFill>
          <a:latin typeface="+mn-lt"/>
          <a:ea typeface="+mn-ea"/>
          <a:cs typeface="+mn-cs"/>
        </a:defRPr>
      </a:lvl2pPr>
      <a:lvl3pPr marL="685800" algn="l" defTabSz="685800" rtl="0" eaLnBrk="1" latinLnBrk="0" hangingPunct="1">
        <a:defRPr lang="zh-CN" sz="1350" kern="1200">
          <a:solidFill>
            <a:schemeClr val="tx1"/>
          </a:solidFill>
          <a:latin typeface="+mn-lt"/>
          <a:ea typeface="+mn-ea"/>
          <a:cs typeface="+mn-cs"/>
        </a:defRPr>
      </a:lvl3pPr>
      <a:lvl4pPr marL="1028700" algn="l" defTabSz="685800" rtl="0" eaLnBrk="1" latinLnBrk="0" hangingPunct="1">
        <a:defRPr lang="zh-CN" sz="1350" kern="1200">
          <a:solidFill>
            <a:schemeClr val="tx1"/>
          </a:solidFill>
          <a:latin typeface="+mn-lt"/>
          <a:ea typeface="+mn-ea"/>
          <a:cs typeface="+mn-cs"/>
        </a:defRPr>
      </a:lvl4pPr>
      <a:lvl5pPr marL="1371600" algn="l" defTabSz="685800" rtl="0" eaLnBrk="1" latinLnBrk="0" hangingPunct="1">
        <a:defRPr lang="zh-CN" sz="1350" kern="1200">
          <a:solidFill>
            <a:schemeClr val="tx1"/>
          </a:solidFill>
          <a:latin typeface="+mn-lt"/>
          <a:ea typeface="+mn-ea"/>
          <a:cs typeface="+mn-cs"/>
        </a:defRPr>
      </a:lvl5pPr>
      <a:lvl6pPr marL="1714500" algn="l" defTabSz="685800" rtl="0" eaLnBrk="1" latinLnBrk="0" hangingPunct="1">
        <a:defRPr lang="zh-CN" sz="1350" kern="1200">
          <a:solidFill>
            <a:schemeClr val="tx1"/>
          </a:solidFill>
          <a:latin typeface="+mn-lt"/>
          <a:ea typeface="+mn-ea"/>
          <a:cs typeface="+mn-cs"/>
        </a:defRPr>
      </a:lvl6pPr>
      <a:lvl7pPr marL="2057400" algn="l" defTabSz="685800" rtl="0" eaLnBrk="1" latinLnBrk="0" hangingPunct="1">
        <a:defRPr lang="zh-CN" sz="1350" kern="1200">
          <a:solidFill>
            <a:schemeClr val="tx1"/>
          </a:solidFill>
          <a:latin typeface="+mn-lt"/>
          <a:ea typeface="+mn-ea"/>
          <a:cs typeface="+mn-cs"/>
        </a:defRPr>
      </a:lvl7pPr>
      <a:lvl8pPr marL="2400300" algn="l" defTabSz="685800" rtl="0" eaLnBrk="1" latinLnBrk="0" hangingPunct="1">
        <a:defRPr lang="zh-CN" sz="1350" kern="1200">
          <a:solidFill>
            <a:schemeClr val="tx1"/>
          </a:solidFill>
          <a:latin typeface="+mn-lt"/>
          <a:ea typeface="+mn-ea"/>
          <a:cs typeface="+mn-cs"/>
        </a:defRPr>
      </a:lvl8pPr>
      <a:lvl9pPr marL="2743200" algn="l" defTabSz="685800" rtl="0" eaLnBrk="1" latinLnBrk="0" hangingPunct="1">
        <a:defRPr lang="zh-CN"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268730" y="1115365"/>
            <a:ext cx="3634740" cy="962631"/>
          </a:xfrm>
        </p:spPr>
        <p:txBody>
          <a:bodyPr>
            <a:normAutofit/>
          </a:bodyPr>
          <a:lstStyle/>
          <a:p>
            <a:r>
              <a:rPr lang="zh-CN" altLang="en-US" sz="4400" dirty="0">
                <a:latin typeface="Arial" panose="020B0604020202020204" pitchFamily="34" charset="0"/>
                <a:cs typeface="Arial" panose="020B0604020202020204" pitchFamily="34" charset="0"/>
              </a:rPr>
              <a:t>软件工程导论</a:t>
            </a:r>
            <a:endParaRPr lang="zh-CN" altLang="en-US" sz="4400" dirty="0"/>
          </a:p>
        </p:txBody>
      </p:sp>
      <p:sp>
        <p:nvSpPr>
          <p:cNvPr id="5" name="矩形 4"/>
          <p:cNvSpPr/>
          <p:nvPr/>
        </p:nvSpPr>
        <p:spPr>
          <a:xfrm>
            <a:off x="1268730" y="2229450"/>
            <a:ext cx="3634740" cy="499496"/>
          </a:xfrm>
          <a:prstGeom prst="rect">
            <a:avLst/>
          </a:prstGeom>
        </p:spPr>
        <p:txBody>
          <a:bodyPr wrap="square">
            <a:spAutoFit/>
          </a:bodyPr>
          <a:lstStyle/>
          <a:p>
            <a:pPr marL="285750" indent="-285750" algn="r">
              <a:lnSpc>
                <a:spcPct val="150000"/>
              </a:lnSpc>
              <a:buFont typeface="Arial" panose="020B0604020202020204" pitchFamily="34" charset="0"/>
              <a:buChar char="•"/>
            </a:pPr>
            <a:r>
              <a:rPr lang="zh-CN" altLang="zh-CN" sz="2000" dirty="0">
                <a:solidFill>
                  <a:schemeClr val="bg1"/>
                </a:solidFill>
                <a:latin typeface="华文中宋" panose="02010600040101010101" pitchFamily="2" charset="-122"/>
                <a:ea typeface="华文中宋" panose="02010600040101010101" pitchFamily="2" charset="-122"/>
              </a:rPr>
              <a:t>第</a:t>
            </a:r>
            <a:r>
              <a:rPr lang="en-US" altLang="zh-CN" sz="2000" dirty="0">
                <a:solidFill>
                  <a:schemeClr val="bg1"/>
                </a:solidFill>
                <a:latin typeface="华文中宋" panose="02010600040101010101" pitchFamily="2" charset="-122"/>
                <a:ea typeface="华文中宋" panose="02010600040101010101" pitchFamily="2" charset="-122"/>
              </a:rPr>
              <a:t>4</a:t>
            </a:r>
            <a:r>
              <a:rPr lang="zh-CN" altLang="zh-CN" sz="2000" dirty="0">
                <a:solidFill>
                  <a:schemeClr val="bg1"/>
                </a:solidFill>
                <a:latin typeface="华文中宋" panose="02010600040101010101" pitchFamily="2" charset="-122"/>
                <a:ea typeface="华文中宋" panose="02010600040101010101" pitchFamily="2" charset="-122"/>
              </a:rPr>
              <a:t>章</a:t>
            </a:r>
            <a:r>
              <a:rPr lang="en-US" altLang="zh-CN" sz="2000" dirty="0">
                <a:solidFill>
                  <a:schemeClr val="bg1"/>
                </a:solidFill>
                <a:latin typeface="华文中宋" panose="02010600040101010101" pitchFamily="2" charset="-122"/>
                <a:ea typeface="华文中宋" panose="02010600040101010101" pitchFamily="2" charset="-122"/>
              </a:rPr>
              <a:t>  </a:t>
            </a:r>
            <a:r>
              <a:rPr lang="zh-CN" altLang="en-US" sz="2000" dirty="0">
                <a:solidFill>
                  <a:schemeClr val="bg1"/>
                </a:solidFill>
                <a:latin typeface="华文中宋" panose="02010600040101010101" pitchFamily="2" charset="-122"/>
                <a:ea typeface="华文中宋" panose="02010600040101010101" pitchFamily="2" charset="-122"/>
              </a:rPr>
              <a:t>编码及实现</a:t>
            </a:r>
            <a:endParaRPr lang="en-US" altLang="zh-CN" sz="2000" dirty="0">
              <a:solidFill>
                <a:schemeClr val="bg1"/>
              </a:solidFill>
              <a:latin typeface="华文中宋" panose="02010600040101010101" pitchFamily="2" charset="-122"/>
              <a:ea typeface="华文中宋" panose="02010600040101010101" pitchFamily="2" charset="-122"/>
            </a:endParaRPr>
          </a:p>
        </p:txBody>
      </p:sp>
      <p:sp>
        <p:nvSpPr>
          <p:cNvPr id="7" name="副标题 2"/>
          <p:cNvSpPr>
            <a:spLocks noGrp="1"/>
          </p:cNvSpPr>
          <p:nvPr>
            <p:ph type="subTitle" idx="1"/>
          </p:nvPr>
        </p:nvSpPr>
        <p:spPr>
          <a:xfrm>
            <a:off x="1268730" y="4945463"/>
            <a:ext cx="3634740" cy="942871"/>
          </a:xfrm>
        </p:spPr>
        <p:txBody>
          <a:bodyPr>
            <a:normAutofit/>
          </a:bodyPr>
          <a:lstStyle/>
          <a:p>
            <a:r>
              <a:rPr lang="zh-CN" altLang="en-US" sz="1600" dirty="0"/>
              <a:t>重庆大学大数据与软件学院 </a:t>
            </a:r>
            <a:r>
              <a:rPr lang="en-US" altLang="zh-CN" sz="1600" dirty="0"/>
              <a:t>• </a:t>
            </a:r>
            <a:r>
              <a:rPr lang="zh-CN" altLang="en-US" sz="1600" dirty="0"/>
              <a:t>本科课程</a:t>
            </a:r>
            <a:endParaRPr lang="en-US" altLang="zh-CN" sz="1600" dirty="0"/>
          </a:p>
          <a:p>
            <a:endParaRPr lang="en-US" altLang="zh-CN" sz="1600" dirty="0"/>
          </a:p>
          <a:p>
            <a:r>
              <a:rPr lang="zh-CN" altLang="en-US" sz="1600" dirty="0"/>
              <a:t>讲授：胡健</a:t>
            </a:r>
          </a:p>
          <a:p>
            <a:endParaRPr lang="en-US" altLang="zh-CN" dirty="0"/>
          </a:p>
          <a:p>
            <a:endParaRPr lang="en-US" altLang="zh-CN" sz="1800" dirty="0"/>
          </a:p>
        </p:txBody>
      </p:sp>
    </p:spTree>
    <p:extLst>
      <p:ext uri="{BB962C8B-B14F-4D97-AF65-F5344CB8AC3E}">
        <p14:creationId xmlns:p14="http://schemas.microsoft.com/office/powerpoint/2010/main" val="264063452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87450" y="0"/>
            <a:ext cx="5400675" cy="5949950"/>
          </a:xfrm>
          <a:prstGeom prst="rect">
            <a:avLst/>
          </a:prstGeom>
          <a:solidFill>
            <a:srgbClr val="8BAA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 name="Rectangle 3"/>
          <p:cNvSpPr txBox="1">
            <a:spLocks noChangeArrowheads="1"/>
          </p:cNvSpPr>
          <p:nvPr/>
        </p:nvSpPr>
        <p:spPr>
          <a:xfrm>
            <a:off x="1463675" y="765175"/>
            <a:ext cx="4837113" cy="5111750"/>
          </a:xfrm>
          <a:prstGeom prst="rect">
            <a:avLst/>
          </a:prstGeom>
        </p:spPr>
        <p:txBody>
          <a:bodyPr>
            <a:normAutofit/>
          </a:bodyPr>
          <a:lstStyle>
            <a:lvl1pPr marL="0" indent="0" algn="l" defTabSz="685783" rtl="0" eaLnBrk="1" latinLnBrk="0" hangingPunct="1">
              <a:lnSpc>
                <a:spcPct val="90000"/>
              </a:lnSpc>
              <a:spcBef>
                <a:spcPts val="0"/>
              </a:spcBef>
              <a:buFont typeface="Arial" panose="020B0604020202020204" pitchFamily="34" charset="0"/>
              <a:buNone/>
              <a:defRPr lang="zh-CN" sz="1350" kern="1200">
                <a:solidFill>
                  <a:schemeClr val="bg1"/>
                </a:solidFill>
                <a:latin typeface="+mn-lt"/>
                <a:ea typeface="Microsoft YaHei UI" panose="020B0503020204020204" pitchFamily="34" charset="-122"/>
                <a:cs typeface="+mn-cs"/>
              </a:defRPr>
            </a:lvl1pPr>
            <a:lvl2pPr marL="342892" indent="0" algn="ctr" defTabSz="685783" rtl="0" eaLnBrk="1" latinLnBrk="0" hangingPunct="1">
              <a:lnSpc>
                <a:spcPct val="90000"/>
              </a:lnSpc>
              <a:spcBef>
                <a:spcPts val="300"/>
              </a:spcBef>
              <a:buFont typeface="Arial" panose="020B0604020202020204" pitchFamily="34" charset="0"/>
              <a:buNone/>
              <a:defRPr lang="zh-CN" sz="1500" kern="1200">
                <a:solidFill>
                  <a:schemeClr val="tx1"/>
                </a:solidFill>
                <a:latin typeface="+mn-lt"/>
                <a:ea typeface="Microsoft YaHei UI" panose="020B0503020204020204" pitchFamily="34" charset="-122"/>
                <a:cs typeface="+mn-cs"/>
              </a:defRPr>
            </a:lvl2pPr>
            <a:lvl3pPr marL="685783" indent="0" algn="ctr" defTabSz="685783" rtl="0" eaLnBrk="1" latinLnBrk="0" hangingPunct="1">
              <a:lnSpc>
                <a:spcPct val="90000"/>
              </a:lnSpc>
              <a:spcBef>
                <a:spcPts val="300"/>
              </a:spcBef>
              <a:buFont typeface="Arial" panose="020B0604020202020204" pitchFamily="34" charset="0"/>
              <a:buNone/>
              <a:defRPr lang="zh-CN" sz="1350" kern="1200">
                <a:solidFill>
                  <a:schemeClr val="tx1"/>
                </a:solidFill>
                <a:latin typeface="+mn-lt"/>
                <a:ea typeface="Microsoft YaHei UI" panose="020B0503020204020204" pitchFamily="34" charset="-122"/>
                <a:cs typeface="+mn-cs"/>
              </a:defRPr>
            </a:lvl3pPr>
            <a:lvl4pPr marL="1028675"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icrosoft YaHei UI" panose="020B0503020204020204" pitchFamily="34" charset="-122"/>
                <a:cs typeface="+mn-cs"/>
              </a:defRPr>
            </a:lvl4pPr>
            <a:lvl5pPr marL="1371566"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icrosoft YaHei UI" panose="020B0503020204020204" pitchFamily="34" charset="-122"/>
                <a:cs typeface="+mn-cs"/>
              </a:defRPr>
            </a:lvl5pPr>
            <a:lvl6pPr marL="1714457"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n-ea"/>
                <a:cs typeface="+mn-cs"/>
              </a:defRPr>
            </a:lvl6pPr>
            <a:lvl7pPr marL="2057348"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n-ea"/>
                <a:cs typeface="+mn-cs"/>
              </a:defRPr>
            </a:lvl7pPr>
            <a:lvl8pPr marL="2400240"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n-ea"/>
                <a:cs typeface="+mn-cs"/>
              </a:defRPr>
            </a:lvl8pPr>
            <a:lvl9pPr marL="2743132"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n-ea"/>
                <a:cs typeface="+mn-cs"/>
              </a:defRPr>
            </a:lvl9pPr>
          </a:lstStyle>
          <a:p>
            <a:pPr marL="210307" indent="-210307" defTabSz="914377" fontAlgn="auto">
              <a:lnSpc>
                <a:spcPct val="110000"/>
              </a:lnSpc>
              <a:spcBef>
                <a:spcPct val="50000"/>
              </a:spcBef>
              <a:spcAft>
                <a:spcPts val="0"/>
              </a:spcAft>
              <a:defRPr/>
            </a:pPr>
            <a:r>
              <a:rPr lang="zh-CN"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1</a:t>
            </a:r>
            <a:r>
              <a:rPr lang="zh-CN" altLang="en-US" sz="2000" dirty="0">
                <a:latin typeface="Arial" panose="020B0604020202020204" pitchFamily="34" charset="0"/>
                <a:cs typeface="Arial" panose="020B0604020202020204" pitchFamily="34" charset="0"/>
              </a:rPr>
              <a:t>章   软件工程概述</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6</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zh-CN" sz="20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Arial" panose="020B0604020202020204" pitchFamily="34" charset="0"/>
                <a:cs typeface="Arial" panose="020B0604020202020204" pitchFamily="34" charset="0"/>
              </a:rPr>
              <a:t>	</a:t>
            </a:r>
            <a:endParaRPr lang="en-US" altLang="zh-CN" sz="16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Arial" panose="020B0604020202020204" pitchFamily="34" charset="0"/>
              <a:cs typeface="Arial" panose="020B0604020202020204" pitchFamily="34" charset="0"/>
            </a:endParaRPr>
          </a:p>
          <a:p>
            <a:pPr marL="210307" indent="-210307" defTabSz="914377" fontAlgn="auto">
              <a:lnSpc>
                <a:spcPct val="110000"/>
              </a:lnSpc>
              <a:spcBef>
                <a:spcPct val="50000"/>
              </a:spcBef>
              <a:spcAft>
                <a:spcPts val="0"/>
              </a:spcAft>
              <a:defRPr/>
            </a:pPr>
            <a:r>
              <a:rPr lang="zh-CN"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2</a:t>
            </a:r>
            <a:r>
              <a:rPr lang="zh-CN" altLang="en-US" sz="2000" dirty="0">
                <a:latin typeface="Arial" panose="020B0604020202020204" pitchFamily="34" charset="0"/>
                <a:cs typeface="Arial" panose="020B0604020202020204" pitchFamily="34" charset="0"/>
              </a:rPr>
              <a:t>章   软件需求分析</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6</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endParaRPr lang="en-US" altLang="zh-CN" sz="2000" dirty="0">
              <a:solidFill>
                <a:schemeClr val="accent1">
                  <a:lumMod val="75000"/>
                </a:schemeClr>
              </a:solidFill>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lang="zh-CN"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3</a:t>
            </a:r>
            <a:r>
              <a:rPr lang="zh-CN" altLang="en-US" sz="2000" dirty="0">
                <a:latin typeface="Arial" panose="020B0604020202020204" pitchFamily="34" charset="0"/>
                <a:cs typeface="Arial" panose="020B0604020202020204" pitchFamily="34" charset="0"/>
              </a:rPr>
              <a:t>章   软件设计</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6</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lang="zh-CN" altLang="en-US" sz="2000" dirty="0">
                <a:ln w="12700" cmpd="sng">
                  <a:noFill/>
                  <a:prstDash val="solid"/>
                </a:ln>
                <a:solidFill>
                  <a:srgbClr val="FFFC00"/>
                </a:solidFill>
                <a:latin typeface="Arial" panose="020B0604020202020204" pitchFamily="34" charset="0"/>
                <a:cs typeface="Arial" panose="020B0604020202020204" pitchFamily="34" charset="0"/>
              </a:rPr>
              <a:t>第</a:t>
            </a:r>
            <a:r>
              <a:rPr lang="en-US" altLang="zh-CN" sz="2000" dirty="0">
                <a:ln w="12700" cmpd="sng">
                  <a:noFill/>
                  <a:prstDash val="solid"/>
                </a:ln>
                <a:solidFill>
                  <a:srgbClr val="FFFC00"/>
                </a:solidFill>
                <a:latin typeface="Arial" panose="020B0604020202020204" pitchFamily="34" charset="0"/>
                <a:cs typeface="Arial" panose="020B0604020202020204" pitchFamily="34" charset="0"/>
              </a:rPr>
              <a:t>4</a:t>
            </a:r>
            <a:r>
              <a:rPr lang="zh-CN" altLang="en-US" sz="2000" dirty="0">
                <a:ln w="12700" cmpd="sng">
                  <a:noFill/>
                  <a:prstDash val="solid"/>
                </a:ln>
                <a:solidFill>
                  <a:srgbClr val="FFFC00"/>
                </a:solidFill>
                <a:latin typeface="Arial" panose="020B0604020202020204" pitchFamily="34" charset="0"/>
                <a:cs typeface="Arial" panose="020B0604020202020204" pitchFamily="34" charset="0"/>
              </a:rPr>
              <a:t>章   </a:t>
            </a:r>
            <a:r>
              <a:rPr lang="zh-CN" altLang="en-US" sz="2400" b="1" dirty="0">
                <a:ln w="12700" cmpd="sng">
                  <a:noFill/>
                  <a:prstDash val="solid"/>
                </a:ln>
                <a:solidFill>
                  <a:srgbClr val="FFFC00"/>
                </a:solidFill>
                <a:latin typeface="Arial" panose="020B0604020202020204" pitchFamily="34" charset="0"/>
                <a:cs typeface="Arial" panose="020B0604020202020204" pitchFamily="34" charset="0"/>
              </a:rPr>
              <a:t>编码及实现</a:t>
            </a:r>
            <a:r>
              <a:rPr lang="zh-CN" altLang="en-US" sz="2000" dirty="0">
                <a:ln w="12700" cmpd="sng">
                  <a:noFill/>
                  <a:prstDash val="solid"/>
                </a:ln>
                <a:solidFill>
                  <a:srgbClr val="FFFC00"/>
                </a:solidFill>
                <a:latin typeface="Arial" panose="020B0604020202020204" pitchFamily="34" charset="0"/>
                <a:cs typeface="Arial" panose="020B0604020202020204" pitchFamily="34" charset="0"/>
              </a:rPr>
              <a:t>（</a:t>
            </a:r>
            <a:r>
              <a:rPr lang="en-US" altLang="zh-CN" sz="2000" dirty="0">
                <a:ln w="12700" cmpd="sng">
                  <a:noFill/>
                  <a:prstDash val="solid"/>
                </a:ln>
                <a:solidFill>
                  <a:srgbClr val="FFFC00"/>
                </a:solidFill>
                <a:latin typeface="Arial" panose="020B0604020202020204" pitchFamily="34" charset="0"/>
                <a:cs typeface="Arial" panose="020B0604020202020204" pitchFamily="34" charset="0"/>
              </a:rPr>
              <a:t>2</a:t>
            </a:r>
            <a:r>
              <a:rPr lang="zh-CN" altLang="en-US" sz="2000" dirty="0">
                <a:ln w="12700" cmpd="sng">
                  <a:noFill/>
                  <a:prstDash val="solid"/>
                </a:ln>
                <a:solidFill>
                  <a:srgbClr val="FFFC00"/>
                </a:solidFill>
                <a:latin typeface="Arial" panose="020B0604020202020204" pitchFamily="34" charset="0"/>
                <a:cs typeface="Arial" panose="020B0604020202020204" pitchFamily="34" charset="0"/>
              </a:rPr>
              <a:t>学时） </a:t>
            </a: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5</a:t>
            </a:r>
            <a:r>
              <a:rPr altLang="en-US" sz="2000" dirty="0">
                <a:latin typeface="Arial" panose="020B0604020202020204" pitchFamily="34" charset="0"/>
                <a:cs typeface="Arial" panose="020B0604020202020204" pitchFamily="34" charset="0"/>
              </a:rPr>
              <a:t>章   </a:t>
            </a:r>
            <a:r>
              <a:rPr lang="zh-CN" altLang="en-US" sz="2000" dirty="0">
                <a:latin typeface="Arial" panose="020B0604020202020204" pitchFamily="34" charset="0"/>
                <a:cs typeface="Arial" panose="020B0604020202020204" pitchFamily="34" charset="0"/>
              </a:rPr>
              <a:t>软件测试</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4</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6</a:t>
            </a:r>
            <a:r>
              <a:rPr altLang="en-US" sz="2000" dirty="0">
                <a:latin typeface="Arial" panose="020B0604020202020204" pitchFamily="34" charset="0"/>
                <a:cs typeface="Arial" panose="020B0604020202020204" pitchFamily="34" charset="0"/>
              </a:rPr>
              <a:t>章   </a:t>
            </a:r>
            <a:r>
              <a:rPr lang="zh-CN" altLang="en-US" sz="2000" dirty="0">
                <a:latin typeface="Arial" panose="020B0604020202020204" pitchFamily="34" charset="0"/>
                <a:cs typeface="Arial" panose="020B0604020202020204" pitchFamily="34" charset="0"/>
              </a:rPr>
              <a:t>软件维护</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2</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7</a:t>
            </a:r>
            <a:r>
              <a:rPr altLang="en-US" sz="2000" dirty="0">
                <a:latin typeface="Arial" panose="020B0604020202020204" pitchFamily="34" charset="0"/>
                <a:cs typeface="Arial" panose="020B0604020202020204" pitchFamily="34" charset="0"/>
              </a:rPr>
              <a:t>章   </a:t>
            </a:r>
            <a:r>
              <a:rPr lang="zh-CN" altLang="en-US" sz="2000" dirty="0">
                <a:latin typeface="Arial" panose="020B0604020202020204" pitchFamily="34" charset="0"/>
                <a:cs typeface="Arial" panose="020B0604020202020204" pitchFamily="34" charset="0"/>
              </a:rPr>
              <a:t>面向对象技术</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12</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endParaRPr lang="en-US" altLang="zh-CN" sz="2000" dirty="0">
              <a:solidFill>
                <a:schemeClr val="accent1">
                  <a:lumMod val="75000"/>
                </a:schemeClr>
              </a:solidFill>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8</a:t>
            </a:r>
            <a:r>
              <a:rPr altLang="en-US" sz="2000" dirty="0">
                <a:latin typeface="Arial" panose="020B0604020202020204" pitchFamily="34" charset="0"/>
                <a:cs typeface="Arial" panose="020B0604020202020204" pitchFamily="34" charset="0"/>
              </a:rPr>
              <a:t>章   </a:t>
            </a:r>
            <a:r>
              <a:rPr lang="zh-CN" altLang="en-US" sz="2000" dirty="0">
                <a:latin typeface="Arial" panose="020B0604020202020204" pitchFamily="34" charset="0"/>
                <a:cs typeface="Arial" panose="020B0604020202020204" pitchFamily="34" charset="0"/>
              </a:rPr>
              <a:t>敏捷开发方法</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2</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651324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a:bodyPr>
          <a:lstStyle/>
          <a:p>
            <a:pPr marL="210307" indent="-210307" defTabSz="914377">
              <a:lnSpc>
                <a:spcPct val="110000"/>
              </a:lnSpc>
              <a:spcBef>
                <a:spcPct val="50000"/>
              </a:spcBef>
              <a:buFont typeface="Arial" panose="020B0604020202020204" pitchFamily="34" charset="0"/>
            </a:pPr>
            <a:r>
              <a:rPr lang="zh-CN" altLang="en-US" b="1" dirty="0">
                <a:ln w="12700" cmpd="sng">
                  <a:noFill/>
                  <a:prstDash val="solid"/>
                </a:ln>
                <a:solidFill>
                  <a:srgbClr val="4E8F00"/>
                </a:solidFill>
              </a:rPr>
              <a:t>第 </a:t>
            </a:r>
            <a:r>
              <a:rPr lang="en-US" altLang="zh-CN" b="1" dirty="0">
                <a:ln w="12700" cmpd="sng">
                  <a:noFill/>
                  <a:prstDash val="solid"/>
                </a:ln>
                <a:solidFill>
                  <a:srgbClr val="4E8F00"/>
                </a:solidFill>
              </a:rPr>
              <a:t>4</a:t>
            </a:r>
            <a:r>
              <a:rPr lang="zh-CN" altLang="en-US" b="1" dirty="0">
                <a:ln w="12700" cmpd="sng">
                  <a:noFill/>
                  <a:prstDash val="solid"/>
                </a:ln>
                <a:solidFill>
                  <a:srgbClr val="4E8F00"/>
                </a:solidFill>
              </a:rPr>
              <a:t> 章   </a:t>
            </a:r>
            <a:r>
              <a:rPr lang="zh-CN" altLang="en-US" b="1" dirty="0">
                <a:ln w="12700" cmpd="sng">
                  <a:noFill/>
                  <a:prstDash val="solid"/>
                </a:ln>
                <a:solidFill>
                  <a:srgbClr val="4E8F00"/>
                </a:solidFill>
                <a:sym typeface="微软雅黑" panose="020B0503020204020204" pitchFamily="34" charset="-122"/>
              </a:rPr>
              <a:t>编码及实现</a:t>
            </a:r>
            <a:endParaRPr lang="zh-CN" altLang="en-US" b="1" dirty="0">
              <a:ln w="12700" cmpd="sng">
                <a:noFill/>
                <a:prstDash val="solid"/>
              </a:ln>
              <a:solidFill>
                <a:srgbClr val="4E8F00"/>
              </a:solidFill>
            </a:endParaRPr>
          </a:p>
        </p:txBody>
      </p:sp>
      <p:sp>
        <p:nvSpPr>
          <p:cNvPr id="215043" name="Rectangle 3"/>
          <p:cNvSpPr>
            <a:spLocks noGrp="1" noChangeArrowheads="1"/>
          </p:cNvSpPr>
          <p:nvPr>
            <p:ph idx="1"/>
          </p:nvPr>
        </p:nvSpPr>
        <p:spPr>
          <a:solidFill>
            <a:schemeClr val="bg1"/>
          </a:solidFill>
        </p:spPr>
        <p:txBody>
          <a:bodyPr>
            <a:normAutofit/>
          </a:bodyPr>
          <a:lstStyle/>
          <a:p>
            <a:r>
              <a:rPr lang="en-US" altLang="zh-CN" dirty="0">
                <a:solidFill>
                  <a:srgbClr val="4E8F00"/>
                </a:solidFill>
                <a:effectLst>
                  <a:glow rad="228600">
                    <a:schemeClr val="accent6">
                      <a:satMod val="175000"/>
                      <a:alpha val="40000"/>
                    </a:schemeClr>
                  </a:glow>
                </a:effectLst>
                <a:sym typeface="微软雅黑" panose="020B0503020204020204" pitchFamily="34" charset="-122"/>
              </a:rPr>
              <a:t>4.1</a:t>
            </a:r>
            <a:r>
              <a:rPr lang="zh-CN" altLang="en-US" dirty="0">
                <a:solidFill>
                  <a:srgbClr val="4E8F00"/>
                </a:solidFill>
                <a:effectLst>
                  <a:glow rad="228600">
                    <a:schemeClr val="accent6">
                      <a:satMod val="175000"/>
                      <a:alpha val="40000"/>
                    </a:schemeClr>
                  </a:glow>
                </a:effectLst>
                <a:sym typeface="微软雅黑" panose="020B0503020204020204" pitchFamily="34" charset="-122"/>
              </a:rPr>
              <a:t>  编码的任务</a:t>
            </a:r>
            <a:endParaRPr lang="en-US" altLang="zh-CN" dirty="0">
              <a:solidFill>
                <a:srgbClr val="4E8F00"/>
              </a:solidFill>
              <a:effectLst>
                <a:glow rad="228600">
                  <a:schemeClr val="accent6">
                    <a:satMod val="175000"/>
                    <a:alpha val="40000"/>
                  </a:schemeClr>
                </a:glow>
              </a:effectLst>
              <a:sym typeface="微软雅黑" panose="020B0503020204020204" pitchFamily="34" charset="-122"/>
            </a:endParaRPr>
          </a:p>
          <a:p>
            <a:r>
              <a:rPr lang="en-US" altLang="zh-CN" dirty="0">
                <a:solidFill>
                  <a:srgbClr val="4E8F00"/>
                </a:solidFill>
                <a:sym typeface="微软雅黑" panose="020B0503020204020204" pitchFamily="34" charset="-122"/>
              </a:rPr>
              <a:t>4.2</a:t>
            </a:r>
            <a:r>
              <a:rPr lang="zh-CN" altLang="en-US" dirty="0">
                <a:solidFill>
                  <a:srgbClr val="4E8F00"/>
                </a:solidFill>
                <a:sym typeface="微软雅黑" panose="020B0503020204020204" pitchFamily="34" charset="-122"/>
              </a:rPr>
              <a:t>  编程语言的发展</a:t>
            </a:r>
            <a:endParaRPr lang="en-US" altLang="zh-CN" dirty="0">
              <a:solidFill>
                <a:srgbClr val="4E8F00"/>
              </a:solidFill>
              <a:sym typeface="微软雅黑" panose="020B0503020204020204" pitchFamily="34" charset="-122"/>
            </a:endParaRPr>
          </a:p>
          <a:p>
            <a:r>
              <a:rPr lang="en-US" altLang="zh-CN" dirty="0">
                <a:solidFill>
                  <a:srgbClr val="4E8F00"/>
                </a:solidFill>
                <a:sym typeface="微软雅黑" panose="020B0503020204020204" pitchFamily="34" charset="-122"/>
              </a:rPr>
              <a:t>4.3</a:t>
            </a:r>
            <a:r>
              <a:rPr lang="zh-CN" altLang="en-US" dirty="0">
                <a:solidFill>
                  <a:srgbClr val="4E8F00"/>
                </a:solidFill>
                <a:sym typeface="微软雅黑" panose="020B0503020204020204" pitchFamily="34" charset="-122"/>
              </a:rPr>
              <a:t>  选择编程语言需考虑的因素</a:t>
            </a:r>
            <a:endParaRPr lang="en-US" altLang="zh-CN" dirty="0">
              <a:solidFill>
                <a:srgbClr val="4E8F00"/>
              </a:solidFill>
              <a:sym typeface="微软雅黑" panose="020B0503020204020204" pitchFamily="34" charset="-122"/>
            </a:endParaRPr>
          </a:p>
          <a:p>
            <a:r>
              <a:rPr lang="en-US" altLang="zh-CN" dirty="0">
                <a:solidFill>
                  <a:srgbClr val="4E8F00"/>
                </a:solidFill>
                <a:sym typeface="微软雅黑" panose="020B0503020204020204" pitchFamily="34" charset="-122"/>
              </a:rPr>
              <a:t>4.4</a:t>
            </a:r>
            <a:r>
              <a:rPr lang="zh-CN" altLang="en-US" dirty="0">
                <a:solidFill>
                  <a:srgbClr val="4E8F00"/>
                </a:solidFill>
                <a:sym typeface="微软雅黑" panose="020B0503020204020204" pitchFamily="34" charset="-122"/>
              </a:rPr>
              <a:t>  编码风格</a:t>
            </a:r>
            <a:endParaRPr lang="en-US" altLang="zh-CN" dirty="0">
              <a:solidFill>
                <a:srgbClr val="4E8F00"/>
              </a:solidFill>
              <a:sym typeface="微软雅黑" panose="020B0503020204020204" pitchFamily="34" charset="-122"/>
            </a:endParaRPr>
          </a:p>
          <a:p>
            <a:endParaRPr lang="zh-CN" altLang="en-US" dirty="0">
              <a:solidFill>
                <a:srgbClr val="4E8F00"/>
              </a:solidFill>
            </a:endParaRPr>
          </a:p>
        </p:txBody>
      </p:sp>
      <p:sp>
        <p:nvSpPr>
          <p:cNvPr id="2" name="日期占位符 1"/>
          <p:cNvSpPr>
            <a:spLocks noGrp="1"/>
          </p:cNvSpPr>
          <p:nvPr>
            <p:ph type="dt" sz="half" idx="10"/>
          </p:nvPr>
        </p:nvSpPr>
        <p:spPr/>
        <p:txBody>
          <a:bodyPr/>
          <a:lstStyle/>
          <a:p>
            <a:fld id="{A84F5BA7-D5CC-0143-817A-876E06F68B2D}" type="datetime1">
              <a:rPr lang="zh-CN" altLang="en-US" smtClean="0"/>
              <a:t>2025/2/6</a:t>
            </a:fld>
            <a:endParaRPr lang="zh-CN" dirty="0"/>
          </a:p>
        </p:txBody>
      </p:sp>
      <p:sp>
        <p:nvSpPr>
          <p:cNvPr id="3" name="页脚占位符 2"/>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4" name="灯片编号占位符 3"/>
          <p:cNvSpPr>
            <a:spLocks noGrp="1"/>
          </p:cNvSpPr>
          <p:nvPr>
            <p:ph type="sldNum" sz="quarter" idx="12"/>
          </p:nvPr>
        </p:nvSpPr>
        <p:spPr/>
        <p:txBody>
          <a:bodyPr/>
          <a:lstStyle/>
          <a:p>
            <a:fld id="{9CD8D479-8942-46E8-A226-A4E01F7A105C}" type="slidenum">
              <a:rPr lang="en-US" altLang="zh-CN" smtClean="0"/>
              <a:pPr/>
              <a:t>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a:t>
            </a:fld>
            <a:endParaRPr lang="zh-CN" altLang="en-US"/>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451482"/>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在软件设计阶段，得到了实现目标系统的解决方案，并建立了各种模型来表达系统</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编码的过程：就是把软件设计阶段得到的解决方案转化为可以在计算机上运行的软件产品的过程</a:t>
            </a:r>
            <a:endParaRPr lang="en-US" altLang="zh-CN" dirty="0">
              <a:solidFill>
                <a:srgbClr val="000000"/>
              </a:solidFill>
              <a:latin typeface="微软雅黑" panose="020B0503020204020204" pitchFamily="34" charset="-122"/>
              <a:sym typeface="微软雅黑" panose="020B0503020204020204" pitchFamily="34" charset="-122"/>
            </a:endParaRPr>
          </a:p>
        </p:txBody>
      </p:sp>
      <p:sp>
        <p:nvSpPr>
          <p:cNvPr id="6" name="Rectangle 2">
            <a:extLst>
              <a:ext uri="{FF2B5EF4-FFF2-40B4-BE49-F238E27FC236}">
                <a16:creationId xmlns:a16="http://schemas.microsoft.com/office/drawing/2014/main" id="{42BCD337-0FCC-7149-892E-B2C71362447A}"/>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4.1 </a:t>
            </a:r>
            <a:r>
              <a:rPr lang="zh-CN" altLang="en-US" sz="2800" dirty="0">
                <a:solidFill>
                  <a:srgbClr val="4E8F00"/>
                </a:solidFill>
              </a:rPr>
              <a:t> </a:t>
            </a:r>
            <a:r>
              <a:rPr lang="zh-CN" altLang="en-US" sz="2800" dirty="0">
                <a:solidFill>
                  <a:srgbClr val="4E8F00"/>
                </a:solidFill>
                <a:sym typeface="微软雅黑" panose="020B0503020204020204" pitchFamily="34" charset="-122"/>
              </a:rPr>
              <a:t>编码的任务</a:t>
            </a:r>
            <a:endParaRPr lang="zh-CN" altLang="en-US" sz="2800" dirty="0">
              <a:solidFill>
                <a:srgbClr val="4E8F00"/>
              </a:solidFill>
            </a:endParaRPr>
          </a:p>
        </p:txBody>
      </p:sp>
      <p:pic>
        <p:nvPicPr>
          <p:cNvPr id="3" name="图片 2">
            <a:extLst>
              <a:ext uri="{FF2B5EF4-FFF2-40B4-BE49-F238E27FC236}">
                <a16:creationId xmlns:a16="http://schemas.microsoft.com/office/drawing/2014/main" id="{BA22EC9A-AC5B-AA4C-9173-2DB9B515C096}"/>
              </a:ext>
            </a:extLst>
          </p:cNvPr>
          <p:cNvPicPr>
            <a:picLocks noChangeAspect="1"/>
          </p:cNvPicPr>
          <p:nvPr/>
        </p:nvPicPr>
        <p:blipFill>
          <a:blip r:embed="rId2"/>
          <a:stretch>
            <a:fillRect/>
          </a:stretch>
        </p:blipFill>
        <p:spPr>
          <a:xfrm>
            <a:off x="1527676" y="459640"/>
            <a:ext cx="3028254" cy="6049449"/>
          </a:xfrm>
          <a:prstGeom prst="rect">
            <a:avLst/>
          </a:prstGeom>
        </p:spPr>
      </p:pic>
      <p:pic>
        <p:nvPicPr>
          <p:cNvPr id="4" name="图片 3">
            <a:extLst>
              <a:ext uri="{FF2B5EF4-FFF2-40B4-BE49-F238E27FC236}">
                <a16:creationId xmlns:a16="http://schemas.microsoft.com/office/drawing/2014/main" id="{D51E2227-78D5-754E-8579-DBD1239E0D5D}"/>
              </a:ext>
            </a:extLst>
          </p:cNvPr>
          <p:cNvPicPr>
            <a:picLocks noChangeAspect="1"/>
          </p:cNvPicPr>
          <p:nvPr/>
        </p:nvPicPr>
        <p:blipFill>
          <a:blip r:embed="rId3"/>
          <a:stretch>
            <a:fillRect/>
          </a:stretch>
        </p:blipFill>
        <p:spPr>
          <a:xfrm>
            <a:off x="4806143" y="459640"/>
            <a:ext cx="3052862" cy="6049449"/>
          </a:xfrm>
          <a:prstGeom prst="rect">
            <a:avLst/>
          </a:prstGeom>
        </p:spPr>
      </p:pic>
    </p:spTree>
    <p:extLst>
      <p:ext uri="{BB962C8B-B14F-4D97-AF65-F5344CB8AC3E}">
        <p14:creationId xmlns:p14="http://schemas.microsoft.com/office/powerpoint/2010/main" val="143377535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4.1 </a:t>
            </a:r>
            <a:r>
              <a:rPr lang="zh-CN" altLang="en-US" sz="2800" dirty="0">
                <a:solidFill>
                  <a:srgbClr val="4E8F00"/>
                </a:solidFill>
              </a:rPr>
              <a:t> </a:t>
            </a:r>
            <a:r>
              <a:rPr lang="zh-CN" altLang="en-US" sz="2800" dirty="0">
                <a:solidFill>
                  <a:srgbClr val="4E8F00"/>
                </a:solidFill>
                <a:sym typeface="微软雅黑" panose="020B0503020204020204" pitchFamily="34" charset="-122"/>
              </a:rPr>
              <a:t>编码的任务</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5</a:t>
            </a:fld>
            <a:endParaRPr lang="zh-CN" altLang="en-US"/>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1463603"/>
            <a:ext cx="6688045" cy="3250576"/>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gn="just">
              <a:lnSpc>
                <a:spcPct val="120000"/>
              </a:lnSpc>
              <a:spcBef>
                <a:spcPts val="900"/>
              </a:spcBef>
            </a:pPr>
            <a:r>
              <a:rPr lang="zh-CN" altLang="en-US" sz="1800" dirty="0">
                <a:solidFill>
                  <a:srgbClr val="000000"/>
                </a:solidFill>
                <a:latin typeface="微软雅黑" panose="020B0503020204020204" pitchFamily="34" charset="-122"/>
                <a:sym typeface="微软雅黑" panose="020B0503020204020204" pitchFamily="34" charset="-122"/>
              </a:rPr>
              <a:t>编码（</a:t>
            </a:r>
            <a:r>
              <a:rPr lang="en-US" altLang="zh-CN" sz="1800" dirty="0">
                <a:solidFill>
                  <a:srgbClr val="000000"/>
                </a:solidFill>
                <a:latin typeface="微软雅黑" panose="020B0503020204020204" pitchFamily="34" charset="-122"/>
                <a:sym typeface="微软雅黑" panose="020B0503020204020204" pitchFamily="34" charset="-122"/>
              </a:rPr>
              <a:t>Coding</a:t>
            </a:r>
            <a:r>
              <a:rPr lang="zh-CN" altLang="en-US" sz="1800" dirty="0">
                <a:solidFill>
                  <a:srgbClr val="000000"/>
                </a:solidFill>
                <a:latin typeface="微软雅黑" panose="020B0503020204020204" pitchFamily="34" charset="-122"/>
                <a:sym typeface="微软雅黑" panose="020B0503020204020204" pitchFamily="34" charset="-122"/>
              </a:rPr>
              <a:t>）阶段的任务：是为每个模块编写程序。即是将详细设计的结果转换为用某种计算机语言写的程序 </a:t>
            </a:r>
            <a:r>
              <a:rPr lang="en-US" altLang="zh-CN" sz="1800" dirty="0">
                <a:solidFill>
                  <a:srgbClr val="000000"/>
                </a:solidFill>
                <a:latin typeface="微软雅黑" panose="020B0503020204020204" pitchFamily="34" charset="-122"/>
                <a:sym typeface="微软雅黑" panose="020B0503020204020204" pitchFamily="34" charset="-122"/>
              </a:rPr>
              <a:t>——</a:t>
            </a:r>
            <a:r>
              <a:rPr lang="zh-CN" altLang="en-US" sz="1800" dirty="0">
                <a:solidFill>
                  <a:srgbClr val="000000"/>
                </a:solidFill>
                <a:latin typeface="微软雅黑" panose="020B0503020204020204" pitchFamily="34" charset="-122"/>
                <a:sym typeface="微软雅黑" panose="020B0503020204020204" pitchFamily="34" charset="-122"/>
              </a:rPr>
              <a:t> 源程序代码</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lvl="1" indent="-342900" algn="just">
              <a:lnSpc>
                <a:spcPct val="120000"/>
              </a:lnSpc>
              <a:spcBef>
                <a:spcPts val="900"/>
              </a:spcBef>
            </a:pPr>
            <a:r>
              <a:rPr lang="zh-CN" altLang="en-US" sz="1800" dirty="0">
                <a:solidFill>
                  <a:srgbClr val="000000"/>
                </a:solidFill>
                <a:latin typeface="微软雅黑" panose="020B0503020204020204" pitchFamily="34" charset="-122"/>
                <a:sym typeface="微软雅黑" panose="020B0503020204020204" pitchFamily="34" charset="-122"/>
              </a:rPr>
              <a:t>在软件生命期中，程序经常需要被人阅读和理解，如何提高程序的</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可读性</a:t>
            </a:r>
            <a:r>
              <a:rPr lang="zh-CN" altLang="en-US" sz="1800" dirty="0">
                <a:solidFill>
                  <a:srgbClr val="000000"/>
                </a:solidFill>
                <a:latin typeface="微软雅黑" panose="020B0503020204020204" pitchFamily="34" charset="-122"/>
                <a:sym typeface="微软雅黑" panose="020B0503020204020204" pitchFamily="34" charset="-122"/>
              </a:rPr>
              <a:t>（</a:t>
            </a:r>
            <a:r>
              <a:rPr lang="en-US" altLang="zh-CN" sz="1800" dirty="0">
                <a:solidFill>
                  <a:srgbClr val="000000"/>
                </a:solidFill>
                <a:latin typeface="微软雅黑" panose="020B0503020204020204" pitchFamily="34" charset="-122"/>
                <a:sym typeface="微软雅黑" panose="020B0503020204020204" pitchFamily="34" charset="-122"/>
              </a:rPr>
              <a:t>Readability</a:t>
            </a:r>
            <a:r>
              <a:rPr lang="zh-CN" altLang="en-US" sz="1800" dirty="0">
                <a:solidFill>
                  <a:srgbClr val="000000"/>
                </a:solidFill>
                <a:latin typeface="微软雅黑" panose="020B0503020204020204" pitchFamily="34" charset="-122"/>
                <a:sym typeface="微软雅黑" panose="020B0503020204020204" pitchFamily="34" charset="-122"/>
              </a:rPr>
              <a:t>）？</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lvl="1" indent="-342900" algn="just">
              <a:lnSpc>
                <a:spcPct val="120000"/>
              </a:lnSpc>
              <a:spcBef>
                <a:spcPts val="900"/>
              </a:spcBef>
            </a:pPr>
            <a:r>
              <a:rPr lang="zh-CN" altLang="en-US" sz="1800" dirty="0">
                <a:solidFill>
                  <a:srgbClr val="000000"/>
                </a:solidFill>
                <a:latin typeface="微软雅黑" panose="020B0503020204020204" pitchFamily="34" charset="-122"/>
                <a:sym typeface="微软雅黑" panose="020B0503020204020204" pitchFamily="34" charset="-122"/>
              </a:rPr>
              <a:t>使程序“</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简单</a:t>
            </a:r>
            <a:r>
              <a:rPr lang="zh-CN" altLang="en-US" sz="1800" dirty="0">
                <a:solidFill>
                  <a:srgbClr val="000000"/>
                </a:solidFill>
                <a:latin typeface="微软雅黑" panose="020B0503020204020204" pitchFamily="34" charset="-122"/>
                <a:sym typeface="微软雅黑" panose="020B0503020204020204" pitchFamily="34" charset="-122"/>
              </a:rPr>
              <a:t>”和“</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清晰</a:t>
            </a:r>
            <a:r>
              <a:rPr lang="zh-CN" altLang="en-US" sz="1800" dirty="0">
                <a:solidFill>
                  <a:srgbClr val="000000"/>
                </a:solidFill>
                <a:latin typeface="微软雅黑" panose="020B0503020204020204" pitchFamily="34" charset="-122"/>
                <a:sym typeface="微软雅黑" panose="020B0503020204020204" pitchFamily="34" charset="-122"/>
              </a:rPr>
              <a:t>”，进而使程序具有良好的可靠性、可维护性</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lvl="1" indent="-342900" algn="just">
              <a:lnSpc>
                <a:spcPct val="120000"/>
              </a:lnSpc>
              <a:spcBef>
                <a:spcPts val="900"/>
              </a:spcBef>
            </a:pPr>
            <a:r>
              <a:rPr lang="zh-CN" altLang="en-US" sz="1800" dirty="0">
                <a:solidFill>
                  <a:srgbClr val="000000"/>
                </a:solidFill>
                <a:latin typeface="微软雅黑" panose="020B0503020204020204" pitchFamily="34" charset="-122"/>
                <a:sym typeface="微软雅黑" panose="020B0503020204020204" pitchFamily="34" charset="-122"/>
              </a:rPr>
              <a:t>在编码阶段所要解决的主要问题：</a:t>
            </a:r>
            <a:r>
              <a:rPr lang="zh-CN" altLang="en-US" sz="1800" dirty="0">
                <a:solidFill>
                  <a:srgbClr val="C00000"/>
                </a:solidFill>
                <a:latin typeface="微软雅黑" panose="020B0503020204020204" pitchFamily="34" charset="-122"/>
                <a:sym typeface="微软雅黑" panose="020B0503020204020204" pitchFamily="34" charset="-122"/>
              </a:rPr>
              <a:t>程序设计语言的特性及选择的原则</a:t>
            </a:r>
            <a:endParaRPr lang="en-US" altLang="zh-CN" sz="1800" dirty="0">
              <a:solidFill>
                <a:srgbClr val="C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151282778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a:bodyPr>
          <a:lstStyle/>
          <a:p>
            <a:pPr marL="210307" indent="-210307" defTabSz="914377">
              <a:lnSpc>
                <a:spcPct val="110000"/>
              </a:lnSpc>
              <a:spcBef>
                <a:spcPct val="50000"/>
              </a:spcBef>
              <a:buFont typeface="Arial" panose="020B0604020202020204" pitchFamily="34" charset="0"/>
            </a:pPr>
            <a:r>
              <a:rPr lang="zh-CN" altLang="en-US" b="1" dirty="0">
                <a:ln w="12700" cmpd="sng">
                  <a:noFill/>
                  <a:prstDash val="solid"/>
                </a:ln>
                <a:solidFill>
                  <a:srgbClr val="4E8F00"/>
                </a:solidFill>
              </a:rPr>
              <a:t>第 </a:t>
            </a:r>
            <a:r>
              <a:rPr lang="en-US" altLang="zh-CN" b="1" dirty="0">
                <a:ln w="12700" cmpd="sng">
                  <a:noFill/>
                  <a:prstDash val="solid"/>
                </a:ln>
                <a:solidFill>
                  <a:srgbClr val="4E8F00"/>
                </a:solidFill>
              </a:rPr>
              <a:t>4</a:t>
            </a:r>
            <a:r>
              <a:rPr lang="zh-CN" altLang="en-US" b="1" dirty="0">
                <a:ln w="12700" cmpd="sng">
                  <a:noFill/>
                  <a:prstDash val="solid"/>
                </a:ln>
                <a:solidFill>
                  <a:srgbClr val="4E8F00"/>
                </a:solidFill>
              </a:rPr>
              <a:t> 章   </a:t>
            </a:r>
            <a:r>
              <a:rPr lang="zh-CN" altLang="en-US" b="1" dirty="0">
                <a:ln w="12700" cmpd="sng">
                  <a:noFill/>
                  <a:prstDash val="solid"/>
                </a:ln>
                <a:solidFill>
                  <a:srgbClr val="4E8F00"/>
                </a:solidFill>
                <a:sym typeface="微软雅黑" panose="020B0503020204020204" pitchFamily="34" charset="-122"/>
              </a:rPr>
              <a:t>编码及实现</a:t>
            </a:r>
            <a:endParaRPr lang="zh-CN" altLang="en-US" b="1" dirty="0">
              <a:ln w="12700" cmpd="sng">
                <a:noFill/>
                <a:prstDash val="solid"/>
              </a:ln>
              <a:solidFill>
                <a:srgbClr val="4E8F00"/>
              </a:solidFill>
            </a:endParaRPr>
          </a:p>
        </p:txBody>
      </p:sp>
      <p:sp>
        <p:nvSpPr>
          <p:cNvPr id="215043" name="Rectangle 3"/>
          <p:cNvSpPr>
            <a:spLocks noGrp="1" noChangeArrowheads="1"/>
          </p:cNvSpPr>
          <p:nvPr>
            <p:ph idx="1"/>
          </p:nvPr>
        </p:nvSpPr>
        <p:spPr>
          <a:solidFill>
            <a:schemeClr val="bg1"/>
          </a:solidFill>
        </p:spPr>
        <p:txBody>
          <a:bodyPr>
            <a:normAutofit/>
          </a:bodyPr>
          <a:lstStyle/>
          <a:p>
            <a:r>
              <a:rPr lang="en-US" altLang="zh-CN" dirty="0">
                <a:solidFill>
                  <a:srgbClr val="4E8F00"/>
                </a:solidFill>
                <a:sym typeface="微软雅黑" panose="020B0503020204020204" pitchFamily="34" charset="-122"/>
              </a:rPr>
              <a:t>4.1</a:t>
            </a:r>
            <a:r>
              <a:rPr lang="zh-CN" altLang="en-US" dirty="0">
                <a:solidFill>
                  <a:srgbClr val="4E8F00"/>
                </a:solidFill>
                <a:sym typeface="微软雅黑" panose="020B0503020204020204" pitchFamily="34" charset="-122"/>
              </a:rPr>
              <a:t>  编码的任务</a:t>
            </a:r>
            <a:endParaRPr lang="en-US" altLang="zh-CN" dirty="0">
              <a:solidFill>
                <a:srgbClr val="4E8F00"/>
              </a:solidFill>
              <a:sym typeface="微软雅黑" panose="020B0503020204020204" pitchFamily="34" charset="-122"/>
            </a:endParaRPr>
          </a:p>
          <a:p>
            <a:r>
              <a:rPr lang="en-US" altLang="zh-CN" dirty="0">
                <a:solidFill>
                  <a:srgbClr val="4E8F00"/>
                </a:solidFill>
                <a:effectLst>
                  <a:glow rad="228600">
                    <a:schemeClr val="accent6">
                      <a:satMod val="175000"/>
                      <a:alpha val="40000"/>
                    </a:schemeClr>
                  </a:glow>
                </a:effectLst>
                <a:sym typeface="微软雅黑" panose="020B0503020204020204" pitchFamily="34" charset="-122"/>
              </a:rPr>
              <a:t>4.2</a:t>
            </a:r>
            <a:r>
              <a:rPr lang="zh-CN" altLang="en-US" dirty="0">
                <a:solidFill>
                  <a:srgbClr val="4E8F00"/>
                </a:solidFill>
                <a:effectLst>
                  <a:glow rad="228600">
                    <a:schemeClr val="accent6">
                      <a:satMod val="175000"/>
                      <a:alpha val="40000"/>
                    </a:schemeClr>
                  </a:glow>
                </a:effectLst>
                <a:sym typeface="微软雅黑" panose="020B0503020204020204" pitchFamily="34" charset="-122"/>
              </a:rPr>
              <a:t>  编程语言的发展</a:t>
            </a:r>
            <a:endParaRPr lang="en-US" altLang="zh-CN" dirty="0">
              <a:solidFill>
                <a:srgbClr val="4E8F00"/>
              </a:solidFill>
              <a:effectLst>
                <a:glow rad="228600">
                  <a:schemeClr val="accent6">
                    <a:satMod val="175000"/>
                    <a:alpha val="40000"/>
                  </a:schemeClr>
                </a:glow>
              </a:effectLst>
              <a:sym typeface="微软雅黑" panose="020B0503020204020204" pitchFamily="34" charset="-122"/>
            </a:endParaRPr>
          </a:p>
          <a:p>
            <a:r>
              <a:rPr lang="en-US" altLang="zh-CN" dirty="0">
                <a:solidFill>
                  <a:srgbClr val="4E8F00"/>
                </a:solidFill>
                <a:sym typeface="微软雅黑" panose="020B0503020204020204" pitchFamily="34" charset="-122"/>
              </a:rPr>
              <a:t>4.3</a:t>
            </a:r>
            <a:r>
              <a:rPr lang="zh-CN" altLang="en-US" dirty="0">
                <a:solidFill>
                  <a:srgbClr val="4E8F00"/>
                </a:solidFill>
                <a:sym typeface="微软雅黑" panose="020B0503020204020204" pitchFamily="34" charset="-122"/>
              </a:rPr>
              <a:t>  选择编程语言需考虑的因素</a:t>
            </a:r>
            <a:endParaRPr lang="en-US" altLang="zh-CN" dirty="0">
              <a:solidFill>
                <a:srgbClr val="4E8F00"/>
              </a:solidFill>
              <a:sym typeface="微软雅黑" panose="020B0503020204020204" pitchFamily="34" charset="-122"/>
            </a:endParaRPr>
          </a:p>
          <a:p>
            <a:r>
              <a:rPr lang="en-US" altLang="zh-CN" dirty="0">
                <a:solidFill>
                  <a:srgbClr val="4E8F00"/>
                </a:solidFill>
                <a:sym typeface="微软雅黑" panose="020B0503020204020204" pitchFamily="34" charset="-122"/>
              </a:rPr>
              <a:t>4.4</a:t>
            </a:r>
            <a:r>
              <a:rPr lang="zh-CN" altLang="en-US" dirty="0">
                <a:solidFill>
                  <a:srgbClr val="4E8F00"/>
                </a:solidFill>
                <a:sym typeface="微软雅黑" panose="020B0503020204020204" pitchFamily="34" charset="-122"/>
              </a:rPr>
              <a:t>  编码风格</a:t>
            </a:r>
            <a:endParaRPr lang="en-US" altLang="zh-CN" dirty="0">
              <a:solidFill>
                <a:srgbClr val="4E8F00"/>
              </a:solidFill>
              <a:sym typeface="微软雅黑" panose="020B0503020204020204" pitchFamily="34" charset="-122"/>
            </a:endParaRPr>
          </a:p>
          <a:p>
            <a:endParaRPr lang="zh-CN" altLang="en-US" dirty="0">
              <a:solidFill>
                <a:srgbClr val="4E8F00"/>
              </a:solidFill>
            </a:endParaRPr>
          </a:p>
        </p:txBody>
      </p:sp>
      <p:sp>
        <p:nvSpPr>
          <p:cNvPr id="2" name="日期占位符 1"/>
          <p:cNvSpPr>
            <a:spLocks noGrp="1"/>
          </p:cNvSpPr>
          <p:nvPr>
            <p:ph type="dt" sz="half" idx="10"/>
          </p:nvPr>
        </p:nvSpPr>
        <p:spPr/>
        <p:txBody>
          <a:bodyPr/>
          <a:lstStyle/>
          <a:p>
            <a:fld id="{A84F5BA7-D5CC-0143-817A-876E06F68B2D}" type="datetime1">
              <a:rPr lang="zh-CN" altLang="en-US" smtClean="0"/>
              <a:t>2025/2/6</a:t>
            </a:fld>
            <a:endParaRPr lang="zh-CN" dirty="0"/>
          </a:p>
        </p:txBody>
      </p:sp>
      <p:sp>
        <p:nvSpPr>
          <p:cNvPr id="3" name="页脚占位符 2"/>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4" name="灯片编号占位符 3"/>
          <p:cNvSpPr>
            <a:spLocks noGrp="1"/>
          </p:cNvSpPr>
          <p:nvPr>
            <p:ph type="sldNum" sz="quarter" idx="12"/>
          </p:nvPr>
        </p:nvSpPr>
        <p:spPr/>
        <p:txBody>
          <a:bodyPr/>
          <a:lstStyle/>
          <a:p>
            <a:fld id="{9CD8D479-8942-46E8-A226-A4E01F7A105C}" type="slidenum">
              <a:rPr lang="en-US" altLang="zh-CN" smtClean="0"/>
              <a:pPr/>
              <a:t>6</a:t>
            </a:fld>
            <a:endParaRPr lang="zh-CN" altLang="en-US"/>
          </a:p>
        </p:txBody>
      </p:sp>
    </p:spTree>
    <p:extLst>
      <p:ext uri="{BB962C8B-B14F-4D97-AF65-F5344CB8AC3E}">
        <p14:creationId xmlns:p14="http://schemas.microsoft.com/office/powerpoint/2010/main" val="262431998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4.2 </a:t>
            </a:r>
            <a:r>
              <a:rPr lang="zh-CN" altLang="en-US" sz="2800" dirty="0">
                <a:solidFill>
                  <a:srgbClr val="4E8F00"/>
                </a:solidFill>
              </a:rPr>
              <a:t> </a:t>
            </a:r>
            <a:r>
              <a:rPr lang="zh-CN" altLang="en-US" sz="2800" dirty="0">
                <a:solidFill>
                  <a:srgbClr val="4E8F00"/>
                </a:solidFill>
                <a:sym typeface="微软雅黑" panose="020B0503020204020204" pitchFamily="34" charset="-122"/>
              </a:rPr>
              <a:t>编程语言的发展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7</a:t>
            </a:fld>
            <a:endParaRPr lang="zh-CN" altLang="en-US"/>
          </a:p>
        </p:txBody>
      </p:sp>
      <p:sp>
        <p:nvSpPr>
          <p:cNvPr id="7" name="Rectangle 7">
            <a:extLst>
              <a:ext uri="{FF2B5EF4-FFF2-40B4-BE49-F238E27FC236}">
                <a16:creationId xmlns:a16="http://schemas.microsoft.com/office/drawing/2014/main" id="{AD1064AF-BEC9-E643-A1F1-0066EB564FD0}"/>
              </a:ext>
            </a:extLst>
          </p:cNvPr>
          <p:cNvSpPr txBox="1">
            <a:spLocks noChangeArrowheads="1"/>
          </p:cNvSpPr>
          <p:nvPr/>
        </p:nvSpPr>
        <p:spPr>
          <a:xfrm>
            <a:off x="1073823" y="1314850"/>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1</a:t>
            </a:r>
            <a:r>
              <a:rPr lang="zh-CN" altLang="en-US" sz="2400" dirty="0">
                <a:solidFill>
                  <a:srgbClr val="CC6600"/>
                </a:solidFill>
              </a:rPr>
              <a:t>  </a:t>
            </a:r>
            <a:r>
              <a:rPr lang="zh-CN" altLang="en-US" sz="2400" dirty="0">
                <a:solidFill>
                  <a:srgbClr val="CC6600"/>
                </a:solidFill>
                <a:sym typeface="微软雅黑" panose="020B0503020204020204" pitchFamily="34" charset="-122"/>
              </a:rPr>
              <a:t>机器语言（</a:t>
            </a:r>
            <a:r>
              <a:rPr lang="en-US" altLang="zh-CN" sz="2400" dirty="0">
                <a:solidFill>
                  <a:srgbClr val="CC6600"/>
                </a:solidFill>
                <a:sym typeface="微软雅黑" panose="020B0503020204020204" pitchFamily="34" charset="-122"/>
              </a:rPr>
              <a:t>Machine Language</a:t>
            </a:r>
            <a:r>
              <a:rPr lang="zh-CN" altLang="en-US" sz="2400" dirty="0">
                <a:solidFill>
                  <a:srgbClr val="CC6600"/>
                </a:solidFill>
                <a:sym typeface="微软雅黑" panose="020B0503020204020204" pitchFamily="34" charset="-122"/>
              </a:rPr>
              <a:t>）</a:t>
            </a:r>
          </a:p>
        </p:txBody>
      </p:sp>
      <p:sp>
        <p:nvSpPr>
          <p:cNvPr id="8" name="Rectangle 7">
            <a:extLst>
              <a:ext uri="{FF2B5EF4-FFF2-40B4-BE49-F238E27FC236}">
                <a16:creationId xmlns:a16="http://schemas.microsoft.com/office/drawing/2014/main" id="{FCF70EFE-BB14-3748-8AE6-61661EFF02B7}"/>
              </a:ext>
            </a:extLst>
          </p:cNvPr>
          <p:cNvSpPr txBox="1">
            <a:spLocks noChangeArrowheads="1"/>
          </p:cNvSpPr>
          <p:nvPr/>
        </p:nvSpPr>
        <p:spPr>
          <a:xfrm>
            <a:off x="1421174" y="2133075"/>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机器语言，是一种用二进制代码表示的低级语言，是计算机直接使用的指令代码</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机器语言，没有通用性、不能移植、因机器而异，因为处理机不同指令系统就不同</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用机器语言编写程序，都采用二进制代码形式，且所有的地址分配都以绝对地址的形式处理，存储空间的安排、寄存器、变址的使用也都由程序员自己计划</a:t>
            </a:r>
          </a:p>
          <a:p>
            <a:pPr marL="342900" lvl="1" indent="-342900">
              <a:lnSpc>
                <a:spcPct val="120000"/>
              </a:lnSpc>
              <a:spcBef>
                <a:spcPts val="900"/>
              </a:spcBef>
            </a:pPr>
            <a:endParaRPr lang="zh-CN" altLang="en-US"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30439428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4.2 </a:t>
            </a:r>
            <a:r>
              <a:rPr lang="zh-CN" altLang="en-US" sz="2800" dirty="0">
                <a:solidFill>
                  <a:srgbClr val="4E8F00"/>
                </a:solidFill>
              </a:rPr>
              <a:t> </a:t>
            </a:r>
            <a:r>
              <a:rPr lang="zh-CN" altLang="en-US" sz="2800" dirty="0">
                <a:solidFill>
                  <a:srgbClr val="4E8F00"/>
                </a:solidFill>
                <a:sym typeface="微软雅黑" panose="020B0503020204020204" pitchFamily="34" charset="-122"/>
              </a:rPr>
              <a:t>编程语言的发展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8</a:t>
            </a:fld>
            <a:endParaRPr lang="zh-CN" altLang="en-US"/>
          </a:p>
        </p:txBody>
      </p:sp>
      <p:sp>
        <p:nvSpPr>
          <p:cNvPr id="7" name="Rectangle 7">
            <a:extLst>
              <a:ext uri="{FF2B5EF4-FFF2-40B4-BE49-F238E27FC236}">
                <a16:creationId xmlns:a16="http://schemas.microsoft.com/office/drawing/2014/main" id="{AD1064AF-BEC9-E643-A1F1-0066EB564FD0}"/>
              </a:ext>
            </a:extLst>
          </p:cNvPr>
          <p:cNvSpPr txBox="1">
            <a:spLocks noChangeArrowheads="1"/>
          </p:cNvSpPr>
          <p:nvPr/>
        </p:nvSpPr>
        <p:spPr>
          <a:xfrm>
            <a:off x="1073823" y="1314850"/>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2</a:t>
            </a:r>
            <a:r>
              <a:rPr lang="zh-CN" altLang="en-US" sz="2400" dirty="0">
                <a:solidFill>
                  <a:srgbClr val="CC6600"/>
                </a:solidFill>
              </a:rPr>
              <a:t>  </a:t>
            </a:r>
            <a:r>
              <a:rPr lang="zh-CN" altLang="en-US" sz="2400" dirty="0">
                <a:solidFill>
                  <a:srgbClr val="CC6600"/>
                </a:solidFill>
                <a:sym typeface="微软雅黑" panose="020B0503020204020204" pitchFamily="34" charset="-122"/>
              </a:rPr>
              <a:t>汇编语言（</a:t>
            </a:r>
            <a:r>
              <a:rPr lang="en-US" altLang="zh-CN" sz="2400" dirty="0">
                <a:solidFill>
                  <a:srgbClr val="CC6600"/>
                </a:solidFill>
                <a:sym typeface="微软雅黑" panose="020B0503020204020204" pitchFamily="34" charset="-122"/>
              </a:rPr>
              <a:t>Assemble Language</a:t>
            </a:r>
            <a:r>
              <a:rPr lang="zh-CN" altLang="en-US" sz="2400" dirty="0">
                <a:solidFill>
                  <a:srgbClr val="CC6600"/>
                </a:solidFill>
                <a:sym typeface="微软雅黑" panose="020B0503020204020204" pitchFamily="34" charset="-122"/>
              </a:rPr>
              <a:t>）</a:t>
            </a:r>
          </a:p>
        </p:txBody>
      </p:sp>
      <p:sp>
        <p:nvSpPr>
          <p:cNvPr id="8" name="Rectangle 7">
            <a:extLst>
              <a:ext uri="{FF2B5EF4-FFF2-40B4-BE49-F238E27FC236}">
                <a16:creationId xmlns:a16="http://schemas.microsoft.com/office/drawing/2014/main" id="{FCF70EFE-BB14-3748-8AE6-61661EFF02B7}"/>
              </a:ext>
            </a:extLst>
          </p:cNvPr>
          <p:cNvSpPr txBox="1">
            <a:spLocks noChangeArrowheads="1"/>
          </p:cNvSpPr>
          <p:nvPr/>
        </p:nvSpPr>
        <p:spPr>
          <a:xfrm>
            <a:off x="1421174" y="2133075"/>
            <a:ext cx="6688045" cy="3250576"/>
          </a:xfrm>
          <a:prstGeom prst="rect">
            <a:avLst/>
          </a:prstGeom>
        </p:spPr>
        <p:txBody>
          <a:bodyPr vert="horz" lIns="91440" tIns="45720" rIns="91440" bIns="45720" rtlCol="0">
            <a:normAutofit fontScale="925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汇编语言，是一种使用助记符表示的</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低级语言</a:t>
            </a:r>
            <a:r>
              <a:rPr lang="zh-CN" altLang="en-US" dirty="0">
                <a:solidFill>
                  <a:srgbClr val="000000"/>
                </a:solidFill>
                <a:latin typeface="微软雅黑" panose="020B0503020204020204" pitchFamily="34" charset="-122"/>
                <a:sym typeface="微软雅黑" panose="020B0503020204020204" pitchFamily="34" charset="-122"/>
              </a:rPr>
              <a:t>。某一种汇编语言也是专门为某种特定的计算机系统而设计的</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用汇编语言写成的程序，需经汇编程序翻译成机器语言程序才能执行</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汇编语言中的每条符号指令都与相应的机器指令有对应关系，同时又增加了一些诸如：宏、符号地址等功能。虽然这种语言的命令比机器语言好记，但它并没有改变机器语言功能弱、指令少、繁琐、易出错、不能移植等的缺点</a:t>
            </a:r>
          </a:p>
          <a:p>
            <a:pPr marL="342900" lvl="1" indent="-342900">
              <a:lnSpc>
                <a:spcPct val="120000"/>
              </a:lnSpc>
              <a:spcBef>
                <a:spcPts val="900"/>
              </a:spcBef>
            </a:pPr>
            <a:endParaRPr lang="zh-CN" altLang="en-US"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382220629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4.2 </a:t>
            </a:r>
            <a:r>
              <a:rPr lang="zh-CN" altLang="en-US" sz="2800" dirty="0">
                <a:solidFill>
                  <a:srgbClr val="4E8F00"/>
                </a:solidFill>
              </a:rPr>
              <a:t> </a:t>
            </a:r>
            <a:r>
              <a:rPr lang="zh-CN" altLang="en-US" sz="2800" dirty="0">
                <a:solidFill>
                  <a:srgbClr val="4E8F00"/>
                </a:solidFill>
                <a:sym typeface="微软雅黑" panose="020B0503020204020204" pitchFamily="34" charset="-122"/>
              </a:rPr>
              <a:t>编程语言的发展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9</a:t>
            </a:fld>
            <a:endParaRPr lang="zh-CN" altLang="en-US"/>
          </a:p>
        </p:txBody>
      </p:sp>
      <p:sp>
        <p:nvSpPr>
          <p:cNvPr id="7" name="Rectangle 7">
            <a:extLst>
              <a:ext uri="{FF2B5EF4-FFF2-40B4-BE49-F238E27FC236}">
                <a16:creationId xmlns:a16="http://schemas.microsoft.com/office/drawing/2014/main" id="{AD1064AF-BEC9-E643-A1F1-0066EB564FD0}"/>
              </a:ext>
            </a:extLst>
          </p:cNvPr>
          <p:cNvSpPr txBox="1">
            <a:spLocks noChangeArrowheads="1"/>
          </p:cNvSpPr>
          <p:nvPr/>
        </p:nvSpPr>
        <p:spPr>
          <a:xfrm>
            <a:off x="1073823" y="1314850"/>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3</a:t>
            </a:r>
            <a:r>
              <a:rPr lang="zh-CN" altLang="en-US" sz="2400" dirty="0">
                <a:solidFill>
                  <a:srgbClr val="CC6600"/>
                </a:solidFill>
              </a:rPr>
              <a:t>  </a:t>
            </a:r>
            <a:r>
              <a:rPr lang="zh-CN" altLang="en-US" sz="2400" dirty="0">
                <a:solidFill>
                  <a:srgbClr val="CC6600"/>
                </a:solidFill>
                <a:sym typeface="微软雅黑" panose="020B0503020204020204" pitchFamily="34" charset="-122"/>
              </a:rPr>
              <a:t>高级语言（</a:t>
            </a:r>
            <a:r>
              <a:rPr lang="en-US" altLang="zh-CN" sz="2400" dirty="0">
                <a:solidFill>
                  <a:srgbClr val="CC6600"/>
                </a:solidFill>
                <a:sym typeface="微软雅黑" panose="020B0503020204020204" pitchFamily="34" charset="-122"/>
              </a:rPr>
              <a:t>High level Language</a:t>
            </a:r>
            <a:r>
              <a:rPr lang="zh-CN" altLang="en-US" sz="2400" dirty="0">
                <a:solidFill>
                  <a:srgbClr val="CC6600"/>
                </a:solidFill>
                <a:sym typeface="微软雅黑" panose="020B0503020204020204" pitchFamily="34" charset="-122"/>
              </a:rPr>
              <a:t>）</a:t>
            </a:r>
          </a:p>
        </p:txBody>
      </p:sp>
      <p:sp>
        <p:nvSpPr>
          <p:cNvPr id="8" name="Rectangle 7">
            <a:extLst>
              <a:ext uri="{FF2B5EF4-FFF2-40B4-BE49-F238E27FC236}">
                <a16:creationId xmlns:a16="http://schemas.microsoft.com/office/drawing/2014/main" id="{FCF70EFE-BB14-3748-8AE6-61661EFF02B7}"/>
              </a:ext>
            </a:extLst>
          </p:cNvPr>
          <p:cNvSpPr txBox="1">
            <a:spLocks noChangeArrowheads="1"/>
          </p:cNvSpPr>
          <p:nvPr/>
        </p:nvSpPr>
        <p:spPr>
          <a:xfrm>
            <a:off x="1421174" y="2133075"/>
            <a:ext cx="6688045" cy="3900332"/>
          </a:xfrm>
          <a:prstGeom prst="rect">
            <a:avLst/>
          </a:prstGeom>
        </p:spPr>
        <p:txBody>
          <a:bodyPr vert="horz" lIns="91440" tIns="45720" rIns="91440" bIns="45720" rtlCol="0">
            <a:normAutofit fontScale="92500" lnSpcReduction="1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高级语言，是面向用户的、基本上独立于计算机种类和结构的语言</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高级语言最大的优点是：形式上接近于自然语言，概念上又接近于人们通常使用的概念</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高级语言的一个命令可以代替几条、几十条甚至几百条汇编语言的指令，因此，高级语言易学易用，通用性强且应用广泛</a:t>
            </a:r>
            <a:endParaRPr lang="en-US" altLang="zh-CN" dirty="0">
              <a:solidFill>
                <a:srgbClr val="000000"/>
              </a:solidFill>
              <a:latin typeface="微软雅黑" panose="020B0503020204020204" pitchFamily="34" charset="-122"/>
              <a:sym typeface="微软雅黑" panose="020B0503020204020204" pitchFamily="34" charset="-122"/>
            </a:endParaRPr>
          </a:p>
          <a:p>
            <a:pPr marL="935038" lvl="2" indent="-577850">
              <a:lnSpc>
                <a:spcPct val="120000"/>
              </a:lnSpc>
              <a:spcBef>
                <a:spcPts val="900"/>
              </a:spcBef>
              <a:buNone/>
            </a:pPr>
            <a:r>
              <a:rPr lang="en-US" altLang="zh-CN" sz="1900" dirty="0">
                <a:solidFill>
                  <a:srgbClr val="000000"/>
                </a:solidFill>
                <a:latin typeface="微软雅黑" panose="020B0503020204020204" pitchFamily="34" charset="-122"/>
                <a:sym typeface="微软雅黑" panose="020B0503020204020204" pitchFamily="34" charset="-122"/>
              </a:rPr>
              <a:t>—— </a:t>
            </a:r>
            <a:r>
              <a:rPr lang="zh-CN" altLang="en-US" sz="1900" dirty="0">
                <a:solidFill>
                  <a:srgbClr val="000000"/>
                </a:solidFill>
                <a:latin typeface="微软雅黑" panose="020B0503020204020204" pitchFamily="34" charset="-122"/>
                <a:sym typeface="微软雅黑" panose="020B0503020204020204" pitchFamily="34" charset="-122"/>
              </a:rPr>
              <a:t>面向过程高级语言：</a:t>
            </a:r>
            <a:r>
              <a:rPr lang="en-US" altLang="zh-CN" sz="1900" dirty="0">
                <a:solidFill>
                  <a:srgbClr val="000000"/>
                </a:solidFill>
                <a:latin typeface="微软雅黑" panose="020B0503020204020204" pitchFamily="34" charset="-122"/>
                <a:sym typeface="微软雅黑" panose="020B0503020204020204" pitchFamily="34" charset="-122"/>
              </a:rPr>
              <a:t>FORTRAN</a:t>
            </a:r>
            <a:r>
              <a:rPr lang="zh-CN" altLang="en-US" sz="1900" dirty="0">
                <a:solidFill>
                  <a:srgbClr val="000000"/>
                </a:solidFill>
                <a:latin typeface="微软雅黑" panose="020B0503020204020204" pitchFamily="34" charset="-122"/>
                <a:sym typeface="微软雅黑" panose="020B0503020204020204" pitchFamily="34" charset="-122"/>
              </a:rPr>
              <a:t>、</a:t>
            </a:r>
            <a:r>
              <a:rPr lang="en-US" altLang="zh-CN" sz="1900" dirty="0">
                <a:solidFill>
                  <a:srgbClr val="000000"/>
                </a:solidFill>
                <a:latin typeface="微软雅黑" panose="020B0503020204020204" pitchFamily="34" charset="-122"/>
                <a:sym typeface="微软雅黑" panose="020B0503020204020204" pitchFamily="34" charset="-122"/>
              </a:rPr>
              <a:t>COBOL</a:t>
            </a:r>
            <a:r>
              <a:rPr lang="zh-CN" altLang="en-US" sz="1900" dirty="0">
                <a:solidFill>
                  <a:srgbClr val="000000"/>
                </a:solidFill>
                <a:latin typeface="微软雅黑" panose="020B0503020204020204" pitchFamily="34" charset="-122"/>
                <a:sym typeface="微软雅黑" panose="020B0503020204020204" pitchFamily="34" charset="-122"/>
              </a:rPr>
              <a:t>、</a:t>
            </a:r>
            <a:r>
              <a:rPr lang="en-US" altLang="zh-CN" sz="1900" dirty="0">
                <a:solidFill>
                  <a:srgbClr val="000000"/>
                </a:solidFill>
                <a:latin typeface="微软雅黑" panose="020B0503020204020204" pitchFamily="34" charset="-122"/>
                <a:sym typeface="微软雅黑" panose="020B0503020204020204" pitchFamily="34" charset="-122"/>
              </a:rPr>
              <a:t>ALGOL</a:t>
            </a:r>
            <a:r>
              <a:rPr lang="zh-CN" altLang="en-US" sz="1900" dirty="0">
                <a:solidFill>
                  <a:srgbClr val="000000"/>
                </a:solidFill>
                <a:latin typeface="微软雅黑" panose="020B0503020204020204" pitchFamily="34" charset="-122"/>
                <a:sym typeface="微软雅黑" panose="020B0503020204020204" pitchFamily="34" charset="-122"/>
              </a:rPr>
              <a:t>和</a:t>
            </a:r>
            <a:r>
              <a:rPr lang="en-US" altLang="zh-CN" sz="1900" dirty="0">
                <a:solidFill>
                  <a:srgbClr val="000000"/>
                </a:solidFill>
                <a:latin typeface="微软雅黑" panose="020B0503020204020204" pitchFamily="34" charset="-122"/>
                <a:sym typeface="微软雅黑" panose="020B0503020204020204" pitchFamily="34" charset="-122"/>
              </a:rPr>
              <a:t>BASIC</a:t>
            </a:r>
          </a:p>
          <a:p>
            <a:pPr marL="935038" lvl="2" indent="-577850">
              <a:lnSpc>
                <a:spcPct val="120000"/>
              </a:lnSpc>
              <a:spcBef>
                <a:spcPts val="900"/>
              </a:spcBef>
              <a:buNone/>
            </a:pPr>
            <a:r>
              <a:rPr lang="en-US" altLang="zh-CN" sz="1900" dirty="0">
                <a:solidFill>
                  <a:srgbClr val="000000"/>
                </a:solidFill>
                <a:latin typeface="微软雅黑" panose="020B0503020204020204" pitchFamily="34" charset="-122"/>
                <a:sym typeface="微软雅黑" panose="020B0503020204020204" pitchFamily="34" charset="-122"/>
              </a:rPr>
              <a:t>—— </a:t>
            </a:r>
            <a:r>
              <a:rPr lang="zh-CN" altLang="en-US" sz="1900" dirty="0">
                <a:solidFill>
                  <a:srgbClr val="000000"/>
                </a:solidFill>
                <a:latin typeface="微软雅黑" panose="020B0503020204020204" pitchFamily="34" charset="-122"/>
                <a:sym typeface="微软雅黑" panose="020B0503020204020204" pitchFamily="34" charset="-122"/>
              </a:rPr>
              <a:t>面向对象高级语言：</a:t>
            </a:r>
            <a:r>
              <a:rPr lang="en-US" altLang="zh-CN" sz="1900" dirty="0">
                <a:solidFill>
                  <a:srgbClr val="000000"/>
                </a:solidFill>
                <a:latin typeface="微软雅黑" panose="020B0503020204020204" pitchFamily="34" charset="-122"/>
                <a:sym typeface="微软雅黑" panose="020B0503020204020204" pitchFamily="34" charset="-122"/>
              </a:rPr>
              <a:t>C++ </a:t>
            </a:r>
            <a:r>
              <a:rPr lang="zh-CN" altLang="en-US" sz="1900" dirty="0">
                <a:solidFill>
                  <a:srgbClr val="000000"/>
                </a:solidFill>
                <a:latin typeface="微软雅黑" panose="020B0503020204020204" pitchFamily="34" charset="-122"/>
                <a:sym typeface="微软雅黑" panose="020B0503020204020204" pitchFamily="34" charset="-122"/>
              </a:rPr>
              <a:t>、</a:t>
            </a:r>
            <a:r>
              <a:rPr lang="en-US" altLang="zh-CN" sz="1900" dirty="0">
                <a:solidFill>
                  <a:srgbClr val="000000"/>
                </a:solidFill>
                <a:latin typeface="微软雅黑" panose="020B0503020204020204" pitchFamily="34" charset="-122"/>
                <a:sym typeface="微软雅黑" panose="020B0503020204020204" pitchFamily="34" charset="-122"/>
              </a:rPr>
              <a:t>Java</a:t>
            </a:r>
            <a:r>
              <a:rPr lang="zh-CN" altLang="en-US" sz="1900" dirty="0">
                <a:solidFill>
                  <a:srgbClr val="000000"/>
                </a:solidFill>
                <a:latin typeface="微软雅黑" panose="020B0503020204020204" pitchFamily="34" charset="-122"/>
                <a:sym typeface="微软雅黑" panose="020B0503020204020204" pitchFamily="34" charset="-122"/>
              </a:rPr>
              <a:t>、</a:t>
            </a:r>
            <a:r>
              <a:rPr lang="en-US" altLang="zh-CN" sz="1900" dirty="0">
                <a:solidFill>
                  <a:srgbClr val="000000"/>
                </a:solidFill>
                <a:latin typeface="微软雅黑" panose="020B0503020204020204" pitchFamily="34" charset="-122"/>
                <a:sym typeface="微软雅黑" panose="020B0503020204020204" pitchFamily="34" charset="-122"/>
              </a:rPr>
              <a:t>C#</a:t>
            </a:r>
          </a:p>
          <a:p>
            <a:pPr marL="0" lvl="1" indent="0">
              <a:lnSpc>
                <a:spcPct val="120000"/>
              </a:lnSpc>
              <a:spcBef>
                <a:spcPts val="900"/>
              </a:spcBef>
              <a:buNone/>
            </a:pP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zh-CN" altLang="en-US"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112213759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4.2 </a:t>
            </a:r>
            <a:r>
              <a:rPr lang="zh-CN" altLang="en-US" sz="2800" dirty="0">
                <a:solidFill>
                  <a:srgbClr val="4E8F00"/>
                </a:solidFill>
              </a:rPr>
              <a:t> </a:t>
            </a:r>
            <a:r>
              <a:rPr lang="zh-CN" altLang="en-US" sz="2800" dirty="0">
                <a:solidFill>
                  <a:srgbClr val="4E8F00"/>
                </a:solidFill>
                <a:sym typeface="微软雅黑" panose="020B0503020204020204" pitchFamily="34" charset="-122"/>
              </a:rPr>
              <a:t>编程语言的发展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10</a:t>
            </a:fld>
            <a:endParaRPr lang="zh-CN" altLang="en-US"/>
          </a:p>
        </p:txBody>
      </p:sp>
      <p:sp>
        <p:nvSpPr>
          <p:cNvPr id="7" name="Rectangle 7">
            <a:extLst>
              <a:ext uri="{FF2B5EF4-FFF2-40B4-BE49-F238E27FC236}">
                <a16:creationId xmlns:a16="http://schemas.microsoft.com/office/drawing/2014/main" id="{AD1064AF-BEC9-E643-A1F1-0066EB564FD0}"/>
              </a:ext>
            </a:extLst>
          </p:cNvPr>
          <p:cNvSpPr txBox="1">
            <a:spLocks noChangeArrowheads="1"/>
          </p:cNvSpPr>
          <p:nvPr/>
        </p:nvSpPr>
        <p:spPr>
          <a:xfrm>
            <a:off x="1073823" y="1314850"/>
            <a:ext cx="7106791" cy="646845"/>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4</a:t>
            </a:r>
            <a:r>
              <a:rPr lang="zh-CN" altLang="en-US" sz="2400" dirty="0">
                <a:solidFill>
                  <a:srgbClr val="CC6600"/>
                </a:solidFill>
              </a:rPr>
              <a:t>  </a:t>
            </a:r>
            <a:r>
              <a:rPr lang="zh-CN" altLang="en-US" sz="2400" dirty="0">
                <a:solidFill>
                  <a:srgbClr val="CC6600"/>
                </a:solidFill>
                <a:sym typeface="微软雅黑" panose="020B0503020204020204" pitchFamily="34" charset="-122"/>
              </a:rPr>
              <a:t>第四代语言</a:t>
            </a:r>
            <a:r>
              <a:rPr lang="zh-CN" altLang="en-US" sz="2000" dirty="0">
                <a:solidFill>
                  <a:srgbClr val="CC6600"/>
                </a:solidFill>
                <a:sym typeface="微软雅黑" panose="020B0503020204020204" pitchFamily="34" charset="-122"/>
              </a:rPr>
              <a:t>（</a:t>
            </a:r>
            <a:r>
              <a:rPr lang="en-US" altLang="zh-CN" sz="2000" dirty="0">
                <a:solidFill>
                  <a:srgbClr val="CC6600"/>
                </a:solidFill>
                <a:sym typeface="微软雅黑" panose="020B0503020204020204" pitchFamily="34" charset="-122"/>
              </a:rPr>
              <a:t>Fourth Generation language</a:t>
            </a:r>
            <a:r>
              <a:rPr lang="zh-CN" altLang="en-US" sz="2000" dirty="0">
                <a:solidFill>
                  <a:srgbClr val="CC6600"/>
                </a:solidFill>
                <a:sym typeface="微软雅黑" panose="020B0503020204020204" pitchFamily="34" charset="-122"/>
              </a:rPr>
              <a:t>，简称</a:t>
            </a:r>
            <a:r>
              <a:rPr lang="en-US" altLang="zh-CN" sz="2000" dirty="0">
                <a:solidFill>
                  <a:srgbClr val="CC6600"/>
                </a:solidFill>
                <a:sym typeface="微软雅黑" panose="020B0503020204020204" pitchFamily="34" charset="-122"/>
              </a:rPr>
              <a:t>4GL</a:t>
            </a:r>
            <a:r>
              <a:rPr lang="zh-CN" altLang="en-US" sz="2000" dirty="0">
                <a:solidFill>
                  <a:srgbClr val="CC6600"/>
                </a:solidFill>
                <a:sym typeface="微软雅黑" panose="020B0503020204020204" pitchFamily="34" charset="-122"/>
              </a:rPr>
              <a:t>）</a:t>
            </a:r>
            <a:endParaRPr lang="zh-CN" altLang="en-US" sz="2400" dirty="0">
              <a:solidFill>
                <a:srgbClr val="CC6600"/>
              </a:solidFill>
              <a:sym typeface="微软雅黑" panose="020B0503020204020204" pitchFamily="34" charset="-122"/>
            </a:endParaRPr>
          </a:p>
        </p:txBody>
      </p:sp>
      <p:sp>
        <p:nvSpPr>
          <p:cNvPr id="8" name="Rectangle 7">
            <a:extLst>
              <a:ext uri="{FF2B5EF4-FFF2-40B4-BE49-F238E27FC236}">
                <a16:creationId xmlns:a16="http://schemas.microsoft.com/office/drawing/2014/main" id="{FCF70EFE-BB14-3748-8AE6-61661EFF02B7}"/>
              </a:ext>
            </a:extLst>
          </p:cNvPr>
          <p:cNvSpPr txBox="1">
            <a:spLocks noChangeArrowheads="1"/>
          </p:cNvSpPr>
          <p:nvPr/>
        </p:nvSpPr>
        <p:spPr>
          <a:xfrm>
            <a:off x="1421174" y="2133075"/>
            <a:ext cx="6688045" cy="3900332"/>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第四代语言（</a:t>
            </a:r>
            <a:r>
              <a:rPr lang="en-US" altLang="zh-CN" dirty="0">
                <a:solidFill>
                  <a:srgbClr val="000000"/>
                </a:solidFill>
                <a:latin typeface="微软雅黑" panose="020B0503020204020204" pitchFamily="34" charset="-122"/>
                <a:sym typeface="微软雅黑" panose="020B0503020204020204" pitchFamily="34" charset="-122"/>
              </a:rPr>
              <a:t>4GL</a:t>
            </a:r>
            <a:r>
              <a:rPr lang="zh-CN" altLang="en-US" dirty="0">
                <a:solidFill>
                  <a:srgbClr val="000000"/>
                </a:solidFill>
                <a:latin typeface="微软雅黑" panose="020B0503020204020204" pitchFamily="34" charset="-122"/>
                <a:sym typeface="微软雅黑" panose="020B0503020204020204" pitchFamily="34" charset="-122"/>
              </a:rPr>
              <a:t>）的出现，将语言的抽象层次又提高到一个新的高度</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第四代语言虽然也用不同的文法表示程序结构和数据结构，但第四代语言是在更高一级抽象的层次上表示这些结构</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用第四代语言编码时，只需说明“</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做什么</a:t>
            </a:r>
            <a:r>
              <a:rPr lang="zh-CN" altLang="en-US" dirty="0">
                <a:solidFill>
                  <a:srgbClr val="000000"/>
                </a:solidFill>
                <a:latin typeface="微软雅黑" panose="020B0503020204020204" pitchFamily="34" charset="-122"/>
                <a:sym typeface="微软雅黑" panose="020B0503020204020204" pitchFamily="34" charset="-122"/>
              </a:rPr>
              <a:t>”，而不需描述算法细节</a:t>
            </a:r>
            <a:endParaRPr lang="en-US" altLang="zh-CN" dirty="0">
              <a:solidFill>
                <a:srgbClr val="000000"/>
              </a:solidFill>
              <a:latin typeface="微软雅黑" panose="020B0503020204020204" pitchFamily="34" charset="-122"/>
              <a:sym typeface="微软雅黑" panose="020B0503020204020204" pitchFamily="34" charset="-122"/>
            </a:endParaRPr>
          </a:p>
          <a:p>
            <a:pPr marL="0" lvl="1" indent="0">
              <a:lnSpc>
                <a:spcPct val="120000"/>
              </a:lnSpc>
              <a:spcBef>
                <a:spcPts val="900"/>
              </a:spcBef>
              <a:buNone/>
            </a:pP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zh-CN" altLang="en-US" sz="1800" dirty="0">
              <a:solidFill>
                <a:srgbClr val="000000"/>
              </a:solidFill>
              <a:latin typeface="微软雅黑" panose="020B0503020204020204" pitchFamily="34" charset="-122"/>
              <a:sym typeface="微软雅黑" panose="020B0503020204020204" pitchFamily="34" charset="-122"/>
            </a:endParaRPr>
          </a:p>
        </p:txBody>
      </p:sp>
      <p:sp>
        <p:nvSpPr>
          <p:cNvPr id="2" name="文本框 1">
            <a:extLst>
              <a:ext uri="{FF2B5EF4-FFF2-40B4-BE49-F238E27FC236}">
                <a16:creationId xmlns:a16="http://schemas.microsoft.com/office/drawing/2014/main" id="{76FA2F22-30CA-0847-85AD-E201480D9384}"/>
              </a:ext>
            </a:extLst>
          </p:cNvPr>
          <p:cNvSpPr txBox="1"/>
          <p:nvPr/>
        </p:nvSpPr>
        <p:spPr>
          <a:xfrm>
            <a:off x="1720733" y="5848741"/>
            <a:ext cx="6100653" cy="369332"/>
          </a:xfrm>
          <a:prstGeom prst="rect">
            <a:avLst/>
          </a:prstGeom>
          <a:noFill/>
        </p:spPr>
        <p:txBody>
          <a:bodyPr wrap="square" rtlCol="0">
            <a:spAutoFit/>
          </a:bodyPr>
          <a:lstStyle/>
          <a:p>
            <a:r>
              <a:rPr kumimoji="1" lang="zh-CN" altLang="en-US" dirty="0">
                <a:solidFill>
                  <a:schemeClr val="bg1">
                    <a:lumMod val="95000"/>
                  </a:schemeClr>
                </a:solidFill>
              </a:rPr>
              <a:t>脚本语言：</a:t>
            </a:r>
            <a:r>
              <a:rPr kumimoji="1" lang="en-US" altLang="zh-CN" dirty="0">
                <a:solidFill>
                  <a:schemeClr val="bg1">
                    <a:lumMod val="95000"/>
                  </a:schemeClr>
                </a:solidFill>
              </a:rPr>
              <a:t>circle(x,</a:t>
            </a:r>
            <a:r>
              <a:rPr kumimoji="1" lang="zh-CN" altLang="en-US" dirty="0">
                <a:solidFill>
                  <a:schemeClr val="bg1">
                    <a:lumMod val="95000"/>
                  </a:schemeClr>
                </a:solidFill>
              </a:rPr>
              <a:t> </a:t>
            </a:r>
            <a:r>
              <a:rPr kumimoji="1" lang="en-US" altLang="zh-CN" dirty="0">
                <a:solidFill>
                  <a:schemeClr val="bg1">
                    <a:lumMod val="95000"/>
                  </a:schemeClr>
                </a:solidFill>
              </a:rPr>
              <a:t>y,</a:t>
            </a:r>
            <a:r>
              <a:rPr kumimoji="1" lang="zh-CN" altLang="en-US" dirty="0">
                <a:solidFill>
                  <a:schemeClr val="bg1">
                    <a:lumMod val="95000"/>
                  </a:schemeClr>
                </a:solidFill>
              </a:rPr>
              <a:t> </a:t>
            </a:r>
            <a:r>
              <a:rPr kumimoji="1" lang="en-US" altLang="zh-CN" dirty="0">
                <a:solidFill>
                  <a:schemeClr val="bg1">
                    <a:lumMod val="95000"/>
                  </a:schemeClr>
                </a:solidFill>
              </a:rPr>
              <a:t>r)</a:t>
            </a:r>
            <a:r>
              <a:rPr kumimoji="1" lang="zh-CN" altLang="en-US" dirty="0">
                <a:solidFill>
                  <a:schemeClr val="bg1">
                    <a:lumMod val="95000"/>
                  </a:schemeClr>
                </a:solidFill>
              </a:rPr>
              <a:t>，如</a:t>
            </a:r>
            <a:r>
              <a:rPr kumimoji="1" lang="en-US" altLang="zh-CN" dirty="0">
                <a:solidFill>
                  <a:schemeClr val="bg1">
                    <a:lumMod val="95000"/>
                  </a:schemeClr>
                </a:solidFill>
              </a:rPr>
              <a:t>python,</a:t>
            </a:r>
            <a:r>
              <a:rPr kumimoji="1" lang="zh-CN" altLang="en-US" dirty="0">
                <a:solidFill>
                  <a:schemeClr val="bg1">
                    <a:lumMod val="95000"/>
                  </a:schemeClr>
                </a:solidFill>
              </a:rPr>
              <a:t> </a:t>
            </a:r>
            <a:r>
              <a:rPr kumimoji="1" lang="en-US" altLang="zh-CN" dirty="0">
                <a:solidFill>
                  <a:schemeClr val="bg1">
                    <a:lumMod val="95000"/>
                  </a:schemeClr>
                </a:solidFill>
              </a:rPr>
              <a:t>JavaScript,</a:t>
            </a:r>
            <a:r>
              <a:rPr kumimoji="1" lang="zh-CN" altLang="en-US" dirty="0">
                <a:solidFill>
                  <a:schemeClr val="bg1">
                    <a:lumMod val="95000"/>
                  </a:schemeClr>
                </a:solidFill>
              </a:rPr>
              <a:t> </a:t>
            </a:r>
            <a:r>
              <a:rPr kumimoji="1" lang="en-US" altLang="zh-CN" dirty="0">
                <a:solidFill>
                  <a:schemeClr val="bg1">
                    <a:lumMod val="95000"/>
                  </a:schemeClr>
                </a:solidFill>
              </a:rPr>
              <a:t>PHP</a:t>
            </a:r>
            <a:endParaRPr kumimoji="1" lang="zh-CN" altLang="en-US" dirty="0">
              <a:solidFill>
                <a:schemeClr val="bg1">
                  <a:lumMod val="95000"/>
                </a:schemeClr>
              </a:solidFill>
            </a:endParaRPr>
          </a:p>
        </p:txBody>
      </p:sp>
    </p:spTree>
    <p:extLst>
      <p:ext uri="{BB962C8B-B14F-4D97-AF65-F5344CB8AC3E}">
        <p14:creationId xmlns:p14="http://schemas.microsoft.com/office/powerpoint/2010/main" val="50789463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4.2 </a:t>
            </a:r>
            <a:r>
              <a:rPr lang="zh-CN" altLang="en-US" sz="2800" dirty="0">
                <a:solidFill>
                  <a:srgbClr val="4E8F00"/>
                </a:solidFill>
              </a:rPr>
              <a:t> </a:t>
            </a:r>
            <a:r>
              <a:rPr lang="zh-CN" altLang="en-US" sz="2800" dirty="0">
                <a:solidFill>
                  <a:srgbClr val="4E8F00"/>
                </a:solidFill>
                <a:sym typeface="微软雅黑" panose="020B0503020204020204" pitchFamily="34" charset="-122"/>
              </a:rPr>
              <a:t>编程语言的发展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11</a:t>
            </a:fld>
            <a:endParaRPr lang="zh-CN" altLang="en-US"/>
          </a:p>
        </p:txBody>
      </p:sp>
      <p:sp>
        <p:nvSpPr>
          <p:cNvPr id="7" name="Rectangle 7">
            <a:extLst>
              <a:ext uri="{FF2B5EF4-FFF2-40B4-BE49-F238E27FC236}">
                <a16:creationId xmlns:a16="http://schemas.microsoft.com/office/drawing/2014/main" id="{AD1064AF-BEC9-E643-A1F1-0066EB564FD0}"/>
              </a:ext>
            </a:extLst>
          </p:cNvPr>
          <p:cNvSpPr txBox="1">
            <a:spLocks noChangeArrowheads="1"/>
          </p:cNvSpPr>
          <p:nvPr/>
        </p:nvSpPr>
        <p:spPr>
          <a:xfrm>
            <a:off x="1073823" y="1314850"/>
            <a:ext cx="7106791" cy="646845"/>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4</a:t>
            </a:r>
            <a:r>
              <a:rPr lang="zh-CN" altLang="en-US" sz="2400" dirty="0">
                <a:solidFill>
                  <a:srgbClr val="CC6600"/>
                </a:solidFill>
              </a:rPr>
              <a:t>  </a:t>
            </a:r>
            <a:r>
              <a:rPr lang="zh-CN" altLang="en-US" sz="2400" dirty="0">
                <a:solidFill>
                  <a:srgbClr val="CC6600"/>
                </a:solidFill>
                <a:sym typeface="微软雅黑" panose="020B0503020204020204" pitchFamily="34" charset="-122"/>
              </a:rPr>
              <a:t>第四代语言</a:t>
            </a:r>
            <a:r>
              <a:rPr lang="zh-CN" altLang="en-US" sz="2000" dirty="0">
                <a:solidFill>
                  <a:srgbClr val="CC6600"/>
                </a:solidFill>
                <a:sym typeface="微软雅黑" panose="020B0503020204020204" pitchFamily="34" charset="-122"/>
              </a:rPr>
              <a:t>（</a:t>
            </a:r>
            <a:r>
              <a:rPr lang="en-US" altLang="zh-CN" sz="2000" dirty="0">
                <a:solidFill>
                  <a:srgbClr val="CC6600"/>
                </a:solidFill>
                <a:sym typeface="微软雅黑" panose="020B0503020204020204" pitchFamily="34" charset="-122"/>
              </a:rPr>
              <a:t>Fourth Generation language</a:t>
            </a:r>
            <a:r>
              <a:rPr lang="zh-CN" altLang="en-US" sz="2000" dirty="0">
                <a:solidFill>
                  <a:srgbClr val="CC6600"/>
                </a:solidFill>
                <a:sym typeface="微软雅黑" panose="020B0503020204020204" pitchFamily="34" charset="-122"/>
              </a:rPr>
              <a:t>，简称</a:t>
            </a:r>
            <a:r>
              <a:rPr lang="en-US" altLang="zh-CN" sz="2000" dirty="0">
                <a:solidFill>
                  <a:srgbClr val="CC6600"/>
                </a:solidFill>
                <a:sym typeface="微软雅黑" panose="020B0503020204020204" pitchFamily="34" charset="-122"/>
              </a:rPr>
              <a:t>4GL</a:t>
            </a:r>
            <a:r>
              <a:rPr lang="zh-CN" altLang="en-US" sz="2000" dirty="0">
                <a:solidFill>
                  <a:srgbClr val="CC6600"/>
                </a:solidFill>
                <a:sym typeface="微软雅黑" panose="020B0503020204020204" pitchFamily="34" charset="-122"/>
              </a:rPr>
              <a:t>）</a:t>
            </a:r>
            <a:endParaRPr lang="zh-CN" altLang="en-US" sz="2400" dirty="0">
              <a:solidFill>
                <a:srgbClr val="CC6600"/>
              </a:solidFill>
              <a:sym typeface="微软雅黑" panose="020B0503020204020204" pitchFamily="34" charset="-122"/>
            </a:endParaRPr>
          </a:p>
        </p:txBody>
      </p:sp>
      <p:sp>
        <p:nvSpPr>
          <p:cNvPr id="8" name="Rectangle 7">
            <a:extLst>
              <a:ext uri="{FF2B5EF4-FFF2-40B4-BE49-F238E27FC236}">
                <a16:creationId xmlns:a16="http://schemas.microsoft.com/office/drawing/2014/main" id="{FCF70EFE-BB14-3748-8AE6-61661EFF02B7}"/>
              </a:ext>
            </a:extLst>
          </p:cNvPr>
          <p:cNvSpPr txBox="1">
            <a:spLocks noChangeArrowheads="1"/>
          </p:cNvSpPr>
          <p:nvPr/>
        </p:nvSpPr>
        <p:spPr>
          <a:xfrm>
            <a:off x="1421174" y="2133075"/>
            <a:ext cx="6688045" cy="3900332"/>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第四代语言（</a:t>
            </a:r>
            <a:r>
              <a:rPr lang="en-US" altLang="zh-CN" dirty="0">
                <a:solidFill>
                  <a:srgbClr val="000000"/>
                </a:solidFill>
                <a:latin typeface="微软雅黑" panose="020B0503020204020204" pitchFamily="34" charset="-122"/>
                <a:sym typeface="微软雅黑" panose="020B0503020204020204" pitchFamily="34" charset="-122"/>
              </a:rPr>
              <a:t>4GL</a:t>
            </a:r>
            <a:r>
              <a:rPr lang="zh-CN" altLang="en-US" dirty="0">
                <a:solidFill>
                  <a:srgbClr val="000000"/>
                </a:solidFill>
                <a:latin typeface="微软雅黑" panose="020B0503020204020204" pitchFamily="34" charset="-122"/>
                <a:sym typeface="微软雅黑" panose="020B0503020204020204" pitchFamily="34" charset="-122"/>
              </a:rPr>
              <a:t>）的出现，将语言的抽象层次又提高到一个新的高度</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第四代语言虽然也用不同的文法表示程序结构和数据结构，但第四代语言是在更高一级抽象的层次上表示这些结构</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用第四代语言编码时，只需说明“</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做什么</a:t>
            </a:r>
            <a:r>
              <a:rPr lang="zh-CN" altLang="en-US" dirty="0">
                <a:solidFill>
                  <a:srgbClr val="000000"/>
                </a:solidFill>
                <a:latin typeface="微软雅黑" panose="020B0503020204020204" pitchFamily="34" charset="-122"/>
                <a:sym typeface="微软雅黑" panose="020B0503020204020204" pitchFamily="34" charset="-122"/>
              </a:rPr>
              <a:t>”，而不需描述算法细节</a:t>
            </a:r>
            <a:endParaRPr lang="en-US" altLang="zh-CN" dirty="0">
              <a:solidFill>
                <a:srgbClr val="000000"/>
              </a:solidFill>
              <a:latin typeface="微软雅黑" panose="020B0503020204020204" pitchFamily="34" charset="-122"/>
              <a:sym typeface="微软雅黑" panose="020B0503020204020204" pitchFamily="34" charset="-122"/>
            </a:endParaRPr>
          </a:p>
          <a:p>
            <a:pPr marL="0" lvl="1" indent="0">
              <a:lnSpc>
                <a:spcPct val="120000"/>
              </a:lnSpc>
              <a:spcBef>
                <a:spcPts val="900"/>
              </a:spcBef>
              <a:buNone/>
            </a:pP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zh-CN" altLang="en-US" sz="1800" dirty="0">
              <a:solidFill>
                <a:srgbClr val="000000"/>
              </a:solidFill>
              <a:latin typeface="微软雅黑" panose="020B0503020204020204" pitchFamily="34" charset="-122"/>
              <a:sym typeface="微软雅黑" panose="020B0503020204020204" pitchFamily="34" charset="-122"/>
            </a:endParaRPr>
          </a:p>
        </p:txBody>
      </p:sp>
      <p:sp>
        <p:nvSpPr>
          <p:cNvPr id="2" name="文本框 1">
            <a:extLst>
              <a:ext uri="{FF2B5EF4-FFF2-40B4-BE49-F238E27FC236}">
                <a16:creationId xmlns:a16="http://schemas.microsoft.com/office/drawing/2014/main" id="{76FA2F22-30CA-0847-85AD-E201480D9384}"/>
              </a:ext>
            </a:extLst>
          </p:cNvPr>
          <p:cNvSpPr txBox="1"/>
          <p:nvPr/>
        </p:nvSpPr>
        <p:spPr>
          <a:xfrm>
            <a:off x="1720733" y="5848741"/>
            <a:ext cx="6100653" cy="369332"/>
          </a:xfrm>
          <a:prstGeom prst="rect">
            <a:avLst/>
          </a:prstGeom>
          <a:noFill/>
        </p:spPr>
        <p:txBody>
          <a:bodyPr wrap="square" rtlCol="0">
            <a:spAutoFit/>
          </a:bodyPr>
          <a:lstStyle/>
          <a:p>
            <a:r>
              <a:rPr kumimoji="1" lang="zh-CN" altLang="en-US" dirty="0">
                <a:solidFill>
                  <a:schemeClr val="bg1">
                    <a:lumMod val="95000"/>
                  </a:schemeClr>
                </a:solidFill>
              </a:rPr>
              <a:t>脚本语言：</a:t>
            </a:r>
            <a:r>
              <a:rPr kumimoji="1" lang="en-US" altLang="zh-CN" dirty="0">
                <a:solidFill>
                  <a:schemeClr val="bg1">
                    <a:lumMod val="95000"/>
                  </a:schemeClr>
                </a:solidFill>
              </a:rPr>
              <a:t>circle(x,</a:t>
            </a:r>
            <a:r>
              <a:rPr kumimoji="1" lang="zh-CN" altLang="en-US" dirty="0">
                <a:solidFill>
                  <a:schemeClr val="bg1">
                    <a:lumMod val="95000"/>
                  </a:schemeClr>
                </a:solidFill>
              </a:rPr>
              <a:t> </a:t>
            </a:r>
            <a:r>
              <a:rPr kumimoji="1" lang="en-US" altLang="zh-CN" dirty="0">
                <a:solidFill>
                  <a:schemeClr val="bg1">
                    <a:lumMod val="95000"/>
                  </a:schemeClr>
                </a:solidFill>
              </a:rPr>
              <a:t>y,</a:t>
            </a:r>
            <a:r>
              <a:rPr kumimoji="1" lang="zh-CN" altLang="en-US" dirty="0">
                <a:solidFill>
                  <a:schemeClr val="bg1">
                    <a:lumMod val="95000"/>
                  </a:schemeClr>
                </a:solidFill>
              </a:rPr>
              <a:t> </a:t>
            </a:r>
            <a:r>
              <a:rPr kumimoji="1" lang="en-US" altLang="zh-CN" dirty="0">
                <a:solidFill>
                  <a:schemeClr val="bg1">
                    <a:lumMod val="95000"/>
                  </a:schemeClr>
                </a:solidFill>
              </a:rPr>
              <a:t>r)</a:t>
            </a:r>
            <a:r>
              <a:rPr kumimoji="1" lang="zh-CN" altLang="en-US" dirty="0">
                <a:solidFill>
                  <a:schemeClr val="bg1">
                    <a:lumMod val="95000"/>
                  </a:schemeClr>
                </a:solidFill>
              </a:rPr>
              <a:t>，如</a:t>
            </a:r>
            <a:r>
              <a:rPr kumimoji="1" lang="en-US" altLang="zh-CN" dirty="0">
                <a:solidFill>
                  <a:schemeClr val="bg1">
                    <a:lumMod val="95000"/>
                  </a:schemeClr>
                </a:solidFill>
              </a:rPr>
              <a:t>python,</a:t>
            </a:r>
            <a:r>
              <a:rPr kumimoji="1" lang="zh-CN" altLang="en-US" dirty="0">
                <a:solidFill>
                  <a:schemeClr val="bg1">
                    <a:lumMod val="95000"/>
                  </a:schemeClr>
                </a:solidFill>
              </a:rPr>
              <a:t> </a:t>
            </a:r>
            <a:r>
              <a:rPr kumimoji="1" lang="en-US" altLang="zh-CN" dirty="0">
                <a:solidFill>
                  <a:schemeClr val="bg1">
                    <a:lumMod val="95000"/>
                  </a:schemeClr>
                </a:solidFill>
              </a:rPr>
              <a:t>JavaScript,</a:t>
            </a:r>
            <a:r>
              <a:rPr kumimoji="1" lang="zh-CN" altLang="en-US" dirty="0">
                <a:solidFill>
                  <a:schemeClr val="bg1">
                    <a:lumMod val="95000"/>
                  </a:schemeClr>
                </a:solidFill>
              </a:rPr>
              <a:t> </a:t>
            </a:r>
            <a:r>
              <a:rPr kumimoji="1" lang="en-US" altLang="zh-CN" dirty="0">
                <a:solidFill>
                  <a:schemeClr val="bg1">
                    <a:lumMod val="95000"/>
                  </a:schemeClr>
                </a:solidFill>
              </a:rPr>
              <a:t>PHP</a:t>
            </a:r>
            <a:endParaRPr kumimoji="1" lang="zh-CN" altLang="en-US" dirty="0">
              <a:solidFill>
                <a:schemeClr val="bg1">
                  <a:lumMod val="95000"/>
                </a:schemeClr>
              </a:solidFill>
            </a:endParaRPr>
          </a:p>
        </p:txBody>
      </p:sp>
    </p:spTree>
    <p:extLst>
      <p:ext uri="{BB962C8B-B14F-4D97-AF65-F5344CB8AC3E}">
        <p14:creationId xmlns:p14="http://schemas.microsoft.com/office/powerpoint/2010/main" val="21989446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a:bodyPr>
          <a:lstStyle/>
          <a:p>
            <a:pPr marL="210307" indent="-210307" defTabSz="914377">
              <a:lnSpc>
                <a:spcPct val="110000"/>
              </a:lnSpc>
              <a:spcBef>
                <a:spcPct val="50000"/>
              </a:spcBef>
              <a:buFont typeface="Arial" panose="020B0604020202020204" pitchFamily="34" charset="0"/>
            </a:pPr>
            <a:r>
              <a:rPr lang="zh-CN" altLang="en-US" b="1" dirty="0">
                <a:ln w="12700" cmpd="sng">
                  <a:noFill/>
                  <a:prstDash val="solid"/>
                </a:ln>
                <a:solidFill>
                  <a:srgbClr val="4E8F00"/>
                </a:solidFill>
              </a:rPr>
              <a:t>第 </a:t>
            </a:r>
            <a:r>
              <a:rPr lang="en-US" altLang="zh-CN" b="1" dirty="0">
                <a:ln w="12700" cmpd="sng">
                  <a:noFill/>
                  <a:prstDash val="solid"/>
                </a:ln>
                <a:solidFill>
                  <a:srgbClr val="4E8F00"/>
                </a:solidFill>
              </a:rPr>
              <a:t>4</a:t>
            </a:r>
            <a:r>
              <a:rPr lang="zh-CN" altLang="en-US" b="1" dirty="0">
                <a:ln w="12700" cmpd="sng">
                  <a:noFill/>
                  <a:prstDash val="solid"/>
                </a:ln>
                <a:solidFill>
                  <a:srgbClr val="4E8F00"/>
                </a:solidFill>
              </a:rPr>
              <a:t> 章   </a:t>
            </a:r>
            <a:r>
              <a:rPr lang="zh-CN" altLang="en-US" b="1" dirty="0">
                <a:ln w="12700" cmpd="sng">
                  <a:noFill/>
                  <a:prstDash val="solid"/>
                </a:ln>
                <a:solidFill>
                  <a:srgbClr val="4E8F00"/>
                </a:solidFill>
                <a:sym typeface="微软雅黑" panose="020B0503020204020204" pitchFamily="34" charset="-122"/>
              </a:rPr>
              <a:t>编码及实现</a:t>
            </a:r>
            <a:endParaRPr lang="zh-CN" altLang="en-US" b="1" dirty="0">
              <a:ln w="12700" cmpd="sng">
                <a:noFill/>
                <a:prstDash val="solid"/>
              </a:ln>
              <a:solidFill>
                <a:srgbClr val="4E8F00"/>
              </a:solidFill>
            </a:endParaRPr>
          </a:p>
        </p:txBody>
      </p:sp>
      <p:sp>
        <p:nvSpPr>
          <p:cNvPr id="215043" name="Rectangle 3"/>
          <p:cNvSpPr>
            <a:spLocks noGrp="1" noChangeArrowheads="1"/>
          </p:cNvSpPr>
          <p:nvPr>
            <p:ph idx="1"/>
          </p:nvPr>
        </p:nvSpPr>
        <p:spPr>
          <a:solidFill>
            <a:schemeClr val="bg1"/>
          </a:solidFill>
        </p:spPr>
        <p:txBody>
          <a:bodyPr>
            <a:normAutofit/>
          </a:bodyPr>
          <a:lstStyle/>
          <a:p>
            <a:r>
              <a:rPr lang="en-US" altLang="zh-CN" dirty="0">
                <a:solidFill>
                  <a:srgbClr val="4E8F00"/>
                </a:solidFill>
                <a:sym typeface="微软雅黑" panose="020B0503020204020204" pitchFamily="34" charset="-122"/>
              </a:rPr>
              <a:t>4.1</a:t>
            </a:r>
            <a:r>
              <a:rPr lang="zh-CN" altLang="en-US" dirty="0">
                <a:solidFill>
                  <a:srgbClr val="4E8F00"/>
                </a:solidFill>
                <a:sym typeface="微软雅黑" panose="020B0503020204020204" pitchFamily="34" charset="-122"/>
              </a:rPr>
              <a:t>  编码的任务</a:t>
            </a:r>
            <a:endParaRPr lang="en-US" altLang="zh-CN" dirty="0">
              <a:solidFill>
                <a:srgbClr val="4E8F00"/>
              </a:solidFill>
              <a:sym typeface="微软雅黑" panose="020B0503020204020204" pitchFamily="34" charset="-122"/>
            </a:endParaRPr>
          </a:p>
          <a:p>
            <a:r>
              <a:rPr lang="en-US" altLang="zh-CN" dirty="0">
                <a:solidFill>
                  <a:srgbClr val="4E8F00"/>
                </a:solidFill>
                <a:sym typeface="微软雅黑" panose="020B0503020204020204" pitchFamily="34" charset="-122"/>
              </a:rPr>
              <a:t>4.2</a:t>
            </a:r>
            <a:r>
              <a:rPr lang="zh-CN" altLang="en-US" dirty="0">
                <a:solidFill>
                  <a:srgbClr val="4E8F00"/>
                </a:solidFill>
                <a:sym typeface="微软雅黑" panose="020B0503020204020204" pitchFamily="34" charset="-122"/>
              </a:rPr>
              <a:t>  编程语言的发展</a:t>
            </a:r>
            <a:endParaRPr lang="en-US" altLang="zh-CN" dirty="0">
              <a:solidFill>
                <a:srgbClr val="4E8F00"/>
              </a:solidFill>
              <a:sym typeface="微软雅黑" panose="020B0503020204020204" pitchFamily="34" charset="-122"/>
            </a:endParaRPr>
          </a:p>
          <a:p>
            <a:r>
              <a:rPr lang="en-US" altLang="zh-CN" dirty="0">
                <a:solidFill>
                  <a:srgbClr val="4E8F00"/>
                </a:solidFill>
                <a:effectLst>
                  <a:glow rad="228600">
                    <a:schemeClr val="accent6">
                      <a:satMod val="175000"/>
                      <a:alpha val="40000"/>
                    </a:schemeClr>
                  </a:glow>
                </a:effectLst>
                <a:sym typeface="微软雅黑" panose="020B0503020204020204" pitchFamily="34" charset="-122"/>
              </a:rPr>
              <a:t>4.3</a:t>
            </a:r>
            <a:r>
              <a:rPr lang="zh-CN" altLang="en-US" dirty="0">
                <a:solidFill>
                  <a:srgbClr val="4E8F00"/>
                </a:solidFill>
                <a:effectLst>
                  <a:glow rad="228600">
                    <a:schemeClr val="accent6">
                      <a:satMod val="175000"/>
                      <a:alpha val="40000"/>
                    </a:schemeClr>
                  </a:glow>
                </a:effectLst>
                <a:sym typeface="微软雅黑" panose="020B0503020204020204" pitchFamily="34" charset="-122"/>
              </a:rPr>
              <a:t>  选择编程语言需考虑的因素</a:t>
            </a:r>
            <a:endParaRPr lang="en-US" altLang="zh-CN" dirty="0">
              <a:solidFill>
                <a:srgbClr val="4E8F00"/>
              </a:solidFill>
              <a:effectLst>
                <a:glow rad="228600">
                  <a:schemeClr val="accent6">
                    <a:satMod val="175000"/>
                    <a:alpha val="40000"/>
                  </a:schemeClr>
                </a:glow>
              </a:effectLst>
              <a:sym typeface="微软雅黑" panose="020B0503020204020204" pitchFamily="34" charset="-122"/>
            </a:endParaRPr>
          </a:p>
          <a:p>
            <a:r>
              <a:rPr lang="en-US" altLang="zh-CN" dirty="0">
                <a:solidFill>
                  <a:srgbClr val="4E8F00"/>
                </a:solidFill>
                <a:sym typeface="微软雅黑" panose="020B0503020204020204" pitchFamily="34" charset="-122"/>
              </a:rPr>
              <a:t>4.4</a:t>
            </a:r>
            <a:r>
              <a:rPr lang="zh-CN" altLang="en-US" dirty="0">
                <a:solidFill>
                  <a:srgbClr val="4E8F00"/>
                </a:solidFill>
                <a:sym typeface="微软雅黑" panose="020B0503020204020204" pitchFamily="34" charset="-122"/>
              </a:rPr>
              <a:t>  编码风格</a:t>
            </a:r>
            <a:endParaRPr lang="en-US" altLang="zh-CN" dirty="0">
              <a:solidFill>
                <a:srgbClr val="4E8F00"/>
              </a:solidFill>
              <a:sym typeface="微软雅黑" panose="020B0503020204020204" pitchFamily="34" charset="-122"/>
            </a:endParaRPr>
          </a:p>
          <a:p>
            <a:endParaRPr lang="zh-CN" altLang="en-US" dirty="0">
              <a:solidFill>
                <a:srgbClr val="4E8F00"/>
              </a:solidFill>
            </a:endParaRPr>
          </a:p>
        </p:txBody>
      </p:sp>
      <p:sp>
        <p:nvSpPr>
          <p:cNvPr id="2" name="日期占位符 1"/>
          <p:cNvSpPr>
            <a:spLocks noGrp="1"/>
          </p:cNvSpPr>
          <p:nvPr>
            <p:ph type="dt" sz="half" idx="10"/>
          </p:nvPr>
        </p:nvSpPr>
        <p:spPr/>
        <p:txBody>
          <a:bodyPr/>
          <a:lstStyle/>
          <a:p>
            <a:fld id="{A84F5BA7-D5CC-0143-817A-876E06F68B2D}" type="datetime1">
              <a:rPr lang="zh-CN" altLang="en-US" smtClean="0"/>
              <a:t>2025/2/6</a:t>
            </a:fld>
            <a:endParaRPr lang="zh-CN" dirty="0"/>
          </a:p>
        </p:txBody>
      </p:sp>
      <p:sp>
        <p:nvSpPr>
          <p:cNvPr id="3" name="页脚占位符 2"/>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4" name="灯片编号占位符 3"/>
          <p:cNvSpPr>
            <a:spLocks noGrp="1"/>
          </p:cNvSpPr>
          <p:nvPr>
            <p:ph type="sldNum" sz="quarter" idx="12"/>
          </p:nvPr>
        </p:nvSpPr>
        <p:spPr/>
        <p:txBody>
          <a:bodyPr/>
          <a:lstStyle/>
          <a:p>
            <a:fld id="{9CD8D479-8942-46E8-A226-A4E01F7A105C}" type="slidenum">
              <a:rPr lang="en-US" altLang="zh-CN" smtClean="0"/>
              <a:pPr/>
              <a:t>12</a:t>
            </a:fld>
            <a:endParaRPr lang="zh-CN" altLang="en-US"/>
          </a:p>
        </p:txBody>
      </p:sp>
    </p:spTree>
    <p:extLst>
      <p:ext uri="{BB962C8B-B14F-4D97-AF65-F5344CB8AC3E}">
        <p14:creationId xmlns:p14="http://schemas.microsoft.com/office/powerpoint/2010/main" val="132847080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13</a:t>
            </a:fld>
            <a:endParaRPr lang="zh-CN" altLang="en-US"/>
          </a:p>
        </p:txBody>
      </p:sp>
      <p:sp>
        <p:nvSpPr>
          <p:cNvPr id="8" name="矩形 7">
            <a:extLst>
              <a:ext uri="{FF2B5EF4-FFF2-40B4-BE49-F238E27FC236}">
                <a16:creationId xmlns:a16="http://schemas.microsoft.com/office/drawing/2014/main" id="{AC562F18-38DA-C146-8309-7C9DD56F5F43}"/>
              </a:ext>
            </a:extLst>
          </p:cNvPr>
          <p:cNvSpPr/>
          <p:nvPr/>
        </p:nvSpPr>
        <p:spPr>
          <a:xfrm>
            <a:off x="563926" y="366762"/>
            <a:ext cx="4448654" cy="461665"/>
          </a:xfrm>
          <a:prstGeom prst="rect">
            <a:avLst/>
          </a:prstGeom>
        </p:spPr>
        <p:txBody>
          <a:bodyPr wrap="none">
            <a:spAutoFit/>
          </a:bodyPr>
          <a:lstStyle/>
          <a:p>
            <a:r>
              <a:rPr lang="zh-CN" altLang="en-US" sz="2400" dirty="0">
                <a:solidFill>
                  <a:schemeClr val="tx2"/>
                </a:solidFill>
                <a:latin typeface="Microsoft YaHei" panose="020B0503020204020204" pitchFamily="34" charset="-122"/>
                <a:ea typeface="Microsoft YaHei" panose="020B0503020204020204" pitchFamily="34" charset="-122"/>
              </a:rPr>
              <a:t>世界编程语言排行榜（</a:t>
            </a:r>
            <a:r>
              <a:rPr lang="en-US" altLang="zh-CN" sz="2400" dirty="0">
                <a:solidFill>
                  <a:schemeClr val="tx2"/>
                </a:solidFill>
                <a:latin typeface="Microsoft YaHei" panose="020B0503020204020204" pitchFamily="34" charset="-122"/>
                <a:ea typeface="Microsoft YaHei" panose="020B0503020204020204" pitchFamily="34" charset="-122"/>
              </a:rPr>
              <a:t>TIOBE</a:t>
            </a:r>
            <a:r>
              <a:rPr lang="zh-CN" altLang="en-US" sz="2400" dirty="0">
                <a:solidFill>
                  <a:schemeClr val="tx2"/>
                </a:solidFill>
                <a:latin typeface="Microsoft YaHei" panose="020B0503020204020204" pitchFamily="34" charset="-122"/>
                <a:ea typeface="Microsoft YaHei" panose="020B0503020204020204" pitchFamily="34" charset="-122"/>
              </a:rPr>
              <a:t>）</a:t>
            </a:r>
            <a:endParaRPr lang="en-US" altLang="zh-CN" sz="2400" dirty="0">
              <a:solidFill>
                <a:schemeClr val="tx2"/>
              </a:solidFill>
              <a:latin typeface="Microsoft YaHei" panose="020B0503020204020204" pitchFamily="34" charset="-122"/>
              <a:ea typeface="Microsoft YaHei" panose="020B0503020204020204" pitchFamily="34" charset="-122"/>
            </a:endParaRPr>
          </a:p>
        </p:txBody>
      </p:sp>
      <p:pic>
        <p:nvPicPr>
          <p:cNvPr id="5" name="图片 4">
            <a:extLst>
              <a:ext uri="{FF2B5EF4-FFF2-40B4-BE49-F238E27FC236}">
                <a16:creationId xmlns:a16="http://schemas.microsoft.com/office/drawing/2014/main" id="{549B95E7-60BC-554F-B9AA-CD77CEE69BE9}"/>
              </a:ext>
            </a:extLst>
          </p:cNvPr>
          <p:cNvPicPr>
            <a:picLocks noChangeAspect="1"/>
          </p:cNvPicPr>
          <p:nvPr/>
        </p:nvPicPr>
        <p:blipFill>
          <a:blip r:embed="rId2"/>
          <a:stretch>
            <a:fillRect/>
          </a:stretch>
        </p:blipFill>
        <p:spPr>
          <a:xfrm>
            <a:off x="1574606" y="1049800"/>
            <a:ext cx="6212308" cy="5441438"/>
          </a:xfrm>
          <a:prstGeom prst="rect">
            <a:avLst/>
          </a:prstGeom>
          <a:noFill/>
          <a:ln w="9525" algn="ctr">
            <a:solidFill>
              <a:schemeClr val="bg1">
                <a:lumMod val="65000"/>
              </a:schemeClr>
            </a:solidFill>
            <a:miter lim="800000"/>
            <a:headEnd/>
            <a:tailEnd/>
          </a:ln>
          <a:effectLst>
            <a:outerShdw blurRad="50800" dist="38100" dir="2700000" algn="tl" rotWithShape="0">
              <a:prstClr val="black">
                <a:alpha val="40000"/>
              </a:prstClr>
            </a:outerShdw>
          </a:effectLst>
        </p:spPr>
      </p:pic>
      <p:pic>
        <p:nvPicPr>
          <p:cNvPr id="6" name="图片 5">
            <a:extLst>
              <a:ext uri="{FF2B5EF4-FFF2-40B4-BE49-F238E27FC236}">
                <a16:creationId xmlns:a16="http://schemas.microsoft.com/office/drawing/2014/main" id="{35FCC18F-688B-2D4A-ABFA-A4408D01EFD8}"/>
              </a:ext>
            </a:extLst>
          </p:cNvPr>
          <p:cNvPicPr>
            <a:picLocks noChangeAspect="1"/>
          </p:cNvPicPr>
          <p:nvPr/>
        </p:nvPicPr>
        <p:blipFill>
          <a:blip r:embed="rId3"/>
          <a:stretch>
            <a:fillRect/>
          </a:stretch>
        </p:blipFill>
        <p:spPr>
          <a:xfrm>
            <a:off x="694651" y="1684461"/>
            <a:ext cx="7895771" cy="4588641"/>
          </a:xfrm>
          <a:prstGeom prst="rect">
            <a:avLst/>
          </a:prstGeom>
          <a:noFill/>
          <a:ln w="9525" algn="ctr">
            <a:solidFill>
              <a:schemeClr val="bg1">
                <a:lumMod val="65000"/>
              </a:schemeClr>
            </a:solidFill>
            <a:miter lim="800000"/>
            <a:headEnd/>
            <a:tailEnd/>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27668167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4.3 </a:t>
            </a:r>
            <a:r>
              <a:rPr lang="zh-CN" altLang="en-US" sz="2800" dirty="0">
                <a:solidFill>
                  <a:srgbClr val="4E8F00"/>
                </a:solidFill>
              </a:rPr>
              <a:t> </a:t>
            </a:r>
            <a:r>
              <a:rPr lang="zh-CN" altLang="en-US" sz="2800" dirty="0">
                <a:solidFill>
                  <a:srgbClr val="4E8F00"/>
                </a:solidFill>
                <a:sym typeface="微软雅黑" panose="020B0503020204020204" pitchFamily="34" charset="-122"/>
              </a:rPr>
              <a:t>选择编程语言需考虑的因素</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14</a:t>
            </a:fld>
            <a:endParaRPr lang="zh-CN" altLang="en-US"/>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014522" y="1365631"/>
            <a:ext cx="7114956" cy="3250576"/>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755650" indent="-755650">
              <a:lnSpc>
                <a:spcPts val="4000"/>
              </a:lnSpc>
            </a:pPr>
            <a:r>
              <a:rPr lang="zh-CN" altLang="en-US" sz="2000" dirty="0">
                <a:solidFill>
                  <a:srgbClr val="000000"/>
                </a:solidFill>
                <a:latin typeface="微软雅黑" panose="020B0503020204020204" pitchFamily="34" charset="-122"/>
                <a:sym typeface="微软雅黑" panose="020B0503020204020204" pitchFamily="34" charset="-122"/>
              </a:rPr>
              <a:t>（</a:t>
            </a:r>
            <a:r>
              <a:rPr lang="en-US" altLang="zh-CN" sz="2000" dirty="0">
                <a:solidFill>
                  <a:srgbClr val="000000"/>
                </a:solidFill>
                <a:latin typeface="微软雅黑" panose="020B0503020204020204" pitchFamily="34" charset="-122"/>
                <a:sym typeface="微软雅黑" panose="020B0503020204020204" pitchFamily="34" charset="-122"/>
              </a:rPr>
              <a:t>1</a:t>
            </a:r>
            <a:r>
              <a:rPr lang="zh-CN" altLang="en-US" sz="2000" dirty="0">
                <a:solidFill>
                  <a:srgbClr val="000000"/>
                </a:solidFill>
                <a:latin typeface="微软雅黑" panose="020B0503020204020204" pitchFamily="34" charset="-122"/>
                <a:sym typeface="微软雅黑" panose="020B0503020204020204" pitchFamily="34" charset="-122"/>
              </a:rPr>
              <a:t>）待开发系统的</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应用领域</a:t>
            </a:r>
            <a:r>
              <a:rPr lang="zh-CN" altLang="en-US" sz="2000" dirty="0">
                <a:solidFill>
                  <a:srgbClr val="000000"/>
                </a:solidFill>
                <a:latin typeface="微软雅黑" panose="020B0503020204020204" pitchFamily="34" charset="-122"/>
                <a:sym typeface="微软雅黑" panose="020B0503020204020204" pitchFamily="34" charset="-122"/>
              </a:rPr>
              <a:t>，即项目的应用范围</a:t>
            </a:r>
            <a:endParaRPr lang="en-US" altLang="zh-CN" sz="2000" dirty="0">
              <a:solidFill>
                <a:srgbClr val="000000"/>
              </a:solidFill>
              <a:latin typeface="微软雅黑" panose="020B0503020204020204" pitchFamily="34" charset="-122"/>
              <a:sym typeface="微软雅黑" panose="020B0503020204020204" pitchFamily="34" charset="-122"/>
            </a:endParaRPr>
          </a:p>
          <a:p>
            <a:pPr marL="672084" lvl="1" indent="-342900">
              <a:spcBef>
                <a:spcPts val="600"/>
              </a:spcBef>
            </a:pPr>
            <a:r>
              <a:rPr lang="zh-CN" altLang="en-US" sz="1800" dirty="0">
                <a:solidFill>
                  <a:srgbClr val="000000"/>
                </a:solidFill>
                <a:latin typeface="微软雅黑" panose="020B0503020204020204" pitchFamily="34" charset="-122"/>
                <a:sym typeface="微软雅黑" panose="020B0503020204020204" pitchFamily="34" charset="-122"/>
              </a:rPr>
              <a:t>对于大规模的科学计算，可以选用</a:t>
            </a:r>
            <a:r>
              <a:rPr lang="en-US" altLang="zh-CN" sz="1800" dirty="0">
                <a:solidFill>
                  <a:srgbClr val="000000"/>
                </a:solidFill>
                <a:latin typeface="微软雅黑" panose="020B0503020204020204" pitchFamily="34" charset="-122"/>
                <a:sym typeface="微软雅黑" panose="020B0503020204020204" pitchFamily="34" charset="-122"/>
              </a:rPr>
              <a:t>FORTRAN</a:t>
            </a:r>
            <a:r>
              <a:rPr lang="zh-CN" altLang="en-US" sz="1800" dirty="0">
                <a:solidFill>
                  <a:srgbClr val="000000"/>
                </a:solidFill>
                <a:latin typeface="微软雅黑" panose="020B0503020204020204" pitchFamily="34" charset="-122"/>
                <a:sym typeface="微软雅黑" panose="020B0503020204020204" pitchFamily="34" charset="-122"/>
              </a:rPr>
              <a:t>语言或者</a:t>
            </a:r>
            <a:r>
              <a:rPr lang="en-US" altLang="zh-CN" sz="1800" dirty="0">
                <a:solidFill>
                  <a:srgbClr val="000000"/>
                </a:solidFill>
                <a:latin typeface="微软雅黑" panose="020B0503020204020204" pitchFamily="34" charset="-122"/>
                <a:sym typeface="微软雅黑" panose="020B0503020204020204" pitchFamily="34" charset="-122"/>
              </a:rPr>
              <a:t>C</a:t>
            </a:r>
            <a:r>
              <a:rPr lang="zh-CN" altLang="en-US" sz="1800" dirty="0">
                <a:solidFill>
                  <a:srgbClr val="000000"/>
                </a:solidFill>
                <a:latin typeface="微软雅黑" panose="020B0503020204020204" pitchFamily="34" charset="-122"/>
                <a:sym typeface="微软雅黑" panose="020B0503020204020204" pitchFamily="34" charset="-122"/>
              </a:rPr>
              <a:t>语言，因为它们有大量的标准库函数，可用于处理复杂的数值计算</a:t>
            </a:r>
            <a:endParaRPr lang="en-US" altLang="zh-CN" sz="1800" dirty="0">
              <a:solidFill>
                <a:srgbClr val="000000"/>
              </a:solidFill>
              <a:latin typeface="微软雅黑" panose="020B0503020204020204" pitchFamily="34" charset="-122"/>
              <a:sym typeface="微软雅黑" panose="020B0503020204020204" pitchFamily="34" charset="-122"/>
            </a:endParaRPr>
          </a:p>
          <a:p>
            <a:pPr marL="672084" lvl="1" indent="-342900">
              <a:spcBef>
                <a:spcPts val="600"/>
              </a:spcBef>
            </a:pPr>
            <a:r>
              <a:rPr lang="zh-CN" altLang="en-US" sz="1800" dirty="0">
                <a:solidFill>
                  <a:srgbClr val="000000"/>
                </a:solidFill>
                <a:latin typeface="微软雅黑" panose="020B0503020204020204" pitchFamily="34" charset="-122"/>
                <a:sym typeface="微软雅黑" panose="020B0503020204020204" pitchFamily="34" charset="-122"/>
              </a:rPr>
              <a:t>对于一般商业软件的开发，可选用</a:t>
            </a:r>
            <a:r>
              <a:rPr lang="en-US" altLang="zh-CN" sz="1800" dirty="0">
                <a:solidFill>
                  <a:srgbClr val="000000"/>
                </a:solidFill>
                <a:latin typeface="微软雅黑" panose="020B0503020204020204" pitchFamily="34" charset="-122"/>
                <a:sym typeface="微软雅黑" panose="020B0503020204020204" pitchFamily="34" charset="-122"/>
              </a:rPr>
              <a:t>C++</a:t>
            </a:r>
            <a:r>
              <a:rPr lang="zh-CN" altLang="en-US" sz="1800" dirty="0">
                <a:solidFill>
                  <a:srgbClr val="000000"/>
                </a:solidFill>
                <a:latin typeface="微软雅黑" panose="020B0503020204020204" pitchFamily="34" charset="-122"/>
                <a:sym typeface="微软雅黑" panose="020B0503020204020204" pitchFamily="34" charset="-122"/>
              </a:rPr>
              <a:t>、</a:t>
            </a:r>
            <a:r>
              <a:rPr lang="en-US" altLang="zh-CN" sz="1800" dirty="0">
                <a:solidFill>
                  <a:srgbClr val="000000"/>
                </a:solidFill>
                <a:latin typeface="微软雅黑" panose="020B0503020204020204" pitchFamily="34" charset="-122"/>
                <a:sym typeface="微软雅黑" panose="020B0503020204020204" pitchFamily="34" charset="-122"/>
              </a:rPr>
              <a:t>C#</a:t>
            </a:r>
            <a:r>
              <a:rPr lang="zh-CN" altLang="en-US" sz="1800" dirty="0">
                <a:solidFill>
                  <a:srgbClr val="000000"/>
                </a:solidFill>
                <a:latin typeface="微软雅黑" panose="020B0503020204020204" pitchFamily="34" charset="-122"/>
                <a:sym typeface="微软雅黑" panose="020B0503020204020204" pitchFamily="34" charset="-122"/>
              </a:rPr>
              <a:t>、</a:t>
            </a:r>
            <a:r>
              <a:rPr lang="en-US" altLang="zh-CN" sz="1800" dirty="0">
                <a:solidFill>
                  <a:srgbClr val="000000"/>
                </a:solidFill>
                <a:latin typeface="微软雅黑" panose="020B0503020204020204" pitchFamily="34" charset="-122"/>
                <a:sym typeface="微软雅黑" panose="020B0503020204020204" pitchFamily="34" charset="-122"/>
              </a:rPr>
              <a:t>Java</a:t>
            </a:r>
            <a:r>
              <a:rPr lang="zh-CN" altLang="en-US" sz="1800" dirty="0">
                <a:solidFill>
                  <a:srgbClr val="000000"/>
                </a:solidFill>
                <a:latin typeface="微软雅黑" panose="020B0503020204020204" pitchFamily="34" charset="-122"/>
                <a:sym typeface="微软雅黑" panose="020B0503020204020204" pitchFamily="34" charset="-122"/>
              </a:rPr>
              <a:t>。它们是面向对象语言，而相对面向过程语台而言，它们具有灵活性</a:t>
            </a:r>
          </a:p>
          <a:p>
            <a:pPr marL="755650" indent="-755650">
              <a:lnSpc>
                <a:spcPts val="4000"/>
              </a:lnSpc>
            </a:pPr>
            <a:r>
              <a:rPr lang="zh-CN" altLang="en-US" sz="2000" dirty="0">
                <a:solidFill>
                  <a:srgbClr val="000000"/>
                </a:solidFill>
                <a:latin typeface="微软雅黑" panose="020B0503020204020204" pitchFamily="34" charset="-122"/>
                <a:sym typeface="微软雅黑" panose="020B0503020204020204" pitchFamily="34" charset="-122"/>
              </a:rPr>
              <a:t>（</a:t>
            </a:r>
            <a:r>
              <a:rPr lang="en-US" altLang="zh-CN" sz="2000" dirty="0">
                <a:solidFill>
                  <a:srgbClr val="000000"/>
                </a:solidFill>
                <a:latin typeface="微软雅黑" panose="020B0503020204020204" pitchFamily="34" charset="-122"/>
                <a:sym typeface="微软雅黑" panose="020B0503020204020204" pitchFamily="34" charset="-122"/>
              </a:rPr>
              <a:t>2</a:t>
            </a:r>
            <a:r>
              <a:rPr lang="zh-CN" altLang="en-US" sz="2000" dirty="0">
                <a:solidFill>
                  <a:srgbClr val="000000"/>
                </a:solidFill>
                <a:latin typeface="微软雅黑" panose="020B0503020204020204" pitchFamily="34" charset="-122"/>
                <a:sym typeface="微软雅黑" panose="020B0503020204020204" pitchFamily="34" charset="-122"/>
              </a:rPr>
              <a:t>）用户的要求  </a:t>
            </a:r>
          </a:p>
          <a:p>
            <a:pPr marL="666750" lvl="1" indent="-338138">
              <a:lnSpc>
                <a:spcPts val="4000"/>
              </a:lnSpc>
            </a:pPr>
            <a:r>
              <a:rPr lang="zh-CN" altLang="en-US" sz="1800" dirty="0">
                <a:solidFill>
                  <a:srgbClr val="000000"/>
                </a:solidFill>
                <a:latin typeface="微软雅黑" panose="020B0503020204020204" pitchFamily="34" charset="-122"/>
                <a:sym typeface="微软雅黑" panose="020B0503020204020204" pitchFamily="34" charset="-122"/>
              </a:rPr>
              <a:t>如果用户熟悉软件所使用的语言，那么对软件的使用及日后的维护工作会带来很多方便</a:t>
            </a:r>
            <a:endParaRPr lang="zh-CN" altLang="en-US" sz="2000"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5097823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4.3 </a:t>
            </a:r>
            <a:r>
              <a:rPr lang="zh-CN" altLang="en-US" sz="2800" dirty="0">
                <a:solidFill>
                  <a:srgbClr val="4E8F00"/>
                </a:solidFill>
              </a:rPr>
              <a:t> </a:t>
            </a:r>
            <a:r>
              <a:rPr lang="zh-CN" altLang="en-US" sz="2800" dirty="0">
                <a:solidFill>
                  <a:srgbClr val="4E8F00"/>
                </a:solidFill>
                <a:sym typeface="微软雅黑" panose="020B0503020204020204" pitchFamily="34" charset="-122"/>
              </a:rPr>
              <a:t>选择编程语言需考虑的因素</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15</a:t>
            </a:fld>
            <a:endParaRPr lang="zh-CN" altLang="en-US"/>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014522" y="1365631"/>
            <a:ext cx="7114956" cy="3250576"/>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755650" indent="-755650">
              <a:lnSpc>
                <a:spcPts val="4000"/>
              </a:lnSpc>
            </a:pPr>
            <a:r>
              <a:rPr lang="zh-CN" altLang="en-US" sz="2000" dirty="0">
                <a:solidFill>
                  <a:srgbClr val="000000"/>
                </a:solidFill>
                <a:latin typeface="微软雅黑" panose="020B0503020204020204" pitchFamily="34" charset="-122"/>
                <a:sym typeface="微软雅黑" panose="020B0503020204020204" pitchFamily="34" charset="-122"/>
              </a:rPr>
              <a:t>（</a:t>
            </a:r>
            <a:r>
              <a:rPr lang="en-US" altLang="zh-CN" sz="2000" dirty="0">
                <a:solidFill>
                  <a:srgbClr val="000000"/>
                </a:solidFill>
                <a:latin typeface="微软雅黑" panose="020B0503020204020204" pitchFamily="34" charset="-122"/>
                <a:sym typeface="微软雅黑" panose="020B0503020204020204" pitchFamily="34" charset="-122"/>
              </a:rPr>
              <a:t>3</a:t>
            </a:r>
            <a:r>
              <a:rPr lang="zh-CN" altLang="en-US" sz="2000" dirty="0">
                <a:solidFill>
                  <a:srgbClr val="000000"/>
                </a:solidFill>
                <a:latin typeface="微软雅黑" panose="020B0503020204020204" pitchFamily="34" charset="-122"/>
                <a:sym typeface="微软雅黑" panose="020B0503020204020204" pitchFamily="34" charset="-122"/>
              </a:rPr>
              <a:t>）软件开发人员的喜好和能力</a:t>
            </a:r>
          </a:p>
          <a:p>
            <a:pPr marL="672084" lvl="1" indent="-342900">
              <a:spcBef>
                <a:spcPts val="600"/>
              </a:spcBef>
            </a:pPr>
            <a:r>
              <a:rPr lang="zh-CN" altLang="en-US" sz="1800" dirty="0">
                <a:solidFill>
                  <a:srgbClr val="000000"/>
                </a:solidFill>
                <a:latin typeface="微软雅黑" panose="020B0503020204020204" pitchFamily="34" charset="-122"/>
                <a:sym typeface="微软雅黑" panose="020B0503020204020204" pitchFamily="34" charset="-122"/>
              </a:rPr>
              <a:t>采用开发人员熟悉的语言进行软件开发，可以节省开发人员进行学习和培训的资源，加快软件开发的进度</a:t>
            </a:r>
          </a:p>
          <a:p>
            <a:pPr marL="755650" indent="-755650">
              <a:lnSpc>
                <a:spcPts val="4000"/>
              </a:lnSpc>
            </a:pPr>
            <a:r>
              <a:rPr lang="zh-CN" altLang="en-US" sz="2000" dirty="0">
                <a:solidFill>
                  <a:srgbClr val="000000"/>
                </a:solidFill>
                <a:latin typeface="微软雅黑" panose="020B0503020204020204" pitchFamily="34" charset="-122"/>
                <a:sym typeface="微软雅黑" panose="020B0503020204020204" pitchFamily="34" charset="-122"/>
              </a:rPr>
              <a:t>（</a:t>
            </a:r>
            <a:r>
              <a:rPr lang="en-US" altLang="zh-CN" sz="2000" dirty="0">
                <a:solidFill>
                  <a:srgbClr val="000000"/>
                </a:solidFill>
                <a:latin typeface="微软雅黑" panose="020B0503020204020204" pitchFamily="34" charset="-122"/>
                <a:sym typeface="微软雅黑" panose="020B0503020204020204" pitchFamily="34" charset="-122"/>
              </a:rPr>
              <a:t>4</a:t>
            </a:r>
            <a:r>
              <a:rPr lang="zh-CN" altLang="en-US" sz="2000" dirty="0">
                <a:solidFill>
                  <a:srgbClr val="000000"/>
                </a:solidFill>
                <a:latin typeface="微软雅黑" panose="020B0503020204020204" pitchFamily="34" charset="-122"/>
                <a:sym typeface="微软雅黑" panose="020B0503020204020204" pitchFamily="34" charset="-122"/>
              </a:rPr>
              <a:t>）系统的可移植性要求</a:t>
            </a:r>
          </a:p>
          <a:p>
            <a:pPr marL="666750" lvl="1" indent="-338138">
              <a:lnSpc>
                <a:spcPts val="4000"/>
              </a:lnSpc>
            </a:pPr>
            <a:r>
              <a:rPr lang="zh-CN" altLang="en-US" sz="1800" dirty="0">
                <a:solidFill>
                  <a:srgbClr val="000000"/>
                </a:solidFill>
                <a:latin typeface="微软雅黑" panose="020B0503020204020204" pitchFamily="34" charset="-122"/>
                <a:sym typeface="微软雅黑" panose="020B0503020204020204" pitchFamily="34" charset="-122"/>
              </a:rPr>
              <a:t>可以使系统方便地在不同的计算机系统运行</a:t>
            </a:r>
            <a:endParaRPr lang="en-US" altLang="zh-CN" sz="1800"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36883746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4.3 </a:t>
            </a:r>
            <a:r>
              <a:rPr lang="zh-CN" altLang="en-US" sz="2800" dirty="0">
                <a:solidFill>
                  <a:srgbClr val="4E8F00"/>
                </a:solidFill>
              </a:rPr>
              <a:t> </a:t>
            </a:r>
            <a:r>
              <a:rPr lang="zh-CN" altLang="en-US" sz="2800" dirty="0">
                <a:solidFill>
                  <a:srgbClr val="4E8F00"/>
                </a:solidFill>
                <a:sym typeface="微软雅黑" panose="020B0503020204020204" pitchFamily="34" charset="-122"/>
              </a:rPr>
              <a:t>选择编程语言需考虑的因素</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16</a:t>
            </a:fld>
            <a:endParaRPr lang="zh-CN" altLang="en-US"/>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014522" y="1365631"/>
            <a:ext cx="7114956" cy="3250576"/>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spcBef>
                <a:spcPts val="600"/>
              </a:spcBef>
            </a:pPr>
            <a:r>
              <a:rPr lang="zh-CN" altLang="en-US" sz="2000" dirty="0">
                <a:solidFill>
                  <a:srgbClr val="000000"/>
                </a:solidFill>
                <a:latin typeface="微软雅黑" panose="020B0503020204020204" pitchFamily="34" charset="-122"/>
                <a:sym typeface="微软雅黑" panose="020B0503020204020204" pitchFamily="34" charset="-122"/>
              </a:rPr>
              <a:t>（</a:t>
            </a:r>
            <a:r>
              <a:rPr lang="en-US" altLang="zh-CN" sz="2000" dirty="0">
                <a:solidFill>
                  <a:srgbClr val="000000"/>
                </a:solidFill>
                <a:latin typeface="微软雅黑" panose="020B0503020204020204" pitchFamily="34" charset="-122"/>
                <a:sym typeface="微软雅黑" panose="020B0503020204020204" pitchFamily="34" charset="-122"/>
              </a:rPr>
              <a:t>5</a:t>
            </a:r>
            <a:r>
              <a:rPr lang="zh-CN" altLang="en-US" sz="2000" dirty="0">
                <a:solidFill>
                  <a:srgbClr val="000000"/>
                </a:solidFill>
                <a:latin typeface="微软雅黑" panose="020B0503020204020204" pitchFamily="34" charset="-122"/>
                <a:sym typeface="微软雅黑" panose="020B0503020204020204" pitchFamily="34" charset="-122"/>
              </a:rPr>
              <a:t>）算法和数据结构的复杂性</a:t>
            </a:r>
          </a:p>
          <a:p>
            <a:pPr marL="666750" indent="-309563">
              <a:spcBef>
                <a:spcPts val="600"/>
              </a:spcBef>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例如：</a:t>
            </a:r>
            <a:r>
              <a:rPr lang="en-US" altLang="zh-CN" sz="1800" dirty="0">
                <a:solidFill>
                  <a:srgbClr val="000000"/>
                </a:solidFill>
                <a:latin typeface="微软雅黑" panose="020B0503020204020204" pitchFamily="34" charset="-122"/>
                <a:sym typeface="微软雅黑" panose="020B0503020204020204" pitchFamily="34" charset="-122"/>
              </a:rPr>
              <a:t>C</a:t>
            </a:r>
            <a:r>
              <a:rPr lang="zh-CN" altLang="en-US" sz="1800" dirty="0">
                <a:solidFill>
                  <a:srgbClr val="000000"/>
                </a:solidFill>
                <a:latin typeface="微软雅黑" panose="020B0503020204020204" pitchFamily="34" charset="-122"/>
                <a:sym typeface="微软雅黑" panose="020B0503020204020204" pitchFamily="34" charset="-122"/>
              </a:rPr>
              <a:t> 和 </a:t>
            </a:r>
            <a:r>
              <a:rPr lang="en-US" altLang="zh-CN" sz="1800" dirty="0">
                <a:solidFill>
                  <a:srgbClr val="000000"/>
                </a:solidFill>
                <a:latin typeface="微软雅黑" panose="020B0503020204020204" pitchFamily="34" charset="-122"/>
                <a:sym typeface="微软雅黑" panose="020B0503020204020204" pitchFamily="34" charset="-122"/>
              </a:rPr>
              <a:t>FORTRAN</a:t>
            </a:r>
            <a:r>
              <a:rPr lang="zh-CN" altLang="en-US" sz="1800" dirty="0">
                <a:solidFill>
                  <a:srgbClr val="000000"/>
                </a:solidFill>
                <a:latin typeface="微软雅黑" panose="020B0503020204020204" pitchFamily="34" charset="-122"/>
                <a:sym typeface="微软雅黑" panose="020B0503020204020204" pitchFamily="34" charset="-122"/>
              </a:rPr>
              <a:t> 语言，可完成算法和数据结构复杂性较高的计算，有些语言则不适宜完成复杂性较高的计算，如</a:t>
            </a:r>
            <a:r>
              <a:rPr lang="en-US" altLang="zh-CN" sz="1800" dirty="0">
                <a:solidFill>
                  <a:srgbClr val="000000"/>
                </a:solidFill>
                <a:latin typeface="微软雅黑" panose="020B0503020204020204" pitchFamily="34" charset="-122"/>
                <a:sym typeface="微软雅黑" panose="020B0503020204020204" pitchFamily="34" charset="-122"/>
              </a:rPr>
              <a:t>Lisp</a:t>
            </a:r>
            <a:r>
              <a:rPr lang="zh-CN" altLang="en-US" sz="1800" dirty="0">
                <a:solidFill>
                  <a:srgbClr val="000000"/>
                </a:solidFill>
                <a:latin typeface="微软雅黑" panose="020B0503020204020204" pitchFamily="34" charset="-122"/>
                <a:sym typeface="微软雅黑" panose="020B0503020204020204" pitchFamily="34" charset="-122"/>
              </a:rPr>
              <a:t>、</a:t>
            </a:r>
            <a:r>
              <a:rPr lang="en-US" altLang="zh-CN" sz="1800" dirty="0">
                <a:solidFill>
                  <a:srgbClr val="000000"/>
                </a:solidFill>
                <a:latin typeface="微软雅黑" panose="020B0503020204020204" pitchFamily="34" charset="-122"/>
                <a:sym typeface="微软雅黑" panose="020B0503020204020204" pitchFamily="34" charset="-122"/>
              </a:rPr>
              <a:t>Prolog</a:t>
            </a:r>
            <a:r>
              <a:rPr lang="zh-CN" altLang="en-US" sz="1800" dirty="0">
                <a:solidFill>
                  <a:srgbClr val="000000"/>
                </a:solidFill>
                <a:latin typeface="微软雅黑" panose="020B0503020204020204" pitchFamily="34" charset="-122"/>
                <a:sym typeface="微软雅黑" panose="020B0503020204020204" pitchFamily="34" charset="-122"/>
              </a:rPr>
              <a:t>等</a:t>
            </a:r>
            <a:r>
              <a:rPr lang="zh-CN" altLang="en-US" sz="2000" dirty="0">
                <a:solidFill>
                  <a:srgbClr val="000000"/>
                </a:solidFill>
                <a:latin typeface="微软雅黑" panose="020B0503020204020204" pitchFamily="34" charset="-122"/>
                <a:sym typeface="微软雅黑" panose="020B0503020204020204" pitchFamily="34" charset="-122"/>
              </a:rPr>
              <a:t>。</a:t>
            </a:r>
          </a:p>
          <a:p>
            <a:pPr>
              <a:spcBef>
                <a:spcPts val="600"/>
              </a:spcBef>
            </a:pPr>
            <a:r>
              <a:rPr lang="zh-CN" altLang="en-US" sz="2000" dirty="0">
                <a:solidFill>
                  <a:srgbClr val="000000"/>
                </a:solidFill>
                <a:latin typeface="微软雅黑" panose="020B0503020204020204" pitchFamily="34" charset="-122"/>
                <a:sym typeface="微软雅黑" panose="020B0503020204020204" pitchFamily="34" charset="-122"/>
              </a:rPr>
              <a:t>（</a:t>
            </a:r>
            <a:r>
              <a:rPr lang="en-US" altLang="zh-CN" sz="2000" dirty="0">
                <a:solidFill>
                  <a:srgbClr val="000000"/>
                </a:solidFill>
                <a:latin typeface="微软雅黑" panose="020B0503020204020204" pitchFamily="34" charset="-122"/>
                <a:sym typeface="微软雅黑" panose="020B0503020204020204" pitchFamily="34" charset="-122"/>
              </a:rPr>
              <a:t>6</a:t>
            </a:r>
            <a:r>
              <a:rPr lang="zh-CN" altLang="en-US" sz="2000" dirty="0">
                <a:solidFill>
                  <a:srgbClr val="000000"/>
                </a:solidFill>
                <a:latin typeface="微软雅黑" panose="020B0503020204020204" pitchFamily="34" charset="-122"/>
                <a:sym typeface="微软雅黑" panose="020B0503020204020204" pitchFamily="34" charset="-122"/>
              </a:rPr>
              <a:t>）平台支持</a:t>
            </a:r>
          </a:p>
          <a:p>
            <a:pPr marL="666750" lvl="1" indent="-309563">
              <a:spcBef>
                <a:spcPts val="600"/>
              </a:spcBef>
            </a:pPr>
            <a:r>
              <a:rPr lang="zh-CN" altLang="en-US" sz="1800" dirty="0">
                <a:solidFill>
                  <a:srgbClr val="000000"/>
                </a:solidFill>
                <a:latin typeface="微软雅黑" panose="020B0503020204020204" pitchFamily="34" charset="-122"/>
                <a:sym typeface="微软雅黑" panose="020B0503020204020204" pitchFamily="34" charset="-122"/>
              </a:rPr>
              <a:t>例如：</a:t>
            </a:r>
            <a:r>
              <a:rPr lang="en-US" altLang="zh-CN" sz="1800" dirty="0">
                <a:solidFill>
                  <a:srgbClr val="000000"/>
                </a:solidFill>
                <a:latin typeface="微软雅黑" panose="020B0503020204020204" pitchFamily="34" charset="-122"/>
                <a:sym typeface="微软雅黑" panose="020B0503020204020204" pitchFamily="34" charset="-122"/>
              </a:rPr>
              <a:t>iPad</a:t>
            </a:r>
            <a:r>
              <a:rPr lang="zh-CN" altLang="en-US" sz="1800" dirty="0">
                <a:solidFill>
                  <a:srgbClr val="000000"/>
                </a:solidFill>
                <a:latin typeface="微软雅黑" panose="020B0503020204020204" pitchFamily="34" charset="-122"/>
                <a:sym typeface="微软雅黑" panose="020B0503020204020204" pitchFamily="34" charset="-122"/>
              </a:rPr>
              <a:t> 和 </a:t>
            </a:r>
            <a:r>
              <a:rPr lang="en-US" altLang="zh-CN" sz="1800" dirty="0">
                <a:solidFill>
                  <a:srgbClr val="000000"/>
                </a:solidFill>
                <a:latin typeface="微软雅黑" panose="020B0503020204020204" pitchFamily="34" charset="-122"/>
                <a:sym typeface="微软雅黑" panose="020B0503020204020204" pitchFamily="34" charset="-122"/>
              </a:rPr>
              <a:t>iPhone</a:t>
            </a:r>
            <a:r>
              <a:rPr lang="zh-CN" altLang="en-US" sz="1800" dirty="0">
                <a:solidFill>
                  <a:srgbClr val="000000"/>
                </a:solidFill>
                <a:latin typeface="微软雅黑" panose="020B0503020204020204" pitchFamily="34" charset="-122"/>
                <a:sym typeface="微软雅黑" panose="020B0503020204020204" pitchFamily="34" charset="-122"/>
              </a:rPr>
              <a:t> 开发，通常使用 </a:t>
            </a:r>
            <a:r>
              <a:rPr lang="en-US" altLang="zh-CN" sz="1800" dirty="0">
                <a:solidFill>
                  <a:srgbClr val="000000"/>
                </a:solidFill>
                <a:latin typeface="微软雅黑" panose="020B0503020204020204" pitchFamily="34" charset="-122"/>
                <a:sym typeface="微软雅黑" panose="020B0503020204020204" pitchFamily="34" charset="-122"/>
              </a:rPr>
              <a:t>Objective-C</a:t>
            </a:r>
            <a:r>
              <a:rPr lang="zh-CN" altLang="en-US" sz="1800" dirty="0">
                <a:solidFill>
                  <a:srgbClr val="000000"/>
                </a:solidFill>
                <a:latin typeface="微软雅黑" panose="020B0503020204020204" pitchFamily="34" charset="-122"/>
                <a:sym typeface="微软雅黑" panose="020B0503020204020204" pitchFamily="34" charset="-122"/>
              </a:rPr>
              <a:t>；而</a:t>
            </a:r>
            <a:r>
              <a:rPr lang="en-US" altLang="zh-CN" sz="1800" dirty="0">
                <a:solidFill>
                  <a:srgbClr val="000000"/>
                </a:solidFill>
                <a:latin typeface="微软雅黑" panose="020B0503020204020204" pitchFamily="34" charset="-122"/>
                <a:sym typeface="微软雅黑" panose="020B0503020204020204" pitchFamily="34" charset="-122"/>
              </a:rPr>
              <a:t>Android</a:t>
            </a:r>
            <a:r>
              <a:rPr lang="zh-CN" altLang="en-US" sz="1800" dirty="0">
                <a:solidFill>
                  <a:srgbClr val="000000"/>
                </a:solidFill>
                <a:latin typeface="微软雅黑" panose="020B0503020204020204" pitchFamily="34" charset="-122"/>
                <a:sym typeface="微软雅黑" panose="020B0503020204020204" pitchFamily="34" charset="-122"/>
              </a:rPr>
              <a:t>开发，则通常使用 </a:t>
            </a:r>
            <a:r>
              <a:rPr lang="en-US" altLang="zh-CN" sz="1800" dirty="0">
                <a:solidFill>
                  <a:srgbClr val="000000"/>
                </a:solidFill>
                <a:latin typeface="微软雅黑" panose="020B0503020204020204" pitchFamily="34" charset="-122"/>
                <a:sym typeface="微软雅黑" panose="020B0503020204020204" pitchFamily="34" charset="-122"/>
              </a:rPr>
              <a:t>Java</a:t>
            </a:r>
            <a:r>
              <a:rPr lang="zh-CN" altLang="en-US" sz="1800" dirty="0">
                <a:solidFill>
                  <a:srgbClr val="000000"/>
                </a:solidFill>
                <a:latin typeface="微软雅黑" panose="020B0503020204020204" pitchFamily="34" charset="-122"/>
                <a:sym typeface="微软雅黑" panose="020B0503020204020204" pitchFamily="34" charset="-122"/>
              </a:rPr>
              <a:t>、</a:t>
            </a:r>
            <a:r>
              <a:rPr lang="en-US" altLang="zh-CN" sz="1800" dirty="0">
                <a:solidFill>
                  <a:srgbClr val="000000"/>
                </a:solidFill>
                <a:latin typeface="微软雅黑" panose="020B0503020204020204" pitchFamily="34" charset="-122"/>
                <a:sym typeface="微软雅黑" panose="020B0503020204020204" pitchFamily="34" charset="-122"/>
              </a:rPr>
              <a:t>Ruby</a:t>
            </a:r>
            <a:r>
              <a:rPr lang="zh-CN" altLang="en-US" sz="1800" dirty="0">
                <a:solidFill>
                  <a:srgbClr val="000000"/>
                </a:solidFill>
                <a:latin typeface="微软雅黑" panose="020B0503020204020204" pitchFamily="34" charset="-122"/>
                <a:sym typeface="微软雅黑" panose="020B0503020204020204" pitchFamily="34" charset="-122"/>
              </a:rPr>
              <a:t>、</a:t>
            </a:r>
            <a:r>
              <a:rPr lang="en-US" altLang="zh-CN" sz="1800" dirty="0">
                <a:solidFill>
                  <a:srgbClr val="000000"/>
                </a:solidFill>
                <a:latin typeface="微软雅黑" panose="020B0503020204020204" pitchFamily="34" charset="-122"/>
                <a:sym typeface="微软雅黑" panose="020B0503020204020204" pitchFamily="34" charset="-122"/>
              </a:rPr>
              <a:t>Python</a:t>
            </a:r>
            <a:r>
              <a:rPr lang="zh-CN" altLang="en-US" sz="1800" dirty="0">
                <a:solidFill>
                  <a:srgbClr val="000000"/>
                </a:solidFill>
                <a:latin typeface="微软雅黑" panose="020B0503020204020204" pitchFamily="34" charset="-122"/>
                <a:sym typeface="微软雅黑" panose="020B0503020204020204" pitchFamily="34" charset="-122"/>
              </a:rPr>
              <a:t>等</a:t>
            </a:r>
            <a:endParaRPr lang="en-US" altLang="zh-CN" sz="1800" dirty="0">
              <a:solidFill>
                <a:srgbClr val="000000"/>
              </a:solidFill>
              <a:latin typeface="微软雅黑" panose="020B0503020204020204" pitchFamily="34" charset="-122"/>
              <a:sym typeface="微软雅黑" panose="020B0503020204020204" pitchFamily="34" charset="-122"/>
            </a:endParaRPr>
          </a:p>
        </p:txBody>
      </p:sp>
      <p:sp>
        <p:nvSpPr>
          <p:cNvPr id="2" name="矩形 1">
            <a:extLst>
              <a:ext uri="{FF2B5EF4-FFF2-40B4-BE49-F238E27FC236}">
                <a16:creationId xmlns:a16="http://schemas.microsoft.com/office/drawing/2014/main" id="{8CE06BDA-202F-1E45-88F6-A417E2F63565}"/>
              </a:ext>
            </a:extLst>
          </p:cNvPr>
          <p:cNvSpPr/>
          <p:nvPr/>
        </p:nvSpPr>
        <p:spPr>
          <a:xfrm>
            <a:off x="1690915" y="5916495"/>
            <a:ext cx="6226628" cy="307777"/>
          </a:xfrm>
          <a:prstGeom prst="rect">
            <a:avLst/>
          </a:prstGeom>
        </p:spPr>
        <p:txBody>
          <a:bodyPr wrap="square">
            <a:spAutoFit/>
          </a:bodyPr>
          <a:lstStyle/>
          <a:p>
            <a:r>
              <a:rPr lang="en-US" altLang="zh-CN" sz="1400" dirty="0">
                <a:solidFill>
                  <a:schemeClr val="bg1">
                    <a:lumMod val="85000"/>
                  </a:schemeClr>
                </a:solidFill>
                <a:latin typeface="Helvetica Neue" panose="02000503000000020004" pitchFamily="2" charset="0"/>
              </a:rPr>
              <a:t>Ruby </a:t>
            </a:r>
            <a:r>
              <a:rPr lang="zh-CN" altLang="en-US" sz="1400" dirty="0">
                <a:solidFill>
                  <a:schemeClr val="bg1">
                    <a:lumMod val="85000"/>
                  </a:schemeClr>
                </a:solidFill>
                <a:latin typeface="Helvetica Neue" panose="02000503000000020004" pitchFamily="2" charset="0"/>
              </a:rPr>
              <a:t>是一种开源的面向对象程序设计的服务器端脚本语言</a:t>
            </a:r>
            <a:endParaRPr lang="zh-CN" altLang="en-US" sz="1400" dirty="0">
              <a:solidFill>
                <a:schemeClr val="bg1">
                  <a:lumMod val="85000"/>
                </a:schemeClr>
              </a:solidFill>
            </a:endParaRPr>
          </a:p>
        </p:txBody>
      </p:sp>
    </p:spTree>
    <p:extLst>
      <p:ext uri="{BB962C8B-B14F-4D97-AF65-F5344CB8AC3E}">
        <p14:creationId xmlns:p14="http://schemas.microsoft.com/office/powerpoint/2010/main" val="169064988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17</a:t>
            </a:fld>
            <a:endParaRPr lang="zh-CN" altLang="en-US"/>
          </a:p>
        </p:txBody>
      </p:sp>
      <p:sp>
        <p:nvSpPr>
          <p:cNvPr id="8" name="矩形 7">
            <a:extLst>
              <a:ext uri="{FF2B5EF4-FFF2-40B4-BE49-F238E27FC236}">
                <a16:creationId xmlns:a16="http://schemas.microsoft.com/office/drawing/2014/main" id="{AC562F18-38DA-C146-8309-7C9DD56F5F43}"/>
              </a:ext>
            </a:extLst>
          </p:cNvPr>
          <p:cNvSpPr/>
          <p:nvPr/>
        </p:nvSpPr>
        <p:spPr>
          <a:xfrm>
            <a:off x="563926" y="366762"/>
            <a:ext cx="4493538" cy="830997"/>
          </a:xfrm>
          <a:prstGeom prst="rect">
            <a:avLst/>
          </a:prstGeom>
        </p:spPr>
        <p:txBody>
          <a:bodyPr wrap="none">
            <a:spAutoFit/>
          </a:bodyPr>
          <a:lstStyle/>
          <a:p>
            <a:r>
              <a:rPr lang="zh-CN" altLang="en-US" sz="2400" dirty="0">
                <a:solidFill>
                  <a:schemeClr val="tx2"/>
                </a:solidFill>
                <a:latin typeface="Microsoft YaHei" panose="020B0503020204020204" pitchFamily="34" charset="-122"/>
                <a:ea typeface="Microsoft YaHei" panose="020B0503020204020204" pitchFamily="34" charset="-122"/>
              </a:rPr>
              <a:t>如何选择编程语言？</a:t>
            </a:r>
            <a:r>
              <a:rPr lang="zh-CN" altLang="en-US" sz="2000" dirty="0">
                <a:solidFill>
                  <a:schemeClr val="tx2"/>
                </a:solidFill>
                <a:latin typeface="Microsoft YaHei" panose="020B0503020204020204" pitchFamily="34" charset="-122"/>
                <a:ea typeface="Microsoft YaHei" panose="020B0503020204020204" pitchFamily="34" charset="-122"/>
              </a:rPr>
              <a:t>四象限分析法</a:t>
            </a:r>
          </a:p>
          <a:p>
            <a:endParaRPr lang="en-US" altLang="zh-CN" sz="2400" dirty="0">
              <a:solidFill>
                <a:schemeClr val="tx2"/>
              </a:solidFill>
              <a:latin typeface="Microsoft YaHei" panose="020B0503020204020204" pitchFamily="34" charset="-122"/>
              <a:ea typeface="Microsoft YaHei" panose="020B0503020204020204" pitchFamily="34" charset="-122"/>
            </a:endParaRPr>
          </a:p>
        </p:txBody>
      </p:sp>
      <p:pic>
        <p:nvPicPr>
          <p:cNvPr id="2" name="图片 1">
            <a:extLst>
              <a:ext uri="{FF2B5EF4-FFF2-40B4-BE49-F238E27FC236}">
                <a16:creationId xmlns:a16="http://schemas.microsoft.com/office/drawing/2014/main" id="{418926E3-7D2F-514E-911C-FEF67DD853C5}"/>
              </a:ext>
            </a:extLst>
          </p:cNvPr>
          <p:cNvPicPr>
            <a:picLocks noChangeAspect="1"/>
          </p:cNvPicPr>
          <p:nvPr/>
        </p:nvPicPr>
        <p:blipFill>
          <a:blip r:embed="rId2"/>
          <a:stretch>
            <a:fillRect/>
          </a:stretch>
        </p:blipFill>
        <p:spPr>
          <a:xfrm>
            <a:off x="563926" y="1415142"/>
            <a:ext cx="5371885" cy="4894942"/>
          </a:xfrm>
          <a:prstGeom prst="rect">
            <a:avLst/>
          </a:prstGeom>
        </p:spPr>
      </p:pic>
      <p:pic>
        <p:nvPicPr>
          <p:cNvPr id="7" name="图片 6">
            <a:extLst>
              <a:ext uri="{FF2B5EF4-FFF2-40B4-BE49-F238E27FC236}">
                <a16:creationId xmlns:a16="http://schemas.microsoft.com/office/drawing/2014/main" id="{156D09AC-252E-D34A-81CD-7EA049133039}"/>
              </a:ext>
            </a:extLst>
          </p:cNvPr>
          <p:cNvPicPr>
            <a:picLocks noChangeAspect="1"/>
          </p:cNvPicPr>
          <p:nvPr/>
        </p:nvPicPr>
        <p:blipFill>
          <a:blip r:embed="rId3"/>
          <a:stretch>
            <a:fillRect/>
          </a:stretch>
        </p:blipFill>
        <p:spPr>
          <a:xfrm>
            <a:off x="6073819" y="3505199"/>
            <a:ext cx="2363608" cy="2365829"/>
          </a:xfrm>
          <a:prstGeom prst="rect">
            <a:avLst/>
          </a:prstGeom>
        </p:spPr>
      </p:pic>
    </p:spTree>
    <p:extLst>
      <p:ext uri="{BB962C8B-B14F-4D97-AF65-F5344CB8AC3E}">
        <p14:creationId xmlns:p14="http://schemas.microsoft.com/office/powerpoint/2010/main" val="340723696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18</a:t>
            </a:fld>
            <a:endParaRPr lang="zh-CN" altLang="en-US"/>
          </a:p>
        </p:txBody>
      </p:sp>
      <p:sp>
        <p:nvSpPr>
          <p:cNvPr id="8" name="矩形 7">
            <a:extLst>
              <a:ext uri="{FF2B5EF4-FFF2-40B4-BE49-F238E27FC236}">
                <a16:creationId xmlns:a16="http://schemas.microsoft.com/office/drawing/2014/main" id="{AC562F18-38DA-C146-8309-7C9DD56F5F43}"/>
              </a:ext>
            </a:extLst>
          </p:cNvPr>
          <p:cNvSpPr/>
          <p:nvPr/>
        </p:nvSpPr>
        <p:spPr>
          <a:xfrm>
            <a:off x="563926" y="366762"/>
            <a:ext cx="4493538" cy="830997"/>
          </a:xfrm>
          <a:prstGeom prst="rect">
            <a:avLst/>
          </a:prstGeom>
        </p:spPr>
        <p:txBody>
          <a:bodyPr wrap="none">
            <a:spAutoFit/>
          </a:bodyPr>
          <a:lstStyle/>
          <a:p>
            <a:r>
              <a:rPr lang="zh-CN" altLang="en-US" sz="2400" dirty="0">
                <a:solidFill>
                  <a:schemeClr val="tx2"/>
                </a:solidFill>
                <a:latin typeface="Microsoft YaHei" panose="020B0503020204020204" pitchFamily="34" charset="-122"/>
                <a:ea typeface="Microsoft YaHei" panose="020B0503020204020204" pitchFamily="34" charset="-122"/>
              </a:rPr>
              <a:t>如何选择编程语言？</a:t>
            </a:r>
            <a:r>
              <a:rPr lang="zh-CN" altLang="en-US" sz="2000" dirty="0">
                <a:solidFill>
                  <a:schemeClr val="tx2"/>
                </a:solidFill>
                <a:latin typeface="Microsoft YaHei" panose="020B0503020204020204" pitchFamily="34" charset="-122"/>
                <a:ea typeface="Microsoft YaHei" panose="020B0503020204020204" pitchFamily="34" charset="-122"/>
              </a:rPr>
              <a:t>四象限分析法</a:t>
            </a:r>
          </a:p>
          <a:p>
            <a:endParaRPr lang="en-US" altLang="zh-CN" sz="2400" dirty="0">
              <a:solidFill>
                <a:schemeClr val="tx2"/>
              </a:solidFill>
              <a:latin typeface="Microsoft YaHei" panose="020B0503020204020204" pitchFamily="34" charset="-122"/>
              <a:ea typeface="Microsoft YaHei" panose="020B0503020204020204" pitchFamily="34" charset="-122"/>
            </a:endParaRPr>
          </a:p>
        </p:txBody>
      </p:sp>
      <p:pic>
        <p:nvPicPr>
          <p:cNvPr id="7" name="图片 6">
            <a:extLst>
              <a:ext uri="{FF2B5EF4-FFF2-40B4-BE49-F238E27FC236}">
                <a16:creationId xmlns:a16="http://schemas.microsoft.com/office/drawing/2014/main" id="{156D09AC-252E-D34A-81CD-7EA049133039}"/>
              </a:ext>
            </a:extLst>
          </p:cNvPr>
          <p:cNvPicPr>
            <a:picLocks noChangeAspect="1"/>
          </p:cNvPicPr>
          <p:nvPr/>
        </p:nvPicPr>
        <p:blipFill>
          <a:blip r:embed="rId2"/>
          <a:stretch>
            <a:fillRect/>
          </a:stretch>
        </p:blipFill>
        <p:spPr>
          <a:xfrm>
            <a:off x="6073819" y="3505199"/>
            <a:ext cx="2363608" cy="2365829"/>
          </a:xfrm>
          <a:prstGeom prst="rect">
            <a:avLst/>
          </a:prstGeom>
        </p:spPr>
      </p:pic>
      <p:sp>
        <p:nvSpPr>
          <p:cNvPr id="4" name="矩形 3">
            <a:extLst>
              <a:ext uri="{FF2B5EF4-FFF2-40B4-BE49-F238E27FC236}">
                <a16:creationId xmlns:a16="http://schemas.microsoft.com/office/drawing/2014/main" id="{07FCBAC3-42FF-1041-88E1-0033B5CBBFAB}"/>
              </a:ext>
            </a:extLst>
          </p:cNvPr>
          <p:cNvSpPr/>
          <p:nvPr/>
        </p:nvSpPr>
        <p:spPr>
          <a:xfrm>
            <a:off x="765511" y="1248845"/>
            <a:ext cx="4796971" cy="5001369"/>
          </a:xfrm>
          <a:prstGeom prst="rect">
            <a:avLst/>
          </a:prstGeom>
        </p:spPr>
        <p:txBody>
          <a:bodyPr wrap="square">
            <a:spAutoFit/>
          </a:bodyPr>
          <a:lstStyle/>
          <a:p>
            <a:r>
              <a:rPr lang="zh-CN" altLang="en-US" sz="1100" b="1" dirty="0">
                <a:solidFill>
                  <a:srgbClr val="646464"/>
                </a:solidFill>
                <a:latin typeface="-apple-system"/>
              </a:rPr>
              <a:t>（</a:t>
            </a:r>
            <a:r>
              <a:rPr lang="en-US" altLang="zh-CN" sz="1100" b="1" dirty="0">
                <a:solidFill>
                  <a:srgbClr val="646464"/>
                </a:solidFill>
                <a:latin typeface="-apple-system"/>
              </a:rPr>
              <a:t>1</a:t>
            </a:r>
            <a:r>
              <a:rPr lang="zh-CN" altLang="en-US" sz="1100" b="1" dirty="0">
                <a:solidFill>
                  <a:srgbClr val="646464"/>
                </a:solidFill>
                <a:latin typeface="-apple-system"/>
              </a:rPr>
              <a:t>）明星型业务（</a:t>
            </a:r>
            <a:r>
              <a:rPr lang="en-US" altLang="zh-CN" sz="1100" b="1" dirty="0">
                <a:solidFill>
                  <a:srgbClr val="646464"/>
                </a:solidFill>
                <a:latin typeface="-apple-system"/>
              </a:rPr>
              <a:t>Stars</a:t>
            </a:r>
            <a:r>
              <a:rPr lang="zh-CN" altLang="en-US" sz="1100" b="1" dirty="0">
                <a:solidFill>
                  <a:srgbClr val="646464"/>
                </a:solidFill>
                <a:latin typeface="-apple-system"/>
              </a:rPr>
              <a:t>，指高增长、高市场份额）</a:t>
            </a:r>
            <a:br>
              <a:rPr lang="zh-CN" altLang="en-US" sz="1100" dirty="0"/>
            </a:br>
            <a:r>
              <a:rPr lang="zh-CN" altLang="en-US" sz="1100" dirty="0">
                <a:solidFill>
                  <a:srgbClr val="646464"/>
                </a:solidFill>
                <a:latin typeface="-apple-system"/>
              </a:rPr>
              <a:t>　　这个领域中的产品处于快速增长的市场中并且占有支配地位的市场份额，但也许会或也许不会产生现金流，这取决于新工厂、设备和产品开发对投资的需要量。明星型业务是由</a:t>
            </a:r>
            <a:r>
              <a:rPr lang="zh-CN" altLang="en-US" sz="1100" b="1" dirty="0">
                <a:solidFill>
                  <a:srgbClr val="646464"/>
                </a:solidFill>
                <a:latin typeface="-apple-system"/>
              </a:rPr>
              <a:t>问题型业务</a:t>
            </a:r>
            <a:r>
              <a:rPr lang="zh-CN" altLang="en-US" sz="1100" dirty="0">
                <a:solidFill>
                  <a:srgbClr val="646464"/>
                </a:solidFill>
                <a:latin typeface="-apple-system"/>
              </a:rPr>
              <a:t>继续投资发展起来的，可以视为高速成长市场中的领导者，它将成为公司未来的</a:t>
            </a:r>
            <a:r>
              <a:rPr lang="zh-CN" altLang="en-US" sz="1100" b="1" dirty="0">
                <a:solidFill>
                  <a:srgbClr val="646464"/>
                </a:solidFill>
                <a:latin typeface="-apple-system"/>
              </a:rPr>
              <a:t>现金牛</a:t>
            </a:r>
            <a:r>
              <a:rPr lang="zh-CN" altLang="en-US" sz="1100" dirty="0">
                <a:solidFill>
                  <a:srgbClr val="646464"/>
                </a:solidFill>
                <a:latin typeface="-apple-system"/>
              </a:rPr>
              <a:t>业务。</a:t>
            </a:r>
            <a:endParaRPr lang="en-US" altLang="zh-CN" sz="1100" dirty="0">
              <a:solidFill>
                <a:srgbClr val="646464"/>
              </a:solidFill>
              <a:latin typeface="-apple-system"/>
            </a:endParaRPr>
          </a:p>
          <a:p>
            <a:br>
              <a:rPr lang="zh-CN" altLang="en-US" sz="1100" dirty="0"/>
            </a:br>
            <a:r>
              <a:rPr lang="zh-CN" altLang="en-US" sz="1100" b="1" dirty="0">
                <a:solidFill>
                  <a:srgbClr val="646464"/>
                </a:solidFill>
                <a:latin typeface="-apple-system"/>
              </a:rPr>
              <a:t>（</a:t>
            </a:r>
            <a:r>
              <a:rPr lang="en-US" altLang="zh-CN" sz="1100" b="1" dirty="0">
                <a:solidFill>
                  <a:srgbClr val="646464"/>
                </a:solidFill>
                <a:latin typeface="-apple-system"/>
              </a:rPr>
              <a:t>2</a:t>
            </a:r>
            <a:r>
              <a:rPr lang="zh-CN" altLang="en-US" sz="1100" b="1" dirty="0">
                <a:solidFill>
                  <a:srgbClr val="646464"/>
                </a:solidFill>
                <a:latin typeface="-apple-system"/>
              </a:rPr>
              <a:t>）问题型业务（</a:t>
            </a:r>
            <a:r>
              <a:rPr lang="en-US" altLang="zh-CN" sz="1100" b="1" dirty="0">
                <a:solidFill>
                  <a:srgbClr val="646464"/>
                </a:solidFill>
                <a:latin typeface="-apple-system"/>
              </a:rPr>
              <a:t>Question Marks</a:t>
            </a:r>
            <a:r>
              <a:rPr lang="zh-CN" altLang="en-US" sz="1100" b="1" dirty="0">
                <a:solidFill>
                  <a:srgbClr val="646464"/>
                </a:solidFill>
                <a:latin typeface="-apple-system"/>
              </a:rPr>
              <a:t>，指高增长、低市场份额）</a:t>
            </a:r>
            <a:br>
              <a:rPr lang="zh-CN" altLang="en-US" sz="1100" dirty="0"/>
            </a:br>
            <a:r>
              <a:rPr lang="zh-CN" altLang="en-US" sz="1100" dirty="0">
                <a:solidFill>
                  <a:srgbClr val="646464"/>
                </a:solidFill>
                <a:latin typeface="-apple-system"/>
              </a:rPr>
              <a:t>　　处在这个领域中的是一些投机性产品，带有较大的风险。这些产品可能利润率很高，但占有的市场份额很小。这往往是一个公司的新业务。为发展问题业务，公司必须建立工厂，增加设备和人员，以便跟上迅速发展的市场，并超过竞争对手，这些意味着大量的资金投入。“问题”非常贴切地描述了公司对待这类业务的态度，因为这时公司必须慎重回答“是否继续投资，发展该业务？”这个问题。只有那些符合企业发展长远目标、企业具有资源优势、能够增强企业核心竞争力的业务才得到肯定的回答。</a:t>
            </a:r>
            <a:br>
              <a:rPr lang="zh-CN" altLang="en-US" sz="1100" dirty="0"/>
            </a:br>
            <a:r>
              <a:rPr lang="zh-CN" altLang="en-US" sz="1100" dirty="0">
                <a:solidFill>
                  <a:srgbClr val="646464"/>
                </a:solidFill>
                <a:latin typeface="-apple-system"/>
              </a:rPr>
              <a:t>　　如何选择问题型业务是用</a:t>
            </a:r>
            <a:r>
              <a:rPr lang="en-US" altLang="zh-CN" sz="1100" dirty="0">
                <a:solidFill>
                  <a:srgbClr val="646464"/>
                </a:solidFill>
                <a:latin typeface="-apple-system"/>
              </a:rPr>
              <a:t>BCG</a:t>
            </a:r>
            <a:r>
              <a:rPr lang="zh-CN" altLang="en-US" sz="1100" dirty="0">
                <a:solidFill>
                  <a:srgbClr val="646464"/>
                </a:solidFill>
                <a:latin typeface="-apple-system"/>
              </a:rPr>
              <a:t>矩阵制定战略的重中之重，也是难点，这关乎企业未来的发展。</a:t>
            </a:r>
            <a:endParaRPr lang="en-US" altLang="zh-CN" sz="1100" dirty="0">
              <a:solidFill>
                <a:srgbClr val="646464"/>
              </a:solidFill>
              <a:latin typeface="-apple-system"/>
            </a:endParaRPr>
          </a:p>
          <a:p>
            <a:br>
              <a:rPr lang="zh-CN" altLang="en-US" sz="1100" dirty="0"/>
            </a:br>
            <a:r>
              <a:rPr lang="zh-CN" altLang="en-US" sz="1100" b="1" dirty="0">
                <a:solidFill>
                  <a:srgbClr val="646464"/>
                </a:solidFill>
                <a:latin typeface="-apple-system"/>
              </a:rPr>
              <a:t>（</a:t>
            </a:r>
            <a:r>
              <a:rPr lang="en-US" altLang="zh-CN" sz="1100" b="1" dirty="0">
                <a:solidFill>
                  <a:srgbClr val="646464"/>
                </a:solidFill>
                <a:latin typeface="-apple-system"/>
              </a:rPr>
              <a:t>3</a:t>
            </a:r>
            <a:r>
              <a:rPr lang="zh-CN" altLang="en-US" sz="1100" b="1" dirty="0">
                <a:solidFill>
                  <a:srgbClr val="646464"/>
                </a:solidFill>
                <a:latin typeface="-apple-system"/>
              </a:rPr>
              <a:t>）现金牛业务（</a:t>
            </a:r>
            <a:r>
              <a:rPr lang="en-US" altLang="zh-CN" sz="1100" b="1" dirty="0">
                <a:solidFill>
                  <a:srgbClr val="646464"/>
                </a:solidFill>
                <a:latin typeface="-apple-system"/>
              </a:rPr>
              <a:t>Cash cows</a:t>
            </a:r>
            <a:r>
              <a:rPr lang="zh-CN" altLang="en-US" sz="1100" b="1" dirty="0">
                <a:solidFill>
                  <a:srgbClr val="646464"/>
                </a:solidFill>
                <a:latin typeface="-apple-system"/>
              </a:rPr>
              <a:t>，指低增长、高市场份额）</a:t>
            </a:r>
            <a:br>
              <a:rPr lang="zh-CN" altLang="en-US" sz="1100" dirty="0"/>
            </a:br>
            <a:r>
              <a:rPr lang="zh-CN" altLang="en-US" sz="1100" dirty="0">
                <a:solidFill>
                  <a:srgbClr val="646464"/>
                </a:solidFill>
                <a:latin typeface="-apple-system"/>
              </a:rPr>
              <a:t>　　处在这个领域中的产品产生大量的现金，但未来的增长前景是有限的。这是成熟市场中的领导者，它是企业现金的来源。由于市场已经成熟，企业不必大量投资来扩展市场规模，同时作为市场中的领导者，该业务享有规模经济和高边际利润的优势，因而给企业带来大量现金流。企业往往用现金牛业务来支付帐款并支持其他三种需大量现金的业务。</a:t>
            </a:r>
            <a:endParaRPr lang="en-US" altLang="zh-CN" sz="1100" dirty="0">
              <a:solidFill>
                <a:srgbClr val="646464"/>
              </a:solidFill>
              <a:latin typeface="-apple-system"/>
            </a:endParaRPr>
          </a:p>
          <a:p>
            <a:br>
              <a:rPr lang="zh-CN" altLang="en-US" sz="1100" dirty="0"/>
            </a:br>
            <a:r>
              <a:rPr lang="zh-CN" altLang="en-US" sz="1100" b="1" dirty="0">
                <a:solidFill>
                  <a:srgbClr val="646464"/>
                </a:solidFill>
                <a:latin typeface="-apple-system"/>
              </a:rPr>
              <a:t>（</a:t>
            </a:r>
            <a:r>
              <a:rPr lang="en-US" altLang="zh-CN" sz="1100" b="1" dirty="0">
                <a:solidFill>
                  <a:srgbClr val="646464"/>
                </a:solidFill>
                <a:latin typeface="-apple-system"/>
              </a:rPr>
              <a:t>4</a:t>
            </a:r>
            <a:r>
              <a:rPr lang="zh-CN" altLang="en-US" sz="1100" b="1" dirty="0">
                <a:solidFill>
                  <a:srgbClr val="646464"/>
                </a:solidFill>
                <a:latin typeface="-apple-system"/>
              </a:rPr>
              <a:t>）瘦狗型业务（</a:t>
            </a:r>
            <a:r>
              <a:rPr lang="en-US" altLang="zh-CN" sz="1100" b="1" dirty="0">
                <a:solidFill>
                  <a:srgbClr val="646464"/>
                </a:solidFill>
                <a:latin typeface="-apple-system"/>
              </a:rPr>
              <a:t>Dogs</a:t>
            </a:r>
            <a:r>
              <a:rPr lang="zh-CN" altLang="en-US" sz="1100" b="1" dirty="0">
                <a:solidFill>
                  <a:srgbClr val="646464"/>
                </a:solidFill>
                <a:latin typeface="-apple-system"/>
              </a:rPr>
              <a:t>，指低增长、低市场份额）</a:t>
            </a:r>
            <a:br>
              <a:rPr lang="zh-CN" altLang="en-US" sz="1100" dirty="0"/>
            </a:br>
            <a:r>
              <a:rPr lang="zh-CN" altLang="en-US" sz="1100" dirty="0">
                <a:solidFill>
                  <a:srgbClr val="646464"/>
                </a:solidFill>
                <a:latin typeface="-apple-system"/>
              </a:rPr>
              <a:t>　　这个剩下的领域中的产品既不能产生大量的现金，也不需要投入大量现金，这些产品没有希望改进其绩效。一般情况下，这类业务常常是微利甚至是亏损的，瘦狗型业务存在的原因更多的是由于感情上的因素，虽然一直微利经营，但象人养了多年的狗一样恋恋不舍而不忍放弃。</a:t>
            </a:r>
            <a:endParaRPr lang="zh-CN" altLang="en-US" sz="1100" dirty="0"/>
          </a:p>
        </p:txBody>
      </p:sp>
    </p:spTree>
    <p:extLst>
      <p:ext uri="{BB962C8B-B14F-4D97-AF65-F5344CB8AC3E}">
        <p14:creationId xmlns:p14="http://schemas.microsoft.com/office/powerpoint/2010/main" val="390189024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19</a:t>
            </a:fld>
            <a:endParaRPr lang="zh-CN" altLang="en-US"/>
          </a:p>
        </p:txBody>
      </p:sp>
      <p:sp>
        <p:nvSpPr>
          <p:cNvPr id="8" name="矩形 7">
            <a:extLst>
              <a:ext uri="{FF2B5EF4-FFF2-40B4-BE49-F238E27FC236}">
                <a16:creationId xmlns:a16="http://schemas.microsoft.com/office/drawing/2014/main" id="{AC562F18-38DA-C146-8309-7C9DD56F5F43}"/>
              </a:ext>
            </a:extLst>
          </p:cNvPr>
          <p:cNvSpPr/>
          <p:nvPr/>
        </p:nvSpPr>
        <p:spPr>
          <a:xfrm>
            <a:off x="563926" y="366762"/>
            <a:ext cx="4493538" cy="830997"/>
          </a:xfrm>
          <a:prstGeom prst="rect">
            <a:avLst/>
          </a:prstGeom>
        </p:spPr>
        <p:txBody>
          <a:bodyPr wrap="none">
            <a:spAutoFit/>
          </a:bodyPr>
          <a:lstStyle/>
          <a:p>
            <a:r>
              <a:rPr lang="zh-CN" altLang="en-US" sz="2400" dirty="0">
                <a:solidFill>
                  <a:schemeClr val="tx2"/>
                </a:solidFill>
                <a:latin typeface="Microsoft YaHei" panose="020B0503020204020204" pitchFamily="34" charset="-122"/>
                <a:ea typeface="Microsoft YaHei" panose="020B0503020204020204" pitchFamily="34" charset="-122"/>
              </a:rPr>
              <a:t>如何选择编程语言？</a:t>
            </a:r>
            <a:r>
              <a:rPr lang="zh-CN" altLang="en-US" sz="2000" dirty="0">
                <a:solidFill>
                  <a:schemeClr val="tx2"/>
                </a:solidFill>
                <a:latin typeface="Microsoft YaHei" panose="020B0503020204020204" pitchFamily="34" charset="-122"/>
                <a:ea typeface="Microsoft YaHei" panose="020B0503020204020204" pitchFamily="34" charset="-122"/>
              </a:rPr>
              <a:t>四象限分析法</a:t>
            </a:r>
          </a:p>
          <a:p>
            <a:endParaRPr lang="en-US" altLang="zh-CN" sz="2400" dirty="0">
              <a:solidFill>
                <a:schemeClr val="tx2"/>
              </a:solidFill>
              <a:latin typeface="Microsoft YaHei" panose="020B0503020204020204" pitchFamily="34" charset="-122"/>
              <a:ea typeface="Microsoft YaHei" panose="020B0503020204020204" pitchFamily="34" charset="-122"/>
            </a:endParaRPr>
          </a:p>
        </p:txBody>
      </p:sp>
      <p:sp>
        <p:nvSpPr>
          <p:cNvPr id="9" name="矩形 8">
            <a:extLst>
              <a:ext uri="{FF2B5EF4-FFF2-40B4-BE49-F238E27FC236}">
                <a16:creationId xmlns:a16="http://schemas.microsoft.com/office/drawing/2014/main" id="{2AC46054-1C67-BE4F-B33B-017DC7225FE5}"/>
              </a:ext>
            </a:extLst>
          </p:cNvPr>
          <p:cNvSpPr/>
          <p:nvPr/>
        </p:nvSpPr>
        <p:spPr>
          <a:xfrm>
            <a:off x="456066" y="997089"/>
            <a:ext cx="3724048" cy="3970318"/>
          </a:xfrm>
          <a:prstGeom prst="rect">
            <a:avLst/>
          </a:prstGeom>
          <a:ln w="6350">
            <a:solidFill>
              <a:schemeClr val="bg1">
                <a:lumMod val="50000"/>
              </a:schemeClr>
            </a:solidFill>
          </a:ln>
        </p:spPr>
        <p:txBody>
          <a:bodyPr wrap="square">
            <a:spAutoFit/>
          </a:bodyPr>
          <a:lstStyle/>
          <a:p>
            <a:r>
              <a:rPr lang="zh-CN" altLang="en-US" sz="900" b="1" dirty="0">
                <a:solidFill>
                  <a:schemeClr val="tx2"/>
                </a:solidFill>
                <a:latin typeface="-apple-system"/>
              </a:rPr>
              <a:t>第二象限（</a:t>
            </a:r>
            <a:r>
              <a:rPr lang="en-US" altLang="zh-CN" sz="900" b="1" dirty="0">
                <a:solidFill>
                  <a:schemeClr val="tx2"/>
                </a:solidFill>
                <a:latin typeface="-apple-system"/>
              </a:rPr>
              <a:t>Question</a:t>
            </a:r>
            <a:r>
              <a:rPr lang="zh-CN" altLang="en-US" sz="900" b="1" dirty="0">
                <a:solidFill>
                  <a:schemeClr val="tx2"/>
                </a:solidFill>
                <a:latin typeface="-apple-system"/>
              </a:rPr>
              <a:t>），问题象限。</a:t>
            </a:r>
            <a:endParaRPr lang="zh-CN" altLang="en-US" sz="900" dirty="0">
              <a:solidFill>
                <a:schemeClr val="tx2"/>
              </a:solidFill>
              <a:latin typeface="-apple-system"/>
            </a:endParaRPr>
          </a:p>
          <a:p>
            <a:endParaRPr lang="en-US" altLang="zh-CN" sz="900" dirty="0">
              <a:solidFill>
                <a:schemeClr val="tx2"/>
              </a:solidFill>
              <a:latin typeface="-apple-system"/>
            </a:endParaRPr>
          </a:p>
          <a:p>
            <a:r>
              <a:rPr lang="zh-CN" altLang="en-US" sz="900" dirty="0">
                <a:solidFill>
                  <a:schemeClr val="tx2"/>
                </a:solidFill>
                <a:latin typeface="-apple-system"/>
              </a:rPr>
              <a:t>该象限中，包含</a:t>
            </a:r>
            <a:r>
              <a:rPr lang="en-US" altLang="zh-CN" sz="900" dirty="0">
                <a:solidFill>
                  <a:schemeClr val="tx2"/>
                </a:solidFill>
                <a:latin typeface="-apple-system"/>
              </a:rPr>
              <a:t>Rust</a:t>
            </a:r>
            <a:r>
              <a:rPr lang="zh-CN" altLang="en-US" sz="900" dirty="0">
                <a:solidFill>
                  <a:schemeClr val="tx2"/>
                </a:solidFill>
                <a:latin typeface="-apple-system"/>
              </a:rPr>
              <a:t>、</a:t>
            </a:r>
            <a:r>
              <a:rPr lang="en-US" altLang="zh-CN" sz="900" dirty="0">
                <a:solidFill>
                  <a:schemeClr val="tx2"/>
                </a:solidFill>
                <a:latin typeface="-apple-system"/>
              </a:rPr>
              <a:t>Haskell</a:t>
            </a:r>
            <a:r>
              <a:rPr lang="zh-CN" altLang="en-US" sz="900" dirty="0">
                <a:solidFill>
                  <a:schemeClr val="tx2"/>
                </a:solidFill>
                <a:latin typeface="-apple-system"/>
              </a:rPr>
              <a:t>、</a:t>
            </a:r>
            <a:r>
              <a:rPr lang="en-US" altLang="zh-CN" sz="900" dirty="0">
                <a:solidFill>
                  <a:schemeClr val="tx2"/>
                </a:solidFill>
                <a:latin typeface="-apple-system"/>
              </a:rPr>
              <a:t>R</a:t>
            </a:r>
            <a:r>
              <a:rPr lang="zh-CN" altLang="en-US" sz="900" dirty="0">
                <a:solidFill>
                  <a:schemeClr val="tx2"/>
                </a:solidFill>
                <a:latin typeface="-apple-system"/>
              </a:rPr>
              <a:t>、</a:t>
            </a:r>
            <a:r>
              <a:rPr lang="en-US" altLang="zh-CN" sz="900" dirty="0">
                <a:solidFill>
                  <a:schemeClr val="tx2"/>
                </a:solidFill>
                <a:latin typeface="-apple-system"/>
              </a:rPr>
              <a:t>Scala</a:t>
            </a:r>
            <a:r>
              <a:rPr lang="zh-CN" altLang="en-US" sz="900" dirty="0">
                <a:solidFill>
                  <a:schemeClr val="tx2"/>
                </a:solidFill>
                <a:latin typeface="-apple-system"/>
              </a:rPr>
              <a:t>等语言。</a:t>
            </a:r>
            <a:endParaRPr lang="en-US" altLang="zh-CN" sz="900" dirty="0">
              <a:solidFill>
                <a:schemeClr val="tx2"/>
              </a:solidFill>
              <a:latin typeface="-apple-system"/>
            </a:endParaRPr>
          </a:p>
          <a:p>
            <a:endParaRPr lang="zh-CN" altLang="en-US" sz="900" dirty="0">
              <a:solidFill>
                <a:schemeClr val="tx2"/>
              </a:solidFill>
              <a:latin typeface="-apple-system"/>
            </a:endParaRPr>
          </a:p>
          <a:p>
            <a:r>
              <a:rPr lang="zh-CN" altLang="en-US" sz="900" dirty="0">
                <a:solidFill>
                  <a:schemeClr val="tx2"/>
                </a:solidFill>
              </a:rPr>
              <a:t>首当其冲的就是</a:t>
            </a:r>
            <a:r>
              <a:rPr lang="en-US" altLang="zh-CN" sz="900" dirty="0">
                <a:solidFill>
                  <a:schemeClr val="tx2"/>
                </a:solidFill>
              </a:rPr>
              <a:t>Rust</a:t>
            </a:r>
            <a:r>
              <a:rPr lang="zh-CN" altLang="en-US" sz="900" dirty="0">
                <a:solidFill>
                  <a:schemeClr val="tx2"/>
                </a:solidFill>
              </a:rPr>
              <a:t>语言。增长率高的可怕，但是市场占有率现在还比较低。</a:t>
            </a:r>
            <a:r>
              <a:rPr lang="en-US" altLang="zh-CN" sz="900" dirty="0">
                <a:solidFill>
                  <a:schemeClr val="tx2"/>
                </a:solidFill>
              </a:rPr>
              <a:t>Rust</a:t>
            </a:r>
            <a:r>
              <a:rPr lang="zh-CN" altLang="en-US" sz="900" dirty="0">
                <a:solidFill>
                  <a:schemeClr val="tx2"/>
                </a:solidFill>
              </a:rPr>
              <a:t>在技术上是一种通用型系统语言，你可以用它实现操作系统、嵌入式、网络服务、</a:t>
            </a:r>
            <a:r>
              <a:rPr lang="en-US" altLang="zh-CN" sz="900" dirty="0">
                <a:solidFill>
                  <a:schemeClr val="tx2"/>
                </a:solidFill>
              </a:rPr>
              <a:t>Web</a:t>
            </a:r>
            <a:r>
              <a:rPr lang="zh-CN" altLang="en-US" sz="900" dirty="0">
                <a:solidFill>
                  <a:schemeClr val="tx2"/>
                </a:solidFill>
              </a:rPr>
              <a:t>应用、游戏等等。它经常被拿来和</a:t>
            </a:r>
            <a:r>
              <a:rPr lang="en-US" altLang="zh-CN" sz="900" dirty="0">
                <a:solidFill>
                  <a:schemeClr val="tx2"/>
                </a:solidFill>
              </a:rPr>
              <a:t>C++</a:t>
            </a:r>
            <a:r>
              <a:rPr lang="zh-CN" altLang="en-US" sz="900" dirty="0">
                <a:solidFill>
                  <a:schemeClr val="tx2"/>
                </a:solidFill>
              </a:rPr>
              <a:t>比较，因为它们的语法有相似性。</a:t>
            </a:r>
            <a:r>
              <a:rPr lang="en-US" altLang="zh-CN" sz="900" dirty="0">
                <a:solidFill>
                  <a:schemeClr val="tx2"/>
                </a:solidFill>
              </a:rPr>
              <a:t>Rust</a:t>
            </a:r>
            <a:r>
              <a:rPr lang="zh-CN" altLang="en-US" sz="900" dirty="0">
                <a:solidFill>
                  <a:schemeClr val="tx2"/>
                </a:solidFill>
              </a:rPr>
              <a:t>在</a:t>
            </a:r>
            <a:r>
              <a:rPr lang="en-US" altLang="zh-CN" sz="900" dirty="0" err="1">
                <a:solidFill>
                  <a:schemeClr val="tx2"/>
                </a:solidFill>
              </a:rPr>
              <a:t>Stackoverflow</a:t>
            </a:r>
            <a:r>
              <a:rPr lang="zh-CN" altLang="en-US" sz="900" dirty="0">
                <a:solidFill>
                  <a:schemeClr val="tx2"/>
                </a:solidFill>
              </a:rPr>
              <a:t>已经连续三年成为开发者最喜欢的语言了。</a:t>
            </a:r>
            <a:r>
              <a:rPr lang="en-US" altLang="zh-CN" sz="900" dirty="0">
                <a:solidFill>
                  <a:schemeClr val="tx2"/>
                </a:solidFill>
              </a:rPr>
              <a:t>Rust</a:t>
            </a:r>
            <a:r>
              <a:rPr lang="zh-CN" altLang="en-US" sz="900" dirty="0">
                <a:solidFill>
                  <a:schemeClr val="tx2"/>
                </a:solidFill>
              </a:rPr>
              <a:t>的特色是，内存安全、并发安全和高性能。</a:t>
            </a:r>
            <a:br>
              <a:rPr lang="zh-CN" altLang="en-US" sz="900" dirty="0">
                <a:solidFill>
                  <a:schemeClr val="tx2"/>
                </a:solidFill>
              </a:rPr>
            </a:br>
            <a:br>
              <a:rPr lang="zh-CN" altLang="en-US" sz="900" dirty="0">
                <a:solidFill>
                  <a:schemeClr val="tx2"/>
                </a:solidFill>
              </a:rPr>
            </a:br>
            <a:r>
              <a:rPr lang="en-US" altLang="zh-CN" sz="900" dirty="0">
                <a:solidFill>
                  <a:schemeClr val="tx2"/>
                </a:solidFill>
              </a:rPr>
              <a:t>Scala</a:t>
            </a:r>
            <a:r>
              <a:rPr lang="zh-CN" altLang="en-US" sz="900" dirty="0">
                <a:solidFill>
                  <a:schemeClr val="tx2"/>
                </a:solidFill>
              </a:rPr>
              <a:t>，常常被视为下一代</a:t>
            </a:r>
            <a:r>
              <a:rPr lang="en-US" altLang="zh-CN" sz="900" dirty="0">
                <a:solidFill>
                  <a:schemeClr val="tx2"/>
                </a:solidFill>
              </a:rPr>
              <a:t>Java</a:t>
            </a:r>
            <a:r>
              <a:rPr lang="zh-CN" altLang="en-US" sz="900" dirty="0">
                <a:solidFill>
                  <a:schemeClr val="tx2"/>
                </a:solidFill>
              </a:rPr>
              <a:t>。它结合了面向对象和函数式两种范式，非常适合并行和分布式。但是和</a:t>
            </a:r>
            <a:r>
              <a:rPr lang="en-US" altLang="zh-CN" sz="900" dirty="0">
                <a:solidFill>
                  <a:schemeClr val="tx2"/>
                </a:solidFill>
              </a:rPr>
              <a:t>Go</a:t>
            </a:r>
            <a:r>
              <a:rPr lang="zh-CN" altLang="en-US" sz="900" dirty="0">
                <a:solidFill>
                  <a:schemeClr val="tx2"/>
                </a:solidFill>
              </a:rPr>
              <a:t>、</a:t>
            </a:r>
            <a:r>
              <a:rPr lang="en-US" altLang="zh-CN" sz="900" dirty="0">
                <a:solidFill>
                  <a:schemeClr val="tx2"/>
                </a:solidFill>
              </a:rPr>
              <a:t>Rust</a:t>
            </a:r>
            <a:r>
              <a:rPr lang="zh-CN" altLang="en-US" sz="900" dirty="0">
                <a:solidFill>
                  <a:schemeClr val="tx2"/>
                </a:solidFill>
              </a:rPr>
              <a:t>相比，它的增长率明显变得缓慢了。虽然图中没有</a:t>
            </a:r>
            <a:r>
              <a:rPr lang="en-US" altLang="zh-CN" sz="900" dirty="0">
                <a:solidFill>
                  <a:schemeClr val="tx2"/>
                </a:solidFill>
              </a:rPr>
              <a:t>Kotlin</a:t>
            </a:r>
            <a:r>
              <a:rPr lang="zh-CN" altLang="en-US" sz="900" dirty="0">
                <a:solidFill>
                  <a:schemeClr val="tx2"/>
                </a:solidFill>
              </a:rPr>
              <a:t>，但</a:t>
            </a:r>
            <a:r>
              <a:rPr lang="en-US" altLang="zh-CN" sz="900" dirty="0">
                <a:solidFill>
                  <a:schemeClr val="tx2"/>
                </a:solidFill>
              </a:rPr>
              <a:t>Scala</a:t>
            </a:r>
            <a:r>
              <a:rPr lang="zh-CN" altLang="en-US" sz="900" dirty="0">
                <a:solidFill>
                  <a:schemeClr val="tx2"/>
                </a:solidFill>
              </a:rPr>
              <a:t>想超越</a:t>
            </a:r>
            <a:r>
              <a:rPr lang="en-US" altLang="zh-CN" sz="900" dirty="0">
                <a:solidFill>
                  <a:schemeClr val="tx2"/>
                </a:solidFill>
              </a:rPr>
              <a:t>Java</a:t>
            </a:r>
            <a:r>
              <a:rPr lang="zh-CN" altLang="en-US" sz="900" dirty="0">
                <a:solidFill>
                  <a:schemeClr val="tx2"/>
                </a:solidFill>
              </a:rPr>
              <a:t>的目标，现在可能会由</a:t>
            </a:r>
            <a:r>
              <a:rPr lang="en-US" altLang="zh-CN" sz="900" dirty="0">
                <a:solidFill>
                  <a:schemeClr val="tx2"/>
                </a:solidFill>
              </a:rPr>
              <a:t>Kotlin</a:t>
            </a:r>
            <a:r>
              <a:rPr lang="zh-CN" altLang="en-US" sz="900" dirty="0">
                <a:solidFill>
                  <a:schemeClr val="tx2"/>
                </a:solidFill>
              </a:rPr>
              <a:t>替它实现了。</a:t>
            </a:r>
            <a:br>
              <a:rPr lang="zh-CN" altLang="en-US" sz="900" dirty="0">
                <a:solidFill>
                  <a:schemeClr val="tx2"/>
                </a:solidFill>
              </a:rPr>
            </a:br>
            <a:br>
              <a:rPr lang="zh-CN" altLang="en-US" sz="900" dirty="0">
                <a:solidFill>
                  <a:schemeClr val="tx2"/>
                </a:solidFill>
              </a:rPr>
            </a:br>
            <a:r>
              <a:rPr lang="en-US" altLang="zh-CN" sz="900" dirty="0">
                <a:solidFill>
                  <a:schemeClr val="tx2"/>
                </a:solidFill>
              </a:rPr>
              <a:t>R</a:t>
            </a:r>
            <a:r>
              <a:rPr lang="zh-CN" altLang="en-US" sz="900" dirty="0">
                <a:solidFill>
                  <a:schemeClr val="tx2"/>
                </a:solidFill>
              </a:rPr>
              <a:t>受欢迎的原因和</a:t>
            </a:r>
            <a:r>
              <a:rPr lang="en-US" altLang="zh-CN" sz="900" dirty="0">
                <a:solidFill>
                  <a:schemeClr val="tx2"/>
                </a:solidFill>
              </a:rPr>
              <a:t>Python</a:t>
            </a:r>
            <a:r>
              <a:rPr lang="zh-CN" altLang="en-US" sz="900" dirty="0">
                <a:solidFill>
                  <a:schemeClr val="tx2"/>
                </a:solidFill>
              </a:rPr>
              <a:t>比较相似，在数据科学领域比较受欢迎。但是现在随着</a:t>
            </a:r>
            <a:r>
              <a:rPr lang="en-US" altLang="zh-CN" sz="900" dirty="0">
                <a:solidFill>
                  <a:schemeClr val="tx2"/>
                </a:solidFill>
              </a:rPr>
              <a:t>Julia</a:t>
            </a:r>
            <a:r>
              <a:rPr lang="zh-CN" altLang="en-US" sz="900" dirty="0">
                <a:solidFill>
                  <a:schemeClr val="tx2"/>
                </a:solidFill>
              </a:rPr>
              <a:t>的正式发布，可能将来增长率会变缓。</a:t>
            </a:r>
            <a:br>
              <a:rPr lang="zh-CN" altLang="en-US" sz="900" dirty="0">
                <a:solidFill>
                  <a:schemeClr val="tx2"/>
                </a:solidFill>
              </a:rPr>
            </a:br>
            <a:br>
              <a:rPr lang="zh-CN" altLang="en-US" sz="900" dirty="0">
                <a:solidFill>
                  <a:schemeClr val="tx2"/>
                </a:solidFill>
              </a:rPr>
            </a:br>
            <a:r>
              <a:rPr lang="en-US" altLang="zh-CN" sz="900" dirty="0">
                <a:solidFill>
                  <a:schemeClr val="tx2"/>
                </a:solidFill>
              </a:rPr>
              <a:t>Haskell</a:t>
            </a:r>
            <a:r>
              <a:rPr lang="zh-CN" altLang="en-US" sz="900" dirty="0">
                <a:solidFill>
                  <a:schemeClr val="tx2"/>
                </a:solidFill>
              </a:rPr>
              <a:t>，是一门纯函数式语言，属于学术型语言。功能虽然很强大，但也可能限制其适用性。</a:t>
            </a:r>
            <a:r>
              <a:rPr lang="en-US" altLang="zh-CN" sz="900" dirty="0">
                <a:solidFill>
                  <a:schemeClr val="tx2"/>
                </a:solidFill>
              </a:rPr>
              <a:t>Rust</a:t>
            </a:r>
            <a:r>
              <a:rPr lang="zh-CN" altLang="en-US" sz="900" dirty="0">
                <a:solidFill>
                  <a:schemeClr val="tx2"/>
                </a:solidFill>
              </a:rPr>
              <a:t>语言借鉴了</a:t>
            </a:r>
            <a:r>
              <a:rPr lang="en-US" altLang="zh-CN" sz="900" dirty="0">
                <a:solidFill>
                  <a:schemeClr val="tx2"/>
                </a:solidFill>
              </a:rPr>
              <a:t>Haskell</a:t>
            </a:r>
            <a:r>
              <a:rPr lang="zh-CN" altLang="en-US" sz="900" dirty="0">
                <a:solidFill>
                  <a:schemeClr val="tx2"/>
                </a:solidFill>
              </a:rPr>
              <a:t>很多东西，但</a:t>
            </a:r>
            <a:r>
              <a:rPr lang="en-US" altLang="zh-CN" sz="900" dirty="0">
                <a:solidFill>
                  <a:schemeClr val="tx2"/>
                </a:solidFill>
              </a:rPr>
              <a:t>Rust</a:t>
            </a:r>
            <a:r>
              <a:rPr lang="zh-CN" altLang="en-US" sz="900" dirty="0">
                <a:solidFill>
                  <a:schemeClr val="tx2"/>
                </a:solidFill>
              </a:rPr>
              <a:t>实用性比</a:t>
            </a:r>
            <a:r>
              <a:rPr lang="en-US" altLang="zh-CN" sz="900" dirty="0">
                <a:solidFill>
                  <a:schemeClr val="tx2"/>
                </a:solidFill>
              </a:rPr>
              <a:t>Haskell</a:t>
            </a:r>
            <a:r>
              <a:rPr lang="zh-CN" altLang="en-US" sz="900" dirty="0">
                <a:solidFill>
                  <a:schemeClr val="tx2"/>
                </a:solidFill>
              </a:rPr>
              <a:t>更强。虽然现在</a:t>
            </a:r>
            <a:r>
              <a:rPr lang="en-US" altLang="zh-CN" sz="900" dirty="0">
                <a:solidFill>
                  <a:schemeClr val="tx2"/>
                </a:solidFill>
              </a:rPr>
              <a:t>Haskell</a:t>
            </a:r>
            <a:r>
              <a:rPr lang="zh-CN" altLang="en-US" sz="900" dirty="0">
                <a:solidFill>
                  <a:schemeClr val="tx2"/>
                </a:solidFill>
              </a:rPr>
              <a:t>还有很多狂热粉，有一定增长率，但很难说他们这种热情可以持续多久。</a:t>
            </a:r>
            <a:r>
              <a:rPr lang="zh-CN" altLang="en-US" sz="900" dirty="0">
                <a:solidFill>
                  <a:schemeClr val="tx2"/>
                </a:solidFill>
                <a:latin typeface="-apple-system"/>
              </a:rPr>
              <a:t>这些语言之所以被归为问题象限，是因为没有人真正知道未来这些语言能发挥多大作用，占什么位置。但它们也是有可能在未来为你产生「现金流」的语言。依照目前</a:t>
            </a:r>
            <a:r>
              <a:rPr lang="en-US" altLang="zh-CN" sz="900" dirty="0">
                <a:solidFill>
                  <a:schemeClr val="tx2"/>
                </a:solidFill>
                <a:latin typeface="-apple-system"/>
              </a:rPr>
              <a:t>Rust</a:t>
            </a:r>
            <a:r>
              <a:rPr lang="zh-CN" altLang="en-US" sz="900" dirty="0">
                <a:solidFill>
                  <a:schemeClr val="tx2"/>
                </a:solidFill>
                <a:latin typeface="-apple-system"/>
              </a:rPr>
              <a:t>的增长率，极有可能在未来</a:t>
            </a:r>
            <a:r>
              <a:rPr lang="en-US" altLang="zh-CN" sz="900" dirty="0">
                <a:solidFill>
                  <a:schemeClr val="tx2"/>
                </a:solidFill>
                <a:latin typeface="-apple-system"/>
              </a:rPr>
              <a:t>3</a:t>
            </a:r>
            <a:r>
              <a:rPr lang="zh-CN" altLang="en-US" sz="900" dirty="0">
                <a:solidFill>
                  <a:schemeClr val="tx2"/>
                </a:solidFill>
                <a:latin typeface="-apple-system"/>
              </a:rPr>
              <a:t>到</a:t>
            </a:r>
            <a:r>
              <a:rPr lang="en-US" altLang="zh-CN" sz="900" dirty="0">
                <a:solidFill>
                  <a:schemeClr val="tx2"/>
                </a:solidFill>
                <a:latin typeface="-apple-system"/>
              </a:rPr>
              <a:t>5</a:t>
            </a:r>
            <a:r>
              <a:rPr lang="zh-CN" altLang="en-US" sz="900" dirty="0">
                <a:solidFill>
                  <a:schemeClr val="tx2"/>
                </a:solidFill>
                <a:latin typeface="-apple-system"/>
              </a:rPr>
              <a:t>年内，落入到明星象限中。这些语言如果你还不会，那么选一门学吧。如果暂时没有精力，那么可以放到后面考虑，但一定要关注它们。</a:t>
            </a:r>
          </a:p>
        </p:txBody>
      </p:sp>
      <p:sp>
        <p:nvSpPr>
          <p:cNvPr id="10" name="矩形 9">
            <a:extLst>
              <a:ext uri="{FF2B5EF4-FFF2-40B4-BE49-F238E27FC236}">
                <a16:creationId xmlns:a16="http://schemas.microsoft.com/office/drawing/2014/main" id="{CDEDD73C-2C0D-2449-AC83-F6ABF6040325}"/>
              </a:ext>
            </a:extLst>
          </p:cNvPr>
          <p:cNvSpPr/>
          <p:nvPr/>
        </p:nvSpPr>
        <p:spPr>
          <a:xfrm>
            <a:off x="4688114" y="997089"/>
            <a:ext cx="3998685" cy="3554819"/>
          </a:xfrm>
          <a:prstGeom prst="rect">
            <a:avLst/>
          </a:prstGeom>
          <a:ln w="6350">
            <a:solidFill>
              <a:schemeClr val="bg1">
                <a:lumMod val="50000"/>
              </a:schemeClr>
            </a:solidFill>
          </a:ln>
        </p:spPr>
        <p:txBody>
          <a:bodyPr wrap="square">
            <a:spAutoFit/>
          </a:bodyPr>
          <a:lstStyle/>
          <a:p>
            <a:r>
              <a:rPr lang="zh-CN" altLang="en-US" sz="900" b="1" dirty="0">
                <a:solidFill>
                  <a:schemeClr val="tx2"/>
                </a:solidFill>
                <a:latin typeface="-apple-system"/>
              </a:rPr>
              <a:t>第一象限（</a:t>
            </a:r>
            <a:r>
              <a:rPr lang="en-US" altLang="zh-CN" sz="900" b="1" dirty="0">
                <a:solidFill>
                  <a:schemeClr val="tx2"/>
                </a:solidFill>
                <a:latin typeface="-apple-system"/>
              </a:rPr>
              <a:t>Star</a:t>
            </a:r>
            <a:r>
              <a:rPr lang="zh-CN" altLang="en-US" sz="900" b="1" dirty="0">
                <a:solidFill>
                  <a:schemeClr val="tx2"/>
                </a:solidFill>
                <a:latin typeface="-apple-system"/>
              </a:rPr>
              <a:t>），明星象限。</a:t>
            </a:r>
            <a:endParaRPr lang="zh-CN" altLang="en-US" sz="900" dirty="0">
              <a:solidFill>
                <a:schemeClr val="tx2"/>
              </a:solidFill>
              <a:latin typeface="-apple-system"/>
            </a:endParaRPr>
          </a:p>
          <a:p>
            <a:endParaRPr lang="en-US" altLang="zh-CN" sz="900" dirty="0">
              <a:solidFill>
                <a:schemeClr val="tx2"/>
              </a:solidFill>
              <a:latin typeface="-apple-system"/>
            </a:endParaRPr>
          </a:p>
          <a:p>
            <a:r>
              <a:rPr lang="zh-CN" altLang="en-US" sz="900" dirty="0">
                <a:solidFill>
                  <a:schemeClr val="tx2"/>
                </a:solidFill>
                <a:latin typeface="-apple-system"/>
              </a:rPr>
              <a:t>包含的语言有</a:t>
            </a:r>
            <a:r>
              <a:rPr lang="en-US" altLang="zh-CN" sz="900" dirty="0">
                <a:solidFill>
                  <a:schemeClr val="tx2"/>
                </a:solidFill>
                <a:latin typeface="-apple-system"/>
              </a:rPr>
              <a:t>TypeScript</a:t>
            </a:r>
            <a:r>
              <a:rPr lang="zh-CN" altLang="en-US" sz="900" dirty="0">
                <a:solidFill>
                  <a:schemeClr val="tx2"/>
                </a:solidFill>
                <a:latin typeface="-apple-system"/>
              </a:rPr>
              <a:t>、</a:t>
            </a:r>
            <a:r>
              <a:rPr lang="en-US" altLang="zh-CN" sz="900" dirty="0">
                <a:solidFill>
                  <a:schemeClr val="tx2"/>
                </a:solidFill>
                <a:latin typeface="-apple-system"/>
              </a:rPr>
              <a:t>Go</a:t>
            </a:r>
            <a:r>
              <a:rPr lang="zh-CN" altLang="en-US" sz="900" dirty="0">
                <a:solidFill>
                  <a:schemeClr val="tx2"/>
                </a:solidFill>
                <a:latin typeface="-apple-system"/>
              </a:rPr>
              <a:t>、</a:t>
            </a:r>
            <a:r>
              <a:rPr lang="en-US" altLang="zh-CN" sz="900" dirty="0">
                <a:solidFill>
                  <a:schemeClr val="tx2"/>
                </a:solidFill>
                <a:latin typeface="-apple-system"/>
              </a:rPr>
              <a:t>Python</a:t>
            </a:r>
            <a:r>
              <a:rPr lang="zh-CN" altLang="en-US" sz="900" dirty="0">
                <a:solidFill>
                  <a:schemeClr val="tx2"/>
                </a:solidFill>
                <a:latin typeface="-apple-system"/>
              </a:rPr>
              <a:t>、</a:t>
            </a:r>
            <a:r>
              <a:rPr lang="en-US" altLang="zh-CN" sz="900" dirty="0">
                <a:solidFill>
                  <a:schemeClr val="tx2"/>
                </a:solidFill>
                <a:latin typeface="-apple-system"/>
              </a:rPr>
              <a:t>Ruby</a:t>
            </a:r>
            <a:r>
              <a:rPr lang="zh-CN" altLang="en-US" sz="900" dirty="0">
                <a:solidFill>
                  <a:schemeClr val="tx2"/>
                </a:solidFill>
                <a:latin typeface="-apple-system"/>
              </a:rPr>
              <a:t>。按</a:t>
            </a:r>
            <a:r>
              <a:rPr lang="en-US" altLang="zh-CN" sz="900" dirty="0">
                <a:solidFill>
                  <a:schemeClr val="tx2"/>
                </a:solidFill>
                <a:latin typeface="-apple-system"/>
              </a:rPr>
              <a:t>BCG</a:t>
            </a:r>
            <a:r>
              <a:rPr lang="zh-CN" altLang="en-US" sz="900" dirty="0">
                <a:solidFill>
                  <a:schemeClr val="tx2"/>
                </a:solidFill>
                <a:latin typeface="-apple-system"/>
              </a:rPr>
              <a:t>矩阵模型来分析，在这个象限里的这些语言，都是明星语言。</a:t>
            </a:r>
            <a:endParaRPr lang="en-US" altLang="zh-CN" sz="900" dirty="0">
              <a:solidFill>
                <a:schemeClr val="tx2"/>
              </a:solidFill>
              <a:latin typeface="-apple-system"/>
            </a:endParaRPr>
          </a:p>
          <a:p>
            <a:endParaRPr lang="zh-CN" altLang="en-US" sz="900" dirty="0">
              <a:solidFill>
                <a:schemeClr val="tx2"/>
              </a:solidFill>
              <a:latin typeface="-apple-system"/>
            </a:endParaRPr>
          </a:p>
          <a:p>
            <a:r>
              <a:rPr lang="en-US" altLang="zh-CN" sz="900" dirty="0">
                <a:solidFill>
                  <a:schemeClr val="tx2"/>
                </a:solidFill>
              </a:rPr>
              <a:t>Python</a:t>
            </a:r>
            <a:r>
              <a:rPr lang="zh-CN" altLang="en-US" sz="900" dirty="0">
                <a:solidFill>
                  <a:schemeClr val="tx2"/>
                </a:solidFill>
              </a:rPr>
              <a:t>这两年人气飙升，简直就是国民语言。让很多人产生一种错觉，好像所有公司都在用</a:t>
            </a:r>
            <a:r>
              <a:rPr lang="en-US" altLang="zh-CN" sz="900" dirty="0">
                <a:solidFill>
                  <a:schemeClr val="tx2"/>
                </a:solidFill>
              </a:rPr>
              <a:t>Python</a:t>
            </a:r>
            <a:r>
              <a:rPr lang="zh-CN" altLang="en-US" sz="900" dirty="0">
                <a:solidFill>
                  <a:schemeClr val="tx2"/>
                </a:solidFill>
              </a:rPr>
              <a:t>，离不开</a:t>
            </a:r>
            <a:r>
              <a:rPr lang="en-US" altLang="zh-CN" sz="900" dirty="0">
                <a:solidFill>
                  <a:schemeClr val="tx2"/>
                </a:solidFill>
              </a:rPr>
              <a:t>Python</a:t>
            </a:r>
            <a:r>
              <a:rPr lang="zh-CN" altLang="en-US" sz="900" dirty="0">
                <a:solidFill>
                  <a:schemeClr val="tx2"/>
                </a:solidFill>
              </a:rPr>
              <a:t>。但它其实是伴随最近两三年数据分析、  机器学习和深度学习领域升温而火。</a:t>
            </a:r>
            <a:r>
              <a:rPr lang="en-US" altLang="zh-CN" sz="900" dirty="0">
                <a:solidFill>
                  <a:schemeClr val="tx2"/>
                </a:solidFill>
              </a:rPr>
              <a:t>Python</a:t>
            </a:r>
            <a:r>
              <a:rPr lang="zh-CN" altLang="en-US" sz="900" dirty="0">
                <a:solidFill>
                  <a:schemeClr val="tx2"/>
                </a:solidFill>
              </a:rPr>
              <a:t>有很多易于使用的库和开源项目，它的语法也相对其他语言更加简单，像</a:t>
            </a:r>
            <a:r>
              <a:rPr lang="en-US" altLang="zh-CN" sz="900" dirty="0" err="1">
                <a:solidFill>
                  <a:schemeClr val="tx2"/>
                </a:solidFill>
              </a:rPr>
              <a:t>Jupyter</a:t>
            </a:r>
            <a:r>
              <a:rPr lang="en-US" altLang="zh-CN" sz="900" dirty="0">
                <a:solidFill>
                  <a:schemeClr val="tx2"/>
                </a:solidFill>
              </a:rPr>
              <a:t> notebooks </a:t>
            </a:r>
            <a:r>
              <a:rPr lang="zh-CN" altLang="en-US" sz="900" dirty="0">
                <a:solidFill>
                  <a:schemeClr val="tx2"/>
                </a:solidFill>
              </a:rPr>
              <a:t>这种交互式可复制的计算环境越来越受数据工作组和科学家欢迎。</a:t>
            </a:r>
            <a:endParaRPr lang="en-US" altLang="zh-CN" sz="900" dirty="0">
              <a:solidFill>
                <a:schemeClr val="tx2"/>
              </a:solidFill>
            </a:endParaRPr>
          </a:p>
          <a:p>
            <a:br>
              <a:rPr lang="zh-CN" altLang="en-US" sz="900" dirty="0">
                <a:solidFill>
                  <a:schemeClr val="tx2"/>
                </a:solidFill>
              </a:rPr>
            </a:br>
            <a:r>
              <a:rPr lang="en-US" altLang="zh-CN" sz="900" dirty="0">
                <a:solidFill>
                  <a:schemeClr val="tx2"/>
                </a:solidFill>
              </a:rPr>
              <a:t>Ruby</a:t>
            </a:r>
            <a:r>
              <a:rPr lang="zh-CN" altLang="en-US" sz="900" dirty="0">
                <a:solidFill>
                  <a:schemeClr val="tx2"/>
                </a:solidFill>
              </a:rPr>
              <a:t>，基本上是和</a:t>
            </a:r>
            <a:r>
              <a:rPr lang="en-US" altLang="zh-CN" sz="900" dirty="0">
                <a:solidFill>
                  <a:schemeClr val="tx2"/>
                </a:solidFill>
              </a:rPr>
              <a:t>Python</a:t>
            </a:r>
            <a:r>
              <a:rPr lang="zh-CN" altLang="en-US" sz="900" dirty="0">
                <a:solidFill>
                  <a:schemeClr val="tx2"/>
                </a:solidFill>
              </a:rPr>
              <a:t>年龄相仿的语言，但其成名比较晚，所以不如</a:t>
            </a:r>
            <a:r>
              <a:rPr lang="en-US" altLang="zh-CN" sz="900" dirty="0">
                <a:solidFill>
                  <a:schemeClr val="tx2"/>
                </a:solidFill>
              </a:rPr>
              <a:t>Python</a:t>
            </a:r>
            <a:r>
              <a:rPr lang="zh-CN" altLang="en-US" sz="900" dirty="0">
                <a:solidFill>
                  <a:schemeClr val="tx2"/>
                </a:solidFill>
              </a:rPr>
              <a:t>那么普及。前十年创业大潮飞速发展，</a:t>
            </a:r>
            <a:r>
              <a:rPr lang="en-US" altLang="zh-CN" sz="900" dirty="0">
                <a:solidFill>
                  <a:schemeClr val="tx2"/>
                </a:solidFill>
              </a:rPr>
              <a:t>Ruby</a:t>
            </a:r>
            <a:r>
              <a:rPr lang="zh-CN" altLang="en-US" sz="900" dirty="0">
                <a:solidFill>
                  <a:schemeClr val="tx2"/>
                </a:solidFill>
              </a:rPr>
              <a:t>随着</a:t>
            </a:r>
            <a:r>
              <a:rPr lang="en-US" altLang="zh-CN" sz="900" dirty="0">
                <a:solidFill>
                  <a:schemeClr val="tx2"/>
                </a:solidFill>
              </a:rPr>
              <a:t>Ruby on Rails</a:t>
            </a:r>
            <a:r>
              <a:rPr lang="zh-CN" altLang="en-US" sz="900" dirty="0">
                <a:solidFill>
                  <a:schemeClr val="tx2"/>
                </a:solidFill>
              </a:rPr>
              <a:t>框架而声名鹊起，然而，现在在国外市场占有率还在升高，但是在国内就有点「冷」。但</a:t>
            </a:r>
            <a:r>
              <a:rPr lang="en-US" altLang="zh-CN" sz="900" dirty="0">
                <a:solidFill>
                  <a:schemeClr val="tx2"/>
                </a:solidFill>
              </a:rPr>
              <a:t>Ruby</a:t>
            </a:r>
            <a:r>
              <a:rPr lang="zh-CN" altLang="en-US" sz="900" dirty="0">
                <a:solidFill>
                  <a:schemeClr val="tx2"/>
                </a:solidFill>
              </a:rPr>
              <a:t>并没有「死」。现在国内很多公司还在用</a:t>
            </a:r>
            <a:r>
              <a:rPr lang="en-US" altLang="zh-CN" sz="900" dirty="0">
                <a:solidFill>
                  <a:schemeClr val="tx2"/>
                </a:solidFill>
              </a:rPr>
              <a:t>Ruby</a:t>
            </a:r>
            <a:r>
              <a:rPr lang="zh-CN" altLang="en-US" sz="900" dirty="0">
                <a:solidFill>
                  <a:schemeClr val="tx2"/>
                </a:solidFill>
              </a:rPr>
              <a:t>，有大量职位空缺，然而找不到相应的开发者。</a:t>
            </a:r>
            <a:r>
              <a:rPr lang="en-US" altLang="zh-CN" sz="900" dirty="0">
                <a:solidFill>
                  <a:schemeClr val="tx2"/>
                </a:solidFill>
              </a:rPr>
              <a:t>Ruby</a:t>
            </a:r>
            <a:r>
              <a:rPr lang="zh-CN" altLang="en-US" sz="900" dirty="0">
                <a:solidFill>
                  <a:schemeClr val="tx2"/>
                </a:solidFill>
              </a:rPr>
              <a:t>已经进入了成熟期。</a:t>
            </a:r>
            <a:endParaRPr lang="en-US" altLang="zh-CN" sz="900" dirty="0">
              <a:solidFill>
                <a:schemeClr val="tx2"/>
              </a:solidFill>
            </a:endParaRPr>
          </a:p>
          <a:p>
            <a:br>
              <a:rPr lang="zh-CN" altLang="en-US" sz="900" dirty="0">
                <a:solidFill>
                  <a:schemeClr val="tx2"/>
                </a:solidFill>
              </a:rPr>
            </a:br>
            <a:r>
              <a:rPr lang="en-US" altLang="zh-CN" sz="900" dirty="0">
                <a:solidFill>
                  <a:schemeClr val="tx2"/>
                </a:solidFill>
              </a:rPr>
              <a:t>Go</a:t>
            </a:r>
            <a:r>
              <a:rPr lang="zh-CN" altLang="en-US" sz="900" dirty="0">
                <a:solidFill>
                  <a:schemeClr val="tx2"/>
                </a:solidFill>
              </a:rPr>
              <a:t>，最近几年增长飞快，市场也逐渐有了占有率。它简化了编写并发代码的过程，这得益于</a:t>
            </a:r>
            <a:r>
              <a:rPr lang="en-US" altLang="zh-CN" sz="900" dirty="0">
                <a:solidFill>
                  <a:schemeClr val="tx2"/>
                </a:solidFill>
              </a:rPr>
              <a:t>Google</a:t>
            </a:r>
            <a:r>
              <a:rPr lang="zh-CN" altLang="en-US" sz="900" dirty="0">
                <a:solidFill>
                  <a:schemeClr val="tx2"/>
                </a:solidFill>
              </a:rPr>
              <a:t>内部的</a:t>
            </a:r>
            <a:r>
              <a:rPr lang="en-US" altLang="zh-CN" sz="900" dirty="0">
                <a:solidFill>
                  <a:schemeClr val="tx2"/>
                </a:solidFill>
              </a:rPr>
              <a:t>Go</a:t>
            </a:r>
            <a:r>
              <a:rPr lang="zh-CN" altLang="en-US" sz="900" dirty="0">
                <a:solidFill>
                  <a:schemeClr val="tx2"/>
                </a:solidFill>
              </a:rPr>
              <a:t>语言团队，他们认为未来代码会越来越庞大，多核处理和网络应用的开发成本会越来越高，所以</a:t>
            </a:r>
            <a:r>
              <a:rPr lang="en-US" altLang="zh-CN" sz="900" dirty="0">
                <a:solidFill>
                  <a:schemeClr val="tx2"/>
                </a:solidFill>
              </a:rPr>
              <a:t>Go</a:t>
            </a:r>
            <a:r>
              <a:rPr lang="zh-CN" altLang="en-US" sz="900" dirty="0">
                <a:solidFill>
                  <a:schemeClr val="tx2"/>
                </a:solidFill>
              </a:rPr>
              <a:t>就诞生了。</a:t>
            </a:r>
            <a:endParaRPr lang="en-US" altLang="zh-CN" sz="900" dirty="0">
              <a:solidFill>
                <a:schemeClr val="tx2"/>
              </a:solidFill>
            </a:endParaRPr>
          </a:p>
          <a:p>
            <a:br>
              <a:rPr lang="zh-CN" altLang="en-US" sz="900" dirty="0">
                <a:solidFill>
                  <a:schemeClr val="tx2"/>
                </a:solidFill>
              </a:rPr>
            </a:br>
            <a:r>
              <a:rPr lang="en-US" altLang="zh-CN" sz="900" dirty="0">
                <a:solidFill>
                  <a:schemeClr val="tx2"/>
                </a:solidFill>
              </a:rPr>
              <a:t>Typescript</a:t>
            </a:r>
            <a:r>
              <a:rPr lang="zh-CN" altLang="en-US" sz="900" dirty="0">
                <a:solidFill>
                  <a:schemeClr val="tx2"/>
                </a:solidFill>
              </a:rPr>
              <a:t>和</a:t>
            </a:r>
            <a:r>
              <a:rPr lang="en-US" altLang="zh-CN" sz="900" dirty="0" err="1">
                <a:solidFill>
                  <a:schemeClr val="tx2"/>
                </a:solidFill>
              </a:rPr>
              <a:t>Javascript</a:t>
            </a:r>
            <a:r>
              <a:rPr lang="zh-CN" altLang="en-US" sz="900" dirty="0">
                <a:solidFill>
                  <a:schemeClr val="tx2"/>
                </a:solidFill>
              </a:rPr>
              <a:t>有很强的重合性，但是具有该语言经验的开发人员是一个相对独立于</a:t>
            </a:r>
            <a:r>
              <a:rPr lang="en-US" altLang="zh-CN" sz="900" dirty="0" err="1">
                <a:solidFill>
                  <a:schemeClr val="tx2"/>
                </a:solidFill>
              </a:rPr>
              <a:t>Javascript</a:t>
            </a:r>
            <a:r>
              <a:rPr lang="zh-CN" altLang="en-US" sz="900" dirty="0">
                <a:solidFill>
                  <a:schemeClr val="tx2"/>
                </a:solidFill>
              </a:rPr>
              <a:t>开发者之外的群体。它的特色是强类型语言。其实从</a:t>
            </a:r>
            <a:r>
              <a:rPr lang="en-US" altLang="zh-CN" sz="900" dirty="0">
                <a:solidFill>
                  <a:schemeClr val="tx2"/>
                </a:solidFill>
              </a:rPr>
              <a:t>2010</a:t>
            </a:r>
            <a:r>
              <a:rPr lang="zh-CN" altLang="en-US" sz="900" dirty="0">
                <a:solidFill>
                  <a:schemeClr val="tx2"/>
                </a:solidFill>
              </a:rPr>
              <a:t>年开始出现的新语言，基本都是强类型。</a:t>
            </a:r>
            <a:r>
              <a:rPr lang="zh-CN" altLang="en-US" sz="900" dirty="0">
                <a:solidFill>
                  <a:schemeClr val="tx2"/>
                </a:solidFill>
                <a:latin typeface="-apple-system"/>
              </a:rPr>
              <a:t>作为明星象限的语言，它很有潜力成为未来为你产生「现金流」的语言。</a:t>
            </a:r>
            <a:endParaRPr lang="en-US" altLang="zh-CN" sz="900" dirty="0">
              <a:solidFill>
                <a:schemeClr val="tx2"/>
              </a:solidFill>
              <a:latin typeface="-apple-system"/>
            </a:endParaRPr>
          </a:p>
        </p:txBody>
      </p:sp>
      <p:sp>
        <p:nvSpPr>
          <p:cNvPr id="11" name="矩形 10">
            <a:extLst>
              <a:ext uri="{FF2B5EF4-FFF2-40B4-BE49-F238E27FC236}">
                <a16:creationId xmlns:a16="http://schemas.microsoft.com/office/drawing/2014/main" id="{E196824E-DBC6-0448-B92F-14A0EAACB927}"/>
              </a:ext>
            </a:extLst>
          </p:cNvPr>
          <p:cNvSpPr/>
          <p:nvPr/>
        </p:nvSpPr>
        <p:spPr>
          <a:xfrm>
            <a:off x="456067" y="5521405"/>
            <a:ext cx="3528541" cy="923330"/>
          </a:xfrm>
          <a:prstGeom prst="rect">
            <a:avLst/>
          </a:prstGeom>
          <a:ln w="6350">
            <a:solidFill>
              <a:schemeClr val="bg1">
                <a:lumMod val="50000"/>
              </a:schemeClr>
            </a:solidFill>
          </a:ln>
        </p:spPr>
        <p:txBody>
          <a:bodyPr wrap="square">
            <a:spAutoFit/>
          </a:bodyPr>
          <a:lstStyle/>
          <a:p>
            <a:r>
              <a:rPr lang="zh-CN" altLang="en-US" sz="900" b="1" dirty="0">
                <a:solidFill>
                  <a:schemeClr val="tx2"/>
                </a:solidFill>
                <a:latin typeface="-apple-system"/>
              </a:rPr>
              <a:t>第三象限（</a:t>
            </a:r>
            <a:r>
              <a:rPr lang="en-US" altLang="zh-CN" sz="900" b="1" dirty="0">
                <a:solidFill>
                  <a:schemeClr val="tx2"/>
                </a:solidFill>
                <a:latin typeface="-apple-system"/>
              </a:rPr>
              <a:t>Dogs</a:t>
            </a:r>
            <a:r>
              <a:rPr lang="zh-CN" altLang="en-US" sz="900" b="1" dirty="0">
                <a:solidFill>
                  <a:schemeClr val="tx2"/>
                </a:solidFill>
                <a:latin typeface="-apple-system"/>
              </a:rPr>
              <a:t>），瘦狗象限。</a:t>
            </a:r>
            <a:endParaRPr lang="zh-CN" altLang="en-US" sz="900" dirty="0">
              <a:solidFill>
                <a:schemeClr val="tx2"/>
              </a:solidFill>
              <a:latin typeface="-apple-system"/>
            </a:endParaRPr>
          </a:p>
          <a:p>
            <a:endParaRPr lang="en-US" altLang="zh-CN" sz="900" dirty="0">
              <a:solidFill>
                <a:schemeClr val="tx2"/>
              </a:solidFill>
              <a:latin typeface="-apple-system"/>
            </a:endParaRPr>
          </a:p>
          <a:p>
            <a:r>
              <a:rPr lang="zh-CN" altLang="en-US" sz="900" dirty="0">
                <a:solidFill>
                  <a:schemeClr val="tx2"/>
                </a:solidFill>
                <a:latin typeface="-apple-system"/>
              </a:rPr>
              <a:t>落入这个象限的语言包括</a:t>
            </a:r>
            <a:r>
              <a:rPr lang="en-US" altLang="zh-CN" sz="900" dirty="0">
                <a:solidFill>
                  <a:schemeClr val="tx2"/>
                </a:solidFill>
                <a:latin typeface="-apple-system"/>
              </a:rPr>
              <a:t>VB</a:t>
            </a:r>
            <a:r>
              <a:rPr lang="zh-CN" altLang="en-US" sz="900" dirty="0">
                <a:solidFill>
                  <a:schemeClr val="tx2"/>
                </a:solidFill>
                <a:latin typeface="-apple-system"/>
              </a:rPr>
              <a:t>、</a:t>
            </a:r>
            <a:r>
              <a:rPr lang="en-US" altLang="zh-CN" sz="900" dirty="0" err="1">
                <a:solidFill>
                  <a:schemeClr val="tx2"/>
                </a:solidFill>
                <a:latin typeface="-apple-system"/>
              </a:rPr>
              <a:t>matlab</a:t>
            </a:r>
            <a:r>
              <a:rPr lang="zh-CN" altLang="en-US" sz="900" dirty="0">
                <a:solidFill>
                  <a:schemeClr val="tx2"/>
                </a:solidFill>
                <a:latin typeface="-apple-system"/>
              </a:rPr>
              <a:t>、</a:t>
            </a:r>
            <a:r>
              <a:rPr lang="en-US" altLang="zh-CN" sz="900" dirty="0">
                <a:solidFill>
                  <a:schemeClr val="tx2"/>
                </a:solidFill>
                <a:latin typeface="-apple-system"/>
              </a:rPr>
              <a:t>Perl</a:t>
            </a:r>
            <a:r>
              <a:rPr lang="zh-CN" altLang="en-US" sz="900" dirty="0">
                <a:solidFill>
                  <a:schemeClr val="tx2"/>
                </a:solidFill>
                <a:latin typeface="-apple-system"/>
              </a:rPr>
              <a:t>等。虽然微软在使劲给</a:t>
            </a:r>
            <a:r>
              <a:rPr lang="en-US" altLang="zh-CN" sz="900" dirty="0">
                <a:solidFill>
                  <a:schemeClr val="tx2"/>
                </a:solidFill>
                <a:latin typeface="-apple-system"/>
              </a:rPr>
              <a:t>VB</a:t>
            </a:r>
            <a:r>
              <a:rPr lang="zh-CN" altLang="en-US" sz="900" dirty="0">
                <a:solidFill>
                  <a:schemeClr val="tx2"/>
                </a:solidFill>
                <a:latin typeface="-apple-system"/>
              </a:rPr>
              <a:t>续命，但还是挡不住它生命逝去的速度。虽然还有一定的增长，但实际上在</a:t>
            </a:r>
            <a:r>
              <a:rPr lang="en-US" altLang="zh-CN" sz="900" dirty="0">
                <a:solidFill>
                  <a:schemeClr val="tx2"/>
                </a:solidFill>
                <a:latin typeface="-apple-system"/>
              </a:rPr>
              <a:t>2018</a:t>
            </a:r>
            <a:r>
              <a:rPr lang="zh-CN" altLang="en-US" sz="900" dirty="0">
                <a:solidFill>
                  <a:schemeClr val="tx2"/>
                </a:solidFill>
                <a:latin typeface="-apple-system"/>
              </a:rPr>
              <a:t>年已经失去了市场份额。这些语言就不过多介绍了。只有在你万不得已的情况下，你再去选择学习吧。</a:t>
            </a:r>
          </a:p>
        </p:txBody>
      </p:sp>
      <p:sp>
        <p:nvSpPr>
          <p:cNvPr id="15" name="矩形 14">
            <a:extLst>
              <a:ext uri="{FF2B5EF4-FFF2-40B4-BE49-F238E27FC236}">
                <a16:creationId xmlns:a16="http://schemas.microsoft.com/office/drawing/2014/main" id="{47C7E03C-0471-DF40-991C-242C67217A55}"/>
              </a:ext>
            </a:extLst>
          </p:cNvPr>
          <p:cNvSpPr/>
          <p:nvPr/>
        </p:nvSpPr>
        <p:spPr>
          <a:xfrm>
            <a:off x="4688114" y="4828908"/>
            <a:ext cx="3998685" cy="1615827"/>
          </a:xfrm>
          <a:prstGeom prst="rect">
            <a:avLst/>
          </a:prstGeom>
          <a:ln w="6350">
            <a:solidFill>
              <a:schemeClr val="bg1">
                <a:lumMod val="50000"/>
              </a:schemeClr>
            </a:solidFill>
          </a:ln>
        </p:spPr>
        <p:txBody>
          <a:bodyPr wrap="square">
            <a:spAutoFit/>
          </a:bodyPr>
          <a:lstStyle/>
          <a:p>
            <a:r>
              <a:rPr lang="zh-CN" altLang="en-US" sz="900" b="1" dirty="0">
                <a:solidFill>
                  <a:schemeClr val="tx2"/>
                </a:solidFill>
                <a:latin typeface="-apple-system"/>
              </a:rPr>
              <a:t>第四象限（</a:t>
            </a:r>
            <a:r>
              <a:rPr lang="en-US" altLang="zh-CN" sz="900" b="1" dirty="0">
                <a:solidFill>
                  <a:schemeClr val="tx2"/>
                </a:solidFill>
                <a:latin typeface="-apple-system"/>
              </a:rPr>
              <a:t>Cash Cows</a:t>
            </a:r>
            <a:r>
              <a:rPr lang="zh-CN" altLang="en-US" sz="900" b="1" dirty="0">
                <a:solidFill>
                  <a:schemeClr val="tx2"/>
                </a:solidFill>
                <a:latin typeface="-apple-system"/>
              </a:rPr>
              <a:t>），现金牛象限</a:t>
            </a:r>
            <a:r>
              <a:rPr lang="zh-CN" altLang="en-US" sz="900" dirty="0">
                <a:solidFill>
                  <a:schemeClr val="tx2"/>
                </a:solidFill>
                <a:latin typeface="-apple-system"/>
              </a:rPr>
              <a:t>。</a:t>
            </a:r>
          </a:p>
          <a:p>
            <a:endParaRPr lang="en-US" altLang="zh-CN" sz="900" dirty="0">
              <a:solidFill>
                <a:schemeClr val="tx2"/>
              </a:solidFill>
              <a:latin typeface="-apple-system"/>
            </a:endParaRPr>
          </a:p>
          <a:p>
            <a:r>
              <a:rPr lang="zh-CN" altLang="en-US" sz="900" dirty="0">
                <a:solidFill>
                  <a:schemeClr val="tx2"/>
                </a:solidFill>
                <a:latin typeface="-apple-system"/>
              </a:rPr>
              <a:t>落入这个象限的语言，都是支撑大部分开发者生存的语言，开发者要靠这些语言支付账单。包括</a:t>
            </a:r>
            <a:r>
              <a:rPr lang="en-US" altLang="zh-CN" sz="900" dirty="0">
                <a:solidFill>
                  <a:schemeClr val="tx2"/>
                </a:solidFill>
                <a:latin typeface="-apple-system"/>
              </a:rPr>
              <a:t>Java</a:t>
            </a:r>
            <a:r>
              <a:rPr lang="zh-CN" altLang="en-US" sz="900" dirty="0">
                <a:solidFill>
                  <a:schemeClr val="tx2"/>
                </a:solidFill>
                <a:latin typeface="-apple-system"/>
              </a:rPr>
              <a:t>、</a:t>
            </a:r>
            <a:r>
              <a:rPr lang="en-US" altLang="zh-CN" sz="900" dirty="0" err="1">
                <a:solidFill>
                  <a:schemeClr val="tx2"/>
                </a:solidFill>
                <a:latin typeface="-apple-system"/>
              </a:rPr>
              <a:t>Javascript</a:t>
            </a:r>
            <a:r>
              <a:rPr lang="zh-CN" altLang="en-US" sz="900" dirty="0">
                <a:solidFill>
                  <a:schemeClr val="tx2"/>
                </a:solidFill>
                <a:latin typeface="-apple-system"/>
              </a:rPr>
              <a:t>、</a:t>
            </a:r>
            <a:r>
              <a:rPr lang="en-US" altLang="zh-CN" sz="900" dirty="0">
                <a:solidFill>
                  <a:schemeClr val="tx2"/>
                </a:solidFill>
                <a:latin typeface="-apple-system"/>
              </a:rPr>
              <a:t>PHP</a:t>
            </a:r>
            <a:r>
              <a:rPr lang="zh-CN" altLang="en-US" sz="900" dirty="0">
                <a:solidFill>
                  <a:schemeClr val="tx2"/>
                </a:solidFill>
                <a:latin typeface="-apple-system"/>
              </a:rPr>
              <a:t>、</a:t>
            </a:r>
            <a:r>
              <a:rPr lang="en-US" altLang="zh-CN" sz="900" dirty="0">
                <a:solidFill>
                  <a:schemeClr val="tx2"/>
                </a:solidFill>
                <a:latin typeface="-apple-system"/>
              </a:rPr>
              <a:t>SQL</a:t>
            </a:r>
            <a:r>
              <a:rPr lang="zh-CN" altLang="en-US" sz="900" dirty="0">
                <a:solidFill>
                  <a:schemeClr val="tx2"/>
                </a:solidFill>
                <a:latin typeface="-apple-system"/>
              </a:rPr>
              <a:t>、</a:t>
            </a:r>
            <a:r>
              <a:rPr lang="en-US" altLang="zh-CN" sz="900" dirty="0">
                <a:solidFill>
                  <a:schemeClr val="tx2"/>
                </a:solidFill>
                <a:latin typeface="-apple-system"/>
              </a:rPr>
              <a:t>C</a:t>
            </a:r>
            <a:r>
              <a:rPr lang="en-US" altLang="zh-CN" sz="900">
                <a:solidFill>
                  <a:schemeClr val="tx2"/>
                </a:solidFill>
                <a:latin typeface="-apple-system"/>
              </a:rPr>
              <a:t>/C++</a:t>
            </a:r>
            <a:r>
              <a:rPr lang="zh-CN" altLang="en-US" sz="900">
                <a:solidFill>
                  <a:schemeClr val="tx2"/>
                </a:solidFill>
                <a:latin typeface="-apple-system"/>
              </a:rPr>
              <a:t>、</a:t>
            </a:r>
            <a:r>
              <a:rPr lang="en-US" altLang="zh-CN" sz="900" dirty="0">
                <a:solidFill>
                  <a:schemeClr val="tx2"/>
                </a:solidFill>
                <a:latin typeface="-apple-system"/>
              </a:rPr>
              <a:t>Swift</a:t>
            </a:r>
            <a:r>
              <a:rPr lang="zh-CN" altLang="en-US" sz="900" dirty="0">
                <a:solidFill>
                  <a:schemeClr val="tx2"/>
                </a:solidFill>
                <a:latin typeface="-apple-system"/>
              </a:rPr>
              <a:t>等。这些语言基本都失去了增长率，但它们还占有大部分的市场份额。这些语言分别占据了</a:t>
            </a:r>
            <a:r>
              <a:rPr lang="en-US" altLang="zh-CN" sz="900" dirty="0">
                <a:solidFill>
                  <a:schemeClr val="tx2"/>
                </a:solidFill>
                <a:latin typeface="-apple-system"/>
              </a:rPr>
              <a:t>Web</a:t>
            </a:r>
            <a:r>
              <a:rPr lang="zh-CN" altLang="en-US" sz="900" dirty="0">
                <a:solidFill>
                  <a:schemeClr val="tx2"/>
                </a:solidFill>
                <a:latin typeface="-apple-system"/>
              </a:rPr>
              <a:t>前端、后端、数据库、系统、移动端等领域。你要手头拮据，那么你的第一需求是要找一份工作，那么可以考虑学习它们中的一门。但也不是必须的，因为这并不意味着你学习明星象限或问题型象限内的语言就找不到工作。这只是意味着，它们的工作岗位比较多而已，但是工作岗位多，意味着竞争也很多，其实单按找工作来考虑的话，明星象限和现金牛象限是差不多的。</a:t>
            </a:r>
            <a:endParaRPr lang="zh-CN" altLang="en-US" sz="900" b="0" i="0" dirty="0">
              <a:solidFill>
                <a:schemeClr val="tx2"/>
              </a:solidFill>
              <a:effectLst/>
              <a:latin typeface="-apple-system"/>
            </a:endParaRPr>
          </a:p>
        </p:txBody>
      </p:sp>
      <p:pic>
        <p:nvPicPr>
          <p:cNvPr id="16" name="图片 15">
            <a:extLst>
              <a:ext uri="{FF2B5EF4-FFF2-40B4-BE49-F238E27FC236}">
                <a16:creationId xmlns:a16="http://schemas.microsoft.com/office/drawing/2014/main" id="{AA809585-5423-AF40-83B2-19D0A0B8842C}"/>
              </a:ext>
            </a:extLst>
          </p:cNvPr>
          <p:cNvPicPr>
            <a:picLocks noChangeAspect="1"/>
          </p:cNvPicPr>
          <p:nvPr/>
        </p:nvPicPr>
        <p:blipFill>
          <a:blip r:embed="rId2"/>
          <a:stretch>
            <a:fillRect/>
          </a:stretch>
        </p:blipFill>
        <p:spPr>
          <a:xfrm>
            <a:off x="3701143" y="4688285"/>
            <a:ext cx="986971" cy="987899"/>
          </a:xfrm>
          <a:prstGeom prst="rect">
            <a:avLst/>
          </a:prstGeom>
        </p:spPr>
      </p:pic>
    </p:spTree>
    <p:extLst>
      <p:ext uri="{BB962C8B-B14F-4D97-AF65-F5344CB8AC3E}">
        <p14:creationId xmlns:p14="http://schemas.microsoft.com/office/powerpoint/2010/main" val="241611068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a:bodyPr>
          <a:lstStyle/>
          <a:p>
            <a:pPr marL="210307" indent="-210307" defTabSz="914377">
              <a:lnSpc>
                <a:spcPct val="110000"/>
              </a:lnSpc>
              <a:spcBef>
                <a:spcPct val="50000"/>
              </a:spcBef>
              <a:buFont typeface="Arial" panose="020B0604020202020204" pitchFamily="34" charset="0"/>
            </a:pPr>
            <a:r>
              <a:rPr lang="zh-CN" altLang="en-US" b="1" dirty="0">
                <a:ln w="12700" cmpd="sng">
                  <a:noFill/>
                  <a:prstDash val="solid"/>
                </a:ln>
                <a:solidFill>
                  <a:srgbClr val="4E8F00"/>
                </a:solidFill>
              </a:rPr>
              <a:t>第 </a:t>
            </a:r>
            <a:r>
              <a:rPr lang="en-US" altLang="zh-CN" b="1" dirty="0">
                <a:ln w="12700" cmpd="sng">
                  <a:noFill/>
                  <a:prstDash val="solid"/>
                </a:ln>
                <a:solidFill>
                  <a:srgbClr val="4E8F00"/>
                </a:solidFill>
              </a:rPr>
              <a:t>4</a:t>
            </a:r>
            <a:r>
              <a:rPr lang="zh-CN" altLang="en-US" b="1" dirty="0">
                <a:ln w="12700" cmpd="sng">
                  <a:noFill/>
                  <a:prstDash val="solid"/>
                </a:ln>
                <a:solidFill>
                  <a:srgbClr val="4E8F00"/>
                </a:solidFill>
              </a:rPr>
              <a:t> 章   </a:t>
            </a:r>
            <a:r>
              <a:rPr lang="zh-CN" altLang="en-US" b="1" dirty="0">
                <a:ln w="12700" cmpd="sng">
                  <a:noFill/>
                  <a:prstDash val="solid"/>
                </a:ln>
                <a:solidFill>
                  <a:srgbClr val="4E8F00"/>
                </a:solidFill>
                <a:sym typeface="微软雅黑" panose="020B0503020204020204" pitchFamily="34" charset="-122"/>
              </a:rPr>
              <a:t>编码及实现</a:t>
            </a:r>
            <a:endParaRPr lang="zh-CN" altLang="en-US" b="1" dirty="0">
              <a:ln w="12700" cmpd="sng">
                <a:noFill/>
                <a:prstDash val="solid"/>
              </a:ln>
              <a:solidFill>
                <a:srgbClr val="4E8F00"/>
              </a:solidFill>
            </a:endParaRPr>
          </a:p>
        </p:txBody>
      </p:sp>
      <p:sp>
        <p:nvSpPr>
          <p:cNvPr id="215043" name="Rectangle 3"/>
          <p:cNvSpPr>
            <a:spLocks noGrp="1" noChangeArrowheads="1"/>
          </p:cNvSpPr>
          <p:nvPr>
            <p:ph idx="1"/>
          </p:nvPr>
        </p:nvSpPr>
        <p:spPr>
          <a:solidFill>
            <a:schemeClr val="bg1"/>
          </a:solidFill>
        </p:spPr>
        <p:txBody>
          <a:bodyPr>
            <a:normAutofit/>
          </a:bodyPr>
          <a:lstStyle/>
          <a:p>
            <a:r>
              <a:rPr lang="en-US" altLang="zh-CN" dirty="0">
                <a:solidFill>
                  <a:srgbClr val="4E8F00"/>
                </a:solidFill>
                <a:sym typeface="微软雅黑" panose="020B0503020204020204" pitchFamily="34" charset="-122"/>
              </a:rPr>
              <a:t>4.1</a:t>
            </a:r>
            <a:r>
              <a:rPr lang="zh-CN" altLang="en-US" dirty="0">
                <a:solidFill>
                  <a:srgbClr val="4E8F00"/>
                </a:solidFill>
                <a:sym typeface="微软雅黑" panose="020B0503020204020204" pitchFamily="34" charset="-122"/>
              </a:rPr>
              <a:t>  编码的任务</a:t>
            </a:r>
            <a:endParaRPr lang="en-US" altLang="zh-CN" dirty="0">
              <a:solidFill>
                <a:srgbClr val="4E8F00"/>
              </a:solidFill>
              <a:sym typeface="微软雅黑" panose="020B0503020204020204" pitchFamily="34" charset="-122"/>
            </a:endParaRPr>
          </a:p>
          <a:p>
            <a:r>
              <a:rPr lang="en-US" altLang="zh-CN" dirty="0">
                <a:solidFill>
                  <a:srgbClr val="4E8F00"/>
                </a:solidFill>
                <a:sym typeface="微软雅黑" panose="020B0503020204020204" pitchFamily="34" charset="-122"/>
              </a:rPr>
              <a:t>4.2</a:t>
            </a:r>
            <a:r>
              <a:rPr lang="zh-CN" altLang="en-US" dirty="0">
                <a:solidFill>
                  <a:srgbClr val="4E8F00"/>
                </a:solidFill>
                <a:sym typeface="微软雅黑" panose="020B0503020204020204" pitchFamily="34" charset="-122"/>
              </a:rPr>
              <a:t>  编程语言的发展</a:t>
            </a:r>
            <a:endParaRPr lang="en-US" altLang="zh-CN" dirty="0">
              <a:solidFill>
                <a:srgbClr val="4E8F00"/>
              </a:solidFill>
              <a:sym typeface="微软雅黑" panose="020B0503020204020204" pitchFamily="34" charset="-122"/>
            </a:endParaRPr>
          </a:p>
          <a:p>
            <a:r>
              <a:rPr lang="en-US" altLang="zh-CN" dirty="0">
                <a:solidFill>
                  <a:srgbClr val="4E8F00"/>
                </a:solidFill>
                <a:sym typeface="微软雅黑" panose="020B0503020204020204" pitchFamily="34" charset="-122"/>
              </a:rPr>
              <a:t>4.3</a:t>
            </a:r>
            <a:r>
              <a:rPr lang="zh-CN" altLang="en-US" dirty="0">
                <a:solidFill>
                  <a:srgbClr val="4E8F00"/>
                </a:solidFill>
                <a:sym typeface="微软雅黑" panose="020B0503020204020204" pitchFamily="34" charset="-122"/>
              </a:rPr>
              <a:t>  选择编程语言需考虑的因素</a:t>
            </a:r>
            <a:endParaRPr lang="en-US" altLang="zh-CN" dirty="0">
              <a:solidFill>
                <a:srgbClr val="4E8F00"/>
              </a:solidFill>
              <a:sym typeface="微软雅黑" panose="020B0503020204020204" pitchFamily="34" charset="-122"/>
            </a:endParaRPr>
          </a:p>
          <a:p>
            <a:r>
              <a:rPr lang="en-US" altLang="zh-CN" dirty="0">
                <a:solidFill>
                  <a:srgbClr val="4E8F00"/>
                </a:solidFill>
                <a:effectLst>
                  <a:glow rad="228600">
                    <a:schemeClr val="accent6">
                      <a:satMod val="175000"/>
                      <a:alpha val="40000"/>
                    </a:schemeClr>
                  </a:glow>
                </a:effectLst>
                <a:sym typeface="微软雅黑" panose="020B0503020204020204" pitchFamily="34" charset="-122"/>
              </a:rPr>
              <a:t>4.4</a:t>
            </a:r>
            <a:r>
              <a:rPr lang="zh-CN" altLang="en-US" dirty="0">
                <a:solidFill>
                  <a:srgbClr val="4E8F00"/>
                </a:solidFill>
                <a:effectLst>
                  <a:glow rad="228600">
                    <a:schemeClr val="accent6">
                      <a:satMod val="175000"/>
                      <a:alpha val="40000"/>
                    </a:schemeClr>
                  </a:glow>
                </a:effectLst>
                <a:sym typeface="微软雅黑" panose="020B0503020204020204" pitchFamily="34" charset="-122"/>
              </a:rPr>
              <a:t>  编码风格</a:t>
            </a:r>
            <a:endParaRPr lang="en-US" altLang="zh-CN" dirty="0">
              <a:solidFill>
                <a:srgbClr val="4E8F00"/>
              </a:solidFill>
              <a:effectLst>
                <a:glow rad="228600">
                  <a:schemeClr val="accent6">
                    <a:satMod val="175000"/>
                    <a:alpha val="40000"/>
                  </a:schemeClr>
                </a:glow>
              </a:effectLst>
              <a:sym typeface="微软雅黑" panose="020B0503020204020204" pitchFamily="34" charset="-122"/>
            </a:endParaRPr>
          </a:p>
          <a:p>
            <a:endParaRPr lang="zh-CN" altLang="en-US" dirty="0">
              <a:solidFill>
                <a:srgbClr val="4E8F00"/>
              </a:solidFill>
            </a:endParaRPr>
          </a:p>
        </p:txBody>
      </p:sp>
      <p:sp>
        <p:nvSpPr>
          <p:cNvPr id="2" name="日期占位符 1"/>
          <p:cNvSpPr>
            <a:spLocks noGrp="1"/>
          </p:cNvSpPr>
          <p:nvPr>
            <p:ph type="dt" sz="half" idx="10"/>
          </p:nvPr>
        </p:nvSpPr>
        <p:spPr/>
        <p:txBody>
          <a:bodyPr/>
          <a:lstStyle/>
          <a:p>
            <a:fld id="{A84F5BA7-D5CC-0143-817A-876E06F68B2D}" type="datetime1">
              <a:rPr lang="zh-CN" altLang="en-US" smtClean="0"/>
              <a:t>2025/2/6</a:t>
            </a:fld>
            <a:endParaRPr lang="zh-CN" dirty="0"/>
          </a:p>
        </p:txBody>
      </p:sp>
      <p:sp>
        <p:nvSpPr>
          <p:cNvPr id="3" name="页脚占位符 2"/>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4" name="灯片编号占位符 3"/>
          <p:cNvSpPr>
            <a:spLocks noGrp="1"/>
          </p:cNvSpPr>
          <p:nvPr>
            <p:ph type="sldNum" sz="quarter" idx="12"/>
          </p:nvPr>
        </p:nvSpPr>
        <p:spPr/>
        <p:txBody>
          <a:bodyPr/>
          <a:lstStyle/>
          <a:p>
            <a:fld id="{9CD8D479-8942-46E8-A226-A4E01F7A105C}" type="slidenum">
              <a:rPr lang="en-US" altLang="zh-CN" smtClean="0"/>
              <a:pPr/>
              <a:t>20</a:t>
            </a:fld>
            <a:endParaRPr lang="zh-CN" altLang="en-US"/>
          </a:p>
        </p:txBody>
      </p:sp>
    </p:spTree>
    <p:extLst>
      <p:ext uri="{BB962C8B-B14F-4D97-AF65-F5344CB8AC3E}">
        <p14:creationId xmlns:p14="http://schemas.microsoft.com/office/powerpoint/2010/main" val="114406085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4.4 </a:t>
            </a:r>
            <a:r>
              <a:rPr lang="zh-CN" altLang="en-US" sz="2800" dirty="0">
                <a:solidFill>
                  <a:srgbClr val="4E8F00"/>
                </a:solidFill>
              </a:rPr>
              <a:t> </a:t>
            </a:r>
            <a:r>
              <a:rPr lang="zh-CN" altLang="en-US" sz="2800" dirty="0">
                <a:solidFill>
                  <a:srgbClr val="4E8F00"/>
                </a:solidFill>
                <a:sym typeface="微软雅黑" panose="020B0503020204020204" pitchFamily="34" charset="-122"/>
              </a:rPr>
              <a:t>编码风格</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21</a:t>
            </a:fld>
            <a:endParaRPr lang="zh-CN" altLang="en-US"/>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1463603"/>
            <a:ext cx="6688045" cy="3250576"/>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sz="2200" dirty="0">
                <a:solidFill>
                  <a:srgbClr val="000000"/>
                </a:solidFill>
                <a:latin typeface="微软雅黑" panose="020B0503020204020204" pitchFamily="34" charset="-122"/>
                <a:sym typeface="微软雅黑" panose="020B0503020204020204" pitchFamily="34" charset="-122"/>
              </a:rPr>
              <a:t>编码风格：是指源程序的书写习惯</a:t>
            </a:r>
            <a:endParaRPr lang="en-US" altLang="zh-CN" sz="2200"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sz="2200" dirty="0">
                <a:solidFill>
                  <a:srgbClr val="000000"/>
                </a:solidFill>
                <a:latin typeface="微软雅黑" panose="020B0503020204020204" pitchFamily="34" charset="-122"/>
                <a:sym typeface="微软雅黑" panose="020B0503020204020204" pitchFamily="34" charset="-122"/>
              </a:rPr>
              <a:t>规范的编码风格：会对后期的软件维护带来很多便利</a:t>
            </a:r>
          </a:p>
          <a:p>
            <a:pPr marL="342900" lvl="1" indent="-342900">
              <a:lnSpc>
                <a:spcPct val="120000"/>
              </a:lnSpc>
              <a:spcBef>
                <a:spcPts val="900"/>
              </a:spcBef>
            </a:pPr>
            <a:r>
              <a:rPr lang="zh-CN" altLang="en-US" sz="2200" dirty="0">
                <a:solidFill>
                  <a:srgbClr val="000000"/>
                </a:solidFill>
                <a:latin typeface="微软雅黑" panose="020B0503020204020204" pitchFamily="34" charset="-122"/>
                <a:sym typeface="微软雅黑" panose="020B0503020204020204" pitchFamily="34" charset="-122"/>
              </a:rPr>
              <a:t>规范的编码风格：可以从</a:t>
            </a:r>
            <a:r>
              <a:rPr lang="zh-CN" altLang="en-US" sz="2200" dirty="0">
                <a:solidFill>
                  <a:srgbClr val="000000"/>
                </a:solidFill>
                <a:highlight>
                  <a:srgbClr val="FFFF00"/>
                </a:highlight>
                <a:latin typeface="微软雅黑" panose="020B0503020204020204" pitchFamily="34" charset="-122"/>
                <a:sym typeface="微软雅黑" panose="020B0503020204020204" pitchFamily="34" charset="-122"/>
              </a:rPr>
              <a:t>程序内部的文档</a:t>
            </a:r>
            <a:r>
              <a:rPr lang="zh-CN" altLang="en-US" sz="2200" dirty="0">
                <a:solidFill>
                  <a:srgbClr val="000000"/>
                </a:solidFill>
                <a:latin typeface="微软雅黑" panose="020B0503020204020204" pitchFamily="34" charset="-122"/>
                <a:sym typeface="微软雅黑" panose="020B0503020204020204" pitchFamily="34" charset="-122"/>
              </a:rPr>
              <a:t>、</a:t>
            </a:r>
            <a:r>
              <a:rPr lang="zh-CN" altLang="en-US" sz="2200" dirty="0">
                <a:solidFill>
                  <a:srgbClr val="000000"/>
                </a:solidFill>
                <a:highlight>
                  <a:srgbClr val="FFFF00"/>
                </a:highlight>
                <a:latin typeface="微软雅黑" panose="020B0503020204020204" pitchFamily="34" charset="-122"/>
                <a:sym typeface="微软雅黑" panose="020B0503020204020204" pitchFamily="34" charset="-122"/>
              </a:rPr>
              <a:t>数据说明</a:t>
            </a:r>
            <a:r>
              <a:rPr lang="zh-CN" altLang="en-US" sz="2200" dirty="0">
                <a:solidFill>
                  <a:srgbClr val="000000"/>
                </a:solidFill>
                <a:latin typeface="微软雅黑" panose="020B0503020204020204" pitchFamily="34" charset="-122"/>
                <a:sym typeface="微软雅黑" panose="020B0503020204020204" pitchFamily="34" charset="-122"/>
              </a:rPr>
              <a:t>、</a:t>
            </a:r>
            <a:r>
              <a:rPr lang="zh-CN" altLang="en-US" sz="2200" dirty="0">
                <a:solidFill>
                  <a:srgbClr val="000000"/>
                </a:solidFill>
                <a:highlight>
                  <a:srgbClr val="FFFF00"/>
                </a:highlight>
                <a:latin typeface="微软雅黑" panose="020B0503020204020204" pitchFamily="34" charset="-122"/>
                <a:sym typeface="微软雅黑" panose="020B0503020204020204" pitchFamily="34" charset="-122"/>
              </a:rPr>
              <a:t>语句构造</a:t>
            </a:r>
            <a:r>
              <a:rPr lang="zh-CN" altLang="en-US" sz="2200" dirty="0">
                <a:solidFill>
                  <a:srgbClr val="000000"/>
                </a:solidFill>
                <a:latin typeface="微软雅黑" panose="020B0503020204020204" pitchFamily="34" charset="-122"/>
                <a:sym typeface="微软雅黑" panose="020B0503020204020204" pitchFamily="34" charset="-122"/>
              </a:rPr>
              <a:t>、</a:t>
            </a:r>
            <a:r>
              <a:rPr lang="zh-CN" altLang="en-US" sz="2200" dirty="0">
                <a:solidFill>
                  <a:srgbClr val="000000"/>
                </a:solidFill>
                <a:highlight>
                  <a:srgbClr val="FFFF00"/>
                </a:highlight>
                <a:latin typeface="微软雅黑" panose="020B0503020204020204" pitchFamily="34" charset="-122"/>
                <a:sym typeface="微软雅黑" panose="020B0503020204020204" pitchFamily="34" charset="-122"/>
              </a:rPr>
              <a:t>输人输出</a:t>
            </a:r>
            <a:r>
              <a:rPr lang="zh-CN" altLang="en-US" sz="2200" dirty="0">
                <a:solidFill>
                  <a:srgbClr val="000000"/>
                </a:solidFill>
                <a:latin typeface="微软雅黑" panose="020B0503020204020204" pitchFamily="34" charset="-122"/>
                <a:sym typeface="微软雅黑" panose="020B0503020204020204" pitchFamily="34" charset="-122"/>
              </a:rPr>
              <a:t>和</a:t>
            </a:r>
            <a:r>
              <a:rPr lang="zh-CN" altLang="en-US" sz="2200" dirty="0">
                <a:solidFill>
                  <a:srgbClr val="000000"/>
                </a:solidFill>
                <a:highlight>
                  <a:srgbClr val="FFFF00"/>
                </a:highlight>
                <a:latin typeface="微软雅黑" panose="020B0503020204020204" pitchFamily="34" charset="-122"/>
                <a:sym typeface="微软雅黑" panose="020B0503020204020204" pitchFamily="34" charset="-122"/>
              </a:rPr>
              <a:t>效率</a:t>
            </a:r>
            <a:r>
              <a:rPr lang="en-US" altLang="zh-CN" sz="2200" dirty="0">
                <a:solidFill>
                  <a:srgbClr val="000000"/>
                </a:solidFill>
                <a:latin typeface="微软雅黑" panose="020B0503020204020204" pitchFamily="34" charset="-122"/>
                <a:sym typeface="微软雅黑" panose="020B0503020204020204" pitchFamily="34" charset="-122"/>
              </a:rPr>
              <a:t>5</a:t>
            </a:r>
            <a:r>
              <a:rPr lang="zh-CN" altLang="en-US" sz="2200" dirty="0">
                <a:solidFill>
                  <a:srgbClr val="000000"/>
                </a:solidFill>
                <a:latin typeface="微软雅黑" panose="020B0503020204020204" pitchFamily="34" charset="-122"/>
                <a:sym typeface="微软雅黑" panose="020B0503020204020204" pitchFamily="34" charset="-122"/>
              </a:rPr>
              <a:t>个方面做起</a:t>
            </a:r>
            <a:endParaRPr lang="en-US" altLang="zh-CN" sz="2200" dirty="0">
              <a:solidFill>
                <a:srgbClr val="C00000"/>
              </a:solidFill>
              <a:latin typeface="微软雅黑" panose="020B0503020204020204" pitchFamily="34" charset="-122"/>
              <a:sym typeface="微软雅黑" panose="020B0503020204020204" pitchFamily="34" charset="-122"/>
            </a:endParaRPr>
          </a:p>
          <a:p>
            <a:pPr marL="0" lvl="1" indent="0">
              <a:lnSpc>
                <a:spcPct val="120000"/>
              </a:lnSpc>
              <a:spcBef>
                <a:spcPts val="900"/>
              </a:spcBef>
              <a:buNone/>
            </a:pPr>
            <a:endParaRPr lang="en-US" altLang="zh-CN" sz="1600"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50152249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4.4 </a:t>
            </a:r>
            <a:r>
              <a:rPr lang="zh-CN" altLang="en-US" sz="2800" dirty="0">
                <a:solidFill>
                  <a:srgbClr val="4E8F00"/>
                </a:solidFill>
              </a:rPr>
              <a:t> </a:t>
            </a:r>
            <a:r>
              <a:rPr lang="zh-CN" altLang="en-US" sz="2800" dirty="0">
                <a:solidFill>
                  <a:srgbClr val="4E8F00"/>
                </a:solidFill>
                <a:sym typeface="微软雅黑" panose="020B0503020204020204" pitchFamily="34" charset="-122"/>
              </a:rPr>
              <a:t>编码风格（编码规则）</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22</a:t>
            </a:fld>
            <a:endParaRPr lang="zh-CN" altLang="en-US"/>
          </a:p>
        </p:txBody>
      </p:sp>
      <p:sp>
        <p:nvSpPr>
          <p:cNvPr id="7" name="Rectangle 7">
            <a:extLst>
              <a:ext uri="{FF2B5EF4-FFF2-40B4-BE49-F238E27FC236}">
                <a16:creationId xmlns:a16="http://schemas.microsoft.com/office/drawing/2014/main" id="{AD1064AF-BEC9-E643-A1F1-0066EB564FD0}"/>
              </a:ext>
            </a:extLst>
          </p:cNvPr>
          <p:cNvSpPr txBox="1">
            <a:spLocks noChangeArrowheads="1"/>
          </p:cNvSpPr>
          <p:nvPr/>
        </p:nvSpPr>
        <p:spPr>
          <a:xfrm>
            <a:off x="1073823" y="1142266"/>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1</a:t>
            </a:r>
            <a:r>
              <a:rPr lang="zh-CN" altLang="en-US" sz="2400" dirty="0">
                <a:solidFill>
                  <a:srgbClr val="CC6600"/>
                </a:solidFill>
                <a:sym typeface="微软雅黑" panose="020B0503020204020204" pitchFamily="34" charset="-122"/>
              </a:rPr>
              <a:t>  程序内部的文档</a:t>
            </a:r>
          </a:p>
          <a:p>
            <a:pPr marL="849313" indent="-849313"/>
            <a:endParaRPr lang="zh-CN" altLang="en-US" sz="2400" dirty="0">
              <a:solidFill>
                <a:srgbClr val="CC6600"/>
              </a:solidFill>
              <a:sym typeface="微软雅黑" panose="020B0503020204020204" pitchFamily="34" charset="-122"/>
            </a:endParaRPr>
          </a:p>
        </p:txBody>
      </p:sp>
      <p:sp>
        <p:nvSpPr>
          <p:cNvPr id="8" name="Rectangle 7">
            <a:extLst>
              <a:ext uri="{FF2B5EF4-FFF2-40B4-BE49-F238E27FC236}">
                <a16:creationId xmlns:a16="http://schemas.microsoft.com/office/drawing/2014/main" id="{FCF70EFE-BB14-3748-8AE6-61661EFF02B7}"/>
              </a:ext>
            </a:extLst>
          </p:cNvPr>
          <p:cNvSpPr txBox="1">
            <a:spLocks noChangeArrowheads="1"/>
          </p:cNvSpPr>
          <p:nvPr/>
        </p:nvSpPr>
        <p:spPr>
          <a:xfrm>
            <a:off x="1421174" y="1789111"/>
            <a:ext cx="6688045" cy="1989889"/>
          </a:xfrm>
          <a:prstGeom prst="rect">
            <a:avLst/>
          </a:prstGeom>
        </p:spPr>
        <p:txBody>
          <a:bodyPr vert="horz" lIns="91440" tIns="45720" rIns="91440" bIns="45720" rtlCol="0">
            <a:normAutofit fontScale="925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含义鲜明的名字（见字明义，驼峰命名法，帕斯卡命名法）</a:t>
            </a: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缩写规则一致</a:t>
            </a: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加注解</a:t>
            </a: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利用适当的缩进阶梯形式，使程序的层次结构清晰明显</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a:p>
            <a:pPr marL="0" lvl="1" indent="0">
              <a:lnSpc>
                <a:spcPct val="120000"/>
              </a:lnSpc>
              <a:spcBef>
                <a:spcPts val="900"/>
              </a:spcBef>
              <a:buNone/>
            </a:pP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zh-CN" altLang="en-US" dirty="0">
              <a:solidFill>
                <a:srgbClr val="000000"/>
              </a:solidFill>
              <a:latin typeface="微软雅黑" panose="020B0503020204020204" pitchFamily="34" charset="-122"/>
              <a:sym typeface="微软雅黑" panose="020B0503020204020204" pitchFamily="34" charset="-122"/>
            </a:endParaRPr>
          </a:p>
        </p:txBody>
      </p:sp>
      <p:sp>
        <p:nvSpPr>
          <p:cNvPr id="9" name="Rectangle 7">
            <a:extLst>
              <a:ext uri="{FF2B5EF4-FFF2-40B4-BE49-F238E27FC236}">
                <a16:creationId xmlns:a16="http://schemas.microsoft.com/office/drawing/2014/main" id="{775C842F-8634-094A-A81D-6EABE1A115C5}"/>
              </a:ext>
            </a:extLst>
          </p:cNvPr>
          <p:cNvSpPr txBox="1">
            <a:spLocks noChangeArrowheads="1"/>
          </p:cNvSpPr>
          <p:nvPr/>
        </p:nvSpPr>
        <p:spPr>
          <a:xfrm>
            <a:off x="1152744" y="3871078"/>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2</a:t>
            </a:r>
            <a:r>
              <a:rPr lang="zh-CN" altLang="en-US" sz="2400" dirty="0">
                <a:solidFill>
                  <a:srgbClr val="CC6600"/>
                </a:solidFill>
                <a:sym typeface="微软雅黑" panose="020B0503020204020204" pitchFamily="34" charset="-122"/>
              </a:rPr>
              <a:t>  数据说明</a:t>
            </a:r>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0" name="Rectangle 7">
            <a:extLst>
              <a:ext uri="{FF2B5EF4-FFF2-40B4-BE49-F238E27FC236}">
                <a16:creationId xmlns:a16="http://schemas.microsoft.com/office/drawing/2014/main" id="{90112B79-C93E-4647-A3FB-91221255FC4A}"/>
              </a:ext>
            </a:extLst>
          </p:cNvPr>
          <p:cNvSpPr txBox="1">
            <a:spLocks noChangeArrowheads="1"/>
          </p:cNvSpPr>
          <p:nvPr/>
        </p:nvSpPr>
        <p:spPr>
          <a:xfrm>
            <a:off x="1421173" y="4519200"/>
            <a:ext cx="6688045" cy="1989889"/>
          </a:xfrm>
          <a:prstGeom prst="rect">
            <a:avLst/>
          </a:prstGeom>
        </p:spPr>
        <p:txBody>
          <a:bodyPr vert="horz" lIns="91440" tIns="45720" rIns="91440" bIns="45720" rtlCol="0">
            <a:normAutofit fontScale="925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zh-CN" dirty="0">
                <a:solidFill>
                  <a:srgbClr val="000000"/>
                </a:solidFill>
                <a:latin typeface="微软雅黑" panose="020B0503020204020204" pitchFamily="34" charset="-122"/>
                <a:sym typeface="微软雅黑" panose="020B0503020204020204" pitchFamily="34" charset="-122"/>
              </a:rPr>
              <a:t>次序应该标准化</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zh-CN" dirty="0">
                <a:solidFill>
                  <a:srgbClr val="000000"/>
                </a:solidFill>
                <a:latin typeface="微软雅黑" panose="020B0503020204020204" pitchFamily="34" charset="-122"/>
                <a:sym typeface="微软雅黑" panose="020B0503020204020204" pitchFamily="34" charset="-122"/>
              </a:rPr>
              <a:t>多个变量名在一个语句中说明，应该按字母顺序排列变量</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zh-CN" dirty="0">
                <a:solidFill>
                  <a:srgbClr val="000000"/>
                </a:solidFill>
                <a:latin typeface="微软雅黑" panose="020B0503020204020204" pitchFamily="34" charset="-122"/>
                <a:sym typeface="微软雅黑" panose="020B0503020204020204" pitchFamily="34" charset="-122"/>
              </a:rPr>
              <a:t>使用复杂的数据结构，</a:t>
            </a:r>
            <a:r>
              <a:rPr lang="zh-CN" altLang="en-US" dirty="0">
                <a:solidFill>
                  <a:srgbClr val="000000"/>
                </a:solidFill>
                <a:latin typeface="微软雅黑" panose="020B0503020204020204" pitchFamily="34" charset="-122"/>
                <a:sym typeface="微软雅黑" panose="020B0503020204020204" pitchFamily="34" charset="-122"/>
              </a:rPr>
              <a:t>应</a:t>
            </a:r>
            <a:r>
              <a:rPr lang="zh-CN" altLang="zh-CN" dirty="0">
                <a:solidFill>
                  <a:srgbClr val="000000"/>
                </a:solidFill>
                <a:latin typeface="微软雅黑" panose="020B0503020204020204" pitchFamily="34" charset="-122"/>
                <a:sym typeface="微软雅黑" panose="020B0503020204020204" pitchFamily="34" charset="-122"/>
              </a:rPr>
              <a:t>用注解说明这个数据结构的方法和特点        </a:t>
            </a:r>
            <a:endParaRPr lang="en-US" altLang="zh-CN" dirty="0">
              <a:solidFill>
                <a:srgbClr val="000000"/>
              </a:solidFill>
              <a:latin typeface="微软雅黑" panose="020B0503020204020204" pitchFamily="34" charset="-122"/>
              <a:sym typeface="微软雅黑" panose="020B0503020204020204" pitchFamily="34" charset="-122"/>
            </a:endParaRPr>
          </a:p>
          <a:p>
            <a:pPr marL="0" lvl="1" indent="0">
              <a:lnSpc>
                <a:spcPct val="120000"/>
              </a:lnSpc>
              <a:spcBef>
                <a:spcPts val="900"/>
              </a:spcBef>
              <a:buNone/>
            </a:pP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zh-CN" altLang="en-US"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91332922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par>
                          <p:cTn id="23" fill="hold">
                            <p:stCondLst>
                              <p:cond delay="1000"/>
                            </p:stCondLst>
                            <p:childTnLst>
                              <p:par>
                                <p:cTn id="24" presetID="42" presetClass="entr" presetSubtype="0"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000"/>
                                        <p:tgtEl>
                                          <p:spTgt spid="10"/>
                                        </p:tgtEl>
                                      </p:cBhvr>
                                    </p:animEffect>
                                    <p:anim calcmode="lin" valueType="num">
                                      <p:cBhvr>
                                        <p:cTn id="27" dur="1000" fill="hold"/>
                                        <p:tgtEl>
                                          <p:spTgt spid="10"/>
                                        </p:tgtEl>
                                        <p:attrNameLst>
                                          <p:attrName>ppt_x</p:attrName>
                                        </p:attrNameLst>
                                      </p:cBhvr>
                                      <p:tavLst>
                                        <p:tav tm="0">
                                          <p:val>
                                            <p:strVal val="#ppt_x"/>
                                          </p:val>
                                        </p:tav>
                                        <p:tav tm="100000">
                                          <p:val>
                                            <p:strVal val="#ppt_x"/>
                                          </p:val>
                                        </p:tav>
                                      </p:tavLst>
                                    </p:anim>
                                    <p:anim calcmode="lin" valueType="num">
                                      <p:cBhvr>
                                        <p:cTn id="2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4.4 </a:t>
            </a:r>
            <a:r>
              <a:rPr lang="zh-CN" altLang="en-US" sz="2800" dirty="0">
                <a:solidFill>
                  <a:srgbClr val="4E8F00"/>
                </a:solidFill>
              </a:rPr>
              <a:t> </a:t>
            </a:r>
            <a:r>
              <a:rPr lang="zh-CN" altLang="en-US" sz="2800" dirty="0">
                <a:solidFill>
                  <a:srgbClr val="4E8F00"/>
                </a:solidFill>
                <a:sym typeface="微软雅黑" panose="020B0503020204020204" pitchFamily="34" charset="-122"/>
              </a:rPr>
              <a:t>编码风格（编码规则）</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23</a:t>
            </a:fld>
            <a:endParaRPr lang="zh-CN" altLang="en-US"/>
          </a:p>
        </p:txBody>
      </p:sp>
      <p:sp>
        <p:nvSpPr>
          <p:cNvPr id="7" name="Rectangle 7">
            <a:extLst>
              <a:ext uri="{FF2B5EF4-FFF2-40B4-BE49-F238E27FC236}">
                <a16:creationId xmlns:a16="http://schemas.microsoft.com/office/drawing/2014/main" id="{AD1064AF-BEC9-E643-A1F1-0066EB564FD0}"/>
              </a:ext>
            </a:extLst>
          </p:cNvPr>
          <p:cNvSpPr txBox="1">
            <a:spLocks noChangeArrowheads="1"/>
          </p:cNvSpPr>
          <p:nvPr/>
        </p:nvSpPr>
        <p:spPr>
          <a:xfrm>
            <a:off x="1073823" y="1142266"/>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3</a:t>
            </a:r>
            <a:r>
              <a:rPr lang="zh-CN" altLang="en-US" sz="2400" dirty="0">
                <a:solidFill>
                  <a:srgbClr val="CC6600"/>
                </a:solidFill>
                <a:sym typeface="微软雅黑" panose="020B0503020204020204" pitchFamily="34" charset="-122"/>
              </a:rPr>
              <a:t>  语句构造</a:t>
            </a:r>
          </a:p>
          <a:p>
            <a:pPr marL="849313" indent="-849313"/>
            <a:endParaRPr lang="zh-CN" altLang="en-US"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8" name="Rectangle 7">
            <a:extLst>
              <a:ext uri="{FF2B5EF4-FFF2-40B4-BE49-F238E27FC236}">
                <a16:creationId xmlns:a16="http://schemas.microsoft.com/office/drawing/2014/main" id="{FCF70EFE-BB14-3748-8AE6-61661EFF02B7}"/>
              </a:ext>
            </a:extLst>
          </p:cNvPr>
          <p:cNvSpPr txBox="1">
            <a:spLocks noChangeArrowheads="1"/>
          </p:cNvSpPr>
          <p:nvPr/>
        </p:nvSpPr>
        <p:spPr>
          <a:xfrm>
            <a:off x="1421174" y="1789111"/>
            <a:ext cx="6688045" cy="3093132"/>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不要为了节省空间，而把多个语句写在同一行</a:t>
            </a: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尽量避免复杂的条件测试</a:t>
            </a: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尽量减少对“非”条件的测试</a:t>
            </a: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避免大量使用循环嵌套和条件嵌套</a:t>
            </a: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利用括号使逻辑表达式或算术表达式的运算次序清晰直观</a:t>
            </a: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a:p>
            <a:pPr marL="0" lvl="1" indent="0">
              <a:lnSpc>
                <a:spcPct val="120000"/>
              </a:lnSpc>
              <a:spcBef>
                <a:spcPts val="900"/>
              </a:spcBef>
              <a:buNone/>
            </a:pP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zh-CN" altLang="en-US"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386900642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4.4 </a:t>
            </a:r>
            <a:r>
              <a:rPr lang="zh-CN" altLang="en-US" sz="2800" dirty="0">
                <a:solidFill>
                  <a:srgbClr val="4E8F00"/>
                </a:solidFill>
              </a:rPr>
              <a:t> </a:t>
            </a:r>
            <a:r>
              <a:rPr lang="zh-CN" altLang="en-US" sz="2800" dirty="0">
                <a:solidFill>
                  <a:srgbClr val="4E8F00"/>
                </a:solidFill>
                <a:sym typeface="微软雅黑" panose="020B0503020204020204" pitchFamily="34" charset="-122"/>
              </a:rPr>
              <a:t>编码风格（编码规则）</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24</a:t>
            </a:fld>
            <a:endParaRPr lang="zh-CN" altLang="en-US"/>
          </a:p>
        </p:txBody>
      </p:sp>
      <p:sp>
        <p:nvSpPr>
          <p:cNvPr id="7" name="Rectangle 7">
            <a:extLst>
              <a:ext uri="{FF2B5EF4-FFF2-40B4-BE49-F238E27FC236}">
                <a16:creationId xmlns:a16="http://schemas.microsoft.com/office/drawing/2014/main" id="{AD1064AF-BEC9-E643-A1F1-0066EB564FD0}"/>
              </a:ext>
            </a:extLst>
          </p:cNvPr>
          <p:cNvSpPr txBox="1">
            <a:spLocks noChangeArrowheads="1"/>
          </p:cNvSpPr>
          <p:nvPr/>
        </p:nvSpPr>
        <p:spPr>
          <a:xfrm>
            <a:off x="1073823" y="1142266"/>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4</a:t>
            </a:r>
            <a:r>
              <a:rPr lang="zh-CN" altLang="en-US" sz="2400" dirty="0">
                <a:solidFill>
                  <a:srgbClr val="CC6600"/>
                </a:solidFill>
                <a:sym typeface="微软雅黑" panose="020B0503020204020204" pitchFamily="34" charset="-122"/>
              </a:rPr>
              <a:t>  输入</a:t>
            </a:r>
            <a:r>
              <a:rPr lang="en-US" altLang="zh-CN" sz="2400" dirty="0">
                <a:solidFill>
                  <a:srgbClr val="CC6600"/>
                </a:solidFill>
                <a:sym typeface="微软雅黑" panose="020B0503020204020204" pitchFamily="34" charset="-122"/>
              </a:rPr>
              <a:t>/</a:t>
            </a:r>
            <a:r>
              <a:rPr lang="zh-CN" altLang="en-US" sz="2400" dirty="0">
                <a:solidFill>
                  <a:srgbClr val="CC6600"/>
                </a:solidFill>
                <a:sym typeface="微软雅黑" panose="020B0503020204020204" pitchFamily="34" charset="-122"/>
              </a:rPr>
              <a:t>输出</a:t>
            </a:r>
          </a:p>
          <a:p>
            <a:pPr marL="849313" indent="-849313"/>
            <a:endParaRPr lang="zh-CN" altLang="en-US"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8" name="Rectangle 7">
            <a:extLst>
              <a:ext uri="{FF2B5EF4-FFF2-40B4-BE49-F238E27FC236}">
                <a16:creationId xmlns:a16="http://schemas.microsoft.com/office/drawing/2014/main" id="{FCF70EFE-BB14-3748-8AE6-61661EFF02B7}"/>
              </a:ext>
            </a:extLst>
          </p:cNvPr>
          <p:cNvSpPr txBox="1">
            <a:spLocks noChangeArrowheads="1"/>
          </p:cNvSpPr>
          <p:nvPr/>
        </p:nvSpPr>
        <p:spPr>
          <a:xfrm>
            <a:off x="1421174" y="1789111"/>
            <a:ext cx="6688045" cy="4719978"/>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57188" indent="-357188">
              <a:lnSpc>
                <a:spcPts val="2800"/>
              </a:lnSpc>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对所有输入数据都进行</a:t>
            </a:r>
            <a:r>
              <a:rPr lang="zh-CN" altLang="en-US" sz="2000" dirty="0">
                <a:sym typeface="微软雅黑" panose="020B0503020204020204" pitchFamily="34" charset="-122"/>
              </a:rPr>
              <a:t>检验</a:t>
            </a:r>
            <a:endPar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endParaRPr>
          </a:p>
          <a:p>
            <a:pPr marL="357188" indent="-357188">
              <a:lnSpc>
                <a:spcPts val="2800"/>
              </a:lnSpc>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检查输入项重要组合的合法性</a:t>
            </a:r>
          </a:p>
          <a:p>
            <a:pPr marL="357188" indent="-357188">
              <a:lnSpc>
                <a:spcPts val="2800"/>
              </a:lnSpc>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保持输入格式简单</a:t>
            </a:r>
          </a:p>
          <a:p>
            <a:pPr marL="357188" indent="-357188">
              <a:lnSpc>
                <a:spcPts val="2800"/>
              </a:lnSpc>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使用数据结束标记，不要要求用户指定数据的数目</a:t>
            </a:r>
          </a:p>
          <a:p>
            <a:pPr marL="357188" indent="-357188">
              <a:lnSpc>
                <a:spcPts val="2800"/>
              </a:lnSpc>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明确提示交互式输入的请求，详细说明可用的选择或边界数值</a:t>
            </a:r>
          </a:p>
          <a:p>
            <a:pPr marL="357188" indent="-357188">
              <a:lnSpc>
                <a:spcPts val="2800"/>
              </a:lnSpc>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当程序设计语言对格式有严格要求时，应保持输入格式一致</a:t>
            </a:r>
          </a:p>
          <a:p>
            <a:pPr marL="357188" indent="-357188">
              <a:lnSpc>
                <a:spcPts val="2800"/>
              </a:lnSpc>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设计良好的输出报表（良好的布局）</a:t>
            </a:r>
          </a:p>
          <a:p>
            <a:pPr marL="357188" indent="-357188">
              <a:lnSpc>
                <a:spcPts val="2800"/>
              </a:lnSpc>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给所有输出数据加标志 （数据的含义）</a:t>
            </a:r>
          </a:p>
          <a:p>
            <a:pPr marL="342900" lvl="1" indent="-342900">
              <a:lnSpc>
                <a:spcPct val="120000"/>
              </a:lnSpc>
              <a:spcBef>
                <a:spcPts val="900"/>
              </a:spcBef>
            </a:pPr>
            <a:endParaRPr lang="zh-CN" altLang="en-US"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a:p>
            <a:pPr marL="0" lvl="1" indent="0">
              <a:lnSpc>
                <a:spcPct val="120000"/>
              </a:lnSpc>
              <a:spcBef>
                <a:spcPts val="900"/>
              </a:spcBef>
              <a:buNone/>
            </a:pP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zh-CN" altLang="en-US"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346248661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4.4 </a:t>
            </a:r>
            <a:r>
              <a:rPr lang="zh-CN" altLang="en-US" sz="2800" dirty="0">
                <a:solidFill>
                  <a:srgbClr val="4E8F00"/>
                </a:solidFill>
              </a:rPr>
              <a:t> </a:t>
            </a:r>
            <a:r>
              <a:rPr lang="zh-CN" altLang="en-US" sz="2800" dirty="0">
                <a:solidFill>
                  <a:srgbClr val="4E8F00"/>
                </a:solidFill>
                <a:sym typeface="微软雅黑" panose="020B0503020204020204" pitchFamily="34" charset="-122"/>
              </a:rPr>
              <a:t>编码风格（编码规则）</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25</a:t>
            </a:fld>
            <a:endParaRPr lang="zh-CN" altLang="en-US"/>
          </a:p>
        </p:txBody>
      </p:sp>
      <p:sp>
        <p:nvSpPr>
          <p:cNvPr id="7" name="Rectangle 7">
            <a:extLst>
              <a:ext uri="{FF2B5EF4-FFF2-40B4-BE49-F238E27FC236}">
                <a16:creationId xmlns:a16="http://schemas.microsoft.com/office/drawing/2014/main" id="{AD1064AF-BEC9-E643-A1F1-0066EB564FD0}"/>
              </a:ext>
            </a:extLst>
          </p:cNvPr>
          <p:cNvSpPr txBox="1">
            <a:spLocks noChangeArrowheads="1"/>
          </p:cNvSpPr>
          <p:nvPr/>
        </p:nvSpPr>
        <p:spPr>
          <a:xfrm>
            <a:off x="1073823" y="1142266"/>
            <a:ext cx="7394517"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5</a:t>
            </a:r>
            <a:r>
              <a:rPr lang="zh-CN" altLang="en-US" sz="2400" dirty="0">
                <a:solidFill>
                  <a:srgbClr val="CC6600"/>
                </a:solidFill>
                <a:sym typeface="微软雅黑" panose="020B0503020204020204" pitchFamily="34" charset="-122"/>
              </a:rPr>
              <a:t>  效率 </a:t>
            </a:r>
            <a:r>
              <a:rPr lang="en-US" altLang="zh-CN" sz="2100" dirty="0">
                <a:solidFill>
                  <a:srgbClr val="000000"/>
                </a:solidFill>
                <a:latin typeface="微软雅黑" panose="020B0503020204020204" pitchFamily="34" charset="-122"/>
                <a:sym typeface="微软雅黑" panose="020B0503020204020204" pitchFamily="34" charset="-122"/>
              </a:rPr>
              <a:t>——</a:t>
            </a:r>
            <a:r>
              <a:rPr lang="zh-CN" altLang="en-US" sz="2100" dirty="0">
                <a:solidFill>
                  <a:srgbClr val="000000"/>
                </a:solidFill>
                <a:latin typeface="微软雅黑" panose="020B0503020204020204" pitchFamily="34" charset="-122"/>
                <a:sym typeface="微软雅黑" panose="020B0503020204020204" pitchFamily="34" charset="-122"/>
              </a:rPr>
              <a:t> 主要指：处理机时间和存储器容量两个方面</a:t>
            </a:r>
            <a:endParaRPr lang="zh-CN" altLang="en-US" sz="21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8" name="Rectangle 7">
            <a:extLst>
              <a:ext uri="{FF2B5EF4-FFF2-40B4-BE49-F238E27FC236}">
                <a16:creationId xmlns:a16="http://schemas.microsoft.com/office/drawing/2014/main" id="{FCF70EFE-BB14-3748-8AE6-61661EFF02B7}"/>
              </a:ext>
            </a:extLst>
          </p:cNvPr>
          <p:cNvSpPr txBox="1">
            <a:spLocks noChangeArrowheads="1"/>
          </p:cNvSpPr>
          <p:nvPr/>
        </p:nvSpPr>
        <p:spPr>
          <a:xfrm>
            <a:off x="1421174" y="1935621"/>
            <a:ext cx="6688045" cy="3207879"/>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spcBef>
                <a:spcPts val="1200"/>
              </a:spcBef>
            </a:pPr>
            <a:r>
              <a:rPr lang="zh-CN" altLang="en-US" dirty="0">
                <a:solidFill>
                  <a:srgbClr val="000000"/>
                </a:solidFill>
                <a:latin typeface="微软雅黑" panose="020B0503020204020204" pitchFamily="34" charset="-122"/>
                <a:sym typeface="微软雅黑" panose="020B0503020204020204" pitchFamily="34" charset="-122"/>
              </a:rPr>
              <a:t>效率问题的</a:t>
            </a:r>
            <a:r>
              <a:rPr lang="en-US" altLang="zh-CN" dirty="0">
                <a:solidFill>
                  <a:srgbClr val="000000"/>
                </a:solidFill>
                <a:latin typeface="微软雅黑" panose="020B0503020204020204" pitchFamily="34" charset="-122"/>
                <a:sym typeface="微软雅黑" panose="020B0503020204020204" pitchFamily="34" charset="-122"/>
              </a:rPr>
              <a:t>3</a:t>
            </a:r>
            <a:r>
              <a:rPr lang="zh-CN" altLang="en-US" dirty="0">
                <a:solidFill>
                  <a:srgbClr val="000000"/>
                </a:solidFill>
                <a:latin typeface="微软雅黑" panose="020B0503020204020204" pitchFamily="34" charset="-122"/>
                <a:sym typeface="微软雅黑" panose="020B0503020204020204" pitchFamily="34" charset="-122"/>
              </a:rPr>
              <a:t>个原则：</a:t>
            </a:r>
          </a:p>
          <a:p>
            <a:pPr indent="317500">
              <a:lnSpc>
                <a:spcPts val="2800"/>
              </a:lnSpc>
              <a:spcBef>
                <a:spcPts val="1200"/>
              </a:spcBef>
            </a:pPr>
            <a:r>
              <a:rPr lang="zh-CN" altLang="en-US" sz="2000" dirty="0">
                <a:solidFill>
                  <a:srgbClr val="000000"/>
                </a:solidFill>
                <a:latin typeface="微软雅黑" panose="020B0503020204020204" pitchFamily="34" charset="-122"/>
                <a:sym typeface="微软雅黑" panose="020B0503020204020204" pitchFamily="34" charset="-122"/>
              </a:rPr>
              <a:t>（</a:t>
            </a:r>
            <a:r>
              <a:rPr lang="en-US" altLang="zh-CN" sz="2000" dirty="0">
                <a:solidFill>
                  <a:srgbClr val="000000"/>
                </a:solidFill>
                <a:latin typeface="微软雅黑" panose="020B0503020204020204" pitchFamily="34" charset="-122"/>
                <a:sym typeface="微软雅黑" panose="020B0503020204020204" pitchFamily="34" charset="-122"/>
              </a:rPr>
              <a:t>1</a:t>
            </a:r>
            <a:r>
              <a:rPr lang="zh-CN" altLang="en-US" sz="2000" dirty="0">
                <a:solidFill>
                  <a:srgbClr val="000000"/>
                </a:solidFill>
                <a:latin typeface="微软雅黑" panose="020B0503020204020204" pitchFamily="34" charset="-122"/>
                <a:sym typeface="微软雅黑" panose="020B0503020204020204" pitchFamily="34" charset="-122"/>
              </a:rPr>
              <a:t>） 效率是性能要求</a:t>
            </a:r>
            <a:endParaRPr lang="en-US" altLang="zh-CN" sz="2000" dirty="0">
              <a:solidFill>
                <a:srgbClr val="000000"/>
              </a:solidFill>
              <a:latin typeface="微软雅黑" panose="020B0503020204020204" pitchFamily="34" charset="-122"/>
              <a:sym typeface="微软雅黑" panose="020B0503020204020204" pitchFamily="34" charset="-122"/>
            </a:endParaRPr>
          </a:p>
          <a:p>
            <a:pPr indent="317500">
              <a:lnSpc>
                <a:spcPts val="2800"/>
              </a:lnSpc>
              <a:spcBef>
                <a:spcPts val="1200"/>
              </a:spcBef>
            </a:pPr>
            <a:r>
              <a:rPr lang="zh-CN" altLang="en-US" sz="2000" dirty="0">
                <a:solidFill>
                  <a:srgbClr val="000000"/>
                </a:solidFill>
                <a:latin typeface="微软雅黑" panose="020B0503020204020204" pitchFamily="34" charset="-122"/>
                <a:sym typeface="微软雅黑" panose="020B0503020204020204" pitchFamily="34" charset="-122"/>
              </a:rPr>
              <a:t>（</a:t>
            </a:r>
            <a:r>
              <a:rPr lang="en-US" altLang="zh-CN" sz="2000" dirty="0">
                <a:solidFill>
                  <a:srgbClr val="000000"/>
                </a:solidFill>
                <a:latin typeface="微软雅黑" panose="020B0503020204020204" pitchFamily="34" charset="-122"/>
                <a:sym typeface="微软雅黑" panose="020B0503020204020204" pitchFamily="34" charset="-122"/>
              </a:rPr>
              <a:t>2</a:t>
            </a:r>
            <a:r>
              <a:rPr lang="zh-CN" altLang="en-US" sz="2000" dirty="0">
                <a:solidFill>
                  <a:srgbClr val="000000"/>
                </a:solidFill>
                <a:latin typeface="微软雅黑" panose="020B0503020204020204" pitchFamily="34" charset="-122"/>
                <a:sym typeface="微软雅黑" panose="020B0503020204020204" pitchFamily="34" charset="-122"/>
              </a:rPr>
              <a:t>） 效率是靠好设计来提高的</a:t>
            </a:r>
          </a:p>
          <a:p>
            <a:pPr marL="1073150" indent="-755650">
              <a:lnSpc>
                <a:spcPts val="2800"/>
              </a:lnSpc>
              <a:spcBef>
                <a:spcPts val="1200"/>
              </a:spcBef>
            </a:pPr>
            <a:r>
              <a:rPr lang="zh-CN" altLang="en-US" sz="2000" dirty="0">
                <a:solidFill>
                  <a:srgbClr val="000000"/>
                </a:solidFill>
                <a:latin typeface="微软雅黑" panose="020B0503020204020204" pitchFamily="34" charset="-122"/>
                <a:sym typeface="微软雅黑" panose="020B0503020204020204" pitchFamily="34" charset="-122"/>
              </a:rPr>
              <a:t>（</a:t>
            </a:r>
            <a:r>
              <a:rPr lang="en-US" altLang="zh-CN" sz="2000" dirty="0">
                <a:solidFill>
                  <a:srgbClr val="000000"/>
                </a:solidFill>
                <a:latin typeface="微软雅黑" panose="020B0503020204020204" pitchFamily="34" charset="-122"/>
                <a:sym typeface="微软雅黑" panose="020B0503020204020204" pitchFamily="34" charset="-122"/>
              </a:rPr>
              <a:t>3</a:t>
            </a:r>
            <a:r>
              <a:rPr lang="zh-CN" altLang="en-US" sz="2000" dirty="0">
                <a:solidFill>
                  <a:srgbClr val="000000"/>
                </a:solidFill>
                <a:latin typeface="微软雅黑" panose="020B0503020204020204" pitchFamily="34" charset="-122"/>
                <a:sym typeface="微软雅黑" panose="020B0503020204020204" pitchFamily="34" charset="-122"/>
              </a:rPr>
              <a:t>） 程序的效率和程序的简单程度是一致的，不要牺牲程序的清晰性和可读性来不必要的提高效率</a:t>
            </a: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a:p>
            <a:pPr marL="0" lvl="1" indent="0">
              <a:lnSpc>
                <a:spcPct val="120000"/>
              </a:lnSpc>
              <a:spcBef>
                <a:spcPts val="900"/>
              </a:spcBef>
              <a:buNone/>
            </a:pP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zh-CN" altLang="en-US"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397369605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4.4 </a:t>
            </a:r>
            <a:r>
              <a:rPr lang="zh-CN" altLang="en-US" sz="2800" dirty="0">
                <a:solidFill>
                  <a:srgbClr val="4E8F00"/>
                </a:solidFill>
              </a:rPr>
              <a:t> </a:t>
            </a:r>
            <a:r>
              <a:rPr lang="zh-CN" altLang="en-US" sz="2800" dirty="0">
                <a:solidFill>
                  <a:srgbClr val="4E8F00"/>
                </a:solidFill>
                <a:sym typeface="微软雅黑" panose="020B0503020204020204" pitchFamily="34" charset="-122"/>
              </a:rPr>
              <a:t>编码风格（编码规则）</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26</a:t>
            </a:fld>
            <a:endParaRPr lang="zh-CN" altLang="en-US"/>
          </a:p>
        </p:txBody>
      </p:sp>
      <p:sp>
        <p:nvSpPr>
          <p:cNvPr id="7" name="Rectangle 7">
            <a:extLst>
              <a:ext uri="{FF2B5EF4-FFF2-40B4-BE49-F238E27FC236}">
                <a16:creationId xmlns:a16="http://schemas.microsoft.com/office/drawing/2014/main" id="{AD1064AF-BEC9-E643-A1F1-0066EB564FD0}"/>
              </a:ext>
            </a:extLst>
          </p:cNvPr>
          <p:cNvSpPr txBox="1">
            <a:spLocks noChangeArrowheads="1"/>
          </p:cNvSpPr>
          <p:nvPr/>
        </p:nvSpPr>
        <p:spPr>
          <a:xfrm>
            <a:off x="1073823" y="1142266"/>
            <a:ext cx="7394517"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400" dirty="0">
                <a:solidFill>
                  <a:srgbClr val="CC6600"/>
                </a:solidFill>
                <a:sym typeface="微软雅黑" panose="020B0503020204020204" pitchFamily="34" charset="-122"/>
              </a:rPr>
              <a:t>可以从</a:t>
            </a:r>
            <a:r>
              <a:rPr lang="en-US" altLang="zh-CN" sz="2400" dirty="0">
                <a:solidFill>
                  <a:srgbClr val="CC6600"/>
                </a:solidFill>
                <a:sym typeface="微软雅黑" panose="020B0503020204020204" pitchFamily="34" charset="-122"/>
              </a:rPr>
              <a:t>3</a:t>
            </a:r>
            <a:r>
              <a:rPr lang="zh-CN" altLang="en-US" sz="2400" dirty="0">
                <a:solidFill>
                  <a:srgbClr val="CC6600"/>
                </a:solidFill>
                <a:sym typeface="微软雅黑" panose="020B0503020204020204" pitchFamily="34" charset="-122"/>
              </a:rPr>
              <a:t>个方面来考虑效率问题</a:t>
            </a:r>
          </a:p>
          <a:p>
            <a:pPr marL="849313" indent="-849313"/>
            <a:endParaRPr lang="zh-CN" altLang="en-US"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8" name="Rectangle 7">
            <a:extLst>
              <a:ext uri="{FF2B5EF4-FFF2-40B4-BE49-F238E27FC236}">
                <a16:creationId xmlns:a16="http://schemas.microsoft.com/office/drawing/2014/main" id="{FCF70EFE-BB14-3748-8AE6-61661EFF02B7}"/>
              </a:ext>
            </a:extLst>
          </p:cNvPr>
          <p:cNvSpPr txBox="1">
            <a:spLocks noChangeArrowheads="1"/>
          </p:cNvSpPr>
          <p:nvPr/>
        </p:nvSpPr>
        <p:spPr>
          <a:xfrm>
            <a:off x="1421174" y="1935620"/>
            <a:ext cx="6858194" cy="4359043"/>
          </a:xfrm>
          <a:prstGeom prst="rect">
            <a:avLst/>
          </a:prstGeom>
        </p:spPr>
        <p:txBody>
          <a:bodyPr vert="horz" lIns="91440" tIns="45720" rIns="91440" bIns="45720" rtlCol="0">
            <a:normAutofit fontScale="925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spcBef>
                <a:spcPts val="1200"/>
              </a:spcBef>
            </a:pPr>
            <a:r>
              <a:rPr lang="zh-CN" altLang="en-US" dirty="0">
                <a:solidFill>
                  <a:srgbClr val="000000"/>
                </a:solidFill>
                <a:latin typeface="微软雅黑" panose="020B0503020204020204" pitchFamily="34" charset="-122"/>
                <a:sym typeface="微软雅黑" panose="020B0503020204020204" pitchFamily="34" charset="-122"/>
              </a:rPr>
              <a:t>（</a:t>
            </a:r>
            <a:r>
              <a:rPr lang="en-US" altLang="zh-CN" dirty="0">
                <a:solidFill>
                  <a:srgbClr val="000000"/>
                </a:solidFill>
                <a:latin typeface="微软雅黑" panose="020B0503020204020204" pitchFamily="34" charset="-122"/>
                <a:sym typeface="微软雅黑" panose="020B0503020204020204" pitchFamily="34" charset="-122"/>
              </a:rPr>
              <a:t>1</a:t>
            </a:r>
            <a:r>
              <a:rPr lang="zh-CN" altLang="en-US" dirty="0">
                <a:solidFill>
                  <a:srgbClr val="000000"/>
                </a:solidFill>
                <a:latin typeface="微软雅黑" panose="020B0503020204020204" pitchFamily="34" charset="-122"/>
                <a:sym typeface="微软雅黑" panose="020B0503020204020204" pitchFamily="34" charset="-122"/>
              </a:rPr>
              <a:t>）</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程序运行时间</a:t>
            </a:r>
            <a:endParaRPr lang="en-US" altLang="zh-CN" dirty="0">
              <a:solidFill>
                <a:srgbClr val="000000"/>
              </a:solidFill>
              <a:highlight>
                <a:srgbClr val="FFFF00"/>
              </a:highlight>
              <a:latin typeface="微软雅黑" panose="020B0503020204020204" pitchFamily="34" charset="-122"/>
              <a:sym typeface="微软雅黑" panose="020B0503020204020204" pitchFamily="34" charset="-122"/>
            </a:endParaRPr>
          </a:p>
          <a:p>
            <a:pPr marL="625475" indent="-357188">
              <a:spcBef>
                <a:spcPts val="6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写程序之前，先简化算术和逻辑表达式</a:t>
            </a:r>
          </a:p>
          <a:p>
            <a:pPr marL="625475" indent="-357188">
              <a:spcBef>
                <a:spcPts val="6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仔细研究嵌套循环，以确定是否有语句可以从内层往外移</a:t>
            </a:r>
          </a:p>
          <a:p>
            <a:pPr marL="625475" indent="-357188">
              <a:spcBef>
                <a:spcPts val="6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尽量避免使用多维数组</a:t>
            </a:r>
          </a:p>
          <a:p>
            <a:pPr marL="625475" indent="-357188">
              <a:spcBef>
                <a:spcPts val="6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尽量避免使用指针和复杂的表</a:t>
            </a:r>
          </a:p>
          <a:p>
            <a:pPr marL="625475" indent="-357188">
              <a:spcBef>
                <a:spcPts val="6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使用执行时间短的算术运算</a:t>
            </a:r>
          </a:p>
          <a:p>
            <a:pPr marL="625475" indent="-357188">
              <a:spcBef>
                <a:spcPts val="6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不要混合使用不同的数据类型</a:t>
            </a:r>
          </a:p>
          <a:p>
            <a:pPr marL="625475" indent="-357188">
              <a:spcBef>
                <a:spcPts val="6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尽量使用整数运算和布尔表达式</a:t>
            </a: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a:p>
            <a:pPr marL="0" lvl="1" indent="0">
              <a:lnSpc>
                <a:spcPct val="120000"/>
              </a:lnSpc>
              <a:spcBef>
                <a:spcPts val="900"/>
              </a:spcBef>
              <a:buNone/>
            </a:pP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zh-CN" altLang="en-US"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83207109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4.4 </a:t>
            </a:r>
            <a:r>
              <a:rPr lang="zh-CN" altLang="en-US" sz="2800" dirty="0">
                <a:solidFill>
                  <a:srgbClr val="4E8F00"/>
                </a:solidFill>
              </a:rPr>
              <a:t> </a:t>
            </a:r>
            <a:r>
              <a:rPr lang="zh-CN" altLang="en-US" sz="2800" dirty="0">
                <a:solidFill>
                  <a:srgbClr val="4E8F00"/>
                </a:solidFill>
                <a:sym typeface="微软雅黑" panose="020B0503020204020204" pitchFamily="34" charset="-122"/>
              </a:rPr>
              <a:t>编码风格（编码规则）</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27</a:t>
            </a:fld>
            <a:endParaRPr lang="zh-CN" altLang="en-US"/>
          </a:p>
        </p:txBody>
      </p:sp>
      <p:sp>
        <p:nvSpPr>
          <p:cNvPr id="7" name="Rectangle 7">
            <a:extLst>
              <a:ext uri="{FF2B5EF4-FFF2-40B4-BE49-F238E27FC236}">
                <a16:creationId xmlns:a16="http://schemas.microsoft.com/office/drawing/2014/main" id="{AD1064AF-BEC9-E643-A1F1-0066EB564FD0}"/>
              </a:ext>
            </a:extLst>
          </p:cNvPr>
          <p:cNvSpPr txBox="1">
            <a:spLocks noChangeArrowheads="1"/>
          </p:cNvSpPr>
          <p:nvPr/>
        </p:nvSpPr>
        <p:spPr>
          <a:xfrm>
            <a:off x="1073823" y="1142266"/>
            <a:ext cx="7394517"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400" dirty="0">
                <a:solidFill>
                  <a:srgbClr val="CC6600"/>
                </a:solidFill>
                <a:sym typeface="微软雅黑" panose="020B0503020204020204" pitchFamily="34" charset="-122"/>
              </a:rPr>
              <a:t>可以从</a:t>
            </a:r>
            <a:r>
              <a:rPr lang="en-US" altLang="zh-CN" sz="2400" dirty="0">
                <a:solidFill>
                  <a:srgbClr val="CC6600"/>
                </a:solidFill>
                <a:sym typeface="微软雅黑" panose="020B0503020204020204" pitchFamily="34" charset="-122"/>
              </a:rPr>
              <a:t>3</a:t>
            </a:r>
            <a:r>
              <a:rPr lang="zh-CN" altLang="en-US" sz="2400" dirty="0">
                <a:solidFill>
                  <a:srgbClr val="CC6600"/>
                </a:solidFill>
                <a:sym typeface="微软雅黑" panose="020B0503020204020204" pitchFamily="34" charset="-122"/>
              </a:rPr>
              <a:t>个方面来考虑效率问题</a:t>
            </a:r>
          </a:p>
          <a:p>
            <a:pPr marL="849313" indent="-849313"/>
            <a:endParaRPr lang="zh-CN" altLang="en-US"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8" name="Rectangle 7">
            <a:extLst>
              <a:ext uri="{FF2B5EF4-FFF2-40B4-BE49-F238E27FC236}">
                <a16:creationId xmlns:a16="http://schemas.microsoft.com/office/drawing/2014/main" id="{FCF70EFE-BB14-3748-8AE6-61661EFF02B7}"/>
              </a:ext>
            </a:extLst>
          </p:cNvPr>
          <p:cNvSpPr txBox="1">
            <a:spLocks noChangeArrowheads="1"/>
          </p:cNvSpPr>
          <p:nvPr/>
        </p:nvSpPr>
        <p:spPr>
          <a:xfrm>
            <a:off x="1421174" y="1935621"/>
            <a:ext cx="6688045" cy="4048800"/>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spcBef>
                <a:spcPts val="1200"/>
              </a:spcBef>
            </a:pPr>
            <a:r>
              <a:rPr lang="zh-CN" altLang="en-US" dirty="0">
                <a:solidFill>
                  <a:srgbClr val="000000"/>
                </a:solidFill>
                <a:latin typeface="微软雅黑" panose="020B0503020204020204" pitchFamily="34" charset="-122"/>
                <a:sym typeface="微软雅黑" panose="020B0503020204020204" pitchFamily="34" charset="-122"/>
              </a:rPr>
              <a:t>（</a:t>
            </a:r>
            <a:r>
              <a:rPr lang="en-US" altLang="zh-CN" dirty="0">
                <a:solidFill>
                  <a:srgbClr val="000000"/>
                </a:solidFill>
                <a:latin typeface="微软雅黑" panose="020B0503020204020204" pitchFamily="34" charset="-122"/>
                <a:sym typeface="微软雅黑" panose="020B0503020204020204" pitchFamily="34" charset="-122"/>
              </a:rPr>
              <a:t>2</a:t>
            </a:r>
            <a:r>
              <a:rPr lang="zh-CN" altLang="en-US" dirty="0">
                <a:solidFill>
                  <a:srgbClr val="000000"/>
                </a:solidFill>
                <a:latin typeface="微软雅黑" panose="020B0503020204020204" pitchFamily="34" charset="-122"/>
                <a:sym typeface="微软雅黑" panose="020B0503020204020204" pitchFamily="34" charset="-122"/>
              </a:rPr>
              <a:t>）</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存储器效率</a:t>
            </a:r>
          </a:p>
          <a:p>
            <a:pPr marL="625475" indent="-357188">
              <a:spcBef>
                <a:spcPts val="12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使用能保持功能域的结构化控制结构</a:t>
            </a:r>
          </a:p>
          <a:p>
            <a:pPr marL="625475" indent="-357188">
              <a:spcBef>
                <a:spcPts val="12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微处理机中如果要求使用最少的存储单元，则应选用有紧缩存储器特性的编译程序，在非常必要时可以使用汇编语言 </a:t>
            </a:r>
          </a:p>
          <a:p>
            <a:pPr marL="625475" indent="-357188">
              <a:spcBef>
                <a:spcPts val="12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提高执行效率 </a:t>
            </a: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a:p>
            <a:pPr marL="0" lvl="1" indent="0">
              <a:lnSpc>
                <a:spcPct val="120000"/>
              </a:lnSpc>
              <a:spcBef>
                <a:spcPts val="900"/>
              </a:spcBef>
              <a:buNone/>
            </a:pP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zh-CN" altLang="en-US"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47374987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4.4 </a:t>
            </a:r>
            <a:r>
              <a:rPr lang="zh-CN" altLang="en-US" sz="2800" dirty="0">
                <a:solidFill>
                  <a:srgbClr val="4E8F00"/>
                </a:solidFill>
              </a:rPr>
              <a:t> </a:t>
            </a:r>
            <a:r>
              <a:rPr lang="zh-CN" altLang="en-US" sz="2800" dirty="0">
                <a:solidFill>
                  <a:srgbClr val="4E8F00"/>
                </a:solidFill>
                <a:sym typeface="微软雅黑" panose="020B0503020204020204" pitchFamily="34" charset="-122"/>
              </a:rPr>
              <a:t>编码风格（编码规则）</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28</a:t>
            </a:fld>
            <a:endParaRPr lang="zh-CN" altLang="en-US"/>
          </a:p>
        </p:txBody>
      </p:sp>
      <p:sp>
        <p:nvSpPr>
          <p:cNvPr id="7" name="Rectangle 7">
            <a:extLst>
              <a:ext uri="{FF2B5EF4-FFF2-40B4-BE49-F238E27FC236}">
                <a16:creationId xmlns:a16="http://schemas.microsoft.com/office/drawing/2014/main" id="{AD1064AF-BEC9-E643-A1F1-0066EB564FD0}"/>
              </a:ext>
            </a:extLst>
          </p:cNvPr>
          <p:cNvSpPr txBox="1">
            <a:spLocks noChangeArrowheads="1"/>
          </p:cNvSpPr>
          <p:nvPr/>
        </p:nvSpPr>
        <p:spPr>
          <a:xfrm>
            <a:off x="1073823" y="1142266"/>
            <a:ext cx="7394517"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400" dirty="0">
                <a:solidFill>
                  <a:srgbClr val="CC6600"/>
                </a:solidFill>
                <a:sym typeface="微软雅黑" panose="020B0503020204020204" pitchFamily="34" charset="-122"/>
              </a:rPr>
              <a:t>可以从</a:t>
            </a:r>
            <a:r>
              <a:rPr lang="en-US" altLang="zh-CN" sz="2400" dirty="0">
                <a:solidFill>
                  <a:srgbClr val="CC6600"/>
                </a:solidFill>
                <a:sym typeface="微软雅黑" panose="020B0503020204020204" pitchFamily="34" charset="-122"/>
              </a:rPr>
              <a:t>3</a:t>
            </a:r>
            <a:r>
              <a:rPr lang="zh-CN" altLang="en-US" sz="2400" dirty="0">
                <a:solidFill>
                  <a:srgbClr val="CC6600"/>
                </a:solidFill>
                <a:sym typeface="微软雅黑" panose="020B0503020204020204" pitchFamily="34" charset="-122"/>
              </a:rPr>
              <a:t>个方面来考虑效率问题</a:t>
            </a:r>
          </a:p>
          <a:p>
            <a:pPr marL="849313" indent="-849313"/>
            <a:endParaRPr lang="zh-CN" altLang="en-US"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8" name="Rectangle 7">
            <a:extLst>
              <a:ext uri="{FF2B5EF4-FFF2-40B4-BE49-F238E27FC236}">
                <a16:creationId xmlns:a16="http://schemas.microsoft.com/office/drawing/2014/main" id="{FCF70EFE-BB14-3748-8AE6-61661EFF02B7}"/>
              </a:ext>
            </a:extLst>
          </p:cNvPr>
          <p:cNvSpPr txBox="1">
            <a:spLocks noChangeArrowheads="1"/>
          </p:cNvSpPr>
          <p:nvPr/>
        </p:nvSpPr>
        <p:spPr>
          <a:xfrm>
            <a:off x="1421174" y="1935621"/>
            <a:ext cx="6688045" cy="4048800"/>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spcBef>
                <a:spcPts val="1200"/>
              </a:spcBef>
            </a:pPr>
            <a:r>
              <a:rPr lang="zh-CN" altLang="en-US" dirty="0">
                <a:solidFill>
                  <a:srgbClr val="000000"/>
                </a:solidFill>
                <a:latin typeface="微软雅黑" panose="020B0503020204020204" pitchFamily="34" charset="-122"/>
                <a:sym typeface="微软雅黑" panose="020B0503020204020204" pitchFamily="34" charset="-122"/>
              </a:rPr>
              <a:t>（</a:t>
            </a:r>
            <a:r>
              <a:rPr lang="en-US" altLang="zh-CN" dirty="0">
                <a:solidFill>
                  <a:srgbClr val="000000"/>
                </a:solidFill>
                <a:latin typeface="微软雅黑" panose="020B0503020204020204" pitchFamily="34" charset="-122"/>
                <a:sym typeface="微软雅黑" panose="020B0503020204020204" pitchFamily="34" charset="-122"/>
              </a:rPr>
              <a:t>3</a:t>
            </a:r>
            <a:r>
              <a:rPr lang="zh-CN" altLang="en-US" dirty="0">
                <a:solidFill>
                  <a:srgbClr val="000000"/>
                </a:solidFill>
                <a:latin typeface="微软雅黑" panose="020B0503020204020204" pitchFamily="34" charset="-122"/>
                <a:sym typeface="微软雅黑" panose="020B0503020204020204" pitchFamily="34" charset="-122"/>
              </a:rPr>
              <a:t>）</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输入</a:t>
            </a:r>
            <a:r>
              <a:rPr lang="en-US" altLang="zh-CN" dirty="0">
                <a:solidFill>
                  <a:srgbClr val="000000"/>
                </a:solidFill>
                <a:highlight>
                  <a:srgbClr val="FFFF00"/>
                </a:highlight>
                <a:latin typeface="微软雅黑" panose="020B0503020204020204" pitchFamily="34" charset="-122"/>
                <a:sym typeface="微软雅黑" panose="020B0503020204020204" pitchFamily="34" charset="-122"/>
              </a:rPr>
              <a:t>/</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输出的效率</a:t>
            </a:r>
          </a:p>
          <a:p>
            <a:pPr marL="625475" indent="-357188">
              <a:spcBef>
                <a:spcPts val="12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所有输入</a:t>
            </a:r>
            <a:r>
              <a:rPr lang="en-US" altLang="zh-CN" sz="2000" dirty="0">
                <a:solidFill>
                  <a:srgbClr val="000000"/>
                </a:solidFill>
                <a:latin typeface="微软雅黑" panose="020B0503020204020204" pitchFamily="34" charset="-122"/>
                <a:sym typeface="微软雅黑" panose="020B0503020204020204" pitchFamily="34" charset="-122"/>
              </a:rPr>
              <a:t>/</a:t>
            </a:r>
            <a:r>
              <a:rPr lang="zh-CN" altLang="en-US" sz="2000" dirty="0">
                <a:solidFill>
                  <a:srgbClr val="000000"/>
                </a:solidFill>
                <a:latin typeface="微软雅黑" panose="020B0503020204020204" pitchFamily="34" charset="-122"/>
                <a:sym typeface="微软雅黑" panose="020B0503020204020204" pitchFamily="34" charset="-122"/>
              </a:rPr>
              <a:t>输出都应该有缓冲，以减少用于通信的额外开销</a:t>
            </a:r>
          </a:p>
          <a:p>
            <a:pPr marL="625475" indent="-357188">
              <a:spcBef>
                <a:spcPts val="12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对二级存储器应选用最简单的访问方法</a:t>
            </a:r>
          </a:p>
          <a:p>
            <a:pPr marL="625475" indent="-357188">
              <a:spcBef>
                <a:spcPts val="12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二级存储器的输入</a:t>
            </a:r>
            <a:r>
              <a:rPr lang="en-US" altLang="zh-CN" sz="2000" dirty="0">
                <a:solidFill>
                  <a:srgbClr val="000000"/>
                </a:solidFill>
                <a:latin typeface="微软雅黑" panose="020B0503020204020204" pitchFamily="34" charset="-122"/>
                <a:sym typeface="微软雅黑" panose="020B0503020204020204" pitchFamily="34" charset="-122"/>
              </a:rPr>
              <a:t>/</a:t>
            </a:r>
            <a:r>
              <a:rPr lang="zh-CN" altLang="en-US" sz="2000" dirty="0">
                <a:solidFill>
                  <a:srgbClr val="000000"/>
                </a:solidFill>
                <a:latin typeface="微软雅黑" panose="020B0503020204020204" pitchFamily="34" charset="-122"/>
                <a:sym typeface="微软雅黑" panose="020B0503020204020204" pitchFamily="34" charset="-122"/>
              </a:rPr>
              <a:t>输出应该以信息组为单位进行</a:t>
            </a:r>
          </a:p>
          <a:p>
            <a:pPr marL="625475" indent="-357188">
              <a:spcBef>
                <a:spcPts val="12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如果“超高效的”输入</a:t>
            </a:r>
            <a:r>
              <a:rPr lang="en-US" altLang="zh-CN" sz="2000" dirty="0">
                <a:solidFill>
                  <a:srgbClr val="000000"/>
                </a:solidFill>
                <a:latin typeface="微软雅黑" panose="020B0503020204020204" pitchFamily="34" charset="-122"/>
                <a:sym typeface="微软雅黑" panose="020B0503020204020204" pitchFamily="34" charset="-122"/>
              </a:rPr>
              <a:t>/</a:t>
            </a:r>
            <a:r>
              <a:rPr lang="zh-CN" altLang="en-US" sz="2000" dirty="0">
                <a:solidFill>
                  <a:srgbClr val="000000"/>
                </a:solidFill>
                <a:latin typeface="微软雅黑" panose="020B0503020204020204" pitchFamily="34" charset="-122"/>
                <a:sym typeface="微软雅黑" panose="020B0503020204020204" pitchFamily="34" charset="-122"/>
              </a:rPr>
              <a:t>输出很难被人理解，则不应采用这种方法</a:t>
            </a:r>
          </a:p>
          <a:p>
            <a:pPr marL="625475" indent="-357188">
              <a:spcBef>
                <a:spcPts val="1200"/>
              </a:spcBef>
              <a:buFont typeface="Arial" panose="020B0604020202020204" pitchFamily="34" charset="0"/>
              <a:buChar char="•"/>
            </a:pPr>
            <a:endParaRPr lang="zh-CN" altLang="en-US" sz="2000"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a:p>
            <a:pPr marL="0" lvl="1" indent="0">
              <a:lnSpc>
                <a:spcPct val="120000"/>
              </a:lnSpc>
              <a:spcBef>
                <a:spcPts val="900"/>
              </a:spcBef>
              <a:buNone/>
            </a:pP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zh-CN" altLang="en-US" dirty="0">
              <a:solidFill>
                <a:srgbClr val="000000"/>
              </a:solidFill>
              <a:latin typeface="微软雅黑" panose="020B0503020204020204" pitchFamily="34" charset="-122"/>
              <a:sym typeface="微软雅黑" panose="020B0503020204020204" pitchFamily="34" charset="-122"/>
            </a:endParaRPr>
          </a:p>
        </p:txBody>
      </p:sp>
      <p:sp>
        <p:nvSpPr>
          <p:cNvPr id="9" name="文本框 8">
            <a:extLst>
              <a:ext uri="{FF2B5EF4-FFF2-40B4-BE49-F238E27FC236}">
                <a16:creationId xmlns:a16="http://schemas.microsoft.com/office/drawing/2014/main" id="{5B64087D-04BC-8343-8867-3032BFCFA83C}"/>
              </a:ext>
            </a:extLst>
          </p:cNvPr>
          <p:cNvSpPr txBox="1"/>
          <p:nvPr/>
        </p:nvSpPr>
        <p:spPr>
          <a:xfrm>
            <a:off x="1227977" y="5984421"/>
            <a:ext cx="7074438" cy="369332"/>
          </a:xfrm>
          <a:prstGeom prst="rect">
            <a:avLst/>
          </a:prstGeom>
          <a:noFill/>
        </p:spPr>
        <p:txBody>
          <a:bodyPr wrap="square" rtlCol="0">
            <a:spAutoFit/>
          </a:bodyPr>
          <a:lstStyle/>
          <a:p>
            <a:r>
              <a:rPr kumimoji="1" lang="zh-CN" altLang="en-US" dirty="0">
                <a:solidFill>
                  <a:schemeClr val="bg1">
                    <a:lumMod val="95000"/>
                  </a:schemeClr>
                </a:solidFill>
              </a:rPr>
              <a:t>二级存储器：硬盘、</a:t>
            </a:r>
            <a:r>
              <a:rPr kumimoji="1" lang="en-US" altLang="zh-CN" dirty="0">
                <a:solidFill>
                  <a:schemeClr val="bg1">
                    <a:lumMod val="95000"/>
                  </a:schemeClr>
                </a:solidFill>
              </a:rPr>
              <a:t>U</a:t>
            </a:r>
            <a:r>
              <a:rPr kumimoji="1" lang="zh-CN" altLang="en-US" dirty="0">
                <a:solidFill>
                  <a:schemeClr val="bg1">
                    <a:lumMod val="95000"/>
                  </a:schemeClr>
                </a:solidFill>
              </a:rPr>
              <a:t>盘等速度缓慢但拥有很高容量的外部设备</a:t>
            </a:r>
          </a:p>
        </p:txBody>
      </p:sp>
    </p:spTree>
    <p:extLst>
      <p:ext uri="{BB962C8B-B14F-4D97-AF65-F5344CB8AC3E}">
        <p14:creationId xmlns:p14="http://schemas.microsoft.com/office/powerpoint/2010/main" val="335864644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8A0D5A0F-2ACC-504C-8AA9-52D19E103B2B}"/>
              </a:ext>
            </a:extLst>
          </p:cNvPr>
          <p:cNvSpPr>
            <a:spLocks noGrp="1"/>
          </p:cNvSpPr>
          <p:nvPr>
            <p:ph type="title"/>
          </p:nvPr>
        </p:nvSpPr>
        <p:spPr>
          <a:xfrm>
            <a:off x="1313833" y="2502998"/>
            <a:ext cx="5212080" cy="926002"/>
          </a:xfrm>
        </p:spPr>
        <p:txBody>
          <a:bodyPr/>
          <a:lstStyle/>
          <a:p>
            <a:r>
              <a:rPr lang="zh-CN" altLang="en-US" dirty="0"/>
              <a:t>本章结束</a:t>
            </a:r>
          </a:p>
        </p:txBody>
      </p:sp>
    </p:spTree>
    <p:extLst>
      <p:ext uri="{BB962C8B-B14F-4D97-AF65-F5344CB8AC3E}">
        <p14:creationId xmlns:p14="http://schemas.microsoft.com/office/powerpoint/2010/main" val="234754760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theme/theme1.xml><?xml version="1.0" encoding="utf-8"?>
<a:theme xmlns:a="http://schemas.openxmlformats.org/drawingml/2006/main" name="试验1">
  <a:themeElements>
    <a:clrScheme name="Ecology">
      <a:dk1>
        <a:srgbClr val="4D3E2F"/>
      </a:dk1>
      <a:lt1>
        <a:sysClr val="window" lastClr="FFFFFF"/>
      </a:lt1>
      <a:dk2>
        <a:srgbClr val="000000"/>
      </a:dk2>
      <a:lt2>
        <a:srgbClr val="DDDDDD"/>
      </a:lt2>
      <a:accent1>
        <a:srgbClr val="8BAA00"/>
      </a:accent1>
      <a:accent2>
        <a:srgbClr val="2A6CB2"/>
      </a:accent2>
      <a:accent3>
        <a:srgbClr val="795837"/>
      </a:accent3>
      <a:accent4>
        <a:srgbClr val="D18316"/>
      </a:accent4>
      <a:accent5>
        <a:srgbClr val="79B4F0"/>
      </a:accent5>
      <a:accent6>
        <a:srgbClr val="CDC80F"/>
      </a:accent6>
      <a:hlink>
        <a:srgbClr val="2A6CB2"/>
      </a:hlink>
      <a:folHlink>
        <a:srgbClr val="808080"/>
      </a:folHlink>
    </a:clrScheme>
    <a:fontScheme name="Corbel">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试验1" id="{D0FC9D1F-E22A-42E8-A7DA-057A10670BAD}" vid="{05874D67-174A-4DBA-8E33-E98A4D4F3B7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试验1</Template>
  <TotalTime>0</TotalTime>
  <Words>3407</Words>
  <Application>Microsoft Office PowerPoint</Application>
  <PresentationFormat>全屏显示(4:3)</PresentationFormat>
  <Paragraphs>267</Paragraphs>
  <Slides>29</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29</vt:i4>
      </vt:variant>
    </vt:vector>
  </HeadingPairs>
  <TitlesOfParts>
    <vt:vector size="39" baseType="lpstr">
      <vt:lpstr>-apple-system</vt:lpstr>
      <vt:lpstr>Helvetica Neue</vt:lpstr>
      <vt:lpstr>Microsoft YaHei UI</vt:lpstr>
      <vt:lpstr>华文中宋</vt:lpstr>
      <vt:lpstr>微软雅黑</vt:lpstr>
      <vt:lpstr>微软雅黑</vt:lpstr>
      <vt:lpstr>Arial</vt:lpstr>
      <vt:lpstr>Calibri</vt:lpstr>
      <vt:lpstr>Corbel</vt:lpstr>
      <vt:lpstr>试验1</vt:lpstr>
      <vt:lpstr>软件工程导论</vt:lpstr>
      <vt:lpstr>PowerPoint 演示文稿</vt:lpstr>
      <vt:lpstr>第 4 章   编码及实现</vt:lpstr>
      <vt:lpstr>4.1  编码的任务</vt:lpstr>
      <vt:lpstr>4.1  编码的任务</vt:lpstr>
      <vt:lpstr>第 4 章   编码及实现</vt:lpstr>
      <vt:lpstr>4.2  编程语言的发展</vt:lpstr>
      <vt:lpstr>4.2  编程语言的发展</vt:lpstr>
      <vt:lpstr>4.2  编程语言的发展</vt:lpstr>
      <vt:lpstr>4.2  编程语言的发展</vt:lpstr>
      <vt:lpstr>4.2  编程语言的发展</vt:lpstr>
      <vt:lpstr>第 4 章   编码及实现</vt:lpstr>
      <vt:lpstr>PowerPoint 演示文稿</vt:lpstr>
      <vt:lpstr>4.3  选择编程语言需考虑的因素</vt:lpstr>
      <vt:lpstr>4.3  选择编程语言需考虑的因素</vt:lpstr>
      <vt:lpstr>4.3  选择编程语言需考虑的因素</vt:lpstr>
      <vt:lpstr>PowerPoint 演示文稿</vt:lpstr>
      <vt:lpstr>PowerPoint 演示文稿</vt:lpstr>
      <vt:lpstr>PowerPoint 演示文稿</vt:lpstr>
      <vt:lpstr>第 4 章   编码及实现</vt:lpstr>
      <vt:lpstr>4.4  编码风格</vt:lpstr>
      <vt:lpstr>4.4  编码风格（编码规则）</vt:lpstr>
      <vt:lpstr>4.4  编码风格（编码规则）</vt:lpstr>
      <vt:lpstr>4.4  编码风格（编码规则）</vt:lpstr>
      <vt:lpstr>4.4  编码风格（编码规则）</vt:lpstr>
      <vt:lpstr>4.4  编码风格（编码规则）</vt:lpstr>
      <vt:lpstr>4.4  编码风格（编码规则）</vt:lpstr>
      <vt:lpstr>4.4  编码风格（编码规则）</vt:lpstr>
      <vt:lpstr>本章结束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2013-08-19T11:32:30Z</dcterms:created>
  <dcterms:modified xsi:type="dcterms:W3CDTF">2025-02-06T15:29:08Z</dcterms:modified>
</cp:coreProperties>
</file>