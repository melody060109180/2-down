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2"/>
  </p:notesMasterIdLst>
  <p:sldIdLst>
    <p:sldId id="256" r:id="rId2"/>
    <p:sldId id="332" r:id="rId3"/>
    <p:sldId id="260" r:id="rId4"/>
    <p:sldId id="333" r:id="rId5"/>
    <p:sldId id="427" r:id="rId6"/>
    <p:sldId id="428" r:id="rId7"/>
    <p:sldId id="430" r:id="rId8"/>
    <p:sldId id="522" r:id="rId9"/>
    <p:sldId id="391" r:id="rId10"/>
    <p:sldId id="393" r:id="rId11"/>
    <p:sldId id="531" r:id="rId12"/>
    <p:sldId id="432" r:id="rId13"/>
    <p:sldId id="536" r:id="rId14"/>
    <p:sldId id="529" r:id="rId15"/>
    <p:sldId id="431" r:id="rId16"/>
    <p:sldId id="433" r:id="rId17"/>
    <p:sldId id="434" r:id="rId18"/>
    <p:sldId id="435" r:id="rId19"/>
    <p:sldId id="436" r:id="rId20"/>
    <p:sldId id="532" r:id="rId21"/>
    <p:sldId id="438" r:id="rId22"/>
    <p:sldId id="437" r:id="rId23"/>
    <p:sldId id="533" r:id="rId24"/>
    <p:sldId id="439" r:id="rId25"/>
    <p:sldId id="440" r:id="rId26"/>
    <p:sldId id="441" r:id="rId27"/>
    <p:sldId id="443" r:id="rId28"/>
    <p:sldId id="442" r:id="rId29"/>
    <p:sldId id="444" r:id="rId30"/>
    <p:sldId id="445" r:id="rId31"/>
    <p:sldId id="446" r:id="rId32"/>
    <p:sldId id="447" r:id="rId33"/>
    <p:sldId id="448" r:id="rId34"/>
    <p:sldId id="449" r:id="rId35"/>
    <p:sldId id="452" r:id="rId36"/>
    <p:sldId id="535" r:id="rId37"/>
    <p:sldId id="523" r:id="rId38"/>
    <p:sldId id="453" r:id="rId39"/>
    <p:sldId id="454" r:id="rId40"/>
    <p:sldId id="455" r:id="rId41"/>
    <p:sldId id="456" r:id="rId42"/>
    <p:sldId id="457" r:id="rId43"/>
    <p:sldId id="458" r:id="rId44"/>
    <p:sldId id="459" r:id="rId45"/>
    <p:sldId id="460" r:id="rId46"/>
    <p:sldId id="461" r:id="rId47"/>
    <p:sldId id="462" r:id="rId48"/>
    <p:sldId id="534" r:id="rId49"/>
    <p:sldId id="463" r:id="rId50"/>
    <p:sldId id="464" r:id="rId51"/>
    <p:sldId id="465" r:id="rId52"/>
    <p:sldId id="466" r:id="rId53"/>
    <p:sldId id="467" r:id="rId54"/>
    <p:sldId id="468" r:id="rId55"/>
    <p:sldId id="469" r:id="rId56"/>
    <p:sldId id="470" r:id="rId57"/>
    <p:sldId id="471" r:id="rId58"/>
    <p:sldId id="472" r:id="rId59"/>
    <p:sldId id="473" r:id="rId60"/>
    <p:sldId id="474" r:id="rId61"/>
    <p:sldId id="475" r:id="rId62"/>
    <p:sldId id="476" r:id="rId63"/>
    <p:sldId id="477" r:id="rId64"/>
    <p:sldId id="478" r:id="rId65"/>
    <p:sldId id="480" r:id="rId66"/>
    <p:sldId id="479" r:id="rId67"/>
    <p:sldId id="481" r:id="rId68"/>
    <p:sldId id="482" r:id="rId69"/>
    <p:sldId id="483" r:id="rId70"/>
    <p:sldId id="484" r:id="rId71"/>
    <p:sldId id="485" r:id="rId72"/>
    <p:sldId id="486" r:id="rId73"/>
    <p:sldId id="487" r:id="rId74"/>
    <p:sldId id="488" r:id="rId75"/>
    <p:sldId id="490" r:id="rId76"/>
    <p:sldId id="489" r:id="rId77"/>
    <p:sldId id="491" r:id="rId78"/>
    <p:sldId id="492" r:id="rId79"/>
    <p:sldId id="494" r:id="rId80"/>
    <p:sldId id="493" r:id="rId81"/>
    <p:sldId id="495" r:id="rId82"/>
    <p:sldId id="496" r:id="rId83"/>
    <p:sldId id="497" r:id="rId84"/>
    <p:sldId id="498" r:id="rId85"/>
    <p:sldId id="537" r:id="rId86"/>
    <p:sldId id="499" r:id="rId87"/>
    <p:sldId id="500" r:id="rId88"/>
    <p:sldId id="501" r:id="rId89"/>
    <p:sldId id="502" r:id="rId90"/>
    <p:sldId id="503" r:id="rId91"/>
    <p:sldId id="504" r:id="rId92"/>
    <p:sldId id="505" r:id="rId93"/>
    <p:sldId id="506" r:id="rId94"/>
    <p:sldId id="507" r:id="rId95"/>
    <p:sldId id="508" r:id="rId96"/>
    <p:sldId id="509" r:id="rId97"/>
    <p:sldId id="510" r:id="rId98"/>
    <p:sldId id="528" r:id="rId99"/>
    <p:sldId id="524" r:id="rId100"/>
    <p:sldId id="525" r:id="rId101"/>
    <p:sldId id="526" r:id="rId102"/>
    <p:sldId id="527" r:id="rId103"/>
    <p:sldId id="511" r:id="rId104"/>
    <p:sldId id="512" r:id="rId105"/>
    <p:sldId id="513" r:id="rId106"/>
    <p:sldId id="514" r:id="rId107"/>
    <p:sldId id="515" r:id="rId108"/>
    <p:sldId id="517" r:id="rId109"/>
    <p:sldId id="519" r:id="rId110"/>
    <p:sldId id="426" r:id="rId1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9900"/>
    <a:srgbClr val="0432FF"/>
    <a:srgbClr val="4E8F00"/>
    <a:srgbClr val="CC6600"/>
    <a:srgbClr val="CC9900"/>
    <a:srgbClr val="FFFF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4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6D237-0A8C-41AD-A549-C316A052396E}" type="datetimeFigureOut">
              <a:rPr lang="zh-CN" altLang="en-US" smtClean="0"/>
              <a:t>2025/2/24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A3D49-478E-4229-8803-539C598C7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6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EF80B5E8-623B-164B-9BB1-943AA4B8E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《面向对象技术与UML》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63B2024-A4B5-0C42-963F-F337F1F75E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3B14A2-24F4-434A-9924-9E0C1949FA9B}" type="datetime1">
              <a:rPr lang="zh-CN" altLang="en-US" smtClean="0"/>
              <a:pPr/>
              <a:t>2025/2/24</a:t>
            </a:fld>
            <a:endParaRPr lang="en-US" altLang="zh-CN"/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3CE767F3-0DDB-314F-8765-044700D53F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第一部分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3FC6F684-4ED2-2F4D-8499-DC68D92EF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326333-C2D3-2945-A6F4-7EE6F974D739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997E5DAC-8FED-2C48-B08A-5D56575F8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27048FFF-57CB-F246-B149-087AC728C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622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EF80B5E8-623B-164B-9BB1-943AA4B8E7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《面向对象技术与UML》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63B2024-A4B5-0C42-963F-F337F1F75E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3B14A2-24F4-434A-9924-9E0C1949FA9B}" type="datetime1">
              <a:rPr lang="zh-CN" altLang="en-US" smtClean="0"/>
              <a:pPr/>
              <a:t>2025/2/24</a:t>
            </a:fld>
            <a:endParaRPr lang="en-US" altLang="zh-CN"/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3CE767F3-0DDB-314F-8765-044700D53F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第一部分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3FC6F684-4ED2-2F4D-8499-DC68D92EF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326333-C2D3-2945-A6F4-7EE6F974D73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997E5DAC-8FED-2C48-B08A-5D56575F82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27048FFF-57CB-F246-B149-087AC728C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77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1BAA572-48A6-1745-B232-AF01EAD814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《面向对象技术与UML》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D67E7D5-720E-AE43-B285-F3D5E3C3A56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DF92C0-4844-2A4A-BC9C-11FD04C03CE4}" type="datetime1">
              <a:rPr lang="zh-CN" altLang="en-US" smtClean="0"/>
              <a:pPr>
                <a:spcBef>
                  <a:spcPct val="0"/>
                </a:spcBef>
              </a:pPr>
              <a:t>2025/2/24</a:t>
            </a:fld>
            <a:endParaRPr lang="en-US" altLang="zh-CN"/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80602150-AF1F-8D46-8670-78EC402975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第一部分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0E66E007-9B8B-8E41-B6ED-7E28ECE04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AD24CF3-2DE8-614F-ADD9-A488ADA1B832}" type="slidenum">
              <a:rPr lang="en-US" altLang="zh-CN"/>
              <a:pPr>
                <a:spcBef>
                  <a:spcPct val="0"/>
                </a:spcBef>
              </a:pPr>
              <a:t>99</a:t>
            </a:fld>
            <a:endParaRPr lang="en-US" altLang="zh-CN"/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35E0ADB1-E273-3644-A148-18562936A1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A7B2316B-E77A-DE4F-96CD-2FBC97B55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60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97A7FD1-81F7-704A-BE17-158773B2D3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《面向对象技术与UML》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50A4E5-82D0-FC49-8E08-816B2E8D476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906A9C-C17C-C34B-ACFC-A062EF0D0C76}" type="datetime1">
              <a:rPr lang="zh-CN" altLang="en-US" smtClean="0"/>
              <a:pPr>
                <a:spcBef>
                  <a:spcPct val="0"/>
                </a:spcBef>
              </a:pPr>
              <a:t>2025/2/24</a:t>
            </a:fld>
            <a:endParaRPr lang="en-US" altLang="zh-CN"/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3760CB85-BAB7-3049-8C89-60D4B8F51A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第一部分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DB94F10F-65B8-4147-89B9-509E546929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BC7B92-E2C3-D447-9F54-2938F1B1B36E}" type="slidenum">
              <a:rPr lang="en-US" altLang="zh-CN"/>
              <a:pPr>
                <a:spcBef>
                  <a:spcPct val="0"/>
                </a:spcBef>
              </a:pPr>
              <a:t>100</a:t>
            </a:fld>
            <a:endParaRPr lang="en-US" altLang="zh-CN"/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4A6EF0F2-316C-414C-A092-8EBCC10CC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39143A2D-52D2-2241-812C-3548B874B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4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60D4049-5ED4-8B43-AA9B-ED06D85AF5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《面向对象技术与UML》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B57D06F-C47F-A345-B8DF-2204180359D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11B2C42-FFCD-3F4F-AB09-6CBD266C5910}" type="datetime1">
              <a:rPr lang="zh-CN" altLang="en-US" smtClean="0"/>
              <a:pPr>
                <a:spcBef>
                  <a:spcPct val="0"/>
                </a:spcBef>
              </a:pPr>
              <a:t>2025/2/24</a:t>
            </a:fld>
            <a:endParaRPr lang="en-US" altLang="zh-CN"/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4576BE80-98D1-A848-AD87-55A022BF8D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第一部分</a:t>
            </a: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594CD9CB-021B-8B44-9FD7-D946A030B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DDBC132-2B9F-3D45-A74D-7FDE3E612363}" type="slidenum">
              <a:rPr lang="en-US" altLang="zh-CN"/>
              <a:pPr>
                <a:spcBef>
                  <a:spcPct val="0"/>
                </a:spcBef>
              </a:pPr>
              <a:t>101</a:t>
            </a:fld>
            <a:endParaRPr lang="en-US" altLang="zh-CN"/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5EF9303A-9547-C74C-9C91-9132706923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6D660FDA-9B9D-8D41-A218-590221EB6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616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1E8B995-3158-3643-B17F-F24A205FED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《面向对象技术与UML》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6B21EEC-F16C-7B4E-9214-5F7DD15EB8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50B55EB-0F4E-E041-961B-CD36848BCD74}" type="datetime1">
              <a:rPr lang="zh-CN" altLang="en-US" smtClean="0"/>
              <a:pPr>
                <a:spcBef>
                  <a:spcPct val="0"/>
                </a:spcBef>
              </a:pPr>
              <a:t>2025/2/24</a:t>
            </a:fld>
            <a:endParaRPr lang="en-US" altLang="zh-CN"/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3C93E3B8-118A-6E4E-A38E-2AD52ED4AD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第一部分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63C32E70-FA29-F84C-A93C-1D655DF84A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D75BD7E-AD4E-2946-8EFB-291F4E725029}" type="slidenum">
              <a:rPr lang="en-US" altLang="zh-CN"/>
              <a:pPr>
                <a:spcBef>
                  <a:spcPct val="0"/>
                </a:spcBef>
              </a:pPr>
              <a:t>102</a:t>
            </a:fld>
            <a:endParaRPr lang="en-US" altLang="zh-CN"/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CAA1E41D-0295-274A-88C1-0270727AA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7" name="Rectangle 3">
            <a:extLst>
              <a:ext uri="{FF2B5EF4-FFF2-40B4-BE49-F238E27FC236}">
                <a16:creationId xmlns:a16="http://schemas.microsoft.com/office/drawing/2014/main" id="{24449803-01C4-5F4F-BF4D-920BBF91C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2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深蓝色的天空中漂浮着朵朵白云" title="幻灯片设计图片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7400"/>
            <a:ext cx="1117854" cy="38862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00150" y="0"/>
            <a:ext cx="3771900" cy="59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pic>
        <p:nvPicPr>
          <p:cNvPr id="10" name="图片 9" descr="植物出芽特写" title="幻灯片设计图片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4347" y="2057400"/>
            <a:ext cx="1545575" cy="3886200"/>
          </a:xfrm>
          <a:prstGeom prst="rect">
            <a:avLst/>
          </a:prstGeom>
        </p:spPr>
      </p:pic>
      <p:pic>
        <p:nvPicPr>
          <p:cNvPr id="11" name="图片 10" descr="波形" title="幻灯片设计图片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2217" y="2057400"/>
            <a:ext cx="2462022" cy="38862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8730" y="303347"/>
            <a:ext cx="3634740" cy="2387600"/>
          </a:xfrm>
        </p:spPr>
        <p:txBody>
          <a:bodyPr anchor="b">
            <a:normAutofit/>
          </a:bodyPr>
          <a:lstStyle>
            <a:lvl1pPr algn="l" latinLnBrk="0">
              <a:lnSpc>
                <a:spcPct val="90000"/>
              </a:lnSpc>
              <a:defRPr lang="zh-CN"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13833" y="5381894"/>
            <a:ext cx="3634740" cy="448056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CN" sz="1800">
                <a:solidFill>
                  <a:schemeClr val="bg1"/>
                </a:solidFill>
              </a:defRPr>
            </a:lvl1pPr>
            <a:lvl2pPr marL="342900" indent="0" algn="ctr" latinLnBrk="0">
              <a:buNone/>
              <a:defRPr lang="zh-CN" sz="1500"/>
            </a:lvl2pPr>
            <a:lvl3pPr marL="685800" indent="0" algn="ctr" latinLnBrk="0">
              <a:buNone/>
              <a:defRPr lang="zh-CN" sz="1350"/>
            </a:lvl3pPr>
            <a:lvl4pPr marL="1028700" indent="0" algn="ctr" latinLnBrk="0">
              <a:buNone/>
              <a:defRPr lang="zh-CN" sz="1200"/>
            </a:lvl4pPr>
            <a:lvl5pPr marL="1371600" indent="0" algn="ctr" latinLnBrk="0">
              <a:buNone/>
              <a:defRPr lang="zh-CN" sz="1200"/>
            </a:lvl5pPr>
            <a:lvl6pPr marL="1714500" indent="0" algn="ctr" latinLnBrk="0">
              <a:buNone/>
              <a:defRPr lang="zh-CN" sz="1200"/>
            </a:lvl6pPr>
            <a:lvl7pPr marL="2057400" indent="0" algn="ctr" latinLnBrk="0">
              <a:buNone/>
              <a:defRPr lang="zh-CN" sz="1200"/>
            </a:lvl7pPr>
            <a:lvl8pPr marL="2400300" indent="0" algn="ctr" latinLnBrk="0">
              <a:buNone/>
              <a:defRPr lang="zh-CN" sz="1200"/>
            </a:lvl8pPr>
            <a:lvl9pPr marL="2743200" indent="0" algn="ctr" latinLnBrk="0">
              <a:buNone/>
              <a:defRPr lang="zh-CN"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章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314" y="173261"/>
            <a:ext cx="7785026" cy="90200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288" y="1413933"/>
            <a:ext cx="6688045" cy="477275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 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>
            <a:lvl1pPr>
              <a:defRPr sz="800"/>
            </a:lvl1pPr>
          </a:lstStyle>
          <a:p>
            <a:fld id="{C69415A0-FAE7-FB41-9F48-9F24B7034EC9}" type="datetime1">
              <a:rPr lang="zh-CN" altLang="en-US" smtClean="0"/>
              <a:t>2025/2/24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/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>
            <a:lvl1pPr>
              <a:defRPr sz="800"/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288" y="1413933"/>
            <a:ext cx="6688045" cy="477275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lnSpc>
                <a:spcPct val="130000"/>
              </a:lnSpc>
              <a:defRPr sz="16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 第二级</a:t>
            </a:r>
            <a:endParaRPr lang="en-US" altLang="zh-CN" dirty="0"/>
          </a:p>
          <a:p>
            <a:pPr lvl="1"/>
            <a:r>
              <a:rPr lang="zh-CN" altLang="en-US" dirty="0"/>
              <a:t> 第二级</a:t>
            </a:r>
            <a:endParaRPr lang="en-US" altLang="zh-CN" dirty="0"/>
          </a:p>
          <a:p>
            <a:pPr lvl="2"/>
            <a:r>
              <a:rPr lang="zh-CN" altLang="en-US" dirty="0"/>
              <a:t> 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6040" y="6629400"/>
            <a:ext cx="647783" cy="228600"/>
          </a:xfrm>
        </p:spPr>
        <p:txBody>
          <a:bodyPr/>
          <a:lstStyle>
            <a:lvl1pPr>
              <a:defRPr sz="800"/>
            </a:lvl1pPr>
          </a:lstStyle>
          <a:p>
            <a:fld id="{B2CB8352-4891-804B-8CB8-EAFD4E57CF78}" type="datetime1">
              <a:rPr lang="zh-CN" altLang="en-US" smtClean="0"/>
              <a:t>2025/2/24</a:t>
            </a:fld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1" y="6629400"/>
            <a:ext cx="426041" cy="228600"/>
          </a:xfrm>
        </p:spPr>
        <p:txBody>
          <a:bodyPr/>
          <a:lstStyle>
            <a:lvl1pPr>
              <a:defRPr sz="800"/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7" name="动作按钮: 第一张 6">
            <a:hlinkClick r:id="rId2" action="ppaction://hlinksldjump" highlightClick="1"/>
          </p:cNvPr>
          <p:cNvSpPr/>
          <p:nvPr userDrawn="1"/>
        </p:nvSpPr>
        <p:spPr>
          <a:xfrm>
            <a:off x="8888729" y="6623694"/>
            <a:ext cx="235393" cy="220133"/>
          </a:xfrm>
          <a:prstGeom prst="actionButtonHome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83314" y="173261"/>
            <a:ext cx="7785026" cy="902005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800"/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04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00149" y="2059146"/>
            <a:ext cx="5399772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3833" y="2263915"/>
            <a:ext cx="5212080" cy="2079486"/>
          </a:xfrm>
        </p:spPr>
        <p:txBody>
          <a:bodyPr anchor="b"/>
          <a:lstStyle>
            <a:lvl1pPr latinLnBrk="0">
              <a:defRPr lang="zh-CN" sz="45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13833" y="5381894"/>
            <a:ext cx="5212080" cy="449523"/>
          </a:xfrm>
        </p:spPr>
        <p:txBody>
          <a:bodyPr/>
          <a:lstStyle>
            <a:lvl1pPr marL="0" indent="0" latinLnBrk="0">
              <a:spcBef>
                <a:spcPts val="0"/>
              </a:spcBef>
              <a:buNone/>
              <a:defRPr lang="zh-CN" sz="1800">
                <a:solidFill>
                  <a:schemeClr val="bg1"/>
                </a:solidFill>
              </a:defRPr>
            </a:lvl1pPr>
            <a:lvl2pPr marL="342900" indent="0" latinLnBrk="0">
              <a:buNone/>
              <a:defRPr lang="zh-CN" sz="1500"/>
            </a:lvl2pPr>
            <a:lvl3pPr marL="685800" indent="0" latinLnBrk="0">
              <a:buNone/>
              <a:defRPr lang="zh-CN" sz="1350"/>
            </a:lvl3pPr>
            <a:lvl4pPr marL="1028700" indent="0" latinLnBrk="0">
              <a:buNone/>
              <a:defRPr lang="zh-CN" sz="1200"/>
            </a:lvl4pPr>
            <a:lvl5pPr marL="1371600" indent="0" latinLnBrk="0">
              <a:buNone/>
              <a:defRPr lang="zh-CN" sz="1200"/>
            </a:lvl5pPr>
            <a:lvl6pPr marL="1714500" indent="0" latinLnBrk="0">
              <a:buNone/>
              <a:defRPr lang="zh-CN" sz="1200"/>
            </a:lvl6pPr>
            <a:lvl7pPr marL="2057400" indent="0" latinLnBrk="0">
              <a:buNone/>
              <a:defRPr lang="zh-CN" sz="1200"/>
            </a:lvl7pPr>
            <a:lvl8pPr marL="2400300" indent="0" latinLnBrk="0">
              <a:buNone/>
              <a:defRPr lang="zh-CN" sz="1200"/>
            </a:lvl8pPr>
            <a:lvl9pPr marL="2743200" indent="0" latinLnBrk="0">
              <a:buNone/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9" name="图片 8" descr="波形" title="幻灯片设计图片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2217" y="2059146"/>
            <a:ext cx="2462022" cy="3886200"/>
          </a:xfrm>
          <a:prstGeom prst="rect">
            <a:avLst/>
          </a:prstGeom>
        </p:spPr>
      </p:pic>
      <p:pic>
        <p:nvPicPr>
          <p:cNvPr id="11" name="图片 10" descr="绿色植物特写" title="幻灯片设计图片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9146"/>
            <a:ext cx="111785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215B40C-FD03-0C4B-B68A-6F0B2D5321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6584950"/>
            <a:ext cx="1265238" cy="273050"/>
          </a:xfrm>
        </p:spPr>
        <p:txBody>
          <a:bodyPr/>
          <a:lstStyle>
            <a:lvl1pPr algn="ctr">
              <a:defRPr sz="1100">
                <a:solidFill>
                  <a:srgbClr val="FFFFCC"/>
                </a:solidFill>
              </a:defRPr>
            </a:lvl1pPr>
          </a:lstStyle>
          <a:p>
            <a:pPr>
              <a:defRPr/>
            </a:pPr>
            <a:fld id="{30CD3A3F-B084-8445-88B4-9B29C72F3A55}" type="datetime1">
              <a:rPr lang="zh-CN" altLang="en-US"/>
              <a:pPr>
                <a:defRPr/>
              </a:pPr>
              <a:t>2025/2/24</a:t>
            </a:fld>
            <a:endParaRPr lang="en-US" altLang="zh-CN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0429221-FBEF-5440-8911-67149FA0C5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265238" y="6584950"/>
            <a:ext cx="2347912" cy="273050"/>
          </a:xfrm>
        </p:spPr>
        <p:txBody>
          <a:bodyPr/>
          <a:lstStyle>
            <a:lvl1pPr>
              <a:defRPr sz="1100">
                <a:solidFill>
                  <a:srgbClr val="FFFFCC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面向对象技术与</a:t>
            </a:r>
            <a:r>
              <a:rPr lang="en-US" altLang="zh-CN"/>
              <a:t>UML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3A5D5B-CEE1-F84A-9198-C6F28FCDC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3613150" y="6584950"/>
            <a:ext cx="1265238" cy="273050"/>
          </a:xfrm>
        </p:spPr>
        <p:txBody>
          <a:bodyPr/>
          <a:lstStyle>
            <a:lvl1pPr algn="ctr">
              <a:defRPr sz="1100">
                <a:solidFill>
                  <a:srgbClr val="FFFFCC"/>
                </a:solidFill>
              </a:defRPr>
            </a:lvl1pPr>
          </a:lstStyle>
          <a:p>
            <a:fld id="{5D637F7B-7BB6-7F43-A4A6-6AB645C87A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6391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629400"/>
            <a:ext cx="1124712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Microsoft YaHei U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07008" y="6629400"/>
            <a:ext cx="7936992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schemeClr val="accent1">
                  <a:lumMod val="75000"/>
                </a:schemeClr>
              </a:solidFill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57520" y="276087"/>
            <a:ext cx="7028962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57520" y="1566001"/>
            <a:ext cx="7028961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3078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9CD8D479-8942-46E8-A226-A4E01F7A105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3326" y="6629400"/>
            <a:ext cx="75049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9FB283A0-CB17-A043-9B7A-AF1BF540E167}" type="datetime1">
              <a:rPr lang="zh-CN" altLang="en-US" smtClean="0"/>
              <a:t>2025/2/24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28288" y="6629400"/>
            <a:ext cx="685819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600">
                <a:solidFill>
                  <a:schemeClr val="accent1">
                    <a:lumMod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685800" rtl="0" eaLnBrk="1" latinLnBrk="0" hangingPunct="1">
        <a:spcBef>
          <a:spcPct val="0"/>
        </a:spcBef>
        <a:buNone/>
        <a:defRPr lang="zh-CN" sz="2550" kern="1200">
          <a:solidFill>
            <a:schemeClr val="accent1"/>
          </a:solidFill>
          <a:latin typeface="+mj-lt"/>
          <a:ea typeface="Microsoft YaHei UI" panose="020B0503020204020204" pitchFamily="34" charset="-122"/>
          <a:cs typeface="+mj-cs"/>
        </a:defRPr>
      </a:lvl1pPr>
    </p:titleStyle>
    <p:bodyStyle>
      <a:lvl1pPr marL="157734" indent="-157734" algn="l" defTabSz="68580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lang="zh-CN" sz="165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1pPr>
      <a:lvl2pPr marL="329184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2pPr>
      <a:lvl3pPr marL="5074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3pPr>
      <a:lvl4pPr marL="6789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4pPr>
      <a:lvl5pPr marL="8503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Microsoft YaHei UI" panose="020B0503020204020204" pitchFamily="34" charset="-122"/>
          <a:cs typeface="+mn-cs"/>
        </a:defRPr>
      </a:lvl5pPr>
      <a:lvl6pPr marL="10218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932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6474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" indent="-116586" algn="l" defTabSz="6858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3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jpeg"/><Relationship Id="rId5" Type="http://schemas.openxmlformats.org/officeDocument/2006/relationships/slide" Target="slide4.xml"/><Relationship Id="rId4" Type="http://schemas.openxmlformats.org/officeDocument/2006/relationships/hyperlink" Target="&#12298;&#38754;&#21521;&#23545;&#35937;&#25216;&#26415;&#19982;UML&#12299;(1).ppt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jpeg"/><Relationship Id="rId5" Type="http://schemas.openxmlformats.org/officeDocument/2006/relationships/image" Target="../media/image64.jpeg"/><Relationship Id="rId4" Type="http://schemas.openxmlformats.org/officeDocument/2006/relationships/image" Target="../media/image62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jpeg"/><Relationship Id="rId4" Type="http://schemas.openxmlformats.org/officeDocument/2006/relationships/image" Target="../media/image62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8730" y="1115365"/>
            <a:ext cx="3634740" cy="962631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latin typeface="Arial" panose="020B0604020202020204" pitchFamily="34" charset="0"/>
                <a:cs typeface="Arial" panose="020B0604020202020204" pitchFamily="34" charset="0"/>
              </a:rPr>
              <a:t>软件工程导论</a:t>
            </a:r>
            <a:endParaRPr lang="zh-CN" altLang="en-US" sz="4400" dirty="0"/>
          </a:p>
        </p:txBody>
      </p:sp>
      <p:sp>
        <p:nvSpPr>
          <p:cNvPr id="5" name="矩形 4"/>
          <p:cNvSpPr/>
          <p:nvPr/>
        </p:nvSpPr>
        <p:spPr>
          <a:xfrm>
            <a:off x="1268730" y="2229450"/>
            <a:ext cx="3634740" cy="49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章</a:t>
            </a:r>
            <a:r>
              <a:rPr lang="en-US" altLang="zh-CN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软件需求分析</a:t>
            </a:r>
            <a:endParaRPr lang="en-US" altLang="zh-CN" sz="2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1268730" y="4945463"/>
            <a:ext cx="3634740" cy="942871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重庆大学大数据与软件学院 </a:t>
            </a:r>
            <a:r>
              <a:rPr lang="en-US" altLang="zh-CN" sz="1600" dirty="0"/>
              <a:t>• </a:t>
            </a:r>
            <a:r>
              <a:rPr lang="zh-CN" altLang="en-US" sz="1600" dirty="0"/>
              <a:t>本科课程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讲授：胡健</a:t>
            </a:r>
          </a:p>
          <a:p>
            <a:endParaRPr lang="en-US" altLang="zh-CN" dirty="0"/>
          </a:p>
          <a:p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64063452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7450" y="0"/>
            <a:ext cx="5400675" cy="5949950"/>
          </a:xfrm>
          <a:prstGeom prst="rect">
            <a:avLst/>
          </a:prstGeom>
          <a:solidFill>
            <a:srgbClr val="8B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463675" y="765175"/>
            <a:ext cx="4837113" cy="5111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sz="1350" kern="120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5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3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0307" indent="-210307" defTabSz="914377" fontAlgn="auto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软件工程概述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zh-CN" sz="2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 fontAlgn="auto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章   </a:t>
            </a:r>
            <a:r>
              <a:rPr lang="zh-CN" altLang="en-US" sz="2400" b="1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软件需求分析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ln w="12700" cmpd="sng">
                  <a:noFill/>
                  <a:prstDash val="solid"/>
                </a:ln>
                <a:solidFill>
                  <a:srgbClr val="FFF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软件设计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编码及实现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软件测试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软件维护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面向对象技术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章   敏捷开发方法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学时）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5132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2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需求分析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3</a:t>
            </a:fld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476E2EE-9952-DD47-8F97-9EA0FCE860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8288" y="1413933"/>
            <a:ext cx="6688045" cy="477275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2.1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软件需求分析的概念</a:t>
            </a:r>
            <a:endParaRPr lang="zh-CN" altLang="en-US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结构化分析方法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结构化分析建模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实体</a:t>
            </a: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关系图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数据流图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状态转换图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数据词典</a:t>
            </a: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1.</a:t>
            </a:r>
            <a:r>
              <a:rPr lang="zh-CN" altLang="en-US" sz="2400" dirty="0">
                <a:solidFill>
                  <a:srgbClr val="CC6600"/>
                </a:solidFill>
              </a:rPr>
              <a:t> 需求分析的重要性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413223" y="1930590"/>
            <a:ext cx="6688045" cy="3643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dirty="0">
                <a:sym typeface="微软雅黑" panose="020B0503020204020204" pitchFamily="34" charset="-122"/>
              </a:rPr>
              <a:t>需求是关键</a:t>
            </a:r>
            <a:endParaRPr lang="en-US" altLang="zh-CN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一个系统的开发是一个相当复杂的过程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软件工程中需求分析工作，很大程度上决定了系统的成败</a:t>
            </a: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为了开发出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真正满足用户需求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的软件产品，明确地了解用户的需求是关键。</a:t>
            </a: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那么，什么是软件需求？ 需求分析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的目的什么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B777C0-E5F2-E341-B482-BF390E6FFA04}"/>
              </a:ext>
            </a:extLst>
          </p:cNvPr>
          <p:cNvSpPr/>
          <p:nvPr/>
        </p:nvSpPr>
        <p:spPr>
          <a:xfrm>
            <a:off x="457200" y="6036434"/>
            <a:ext cx="824786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 panose="020B0503020204020204" pitchFamily="34" charset="-122"/>
              </a:rPr>
              <a:t>SLC</a:t>
            </a: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 panose="020B0503020204020204" pitchFamily="34" charset="-122"/>
              </a:rPr>
              <a:t>：软件计划 ▻ 需求分析 ▻ 软件设计 ▻ 编码 ▻ 测试 ▻ 维护与运行  ▻退役</a:t>
            </a:r>
            <a:endParaRPr lang="en-US" altLang="zh-CN" sz="2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B4B6F-C044-A144-90E7-88F7E501944A}"/>
              </a:ext>
            </a:extLst>
          </p:cNvPr>
          <p:cNvSpPr/>
          <p:nvPr/>
        </p:nvSpPr>
        <p:spPr>
          <a:xfrm>
            <a:off x="2419878" y="56550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 panose="020B0503020204020204" pitchFamily="34" charset="-122"/>
              </a:rPr>
              <a:t>做什么？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6557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2.</a:t>
            </a:r>
            <a:r>
              <a:rPr lang="zh-CN" altLang="en-US" sz="2400" dirty="0">
                <a:solidFill>
                  <a:srgbClr val="CC6600"/>
                </a:solidFill>
              </a:rPr>
              <a:t> 需求分析的任务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413223" y="2127843"/>
            <a:ext cx="6688045" cy="3643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软件需求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是指用户对目标软件系统在功能、行为、性能、设计约束等方面的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期望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软件需求分析的主要任务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就是让用户和开发者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共同明确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将要开发的是一个什么样的系统（即软件产品）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准确地回答系统必须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做什么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，使用已证实有效的原理、方法，通过合适的工具和记号，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系统地描述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出待开发系统及其行为特征和相关约束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05553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需求分析的任务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465897"/>
            <a:ext cx="6688045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需求分析主要有两个任务：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948054" y="2251133"/>
            <a:ext cx="7247892" cy="3643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81225" lvl="1" indent="-2181225">
              <a:lnSpc>
                <a:spcPct val="120000"/>
              </a:lnSpc>
              <a:spcBef>
                <a:spcPts val="9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分析和建模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通过对问题及其环境的理解、分析和综合，建立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分析模型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181225" lvl="1" indent="-2181225">
              <a:lnSpc>
                <a:spcPct val="120000"/>
              </a:lnSpc>
              <a:spcBef>
                <a:spcPts val="900"/>
              </a:spcBef>
              <a:buNone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描述和表达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在完全弄清用户对软件系统的确切要求的基础上，把用户的需求通过一定的方式完整、准确、清晰、一致地表达出来，形成软件需求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规格说明书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即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需求分析报告。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3230BB-2A05-5D4F-AEEC-84133735FB44}"/>
              </a:ext>
            </a:extLst>
          </p:cNvPr>
          <p:cNvSpPr/>
          <p:nvPr/>
        </p:nvSpPr>
        <p:spPr>
          <a:xfrm>
            <a:off x="3189868" y="5387692"/>
            <a:ext cx="4827976" cy="8744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409575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微软雅黑" panose="020B0503020204020204" pitchFamily="34" charset="-122"/>
              </a:rPr>
              <a:t>模型就是通过一些图形和符号来表示现实世界中的事物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6479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需求分析的任务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465897"/>
            <a:ext cx="6688045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需求分析的目的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：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821C56-6D63-9142-9F75-9B1B14A6A0BC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2248719"/>
            <a:ext cx="6688045" cy="3643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5458" indent="-34290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为目标系统建设提供明确的目标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解决目标系统必须“做什么”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35458" indent="-34290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为后期的软件设计、软件测试等工作提供重要依据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35458" indent="-34290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indent="-42545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“软件需求规格说明书”是需求分析阶段工作的输出或制品，说明书经过评审之后，就可作为软件设计的基础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indent="-42545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需求分析：是一个不断认识和逐步细化的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迭代过程</a:t>
            </a:r>
            <a:endParaRPr lang="en-US" altLang="zh-CN" sz="20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17500" indent="-425450" algn="just">
              <a:lnSpc>
                <a:spcPct val="125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169979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</a:t>
            </a:fld>
            <a:endParaRPr lang="zh-CN" altLang="en-US"/>
          </a:p>
        </p:txBody>
      </p:sp>
      <p:pic>
        <p:nvPicPr>
          <p:cNvPr id="16" name="Picture 7" descr="100_2343">
            <a:extLst>
              <a:ext uri="{FF2B5EF4-FFF2-40B4-BE49-F238E27FC236}">
                <a16:creationId xmlns:a16="http://schemas.microsoft.com/office/drawing/2014/main" id="{B3FF514C-9642-0343-BCB0-15443FAD7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253" y="1710770"/>
            <a:ext cx="3503613" cy="26384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8" descr="100_2344">
            <a:extLst>
              <a:ext uri="{FF2B5EF4-FFF2-40B4-BE49-F238E27FC236}">
                <a16:creationId xmlns:a16="http://schemas.microsoft.com/office/drawing/2014/main" id="{D9FD5C86-AA4F-3146-B57A-7E9AC4400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1111">
            <a:off x="4500294" y="3000908"/>
            <a:ext cx="3651250" cy="26257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 descr="汽车发动机图片">
            <a:extLst>
              <a:ext uri="{FF2B5EF4-FFF2-40B4-BE49-F238E27FC236}">
                <a16:creationId xmlns:a16="http://schemas.microsoft.com/office/drawing/2014/main" id="{6285A6EC-42F8-CB47-8BB9-BCDF449B3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238" y="445857"/>
            <a:ext cx="4885362" cy="36631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7">
            <a:extLst>
              <a:ext uri="{FF2B5EF4-FFF2-40B4-BE49-F238E27FC236}">
                <a16:creationId xmlns:a16="http://schemas.microsoft.com/office/drawing/2014/main" id="{14900060-3C19-F84D-87E5-CCF2E67F40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5511" y="585197"/>
            <a:ext cx="3030599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zh-CN" altLang="en-US" sz="2400" dirty="0">
                <a:solidFill>
                  <a:schemeClr val="tx2"/>
                </a:solidFill>
                <a:sym typeface="微软雅黑" panose="020B0503020204020204" pitchFamily="34" charset="-122"/>
              </a:rPr>
              <a:t>汽车领域建模</a:t>
            </a:r>
            <a:endParaRPr lang="en-US" altLang="zh-CN" sz="2400" dirty="0">
              <a:solidFill>
                <a:schemeClr val="tx2"/>
              </a:solidFill>
              <a:sym typeface="微软雅黑" panose="020B0503020204020204" pitchFamily="34" charset="-122"/>
            </a:endParaRPr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55004430-872E-0A48-A931-F408991C4A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1" t="17436" r="9279" b="14602"/>
          <a:stretch/>
        </p:blipFill>
        <p:spPr bwMode="auto">
          <a:xfrm>
            <a:off x="457200" y="2781805"/>
            <a:ext cx="4885362" cy="349099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2508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1" descr="100_8475">
            <a:extLst>
              <a:ext uri="{FF2B5EF4-FFF2-40B4-BE49-F238E27FC236}">
                <a16:creationId xmlns:a16="http://schemas.microsoft.com/office/drawing/2014/main" id="{B83A37E1-65BB-B346-B3E8-1DEB12AB9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10" y="2530874"/>
            <a:ext cx="4917450" cy="368841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0268" name="Picture 12" descr="100_6287">
            <a:extLst>
              <a:ext uri="{FF2B5EF4-FFF2-40B4-BE49-F238E27FC236}">
                <a16:creationId xmlns:a16="http://schemas.microsoft.com/office/drawing/2014/main" id="{5C94F2BE-BDFF-E243-ADDE-6E9279B2E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7935">
            <a:off x="3679464" y="2057349"/>
            <a:ext cx="4932171" cy="37730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1D13CD08-7936-544A-A065-FA42EFB18FB8}"/>
              </a:ext>
            </a:extLst>
          </p:cNvPr>
          <p:cNvSpPr txBox="1">
            <a:spLocks noChangeArrowheads="1"/>
          </p:cNvSpPr>
          <p:nvPr/>
        </p:nvSpPr>
        <p:spPr>
          <a:xfrm>
            <a:off x="755237" y="774992"/>
            <a:ext cx="3030599" cy="646845"/>
          </a:xfrm>
          <a:prstGeom prst="rect">
            <a:avLst/>
          </a:prstGeom>
        </p:spPr>
        <p:txBody>
          <a:bodyPr>
            <a:normAutofit/>
          </a:bodyPr>
          <a:lstStyle>
            <a:lvl1pPr marL="157734" indent="-157734" algn="l" defTabSz="68580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Char char="•"/>
              <a:defRPr lang="zh-CN" sz="16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1pPr>
            <a:lvl2pPr marL="329184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2pPr>
            <a:lvl3pPr marL="5074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2"/>
                </a:solidFill>
                <a:sym typeface="微软雅黑" panose="020B0503020204020204" pitchFamily="34" charset="-122"/>
              </a:rPr>
              <a:t>建筑领域建模</a:t>
            </a:r>
          </a:p>
        </p:txBody>
      </p:sp>
      <p:pic>
        <p:nvPicPr>
          <p:cNvPr id="3" name="图片 2" descr="图示, 工程绘图&#10;&#10;描述已自动生成">
            <a:extLst>
              <a:ext uri="{FF2B5EF4-FFF2-40B4-BE49-F238E27FC236}">
                <a16:creationId xmlns:a16="http://schemas.microsoft.com/office/drawing/2014/main" id="{56A14906-37E3-E44A-9B6E-19235CCC05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91" y="1365828"/>
            <a:ext cx="3395649" cy="274557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</p:spPr>
      </p:pic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914F28B0-F176-C942-925D-7B92B52015E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" t="2057" r="11460" b="10376"/>
          <a:stretch/>
        </p:blipFill>
        <p:spPr>
          <a:xfrm>
            <a:off x="4150886" y="527368"/>
            <a:ext cx="4497967" cy="289797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</p:spPr>
      </p:pic>
      <p:pic>
        <p:nvPicPr>
          <p:cNvPr id="7" name="图片 6" descr="图片包含 室内, 建筑, 桌子, 火车&#10;&#10;描述已自动生成">
            <a:extLst>
              <a:ext uri="{FF2B5EF4-FFF2-40B4-BE49-F238E27FC236}">
                <a16:creationId xmlns:a16="http://schemas.microsoft.com/office/drawing/2014/main" id="{C0891A27-9617-7A45-A793-6A8144900A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97146">
            <a:off x="1962414" y="1701376"/>
            <a:ext cx="6061403" cy="418236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</p:spPr>
      </p:pic>
    </p:spTree>
    <p:extLst>
      <p:ext uri="{BB962C8B-B14F-4D97-AF65-F5344CB8AC3E}">
        <p14:creationId xmlns:p14="http://schemas.microsoft.com/office/powerpoint/2010/main" val="9756868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48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9" descr="100_2347">
            <a:extLst>
              <a:ext uri="{FF2B5EF4-FFF2-40B4-BE49-F238E27FC236}">
                <a16:creationId xmlns:a16="http://schemas.microsoft.com/office/drawing/2014/main" id="{71FB772A-368D-F34F-84BF-21F6AA962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44" y="1806077"/>
            <a:ext cx="5228566" cy="455627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04C2A2A-31D1-1C4B-BC38-D7B32C7DD051}"/>
              </a:ext>
            </a:extLst>
          </p:cNvPr>
          <p:cNvSpPr txBox="1">
            <a:spLocks noChangeArrowheads="1"/>
          </p:cNvSpPr>
          <p:nvPr/>
        </p:nvSpPr>
        <p:spPr>
          <a:xfrm>
            <a:off x="755237" y="774992"/>
            <a:ext cx="3030599" cy="646845"/>
          </a:xfrm>
          <a:prstGeom prst="rect">
            <a:avLst/>
          </a:prstGeom>
        </p:spPr>
        <p:txBody>
          <a:bodyPr>
            <a:normAutofit/>
          </a:bodyPr>
          <a:lstStyle>
            <a:lvl1pPr marL="157734" indent="-157734" algn="l" defTabSz="68580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Char char="•"/>
              <a:defRPr lang="zh-CN" sz="16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1pPr>
            <a:lvl2pPr marL="329184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2pPr>
            <a:lvl3pPr marL="5074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2"/>
                </a:solidFill>
                <a:sym typeface="微软雅黑" panose="020B0503020204020204" pitchFamily="34" charset="-122"/>
              </a:rPr>
              <a:t>软件领域如何建模？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844432-743A-5E47-92EC-6BF411E7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4967" y="1821171"/>
            <a:ext cx="5518100" cy="44577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E300498-5349-7742-A7A3-EE5883AB6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910" y="1421837"/>
            <a:ext cx="5518100" cy="4457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585DA9-E5A4-E84A-AF2B-BD9F5E28B0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032" y="1200150"/>
            <a:ext cx="5518100" cy="4457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A92609-7587-0D4C-8233-3502E2F75A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3714" y="1948098"/>
            <a:ext cx="5518100" cy="44577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ED5BBB9-C66C-2A4F-BA65-8C30027676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5836" y="447164"/>
            <a:ext cx="4930866" cy="374001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</p:spPr>
      </p:pic>
    </p:spTree>
    <p:extLst>
      <p:ext uri="{BB962C8B-B14F-4D97-AF65-F5344CB8AC3E}">
        <p14:creationId xmlns:p14="http://schemas.microsoft.com/office/powerpoint/2010/main" val="10088676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9" descr="100_2347">
            <a:extLst>
              <a:ext uri="{FF2B5EF4-FFF2-40B4-BE49-F238E27FC236}">
                <a16:creationId xmlns:a16="http://schemas.microsoft.com/office/drawing/2014/main" id="{71FB772A-368D-F34F-84BF-21F6AA962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44" y="1806077"/>
            <a:ext cx="5228566" cy="455627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04C2A2A-31D1-1C4B-BC38-D7B32C7DD051}"/>
              </a:ext>
            </a:extLst>
          </p:cNvPr>
          <p:cNvSpPr txBox="1">
            <a:spLocks noChangeArrowheads="1"/>
          </p:cNvSpPr>
          <p:nvPr/>
        </p:nvSpPr>
        <p:spPr>
          <a:xfrm>
            <a:off x="755237" y="774992"/>
            <a:ext cx="3588163" cy="646845"/>
          </a:xfrm>
          <a:prstGeom prst="rect">
            <a:avLst/>
          </a:prstGeom>
        </p:spPr>
        <p:txBody>
          <a:bodyPr>
            <a:normAutofit/>
          </a:bodyPr>
          <a:lstStyle>
            <a:lvl1pPr marL="157734" indent="-157734" algn="l" defTabSz="68580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Char char="•"/>
              <a:defRPr lang="zh-CN" sz="16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1pPr>
            <a:lvl2pPr marL="329184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2pPr>
            <a:lvl3pPr marL="5074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2"/>
                </a:solidFill>
                <a:sym typeface="微软雅黑" panose="020B0503020204020204" pitchFamily="34" charset="-122"/>
              </a:rPr>
              <a:t>软件领域如何分析、建模？</a:t>
            </a:r>
          </a:p>
        </p:txBody>
      </p:sp>
      <p:pic>
        <p:nvPicPr>
          <p:cNvPr id="13" name="图片 12" descr="图示&#10;&#10;描述已自动生成">
            <a:extLst>
              <a:ext uri="{FF2B5EF4-FFF2-40B4-BE49-F238E27FC236}">
                <a16:creationId xmlns:a16="http://schemas.microsoft.com/office/drawing/2014/main" id="{523BA1F5-8CA9-A44E-A045-2D2A6BAFD0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446" y="267053"/>
            <a:ext cx="3361266" cy="61623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图示&#10;&#10;描述已自动生成">
            <a:extLst>
              <a:ext uri="{FF2B5EF4-FFF2-40B4-BE49-F238E27FC236}">
                <a16:creationId xmlns:a16="http://schemas.microsoft.com/office/drawing/2014/main" id="{B20EDBE1-6C4E-994E-B179-06425CA724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17" y="2867024"/>
            <a:ext cx="6262559" cy="35882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8F0799D-E8DD-5046-A505-BF4DDE51FADE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67919" y="1421837"/>
            <a:ext cx="7900264" cy="503346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8827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3.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软件需求分析所关心的问题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2621003"/>
            <a:ext cx="6688045" cy="1950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不同的行业有不同的特点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即使是相同的行业，其应用需求也不尽相同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因此，首先要弄清楚系统面向的行业是什么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，服务的领域是什么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，该行业有何特点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12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系统服务于什么样的行业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、领域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6FCCA-D4BD-4D4D-A708-26BC5C61629D}"/>
              </a:ext>
            </a:extLst>
          </p:cNvPr>
          <p:cNvSpPr txBox="1"/>
          <p:nvPr/>
        </p:nvSpPr>
        <p:spPr>
          <a:xfrm>
            <a:off x="586062" y="4706353"/>
            <a:ext cx="975519" cy="1216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ea typeface="幼圆" pitchFamily="49" charset="-122"/>
                <a:sym typeface="微软雅黑" panose="020B0503020204020204" pitchFamily="34" charset="-122"/>
              </a:rPr>
              <a:t>需要解决的具体问题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F58634A-019D-694B-ADDC-223FEBC226BC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4741918"/>
            <a:ext cx="6688045" cy="1092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用户要解决什么问题、范围有多大，最终的目标是什么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问题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涉及的主要业务有哪些、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具体业务流程怎样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352641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13</a:t>
            </a:fld>
            <a:endParaRPr lang="zh-CN" altLang="en-US"/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69335776-1579-F446-8B12-2DA528961027}"/>
              </a:ext>
            </a:extLst>
          </p:cNvPr>
          <p:cNvSpPr/>
          <p:nvPr/>
        </p:nvSpPr>
        <p:spPr>
          <a:xfrm>
            <a:off x="6769635" y="507633"/>
            <a:ext cx="1691051" cy="13793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电站锅炉设计支持系统</a:t>
            </a:r>
          </a:p>
        </p:txBody>
      </p:sp>
      <p:pic>
        <p:nvPicPr>
          <p:cNvPr id="17" name="图片 16" descr="草地上的建筑&#10;&#10;描述已自动生成">
            <a:extLst>
              <a:ext uri="{FF2B5EF4-FFF2-40B4-BE49-F238E27FC236}">
                <a16:creationId xmlns:a16="http://schemas.microsoft.com/office/drawing/2014/main" id="{DE0C409A-A776-3040-8BEC-FD72E0B5B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50" y="2981325"/>
            <a:ext cx="5075652" cy="33837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D9DD8B-7166-5A4E-91EB-143CC284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508" y="1514898"/>
            <a:ext cx="4016390" cy="2668547"/>
          </a:xfrm>
          <a:prstGeom prst="rect">
            <a:avLst/>
          </a:prstGeom>
        </p:spPr>
      </p:pic>
      <p:pic>
        <p:nvPicPr>
          <p:cNvPr id="10" name="图片 9" descr="图形用户界面&#10;&#10;中度可信度描述已自动生成">
            <a:extLst>
              <a:ext uri="{FF2B5EF4-FFF2-40B4-BE49-F238E27FC236}">
                <a16:creationId xmlns:a16="http://schemas.microsoft.com/office/drawing/2014/main" id="{906E6100-121A-F447-8965-F9913F83C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491" y="3532232"/>
            <a:ext cx="1645849" cy="23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990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14</a:t>
            </a:fld>
            <a:endParaRPr lang="zh-CN" altLang="en-US"/>
          </a:p>
        </p:txBody>
      </p:sp>
      <p:sp>
        <p:nvSpPr>
          <p:cNvPr id="15" name="六边形 14">
            <a:extLst>
              <a:ext uri="{FF2B5EF4-FFF2-40B4-BE49-F238E27FC236}">
                <a16:creationId xmlns:a16="http://schemas.microsoft.com/office/drawing/2014/main" id="{69335776-1579-F446-8B12-2DA528961027}"/>
              </a:ext>
            </a:extLst>
          </p:cNvPr>
          <p:cNvSpPr/>
          <p:nvPr/>
        </p:nvSpPr>
        <p:spPr>
          <a:xfrm>
            <a:off x="6769635" y="507633"/>
            <a:ext cx="1691051" cy="1379389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电站锅炉设计支持系统</a:t>
            </a: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B38023A1-94CA-2049-8D9D-EB1DC9E64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329314"/>
            <a:ext cx="5666371" cy="380061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AC4AFD1-049E-5E41-AC35-118ECBA295E8}"/>
              </a:ext>
            </a:extLst>
          </p:cNvPr>
          <p:cNvSpPr/>
          <p:nvPr/>
        </p:nvSpPr>
        <p:spPr>
          <a:xfrm>
            <a:off x="6485931" y="3676897"/>
            <a:ext cx="2412625" cy="2305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设计流程：</a:t>
            </a:r>
            <a:endParaRPr lang="en-US" altLang="zh-CN" sz="2000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初步可行性研究</a:t>
            </a:r>
            <a:endParaRPr lang="en-US" altLang="zh-CN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可行性研究</a:t>
            </a:r>
            <a:endParaRPr lang="en-US" altLang="zh-CN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初步设计</a:t>
            </a:r>
            <a:endParaRPr lang="en-US" altLang="zh-CN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施工图设计</a:t>
            </a:r>
            <a:endParaRPr lang="en-US" altLang="zh-CN" dirty="0">
              <a:solidFill>
                <a:srgbClr val="66666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44435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3.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软件需求分析所关心的问题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2621003"/>
            <a:ext cx="6688045" cy="1950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一个系统所具备的功能反映了系统能做什么，功能的多少和复杂程度说明了系统处理业务的基本能力，是最主要的需求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15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系统需要具备哪些功能？</a:t>
            </a: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6FCCA-D4BD-4D4D-A708-26BC5C61629D}"/>
              </a:ext>
            </a:extLst>
          </p:cNvPr>
          <p:cNvSpPr txBox="1"/>
          <p:nvPr/>
        </p:nvSpPr>
        <p:spPr>
          <a:xfrm>
            <a:off x="586062" y="4706353"/>
            <a:ext cx="975519" cy="1218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ea typeface="幼圆" pitchFamily="49" charset="-122"/>
                <a:sym typeface="微软雅黑" panose="020B0503020204020204" pitchFamily="34" charset="-122"/>
              </a:rPr>
              <a:t>需要处理的信息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F58634A-019D-694B-ADDC-223FEBC226BC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4741918"/>
            <a:ext cx="6688045" cy="1092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/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围绕系统要解决的问题，进一步分析系统要处理的数据或信息的种类、范围、规模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、数据关系等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411481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3.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软件需求分析所关心的问题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2621003"/>
            <a:ext cx="6688045" cy="1950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除了系统功能需求外，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还有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许多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非功能性需求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比如运行环境要求、系统的性能、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可靠性、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安全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性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、容量、并发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性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、可用性、友好性、便利性等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16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系统的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非功能性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需求有哪些？</a:t>
            </a: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98310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3.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软件需求分析所关心的问题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2455956" y="2621003"/>
            <a:ext cx="5814742" cy="985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系统与外部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其他系统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的接口需求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系统内部的接口要求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17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4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系统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的其他需求有哪些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？</a:t>
            </a: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6FCCA-D4BD-4D4D-A708-26BC5C61629D}"/>
              </a:ext>
            </a:extLst>
          </p:cNvPr>
          <p:cNvSpPr txBox="1"/>
          <p:nvPr/>
        </p:nvSpPr>
        <p:spPr>
          <a:xfrm>
            <a:off x="955498" y="2664785"/>
            <a:ext cx="1206586" cy="8318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ea typeface="幼圆" pitchFamily="49" charset="-122"/>
                <a:sym typeface="微软雅黑" panose="020B0503020204020204" pitchFamily="34" charset="-122"/>
              </a:rPr>
              <a:t>系统的接口要求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60C79A-3812-9446-B0E8-7721B6848F8E}"/>
              </a:ext>
            </a:extLst>
          </p:cNvPr>
          <p:cNvSpPr txBox="1"/>
          <p:nvPr/>
        </p:nvSpPr>
        <p:spPr>
          <a:xfrm>
            <a:off x="955498" y="3792134"/>
            <a:ext cx="1206585" cy="8318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ea typeface="幼圆" pitchFamily="49" charset="-122"/>
                <a:sym typeface="微软雅黑" panose="020B0503020204020204" pitchFamily="34" charset="-122"/>
              </a:rPr>
              <a:t>系统的操作要求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CCE80AC2-5273-4E4F-A56F-D8F93B749285}"/>
              </a:ext>
            </a:extLst>
          </p:cNvPr>
          <p:cNvSpPr txBox="1">
            <a:spLocks noChangeArrowheads="1"/>
          </p:cNvSpPr>
          <p:nvPr/>
        </p:nvSpPr>
        <p:spPr>
          <a:xfrm>
            <a:off x="2455955" y="3792134"/>
            <a:ext cx="5814742" cy="985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系统的界面需求、具体操作要求等</a:t>
            </a:r>
          </a:p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948F866F-F3EA-DA4F-ABD5-4A44A4B0C266}"/>
              </a:ext>
            </a:extLst>
          </p:cNvPr>
          <p:cNvSpPr txBox="1">
            <a:spLocks noChangeArrowheads="1"/>
          </p:cNvSpPr>
          <p:nvPr/>
        </p:nvSpPr>
        <p:spPr>
          <a:xfrm>
            <a:off x="2455955" y="4953761"/>
            <a:ext cx="5814742" cy="985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成本消耗、开发进度要求</a:t>
            </a: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9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C69477-7556-3546-AEDC-F4A715438A3F}"/>
              </a:ext>
            </a:extLst>
          </p:cNvPr>
          <p:cNvSpPr txBox="1"/>
          <p:nvPr/>
        </p:nvSpPr>
        <p:spPr>
          <a:xfrm>
            <a:off x="955498" y="4953761"/>
            <a:ext cx="1206585" cy="1216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ea typeface="幼圆" pitchFamily="49" charset="-122"/>
                <a:sym typeface="微软雅黑" panose="020B0503020204020204" pitchFamily="34" charset="-122"/>
              </a:rPr>
              <a:t>系统的成本和时间进度要求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0247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/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3.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软件需求分析所关心的问题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670077" y="2621003"/>
            <a:ext cx="6688045" cy="1950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任何系统的建造都不是无限制、无条件的，弄清楚用户要求的一些限制条件和其它需求是必要的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18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07382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5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系统的约束条件和其它预期要求有哪些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？</a:t>
            </a: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689916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4.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软件需求分析的过程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2621002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系统规格说明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可行性研究报告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为依据，对要解决的问题及其环境的调查、了解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进一步理解与分析要解决的问题，对问题所涉及的信息、功能及系统行为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建立模型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将用户需求精确化、完整化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最终形成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需求规格说明</a:t>
            </a: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19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软件需求分析的大致工作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76179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20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5404F0-F482-E546-8D2E-130822471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17" y="1242483"/>
            <a:ext cx="3376407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8FE282-955E-DB47-998A-4B020BE6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78" y="1242483"/>
            <a:ext cx="3260832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694336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4.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软件需求分析的过程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2621002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21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软件需求分析的一般步骤：</a:t>
            </a: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889228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C73028C-CA0A-AF42-932C-E0B1EE2B3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3823" y="1283745"/>
            <a:ext cx="6688045" cy="646845"/>
          </a:xfrm>
        </p:spPr>
        <p:txBody>
          <a:bodyPr>
            <a:normAutofit/>
          </a:bodyPr>
          <a:lstStyle/>
          <a:p>
            <a:pPr marL="849313" indent="-849313"/>
            <a:r>
              <a:rPr lang="en-US" altLang="zh-CN" sz="2400" dirty="0">
                <a:solidFill>
                  <a:srgbClr val="CC6600"/>
                </a:solidFill>
              </a:rPr>
              <a:t>4.</a:t>
            </a:r>
            <a:r>
              <a:rPr lang="zh-CN" altLang="en-US" sz="2400" dirty="0">
                <a:solidFill>
                  <a:srgbClr val="CC6600"/>
                </a:solidFill>
              </a:rPr>
              <a:t> 软件需求分析的过程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2621002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面向数据流的结构化分析方法（简称：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SA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方法）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面向数据结构的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Jackson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方法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逻辑构造法（简称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LCP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面向对象的方法（简称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OOA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… …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22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04CF7-7F4C-A042-8D17-C7DAE28325D7}"/>
              </a:ext>
            </a:extLst>
          </p:cNvPr>
          <p:cNvSpPr txBox="1">
            <a:spLocks noChangeArrowheads="1"/>
          </p:cNvSpPr>
          <p:nvPr/>
        </p:nvSpPr>
        <p:spPr>
          <a:xfrm>
            <a:off x="1382132" y="1930590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常用的需求分析方法主要有：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7022151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23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0AC2D5-CBFC-5C40-8F41-066690DE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47" y="2069432"/>
            <a:ext cx="3538617" cy="4426618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B1E9084C-C361-A241-8596-887BAA3ABAAC}"/>
              </a:ext>
            </a:extLst>
          </p:cNvPr>
          <p:cNvGrpSpPr/>
          <p:nvPr/>
        </p:nvGrpSpPr>
        <p:grpSpPr>
          <a:xfrm>
            <a:off x="4691962" y="1208616"/>
            <a:ext cx="3538617" cy="5244064"/>
            <a:chOff x="4309880" y="1075266"/>
            <a:chExt cx="3885974" cy="550926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572BCE2-8D44-D045-9C04-02A296A868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8824"/>
            <a:stretch/>
          </p:blipFill>
          <p:spPr>
            <a:xfrm>
              <a:off x="4309880" y="1075266"/>
              <a:ext cx="3885974" cy="41954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BBA4CDB-49C0-4748-8102-09DA02BFD3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0842"/>
            <a:stretch/>
          </p:blipFill>
          <p:spPr>
            <a:xfrm>
              <a:off x="4309880" y="5270678"/>
              <a:ext cx="3885974" cy="13138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67A423F-A4D4-0541-8D25-95D4B8E28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237868" y="475211"/>
            <a:ext cx="2766161" cy="83274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00831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24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主要包括系统的功能、性能、运行操作、数据、安全保密、用户界面、可靠性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可能的其他要求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调查的过程就是需求获取的过程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1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）确定调查范围：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892023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25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建立由用户、分析员、领域专家组成的联合分析小组，由分析员承担主要的分析任务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调查研究。这是获取需求的最主要的方法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分析问题和确认需求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）需求获取通常采用的方法：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128521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26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6688045" cy="3153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市场调查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访问用户和用户领域专家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考察现场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使用各种调查工具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，如：组织机构图、业务流程图等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3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）调查研究的主要方式有：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pic>
        <p:nvPicPr>
          <p:cNvPr id="9" name="图片 8" descr="草地上的建筑&#10;&#10;描述已自动生成">
            <a:extLst>
              <a:ext uri="{FF2B5EF4-FFF2-40B4-BE49-F238E27FC236}">
                <a16:creationId xmlns:a16="http://schemas.microsoft.com/office/drawing/2014/main" id="{CF1672C8-9E86-6543-B711-44068D385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261089"/>
            <a:ext cx="3419738" cy="22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72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27</a:t>
            </a:fld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015C912-8278-1043-8872-215FD6F4066B}"/>
              </a:ext>
            </a:extLst>
          </p:cNvPr>
          <p:cNvGrpSpPr/>
          <p:nvPr/>
        </p:nvGrpSpPr>
        <p:grpSpPr>
          <a:xfrm>
            <a:off x="1468013" y="2907232"/>
            <a:ext cx="6696075" cy="2366755"/>
            <a:chOff x="1468013" y="3124735"/>
            <a:chExt cx="6696075" cy="2366755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54BB4C5-E2E2-5740-A86D-97C686E9B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298" y="3124735"/>
              <a:ext cx="934336" cy="394459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厂长</a:t>
              </a:r>
              <a:endParaRPr lang="zh-CN" altLang="zh-CN" sz="3200" b="1"/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2C20DEA9-B44D-7D4A-82EA-C6498812E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736" y="3782167"/>
              <a:ext cx="934336" cy="3944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计划部</a:t>
              </a:r>
              <a:endParaRPr lang="zh-CN" altLang="zh-CN" sz="3200" b="1"/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55D07AE2-061C-7442-9789-2C9259D5A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0962" y="3782167"/>
              <a:ext cx="934336" cy="3944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生产部</a:t>
              </a:r>
              <a:endParaRPr lang="zh-CN" altLang="zh-CN" sz="3200" b="1"/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580A0B28-97AB-7A4D-B99B-678DCE6C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9635" y="3782167"/>
              <a:ext cx="934336" cy="3944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供销部</a:t>
              </a:r>
              <a:endParaRPr lang="zh-CN" altLang="zh-CN" sz="3200" b="1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395C2E81-7B57-0F40-B39F-776A593AB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2584" y="3782167"/>
              <a:ext cx="934336" cy="3944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财务部</a:t>
              </a:r>
              <a:endParaRPr lang="zh-CN" altLang="zh-CN" sz="3200" b="1"/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216C48F5-D269-0946-8D0A-D7C1E0FB3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904" y="3650681"/>
              <a:ext cx="51388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F400BADE-80D6-4842-BCCC-02AADBF92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904" y="3650681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787FD825-C120-AF49-A8FB-9AB51B769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130" y="3650681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06D167A0-0862-3448-921F-FB55A01D4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803" y="3650681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6630ABAF-5350-B648-A9A6-137A60B6B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9752" y="3650681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46061E9E-45F7-9F4B-B892-1A9345CAC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466" y="3519194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8B31CEDF-9CD1-E64E-AF8F-0CE085A61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013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 dirty="0">
                  <a:latin typeface="Calibri" panose="020F0502020204030204" pitchFamily="34" charset="0"/>
                </a:rPr>
                <a:t>计划组</a:t>
              </a:r>
              <a:endParaRPr lang="zh-CN" altLang="zh-CN" sz="3200" b="1" dirty="0"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B42BC8BE-2210-6841-9A6A-4D32136F4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904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统计组</a:t>
              </a:r>
              <a:endParaRPr lang="zh-CN" altLang="zh-CN" sz="3200" b="1"/>
            </a:p>
          </p:txBody>
        </p:sp>
        <p:sp>
          <p:nvSpPr>
            <p:cNvPr id="29" name="Rectangle 16">
              <a:extLst>
                <a:ext uri="{FF2B5EF4-FFF2-40B4-BE49-F238E27FC236}">
                  <a16:creationId xmlns:a16="http://schemas.microsoft.com/office/drawing/2014/main" id="{E7749B4F-9AF1-5B40-BE93-EE790B5B0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576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生产统计组</a:t>
              </a:r>
              <a:endParaRPr lang="zh-CN" altLang="zh-CN" sz="3200" b="1"/>
            </a:p>
          </p:txBody>
        </p:sp>
        <p:sp>
          <p:nvSpPr>
            <p:cNvPr id="30" name="Rectangle 17">
              <a:extLst>
                <a:ext uri="{FF2B5EF4-FFF2-40B4-BE49-F238E27FC236}">
                  <a16:creationId xmlns:a16="http://schemas.microsoft.com/office/drawing/2014/main" id="{6020B72F-33DD-674E-8022-94249A926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3794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生产调度组</a:t>
              </a:r>
              <a:endParaRPr lang="zh-CN" altLang="zh-CN" sz="3200" b="1"/>
            </a:p>
          </p:txBody>
        </p:sp>
        <p:sp>
          <p:nvSpPr>
            <p:cNvPr id="31" name="Rectangle 18">
              <a:extLst>
                <a:ext uri="{FF2B5EF4-FFF2-40B4-BE49-F238E27FC236}">
                  <a16:creationId xmlns:a16="http://schemas.microsoft.com/office/drawing/2014/main" id="{3AAB62C9-9BC2-2541-8A0E-1F859074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248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仓库组</a:t>
              </a:r>
              <a:endParaRPr lang="zh-CN" altLang="zh-CN" sz="3200" b="1"/>
            </a:p>
          </p:txBody>
        </p:sp>
        <p:sp>
          <p:nvSpPr>
            <p:cNvPr id="32" name="Rectangle 19">
              <a:extLst>
                <a:ext uri="{FF2B5EF4-FFF2-40B4-BE49-F238E27FC236}">
                  <a16:creationId xmlns:a16="http://schemas.microsoft.com/office/drawing/2014/main" id="{2843C576-7BE4-5D4B-BF67-A6ADF6B50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357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销售组</a:t>
              </a:r>
              <a:endParaRPr lang="zh-CN" altLang="zh-CN" sz="3200" b="1"/>
            </a:p>
          </p:txBody>
        </p:sp>
        <p:sp>
          <p:nvSpPr>
            <p:cNvPr id="33" name="Rectangle 20">
              <a:extLst>
                <a:ext uri="{FF2B5EF4-FFF2-40B4-BE49-F238E27FC236}">
                  <a16:creationId xmlns:a16="http://schemas.microsoft.com/office/drawing/2014/main" id="{D39773CC-5121-1E48-9DDA-82785B08C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466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供应组</a:t>
              </a:r>
              <a:endParaRPr lang="zh-CN" altLang="zh-CN" sz="3200" b="1"/>
            </a:p>
          </p:txBody>
        </p:sp>
        <p:sp>
          <p:nvSpPr>
            <p:cNvPr id="34" name="Rectangle 21">
              <a:extLst>
                <a:ext uri="{FF2B5EF4-FFF2-40B4-BE49-F238E27FC236}">
                  <a16:creationId xmlns:a16="http://schemas.microsoft.com/office/drawing/2014/main" id="{2D53B5B0-2E6C-9045-831B-44CE32BB3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920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出纳组</a:t>
              </a:r>
              <a:endParaRPr lang="zh-CN" altLang="zh-CN" sz="3200" b="1"/>
            </a:p>
          </p:txBody>
        </p:sp>
        <p:sp>
          <p:nvSpPr>
            <p:cNvPr id="35" name="Rectangle 22">
              <a:extLst>
                <a:ext uri="{FF2B5EF4-FFF2-40B4-BE49-F238E27FC236}">
                  <a16:creationId xmlns:a16="http://schemas.microsoft.com/office/drawing/2014/main" id="{9EF9276A-6BA0-5E47-88A6-688CDE7BF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4029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会计组</a:t>
              </a:r>
              <a:endParaRPr lang="zh-CN" altLang="zh-CN" sz="3200" b="1"/>
            </a:p>
          </p:txBody>
        </p: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27B0A373-D756-D841-9A8D-C0127B888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1139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成本组</a:t>
              </a:r>
              <a:endParaRPr lang="zh-CN" altLang="zh-CN" sz="3200" b="1"/>
            </a:p>
          </p:txBody>
        </p:sp>
        <p:sp>
          <p:nvSpPr>
            <p:cNvPr id="37" name="Rectangle 24">
              <a:extLst>
                <a:ext uri="{FF2B5EF4-FFF2-40B4-BE49-F238E27FC236}">
                  <a16:creationId xmlns:a16="http://schemas.microsoft.com/office/drawing/2014/main" id="{D98E9A22-0392-3A41-97E8-80201B96F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685" y="4439599"/>
              <a:ext cx="467168" cy="10518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5000"/>
                </a:lnSpc>
              </a:pPr>
              <a:r>
                <a:rPr lang="zh-CN" altLang="en-US" sz="1400" b="1">
                  <a:latin typeface="Calibri" panose="020F0502020204030204" pitchFamily="34" charset="0"/>
                </a:rPr>
                <a:t>外协组</a:t>
              </a:r>
              <a:endParaRPr lang="zh-CN" altLang="zh-CN" sz="3200" b="1"/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E6FF74EE-70A8-3A44-9A94-C40AEFE0D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736" y="4308113"/>
              <a:ext cx="7786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53AAB660-B5B6-9947-948A-32886F929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736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E0374B9C-AED9-8348-AC40-328AE1984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130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E3BAA0C4-8D84-1048-8CA1-B0709781B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1021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72DABD19-8583-8443-A960-C23D48749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803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0">
              <a:extLst>
                <a:ext uri="{FF2B5EF4-FFF2-40B4-BE49-F238E27FC236}">
                  <a16:creationId xmlns:a16="http://schemas.microsoft.com/office/drawing/2014/main" id="{7ECAA6E6-A147-1B48-82CF-8C3F2E598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8189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31">
              <a:extLst>
                <a:ext uri="{FF2B5EF4-FFF2-40B4-BE49-F238E27FC236}">
                  <a16:creationId xmlns:a16="http://schemas.microsoft.com/office/drawing/2014/main" id="{DABA115B-DF6B-5747-8D72-0F2595B17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9693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2">
              <a:extLst>
                <a:ext uri="{FF2B5EF4-FFF2-40B4-BE49-F238E27FC236}">
                  <a16:creationId xmlns:a16="http://schemas.microsoft.com/office/drawing/2014/main" id="{80ECB37F-6C16-D444-9B8F-664106583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912" y="4864402"/>
              <a:ext cx="865" cy="1137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33">
              <a:extLst>
                <a:ext uri="{FF2B5EF4-FFF2-40B4-BE49-F238E27FC236}">
                  <a16:creationId xmlns:a16="http://schemas.microsoft.com/office/drawing/2014/main" id="{5FE71429-3D60-7B4E-B59D-972A46F1B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6861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34">
              <a:extLst>
                <a:ext uri="{FF2B5EF4-FFF2-40B4-BE49-F238E27FC236}">
                  <a16:creationId xmlns:a16="http://schemas.microsoft.com/office/drawing/2014/main" id="{F1E2A2F1-F00E-1E45-87B8-1A8DA33E6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9752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5">
              <a:extLst>
                <a:ext uri="{FF2B5EF4-FFF2-40B4-BE49-F238E27FC236}">
                  <a16:creationId xmlns:a16="http://schemas.microsoft.com/office/drawing/2014/main" id="{C640FE86-5576-0341-A042-7F125059E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2643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6">
              <a:extLst>
                <a:ext uri="{FF2B5EF4-FFF2-40B4-BE49-F238E27FC236}">
                  <a16:creationId xmlns:a16="http://schemas.microsoft.com/office/drawing/2014/main" id="{F78AFF08-99A8-294D-92BB-63342627F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5240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7">
              <a:extLst>
                <a:ext uri="{FF2B5EF4-FFF2-40B4-BE49-F238E27FC236}">
                  <a16:creationId xmlns:a16="http://schemas.microsoft.com/office/drawing/2014/main" id="{55E1C7E9-F3AA-9E4A-AAF7-6F83622B8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2349" y="4308113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8">
              <a:extLst>
                <a:ext uri="{FF2B5EF4-FFF2-40B4-BE49-F238E27FC236}">
                  <a16:creationId xmlns:a16="http://schemas.microsoft.com/office/drawing/2014/main" id="{3F56B22F-2FB9-6C4A-B735-9D9D5FD12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5240" y="4308113"/>
              <a:ext cx="12457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9">
              <a:extLst>
                <a:ext uri="{FF2B5EF4-FFF2-40B4-BE49-F238E27FC236}">
                  <a16:creationId xmlns:a16="http://schemas.microsoft.com/office/drawing/2014/main" id="{8B539B33-4FC8-6944-8211-7D73E09A5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8189" y="4308113"/>
              <a:ext cx="14015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0">
              <a:extLst>
                <a:ext uri="{FF2B5EF4-FFF2-40B4-BE49-F238E27FC236}">
                  <a16:creationId xmlns:a16="http://schemas.microsoft.com/office/drawing/2014/main" id="{C7B4E30E-9A40-9640-8D4A-E9C828BF7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6861" y="4308113"/>
              <a:ext cx="12457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1">
              <a:extLst>
                <a:ext uri="{FF2B5EF4-FFF2-40B4-BE49-F238E27FC236}">
                  <a16:creationId xmlns:a16="http://schemas.microsoft.com/office/drawing/2014/main" id="{EA12E2E0-E29B-BA4B-9872-596578CBF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0904" y="4176626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2">
              <a:extLst>
                <a:ext uri="{FF2B5EF4-FFF2-40B4-BE49-F238E27FC236}">
                  <a16:creationId xmlns:a16="http://schemas.microsoft.com/office/drawing/2014/main" id="{8E69554B-9DAB-584D-A016-C5ABD7C66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130" y="4176626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3">
              <a:extLst>
                <a:ext uri="{FF2B5EF4-FFF2-40B4-BE49-F238E27FC236}">
                  <a16:creationId xmlns:a16="http://schemas.microsoft.com/office/drawing/2014/main" id="{9B5C103A-DB35-2E4B-AD73-2977E6026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6803" y="4176626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44">
              <a:extLst>
                <a:ext uri="{FF2B5EF4-FFF2-40B4-BE49-F238E27FC236}">
                  <a16:creationId xmlns:a16="http://schemas.microsoft.com/office/drawing/2014/main" id="{9F7B5CE4-4467-7A45-8A4D-DB3F5742F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9752" y="4176626"/>
              <a:ext cx="0" cy="131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Rectangle 45">
            <a:extLst>
              <a:ext uri="{FF2B5EF4-FFF2-40B4-BE49-F238E27FC236}">
                <a16:creationId xmlns:a16="http://schemas.microsoft.com/office/drawing/2014/main" id="{F4C7FACD-B139-9E4E-893A-3724F0B1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357" y="5771477"/>
            <a:ext cx="2647285" cy="39445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latin typeface="宋体" panose="02010600030101010101" pitchFamily="2" charset="-122"/>
              </a:rPr>
              <a:t>一个组织机构的示例图</a:t>
            </a:r>
            <a:endParaRPr lang="zh-CN" altLang="zh-CN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BE7574-D6C1-004B-9E6D-69D83ABE7166}"/>
              </a:ext>
            </a:extLst>
          </p:cNvPr>
          <p:cNvSpPr/>
          <p:nvPr/>
        </p:nvSpPr>
        <p:spPr>
          <a:xfrm>
            <a:off x="683313" y="153873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例：组织机构图</a:t>
            </a:r>
          </a:p>
        </p:txBody>
      </p:sp>
    </p:spTree>
    <p:extLst>
      <p:ext uri="{BB962C8B-B14F-4D97-AF65-F5344CB8AC3E}">
        <p14:creationId xmlns:p14="http://schemas.microsoft.com/office/powerpoint/2010/main" val="378584163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28</a:t>
            </a:fld>
            <a:endParaRPr lang="zh-CN" altLang="en-US"/>
          </a:p>
        </p:txBody>
      </p:sp>
      <p:grpSp>
        <p:nvGrpSpPr>
          <p:cNvPr id="59" name="组合 97">
            <a:extLst>
              <a:ext uri="{FF2B5EF4-FFF2-40B4-BE49-F238E27FC236}">
                <a16:creationId xmlns:a16="http://schemas.microsoft.com/office/drawing/2014/main" id="{3832C894-7262-DB42-B7C9-71A99EB7A10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890446"/>
            <a:ext cx="8391525" cy="4480424"/>
            <a:chOff x="323646" y="627588"/>
            <a:chExt cx="8651961" cy="4150551"/>
          </a:xfrm>
        </p:grpSpPr>
        <p:pic>
          <p:nvPicPr>
            <p:cNvPr id="60" name="Picture 81">
              <a:extLst>
                <a:ext uri="{FF2B5EF4-FFF2-40B4-BE49-F238E27FC236}">
                  <a16:creationId xmlns:a16="http://schemas.microsoft.com/office/drawing/2014/main" id="{9C2606C2-527C-544B-B0D2-12221586B7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646" y="627588"/>
              <a:ext cx="4248354" cy="415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Picture 82">
              <a:extLst>
                <a:ext uri="{FF2B5EF4-FFF2-40B4-BE49-F238E27FC236}">
                  <a16:creationId xmlns:a16="http://schemas.microsoft.com/office/drawing/2014/main" id="{E02B2C0F-29F5-E546-A02C-0E7DC6EA8D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2030" y="771600"/>
              <a:ext cx="4043577" cy="3752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2" name="直接连接符 88">
              <a:extLst>
                <a:ext uri="{FF2B5EF4-FFF2-40B4-BE49-F238E27FC236}">
                  <a16:creationId xmlns:a16="http://schemas.microsoft.com/office/drawing/2014/main" id="{EC2BD5E3-8610-0C4E-8B90-103E46FEB7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7808" y="4731930"/>
              <a:ext cx="244820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直接连接符 90">
              <a:extLst>
                <a:ext uri="{FF2B5EF4-FFF2-40B4-BE49-F238E27FC236}">
                  <a16:creationId xmlns:a16="http://schemas.microsoft.com/office/drawing/2014/main" id="{850ED965-E8EA-B245-AA57-3A465266BF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16012" y="771600"/>
              <a:ext cx="0" cy="39603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直接箭头连接符 92">
              <a:extLst>
                <a:ext uri="{FF2B5EF4-FFF2-40B4-BE49-F238E27FC236}">
                  <a16:creationId xmlns:a16="http://schemas.microsoft.com/office/drawing/2014/main" id="{002009AC-D6C3-E943-9E2A-3D529DE2A3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6012" y="771600"/>
              <a:ext cx="223780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5" name="矩形 64">
            <a:extLst>
              <a:ext uri="{FF2B5EF4-FFF2-40B4-BE49-F238E27FC236}">
                <a16:creationId xmlns:a16="http://schemas.microsoft.com/office/drawing/2014/main" id="{254BF2A4-378E-EA47-93C4-C500DA3C4FB4}"/>
              </a:ext>
            </a:extLst>
          </p:cNvPr>
          <p:cNvSpPr/>
          <p:nvPr/>
        </p:nvSpPr>
        <p:spPr>
          <a:xfrm>
            <a:off x="683313" y="1333797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例：业务流程图</a:t>
            </a:r>
          </a:p>
        </p:txBody>
      </p:sp>
    </p:spTree>
    <p:extLst>
      <p:ext uri="{BB962C8B-B14F-4D97-AF65-F5344CB8AC3E}">
        <p14:creationId xmlns:p14="http://schemas.microsoft.com/office/powerpoint/2010/main" val="244374936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29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8"/>
            <a:ext cx="6688045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利用需求分析方法对系统进行详细的分析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，建立分析模型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分析模型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也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称为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系统的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逻辑模型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分析建模：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C0765B6-00D8-8841-BB4F-60B78B2AB07D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665519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分析建模的主要目标：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71F62C3-DC27-C24A-A679-9EFFF32B65F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347167"/>
            <a:ext cx="6688045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描述用户的需求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建立软件设计的基础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定义可用于软件确认的依据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5560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30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8"/>
            <a:ext cx="6878290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模型是对现实世界中存在的有关实体和活动的抽象和精化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模型建立的过程就是对系统功能逐步细化、逐步明确的过程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。（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需求是否合理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？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需求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剔除和增加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？）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抽象和精化：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C0765B6-00D8-8841-BB4F-60B78B2AB07D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665519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其他表达：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71F62C3-DC27-C24A-A679-9EFFF32B65F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347167"/>
            <a:ext cx="6688045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系统关联图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创建用户接口原型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确定需求优先级别等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2868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31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8"/>
            <a:ext cx="6878290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当分析建模工作结束、系统的逻辑模型建立之后，就需要对系统的需求进行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规格说明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编写需求规格说明书：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0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C0765B6-00D8-8841-BB4F-60B78B2AB07D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665519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软件需求规格说明书的要求：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71F62C3-DC27-C24A-A679-9EFFF32B65F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347167"/>
            <a:ext cx="6688045" cy="1632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必须是清晰的、一致的、完整的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必须用规范化的形式进行描述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必须采用统一的文档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规范</a:t>
            </a:r>
            <a:endParaRPr lang="zh-CN" altLang="en-US" dirty="0"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8668236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32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5758407" cy="3060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存在许多不清楚、不一致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二义性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、不完整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等问题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，有些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甚至难以理解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有时以软件需求规格说明书为依据编写测试计划，也可能发现说明中存在二义性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因此，要解决这些问题，就必须通过需求验证来改善需求分析的质量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为什么需要需求验证？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4671154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33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5758407" cy="3060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验证需求的一致性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验证需求的完整性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验证需求的现实性：现有的技术和方法可以实现的</a:t>
            </a: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验证需求的有效性：验证需求确实能解决用户的实际问题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需求验证一般可以从以下</a:t>
            </a:r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4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个方面进行：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411257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2.1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软件需求分析的概念 </a:t>
            </a:r>
            <a:r>
              <a:rPr lang="en-US" altLang="zh-CN" dirty="0">
                <a:solidFill>
                  <a:srgbClr val="CC66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CC6600"/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700" dirty="0">
                <a:solidFill>
                  <a:srgbClr val="CC6600"/>
                </a:solidFill>
              </a:rPr>
              <a:t>软件需求分析的过程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94BF10E-4499-D646-864B-3D88E9545AD7}"/>
              </a:ext>
            </a:extLst>
          </p:cNvPr>
          <p:cNvSpPr txBox="1">
            <a:spLocks noChangeArrowheads="1"/>
          </p:cNvSpPr>
          <p:nvPr/>
        </p:nvSpPr>
        <p:spPr>
          <a:xfrm>
            <a:off x="6991822" y="4303397"/>
            <a:ext cx="1751744" cy="19432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调查研究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分析建模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chemeClr val="tx2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需求描述</a:t>
            </a:r>
            <a:endParaRPr lang="en-US" altLang="zh-CN" sz="18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812800" indent="-803275">
              <a:lnSpc>
                <a:spcPct val="136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需求验证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34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974157"/>
            <a:ext cx="5758407" cy="3060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谁是系统的参与者？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谁给系统提供输入？谁从系统接收输出？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系统如何接收输入？如何处理？如何产生输出？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系统在处理过程中是否需要存储？存储什么？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需求分析需要弄清楚如下问题？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214776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2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需求分析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35</a:t>
            </a:fld>
            <a:endParaRPr lang="zh-CN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BDD9534-55C4-474E-B176-538384C86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8288" y="1413933"/>
            <a:ext cx="6688045" cy="477275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软件需求分析的概念</a:t>
            </a:r>
            <a:endParaRPr lang="zh-CN" altLang="en-US" dirty="0">
              <a:solidFill>
                <a:srgbClr val="4E8F00"/>
              </a:solidFill>
            </a:endParaRPr>
          </a:p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2.2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结构化分析方法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结构化分析建模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实体</a:t>
            </a: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关系图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数据流图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状态转换图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数据词典</a:t>
            </a: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222129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36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1265863-82A6-134B-813C-F2E7B6422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4" y="173261"/>
            <a:ext cx="7785026" cy="902005"/>
          </a:xfrm>
        </p:spPr>
        <p:txBody>
          <a:bodyPr/>
          <a:lstStyle/>
          <a:p>
            <a:r>
              <a:rPr lang="en-US" altLang="zh-CN" dirty="0">
                <a:solidFill>
                  <a:srgbClr val="4E8F00"/>
                </a:solidFill>
              </a:rPr>
              <a:t>1.4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软件工程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550815A-53FB-2D4B-8BE8-DC4362E12D9C}"/>
              </a:ext>
            </a:extLst>
          </p:cNvPr>
          <p:cNvSpPr txBox="1">
            <a:spLocks noChangeArrowheads="1"/>
          </p:cNvSpPr>
          <p:nvPr/>
        </p:nvSpPr>
        <p:spPr>
          <a:xfrm>
            <a:off x="1228288" y="1413934"/>
            <a:ext cx="6688045" cy="651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14475" indent="-1514475"/>
            <a:r>
              <a:rPr lang="zh-CN" altLang="en-US" sz="2400" dirty="0">
                <a:solidFill>
                  <a:srgbClr val="CC6600"/>
                </a:solidFill>
              </a:rPr>
              <a:t>软件工程方法学</a:t>
            </a:r>
            <a:r>
              <a:rPr lang="zh-CN" altLang="en-US" dirty="0"/>
              <a:t>：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F27E8CB1-B825-9248-92C4-997A4D4D6260}"/>
              </a:ext>
            </a:extLst>
          </p:cNvPr>
          <p:cNvSpPr txBox="1">
            <a:spLocks noChangeArrowheads="1"/>
          </p:cNvSpPr>
          <p:nvPr/>
        </p:nvSpPr>
        <p:spPr>
          <a:xfrm>
            <a:off x="1557061" y="2256414"/>
            <a:ext cx="6688045" cy="3651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  传统方法学</a:t>
            </a:r>
            <a:endParaRPr lang="en-US" altLang="zh-CN" sz="2000" dirty="0"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传统方法学也称为生命周期方法学，它采用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结构化技术</a:t>
            </a: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（结构化分析、结构化设计、结构化实现）来完成软件开发的各项任务，并使用适当的软件工具或软件工程环境来支持结构化技术得运用</a:t>
            </a:r>
            <a:endParaRPr lang="en-US" altLang="zh-CN" sz="2000" dirty="0"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结构化范型要么面向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行为</a:t>
            </a: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（即对数据的操作），要么面向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r>
              <a:rPr lang="zh-CN" altLang="en-US" sz="20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，还没有既面向数据由面向行为的结构化技术</a:t>
            </a:r>
            <a:endParaRPr lang="zh-CN" altLang="en-US" sz="2000" dirty="0"/>
          </a:p>
          <a:p>
            <a:pPr marL="849313" indent="-849313"/>
            <a:endParaRPr lang="zh-CN" altLang="en-US" sz="2000" dirty="0"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20298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37</a:t>
            </a:fld>
            <a:endParaRPr lang="zh-CN" altLang="en-US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98D15B1-6818-D94E-99D9-12447148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456326"/>
            <a:ext cx="7807325" cy="41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◇ </a:t>
            </a: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分解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    － 对复杂系统采用“各个击破”的策略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◇ </a:t>
            </a: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抽象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    － 抽取系统中的基本特性而忽略非基本的部分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◇ </a:t>
            </a: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模块化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    － 高内聚（</a:t>
            </a:r>
            <a:r>
              <a:rPr lang="en-US" altLang="zh-CN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cohesion</a:t>
            </a: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），低耦合（</a:t>
            </a:r>
            <a:r>
              <a:rPr lang="en-US" altLang="zh-CN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coupling</a:t>
            </a: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）</a:t>
            </a:r>
          </a:p>
          <a:p>
            <a:pPr indent="-174625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chemeClr val="tx2"/>
                </a:solidFill>
                <a:ea typeface="楷体_GB2312" panose="02010609030101010101" pitchFamily="49" charset="-122"/>
              </a:rPr>
              <a:t>    － 高内聚指的是在一个模块中应尽量多地汇集逻辑上相关的计算资源；低耦合指的是模块之间的相互作用应尽量少。</a:t>
            </a:r>
          </a:p>
        </p:txBody>
      </p:sp>
    </p:spTree>
    <p:extLst>
      <p:ext uri="{BB962C8B-B14F-4D97-AF65-F5344CB8AC3E}">
        <p14:creationId xmlns:p14="http://schemas.microsoft.com/office/powerpoint/2010/main" val="312145372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38</a:t>
            </a:fld>
            <a:endParaRPr lang="zh-CN" alt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BC56F1C-B8AE-0A48-B5F1-FF1D926B4559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974157"/>
            <a:ext cx="7556385" cy="1454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结构化分析方法是在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世纪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70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年代中期，由优顿（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E. Yourdon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）等人倡导的一种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面向数据流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的分析方法。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1.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结构化分析方法的基本思想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3528910"/>
            <a:ext cx="3480028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主要思想：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187477"/>
            <a:ext cx="7402272" cy="187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用抽象模型的概念，按照软件内部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数据传递、变换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的关系，运用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抽象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分解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的基本手段，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自顶向下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TOP-DOWN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），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逐层分解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，直到找到满足功能需要的所有细节为止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392886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39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1.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结构化分析方法的基本思想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2569213"/>
            <a:ext cx="3480028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</a:rPr>
              <a:t>分解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227780"/>
            <a:ext cx="7402272" cy="1567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</a:rPr>
              <a:t>对于一个复杂的系统，为了将复杂性降低到可以掌握的程度，可以把大问题分解成若干小问题，然后分别解决（如右图）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C6005AC-B72E-2349-8F4C-C39D1F98D3B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4359733"/>
            <a:ext cx="3480028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</a:rPr>
              <a:t>抽象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4D4F6B-5D90-0346-9E8E-4EFCF500D717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5018300"/>
            <a:ext cx="7402272" cy="1598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</a:rPr>
              <a:t>分解可以分层进行，即先考虑问题最本质的属性，暂把细节略去，以后再逐层添加细节，直至涉及到最详细的内容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r>
              <a:rPr lang="zh-CN" altLang="en-US" dirty="0">
                <a:latin typeface="微软雅黑" panose="020B0503020204020204" pitchFamily="34" charset="-122"/>
              </a:rPr>
              <a:t>这种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</a:rPr>
              <a:t>用最本质的属性表示一个系统的方法</a:t>
            </a:r>
            <a:r>
              <a:rPr lang="zh-CN" altLang="en-US" dirty="0">
                <a:latin typeface="微软雅黑" panose="020B0503020204020204" pitchFamily="34" charset="-122"/>
              </a:rPr>
              <a:t>就是“抽象”。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6BBCAE1B-8119-5944-936F-58C7D91A069C}"/>
              </a:ext>
            </a:extLst>
          </p:cNvPr>
          <p:cNvGrpSpPr>
            <a:grpSpLocks/>
          </p:cNvGrpSpPr>
          <p:nvPr/>
        </p:nvGrpSpPr>
        <p:grpSpPr bwMode="auto">
          <a:xfrm>
            <a:off x="5552771" y="747256"/>
            <a:ext cx="2900940" cy="1821957"/>
            <a:chOff x="3374" y="1398"/>
            <a:chExt cx="2167" cy="1421"/>
          </a:xfrm>
        </p:grpSpPr>
        <p:sp>
          <p:nvSpPr>
            <p:cNvPr id="19" name="AutoShape 13">
              <a:extLst>
                <a:ext uri="{FF2B5EF4-FFF2-40B4-BE49-F238E27FC236}">
                  <a16:creationId xmlns:a16="http://schemas.microsoft.com/office/drawing/2014/main" id="{01F65826-C85C-8441-8571-F26F660B3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" y="2399"/>
              <a:ext cx="802" cy="420"/>
            </a:xfrm>
            <a:prstGeom prst="parallelogram">
              <a:avLst>
                <a:gd name="adj" fmla="val 47738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800">
                <a:solidFill>
                  <a:schemeClr val="bg2"/>
                </a:solidFill>
              </a:endParaRPr>
            </a:p>
          </p:txBody>
        </p:sp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DC436419-1DCD-FD46-B79A-2A81237F4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48"/>
              <a:ext cx="115" cy="105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1.1</a:t>
              </a:r>
            </a:p>
          </p:txBody>
        </p:sp>
        <p:sp>
          <p:nvSpPr>
            <p:cNvPr id="21" name="Oval 15">
              <a:extLst>
                <a:ext uri="{FF2B5EF4-FFF2-40B4-BE49-F238E27FC236}">
                  <a16:creationId xmlns:a16="http://schemas.microsoft.com/office/drawing/2014/main" id="{EF236B52-3846-BA47-B59A-098AB81B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2" y="2618"/>
              <a:ext cx="115" cy="107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1.2</a:t>
              </a:r>
            </a:p>
          </p:txBody>
        </p:sp>
        <p:sp>
          <p:nvSpPr>
            <p:cNvPr id="22" name="Oval 16">
              <a:extLst>
                <a:ext uri="{FF2B5EF4-FFF2-40B4-BE49-F238E27FC236}">
                  <a16:creationId xmlns:a16="http://schemas.microsoft.com/office/drawing/2014/main" id="{D06534B6-6A60-EC40-BD71-7E1222913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" y="2618"/>
              <a:ext cx="115" cy="107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1.3</a:t>
              </a: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5A89796A-E14D-CC41-8445-A3631C537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520"/>
              <a:ext cx="96" cy="9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F19BEEFE-2A8B-A540-BD97-C7E062634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2672"/>
              <a:ext cx="229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E0EF5B00-D9E4-924F-AFC5-FDE5DD878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2534"/>
              <a:ext cx="77" cy="8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76C105EC-0C03-AA42-8C37-7252982ED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" y="2492"/>
              <a:ext cx="153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2A98963B-D83B-994F-BD6A-ED51300A7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6" y="2672"/>
              <a:ext cx="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AutoShape 23">
              <a:extLst>
                <a:ext uri="{FF2B5EF4-FFF2-40B4-BE49-F238E27FC236}">
                  <a16:creationId xmlns:a16="http://schemas.microsoft.com/office/drawing/2014/main" id="{4C4C21E2-F523-674E-A1C2-B6911C71E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1398"/>
              <a:ext cx="624" cy="252"/>
            </a:xfrm>
            <a:prstGeom prst="parallelogram">
              <a:avLst>
                <a:gd name="adj" fmla="val 61905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800">
                <a:solidFill>
                  <a:schemeClr val="bg2"/>
                </a:solidFill>
              </a:endParaRPr>
            </a:p>
          </p:txBody>
        </p:sp>
        <p:sp>
          <p:nvSpPr>
            <p:cNvPr id="29" name="Oval 24">
              <a:extLst>
                <a:ext uri="{FF2B5EF4-FFF2-40B4-BE49-F238E27FC236}">
                  <a16:creationId xmlns:a16="http://schemas.microsoft.com/office/drawing/2014/main" id="{FEC02D71-B021-CE40-BB2C-B5E8D9A0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1433"/>
              <a:ext cx="128" cy="12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900">
                  <a:solidFill>
                    <a:schemeClr val="bg2"/>
                  </a:solidFill>
                </a:rPr>
                <a:t>x</a:t>
              </a:r>
            </a:p>
          </p:txBody>
        </p:sp>
        <p:sp>
          <p:nvSpPr>
            <p:cNvPr id="30" name="AutoShape 25">
              <a:extLst>
                <a:ext uri="{FF2B5EF4-FFF2-40B4-BE49-F238E27FC236}">
                  <a16:creationId xmlns:a16="http://schemas.microsoft.com/office/drawing/2014/main" id="{8603C9A7-423A-334C-AE4D-86FDA2C14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845"/>
              <a:ext cx="723" cy="336"/>
            </a:xfrm>
            <a:prstGeom prst="parallelogram">
              <a:avLst>
                <a:gd name="adj" fmla="val 53795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800">
                <a:solidFill>
                  <a:schemeClr val="bg2"/>
                </a:solidFill>
              </a:endParaRPr>
            </a:p>
          </p:txBody>
        </p:sp>
        <p:sp>
          <p:nvSpPr>
            <p:cNvPr id="31" name="Oval 26">
              <a:extLst>
                <a:ext uri="{FF2B5EF4-FFF2-40B4-BE49-F238E27FC236}">
                  <a16:creationId xmlns:a16="http://schemas.microsoft.com/office/drawing/2014/main" id="{E0D6C3C6-5DF5-F84F-A858-F54E2104A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" y="2040"/>
              <a:ext cx="102" cy="102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32" name="Oval 27">
              <a:extLst>
                <a:ext uri="{FF2B5EF4-FFF2-40B4-BE49-F238E27FC236}">
                  <a16:creationId xmlns:a16="http://schemas.microsoft.com/office/drawing/2014/main" id="{2A365207-373C-5248-97A1-28854091E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920"/>
              <a:ext cx="93" cy="91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</a:t>
              </a:r>
            </a:p>
          </p:txBody>
        </p:sp>
        <p:sp>
          <p:nvSpPr>
            <p:cNvPr id="33" name="Oval 28">
              <a:extLst>
                <a:ext uri="{FF2B5EF4-FFF2-40B4-BE49-F238E27FC236}">
                  <a16:creationId xmlns:a16="http://schemas.microsoft.com/office/drawing/2014/main" id="{4547BB39-C3B0-8C40-B163-F45E23068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920"/>
              <a:ext cx="100" cy="91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B834365B-5A02-C444-8EFC-20A9D1EEDD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2" y="1862"/>
              <a:ext cx="141" cy="75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0">
              <a:extLst>
                <a:ext uri="{FF2B5EF4-FFF2-40B4-BE49-F238E27FC236}">
                  <a16:creationId xmlns:a16="http://schemas.microsoft.com/office/drawing/2014/main" id="{57793EDB-142B-394A-93F5-97E5D44FF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68"/>
              <a:ext cx="192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AutoShape 31">
              <a:extLst>
                <a:ext uri="{FF2B5EF4-FFF2-40B4-BE49-F238E27FC236}">
                  <a16:creationId xmlns:a16="http://schemas.microsoft.com/office/drawing/2014/main" id="{19318F5F-6C64-3E4A-8606-B687E21E7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399"/>
              <a:ext cx="801" cy="420"/>
            </a:xfrm>
            <a:prstGeom prst="parallelogram">
              <a:avLst>
                <a:gd name="adj" fmla="val 47679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800">
                <a:solidFill>
                  <a:schemeClr val="bg2"/>
                </a:solidFill>
              </a:endParaRPr>
            </a:p>
          </p:txBody>
        </p:sp>
        <p:sp>
          <p:nvSpPr>
            <p:cNvPr id="37" name="Oval 32">
              <a:extLst>
                <a:ext uri="{FF2B5EF4-FFF2-40B4-BE49-F238E27FC236}">
                  <a16:creationId xmlns:a16="http://schemas.microsoft.com/office/drawing/2014/main" id="{3D5809D2-AECA-6149-81E1-325D0CF66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441"/>
              <a:ext cx="111" cy="103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2.1</a:t>
              </a:r>
            </a:p>
          </p:txBody>
        </p:sp>
        <p:sp>
          <p:nvSpPr>
            <p:cNvPr id="38" name="Oval 33">
              <a:extLst>
                <a:ext uri="{FF2B5EF4-FFF2-40B4-BE49-F238E27FC236}">
                  <a16:creationId xmlns:a16="http://schemas.microsoft.com/office/drawing/2014/main" id="{4A949D5C-744D-0249-A51F-EC70B4F60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2651"/>
              <a:ext cx="115" cy="10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2.2</a:t>
              </a:r>
            </a:p>
          </p:txBody>
        </p:sp>
        <p:sp>
          <p:nvSpPr>
            <p:cNvPr id="39" name="Oval 34">
              <a:extLst>
                <a:ext uri="{FF2B5EF4-FFF2-40B4-BE49-F238E27FC236}">
                  <a16:creationId xmlns:a16="http://schemas.microsoft.com/office/drawing/2014/main" id="{E8592BA6-0584-444F-B3CF-226933B4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2550"/>
              <a:ext cx="114" cy="104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2.3</a:t>
              </a:r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6F8ECFE3-17DB-5849-A00C-9BB11750C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1" y="2530"/>
              <a:ext cx="32" cy="12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6">
              <a:extLst>
                <a:ext uri="{FF2B5EF4-FFF2-40B4-BE49-F238E27FC236}">
                  <a16:creationId xmlns:a16="http://schemas.microsoft.com/office/drawing/2014/main" id="{33685B37-D90D-9F49-B4B5-A1955F85B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2" y="2500"/>
              <a:ext cx="129" cy="4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EB0AD203-9C30-644E-BC54-99EAF2D80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0" y="2525"/>
              <a:ext cx="153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1716F4EF-DEF4-A942-8656-972F4A33C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5" y="2718"/>
              <a:ext cx="97" cy="8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AutoShape 39">
              <a:extLst>
                <a:ext uri="{FF2B5EF4-FFF2-40B4-BE49-F238E27FC236}">
                  <a16:creationId xmlns:a16="http://schemas.microsoft.com/office/drawing/2014/main" id="{61C460C8-6A23-3542-AB40-DF6D3A95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2399"/>
              <a:ext cx="802" cy="420"/>
            </a:xfrm>
            <a:prstGeom prst="parallelogram">
              <a:avLst>
                <a:gd name="adj" fmla="val 47738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800">
                <a:solidFill>
                  <a:schemeClr val="bg2"/>
                </a:solidFill>
              </a:endParaRPr>
            </a:p>
          </p:txBody>
        </p:sp>
        <p:sp>
          <p:nvSpPr>
            <p:cNvPr id="45" name="Oval 40">
              <a:extLst>
                <a:ext uri="{FF2B5EF4-FFF2-40B4-BE49-F238E27FC236}">
                  <a16:creationId xmlns:a16="http://schemas.microsoft.com/office/drawing/2014/main" id="{9DB371D2-1819-5640-B883-BD059DE91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2478"/>
              <a:ext cx="114" cy="105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1.1</a:t>
              </a:r>
            </a:p>
          </p:txBody>
        </p:sp>
        <p:sp>
          <p:nvSpPr>
            <p:cNvPr id="46" name="Oval 41">
              <a:extLst>
                <a:ext uri="{FF2B5EF4-FFF2-40B4-BE49-F238E27FC236}">
                  <a16:creationId xmlns:a16="http://schemas.microsoft.com/office/drawing/2014/main" id="{CC5C0ACC-DAA0-9947-84ED-DDF5B504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" y="2620"/>
              <a:ext cx="114" cy="103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800">
                  <a:solidFill>
                    <a:schemeClr val="bg2"/>
                  </a:solidFill>
                </a:rPr>
                <a:t>1.3</a:t>
              </a:r>
            </a:p>
          </p:txBody>
        </p:sp>
        <p:sp>
          <p:nvSpPr>
            <p:cNvPr id="47" name="Line 42">
              <a:extLst>
                <a:ext uri="{FF2B5EF4-FFF2-40B4-BE49-F238E27FC236}">
                  <a16:creationId xmlns:a16="http://schemas.microsoft.com/office/drawing/2014/main" id="{E2481405-175B-2146-AE50-E8674CA3D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1" y="2557"/>
              <a:ext cx="153" cy="10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3">
              <a:extLst>
                <a:ext uri="{FF2B5EF4-FFF2-40B4-BE49-F238E27FC236}">
                  <a16:creationId xmlns:a16="http://schemas.microsoft.com/office/drawing/2014/main" id="{CAD2631A-5113-984D-B082-CEE11FFF7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2688"/>
              <a:ext cx="13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 type="triangl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4">
              <a:extLst>
                <a:ext uri="{FF2B5EF4-FFF2-40B4-BE49-F238E27FC236}">
                  <a16:creationId xmlns:a16="http://schemas.microsoft.com/office/drawing/2014/main" id="{99BB41B3-F1CF-244F-99E9-39505665A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557"/>
              <a:ext cx="139" cy="63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5">
              <a:extLst>
                <a:ext uri="{FF2B5EF4-FFF2-40B4-BE49-F238E27FC236}">
                  <a16:creationId xmlns:a16="http://schemas.microsoft.com/office/drawing/2014/main" id="{706A3374-4A22-844E-9B14-EBF86F1A5B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6" y="2642"/>
              <a:ext cx="193" cy="6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6">
              <a:extLst>
                <a:ext uri="{FF2B5EF4-FFF2-40B4-BE49-F238E27FC236}">
                  <a16:creationId xmlns:a16="http://schemas.microsoft.com/office/drawing/2014/main" id="{528A928A-5F93-5B4B-8BFF-9979A728EF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6" y="1536"/>
              <a:ext cx="286" cy="313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7">
              <a:extLst>
                <a:ext uri="{FF2B5EF4-FFF2-40B4-BE49-F238E27FC236}">
                  <a16:creationId xmlns:a16="http://schemas.microsoft.com/office/drawing/2014/main" id="{CBB97437-4CCA-054E-9A9D-4EE2FFBE4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2" y="1559"/>
              <a:ext cx="221" cy="289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8">
              <a:extLst>
                <a:ext uri="{FF2B5EF4-FFF2-40B4-BE49-F238E27FC236}">
                  <a16:creationId xmlns:a16="http://schemas.microsoft.com/office/drawing/2014/main" id="{954B6B27-2993-E649-8AB0-B7DF7FD9E9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9" y="1979"/>
              <a:ext cx="844" cy="42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9">
              <a:extLst>
                <a:ext uri="{FF2B5EF4-FFF2-40B4-BE49-F238E27FC236}">
                  <a16:creationId xmlns:a16="http://schemas.microsoft.com/office/drawing/2014/main" id="{B5A00AC5-B3F0-1547-A9F2-87A17161F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3" y="2005"/>
              <a:ext cx="260" cy="39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0">
              <a:extLst>
                <a:ext uri="{FF2B5EF4-FFF2-40B4-BE49-F238E27FC236}">
                  <a16:creationId xmlns:a16="http://schemas.microsoft.com/office/drawing/2014/main" id="{B20E0780-0EFC-3F4E-A89E-76B75F0CB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53" y="2137"/>
              <a:ext cx="321" cy="26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75985F34-568E-2544-B7AB-2C695C1A2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112"/>
              <a:ext cx="247" cy="275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2">
              <a:extLst>
                <a:ext uri="{FF2B5EF4-FFF2-40B4-BE49-F238E27FC236}">
                  <a16:creationId xmlns:a16="http://schemas.microsoft.com/office/drawing/2014/main" id="{E6622EEA-1F67-FC45-A1D0-5F0B43939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5" y="2005"/>
              <a:ext cx="141" cy="39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D5A139DD-057E-AF4B-BEBD-613076DA3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5" y="1979"/>
              <a:ext cx="722" cy="42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4">
              <a:extLst>
                <a:ext uri="{FF2B5EF4-FFF2-40B4-BE49-F238E27FC236}">
                  <a16:creationId xmlns:a16="http://schemas.microsoft.com/office/drawing/2014/main" id="{18146824-792D-DB45-8EE2-B8C4FC019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6" y="2504"/>
              <a:ext cx="41" cy="13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5">
              <a:extLst>
                <a:ext uri="{FF2B5EF4-FFF2-40B4-BE49-F238E27FC236}">
                  <a16:creationId xmlns:a16="http://schemas.microsoft.com/office/drawing/2014/main" id="{57B31280-8395-934E-A5FD-CFB2AC70E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3" y="2005"/>
              <a:ext cx="101" cy="79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6">
              <a:extLst>
                <a:ext uri="{FF2B5EF4-FFF2-40B4-BE49-F238E27FC236}">
                  <a16:creationId xmlns:a16="http://schemas.microsoft.com/office/drawing/2014/main" id="{D1D9211F-5EFB-3F4F-A4B6-01714FC8E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09" y="2104"/>
              <a:ext cx="121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7">
              <a:extLst>
                <a:ext uri="{FF2B5EF4-FFF2-40B4-BE49-F238E27FC236}">
                  <a16:creationId xmlns:a16="http://schemas.microsoft.com/office/drawing/2014/main" id="{8BA3067A-8351-6945-9631-5BD14A0ED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1" y="1517"/>
              <a:ext cx="11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8">
              <a:extLst>
                <a:ext uri="{FF2B5EF4-FFF2-40B4-BE49-F238E27FC236}">
                  <a16:creationId xmlns:a16="http://schemas.microsoft.com/office/drawing/2014/main" id="{622A7A38-455F-CE47-B9E1-C096DFD16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9" y="1454"/>
              <a:ext cx="114" cy="63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6714572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>
            <a:extLst>
              <a:ext uri="{FF2B5EF4-FFF2-40B4-BE49-F238E27FC236}">
                <a16:creationId xmlns:a16="http://schemas.microsoft.com/office/drawing/2014/main" id="{1D918033-6F39-E849-AF6F-C259244B8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715" y="1623317"/>
            <a:ext cx="7199433" cy="4299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40</a:t>
            </a:fld>
            <a:endParaRPr lang="zh-CN" altLang="en-US"/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3A201617-90D3-2240-85D2-082C7C483EC0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2569213"/>
            <a:ext cx="3480028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</a:rPr>
              <a:t>分解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0700359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41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结构化方法的定义和描述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2074097"/>
            <a:ext cx="3983460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德马科（</a:t>
            </a:r>
            <a:r>
              <a:rPr lang="en-US" altLang="zh-CN" sz="2300" dirty="0" err="1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T.DeMarco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r>
              <a:rPr lang="zh-CN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的定义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732664"/>
            <a:ext cx="7402272" cy="187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结构化分析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就是使用数据流图、数据字典、结构化语言、判定表或判定树等工具，来建立一种新的、称为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结构化说明书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的目标文档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B28FE96-98D5-5C40-8816-CDCC665CCC43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5" y="4122886"/>
            <a:ext cx="4466346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结构化分析方法所建模型要素：</a:t>
            </a: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C3313128-D97A-7946-B386-322512A70BE2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781453"/>
            <a:ext cx="7402272" cy="187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或信息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（实体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关系图）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功能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（数据流图）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行为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（状态转换图）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1879176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:\fdoc\teach\教案\软件工程_研究生同等学历\软件工程_研究生同等学历.part01\download\211.101.171.24\courses\GD\jsj\GD_jsj_024y\images\images\chapter02\2_6.gif">
            <a:extLst>
              <a:ext uri="{FF2B5EF4-FFF2-40B4-BE49-F238E27FC236}">
                <a16:creationId xmlns:a16="http://schemas.microsoft.com/office/drawing/2014/main" id="{2CB438BB-D8AF-9142-8244-4BB84C374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655" y="2139069"/>
            <a:ext cx="6292834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结构化方法的定义和描述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F38DE7EA-3E4F-034C-A101-E5A8FFE7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68" y="5559795"/>
            <a:ext cx="2436382" cy="646844"/>
          </a:xfrm>
        </p:spPr>
        <p:txBody>
          <a:bodyPr>
            <a:norm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zh-CN" sz="1800" dirty="0"/>
              <a:t>结构化分析模型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F74508-8B44-3840-86C6-C131B49345F9}"/>
              </a:ext>
            </a:extLst>
          </p:cNvPr>
          <p:cNvSpPr/>
          <p:nvPr/>
        </p:nvSpPr>
        <p:spPr>
          <a:xfrm>
            <a:off x="4678074" y="604868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行为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EA6108-39AD-2B4A-B4AB-5437C00FAA2C}"/>
              </a:ext>
            </a:extLst>
          </p:cNvPr>
          <p:cNvSpPr/>
          <p:nvPr/>
        </p:nvSpPr>
        <p:spPr>
          <a:xfrm>
            <a:off x="7188664" y="216868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功能模型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87C92A-7A83-E74D-9837-38357B00844A}"/>
              </a:ext>
            </a:extLst>
          </p:cNvPr>
          <p:cNvSpPr/>
          <p:nvPr/>
        </p:nvSpPr>
        <p:spPr>
          <a:xfrm>
            <a:off x="2270154" y="2179809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r>
              <a:rPr lang="zh-CN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4381A-6B35-DA49-9083-2D0BECD5C760}"/>
              </a:ext>
            </a:extLst>
          </p:cNvPr>
          <p:cNvSpPr/>
          <p:nvPr/>
        </p:nvSpPr>
        <p:spPr>
          <a:xfrm>
            <a:off x="4896247" y="408375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766419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3.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结构化分析的三种模型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4" y="2074097"/>
            <a:ext cx="6688045" cy="118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98725" indent="-2498725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）实体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关系图（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Entity Relation Diagram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，简称：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E-R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图）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260236"/>
            <a:ext cx="7402272" cy="2841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关系图：用于描述数据对象间的关系，它代表软件的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数据模型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在实体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关系图中出现的每个数据对象的属性均可用数据对象说明来描述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9028807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3.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结构化分析的三种模型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4" y="2074097"/>
            <a:ext cx="6688045" cy="118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98725" indent="-2498725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）数据流图（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Data Flow Diagram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，简称：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260236"/>
            <a:ext cx="7402272" cy="2841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数据流图：主要作用是指明系统中数据是如何流动和变换的，以及描述使数据流进行变换的功能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在数据流图中出现的每个功能的描述，则写在加工规格说明中，它们一起构成软件的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功能模型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44198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45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3.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结构化分析的三种模型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8E3C1E1-B465-A54B-923D-01B35543CADC}"/>
              </a:ext>
            </a:extLst>
          </p:cNvPr>
          <p:cNvSpPr txBox="1">
            <a:spLocks noChangeArrowheads="1"/>
          </p:cNvSpPr>
          <p:nvPr/>
        </p:nvSpPr>
        <p:spPr>
          <a:xfrm>
            <a:off x="1194714" y="2074097"/>
            <a:ext cx="6688045" cy="118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98725" indent="-2498725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）状态转换图（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Status Transfer Diagram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，简称：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STD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5367168-D10C-CF46-9572-CC3C4864E793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260236"/>
            <a:ext cx="7402272" cy="2841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状态转换图：用于指明系统在外部事件作用下将会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如何动作</a:t>
            </a:r>
            <a:endParaRPr lang="en-US" altLang="zh-CN" sz="24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表明了系统的各种状态，以及各种状态间的变迁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从而构成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行为模型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的基础，关于软件控制方面的附加信息，则包含在控制规格说明中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165288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4.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结构化分析方法的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基本</a:t>
            </a:r>
            <a:r>
              <a:rPr lang="zh-CN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步骤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230680"/>
            <a:ext cx="7402272" cy="3243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从问题出发，由顶向下对系统进行抽象和功能分解，画出分层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数据流图（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由后向前定义系统的数据加工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编制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数据字典（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和处理规格说明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最终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写出需求分析报告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0461615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4.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结构化分析方法的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基本</a:t>
            </a:r>
            <a:r>
              <a:rPr lang="zh-CN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步骤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1176563" y="2682743"/>
            <a:ext cx="7073585" cy="3800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 indent="-307975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①  画出顶层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DFD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，确定系统边界；</a:t>
            </a:r>
          </a:p>
          <a:p>
            <a:pPr marL="317500" indent="-307975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②  由顶向下按功能逐层分解，根据分析需要画出各层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DFD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</a:p>
          <a:p>
            <a:pPr marL="409575" indent="-400050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③  当不再分解时，建立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DD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并对处理进行描述；</a:t>
            </a:r>
          </a:p>
          <a:p>
            <a:pPr marL="409575" indent="-400050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④  建立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E-R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图、控制流图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CFD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与控制说明、状态迁移图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STD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等为分析作补充；</a:t>
            </a:r>
          </a:p>
          <a:p>
            <a:pPr marL="409575" indent="-400050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⑤  沿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DFD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回溯：从最终的输出数据流出发，审查输入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输出的合理性、一致性、完整性；</a:t>
            </a:r>
          </a:p>
          <a:p>
            <a:pPr marL="409575" indent="-400050">
              <a:spcBef>
                <a:spcPts val="6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⑥  修改完善需求规格说明书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EF8FBA-A335-1048-BD55-DFECB050CA19}"/>
              </a:ext>
            </a:extLst>
          </p:cNvPr>
          <p:cNvSpPr txBox="1">
            <a:spLocks noChangeArrowheads="1"/>
          </p:cNvSpPr>
          <p:nvPr/>
        </p:nvSpPr>
        <p:spPr>
          <a:xfrm>
            <a:off x="1176563" y="2089315"/>
            <a:ext cx="6688045" cy="68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98725" indent="-2498725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基本步骤：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0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0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</a:t>
            </a:r>
          </a:p>
          <a:p>
            <a:pPr marL="849313" indent="-849313"/>
            <a:endParaRPr lang="zh-CN" altLang="en-US" sz="20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133590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2.2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结构化分析方法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9E7EF0-3BA7-A447-A453-CBDC5E5E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3" y="1310149"/>
            <a:ext cx="6559204" cy="51530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7B1AA38-BE60-A642-9490-DECA340E6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29439"/>
            <a:ext cx="5338032" cy="34131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25BD52A-A760-E248-A34C-8DA2C3095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4732"/>
            <a:ext cx="4188835" cy="42862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2" descr="T8-5">
            <a:extLst>
              <a:ext uri="{FF2B5EF4-FFF2-40B4-BE49-F238E27FC236}">
                <a16:creationId xmlns:a16="http://schemas.microsoft.com/office/drawing/2014/main" id="{96420054-9796-8F46-A1DD-50305D1F2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3928" r="3499" b="2864"/>
          <a:stretch>
            <a:fillRect/>
          </a:stretch>
        </p:blipFill>
        <p:spPr bwMode="auto">
          <a:xfrm>
            <a:off x="383165" y="1252635"/>
            <a:ext cx="5467350" cy="29963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3B4A07-38FB-9041-84C8-879B5A45C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494" y="1290683"/>
            <a:ext cx="2478362" cy="48547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88827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10307" indent="-210307" defTabSz="914377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第 </a:t>
            </a:r>
            <a:r>
              <a:rPr lang="en-US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2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</a:rPr>
              <a:t> 章   </a:t>
            </a:r>
            <a:r>
              <a:rPr lang="zh-CN" altLang="zh-CN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软件</a:t>
            </a:r>
            <a:r>
              <a:rPr lang="zh-CN" altLang="en-US" b="1" dirty="0">
                <a:ln w="12700" cmpd="sng">
                  <a:noFill/>
                  <a:prstDash val="solid"/>
                </a:ln>
                <a:solidFill>
                  <a:srgbClr val="4E8F00"/>
                </a:solidFill>
                <a:sym typeface="微软雅黑" panose="020B0503020204020204" pitchFamily="34" charset="-122"/>
              </a:rPr>
              <a:t>需求分析</a:t>
            </a:r>
            <a:endParaRPr lang="zh-CN" altLang="en-US" b="1" dirty="0">
              <a:ln w="12700" cmpd="sng">
                <a:noFill/>
                <a:prstDash val="solid"/>
              </a:ln>
              <a:solidFill>
                <a:srgbClr val="4E8F00"/>
              </a:solidFill>
            </a:endParaRP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软件需求分析的概念</a:t>
            </a:r>
            <a:endParaRPr lang="zh-CN" altLang="en-US" dirty="0">
              <a:solidFill>
                <a:srgbClr val="4E8F00"/>
              </a:solidFill>
            </a:endParaRPr>
          </a:p>
          <a:p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结构化分析方法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2.3</a:t>
            </a:r>
            <a:r>
              <a:rPr lang="zh-CN" altLang="en-US" dirty="0">
                <a:solidFill>
                  <a:srgbClr val="4E8F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sym typeface="微软雅黑" panose="020B0503020204020204" pitchFamily="34" charset="-122"/>
              </a:rPr>
              <a:t>  结构化分析建模</a:t>
            </a:r>
            <a:endParaRPr lang="en-US" altLang="zh-CN" dirty="0">
              <a:solidFill>
                <a:srgbClr val="4E8F00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2.3.1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实体</a:t>
            </a: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关系图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/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2.3.2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数据流图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2.3.3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状态转换图</a:t>
            </a:r>
            <a:endParaRPr lang="en-US" altLang="zh-CN" dirty="0">
              <a:solidFill>
                <a:srgbClr val="4E8F00"/>
              </a:solidFill>
              <a:sym typeface="微软雅黑" panose="020B0503020204020204" pitchFamily="34" charset="-122"/>
            </a:endParaRPr>
          </a:p>
          <a:p>
            <a:pPr indent="271463">
              <a:spcBef>
                <a:spcPts val="600"/>
              </a:spcBef>
            </a:pPr>
            <a:r>
              <a:rPr lang="en-US" altLang="zh-CN" dirty="0">
                <a:solidFill>
                  <a:srgbClr val="4E8F00"/>
                </a:solidFill>
                <a:sym typeface="微软雅黑" panose="020B0503020204020204" pitchFamily="34" charset="-122"/>
              </a:rPr>
              <a:t>2.3.4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  数据词典</a:t>
            </a:r>
          </a:p>
          <a:p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49906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50</a:t>
            </a:fld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DE78C70-1FB8-624E-BF1D-3AF3FB9FB662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357376"/>
            <a:ext cx="7402272" cy="2649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结构化分析的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实质是创建模型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的活动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主要包括：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数据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或信息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模型、功能模型和行为模型</a:t>
            </a:r>
            <a:endParaRPr lang="en-US" altLang="zh-CN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模型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就是通过一些图形和符号来表示现实世界中的事物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结构化分析模型的表达形式有：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C30D6568-D000-7645-BB38-16A75DF9D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864" y="4006921"/>
            <a:ext cx="3024187" cy="157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SzPct val="66000"/>
              <a:buFont typeface="Wingdings" pitchFamily="2" charset="2"/>
              <a:buChar char="u"/>
            </a:pPr>
            <a:r>
              <a:rPr lang="zh-CN" altLang="en-US" sz="20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实体</a:t>
            </a:r>
            <a:r>
              <a:rPr lang="en-US" altLang="zh-CN" sz="20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关系图</a:t>
            </a:r>
            <a:endParaRPr lang="en-US" altLang="zh-CN" sz="2000" dirty="0">
              <a:solidFill>
                <a:srgbClr val="CC66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66000"/>
              <a:buFont typeface="Wingdings" pitchFamily="2" charset="2"/>
              <a:buChar char="u"/>
            </a:pPr>
            <a:r>
              <a:rPr lang="zh-CN" altLang="en-US" sz="20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数据流图</a:t>
            </a:r>
            <a:endParaRPr lang="en-US" altLang="zh-CN" sz="2000" dirty="0">
              <a:solidFill>
                <a:srgbClr val="CC66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SzPct val="66000"/>
              <a:buFont typeface="Wingdings" pitchFamily="2" charset="2"/>
              <a:buChar char="u"/>
            </a:pPr>
            <a:r>
              <a:rPr lang="zh-CN" altLang="en-US" sz="2000" dirty="0">
                <a:solidFill>
                  <a:srgbClr val="CC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状态转换图</a:t>
            </a:r>
            <a:endParaRPr lang="zh-CN" altLang="en-US" sz="2000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594026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51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2.3.1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实体关系图（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E-R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图）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230680"/>
            <a:ext cx="7402272" cy="3243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Peter.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Chen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于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1976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年提出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直接从现实世界中抽象出实体类型及实体间的关系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pic>
        <p:nvPicPr>
          <p:cNvPr id="8" name="Picture 4" descr="E:\fdoc\teach\教案\软件工程_研究生同等学历\软件工程_研究生同等学历.part01\download\211.101.171.24\courses\GD\jsj\GD_jsj_024y\images\images\chapter02\2_6.gif">
            <a:extLst>
              <a:ext uri="{FF2B5EF4-FFF2-40B4-BE49-F238E27FC236}">
                <a16:creationId xmlns:a16="http://schemas.microsoft.com/office/drawing/2014/main" id="{D73E166C-318B-9848-9399-04ED25F1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54" y="476194"/>
            <a:ext cx="3659727" cy="226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2094053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40"/>
            <a:ext cx="7402272" cy="3725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实体：是现实世界中客观存在的，而且可以相互区别的事物或活动的抽象。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实体：具有一组属性。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实体：可以是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物理存在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的对象，如：人、汽车、商品、职工等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实体：也可以是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抽象存在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的对象，如：公司、企业、工作或感兴趣信息事件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）实体（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Entity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3052207693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40"/>
            <a:ext cx="7402272" cy="1732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属性：是描述实体或关系中的一种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特征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。一个实体或关系通常具有多个特征，需要多个相应属性来描述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如：学生的属性包括：学号、姓名、性别、年龄等</a:t>
            </a: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）属性（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Attribute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9902AC5A-3582-344A-AC03-F8591CE44A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904130"/>
              </p:ext>
            </p:extLst>
          </p:nvPr>
        </p:nvGraphicFramePr>
        <p:xfrm>
          <a:off x="2204824" y="4545780"/>
          <a:ext cx="451485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57600" imgH="1358900" progId="Visio.Drawing.11">
                  <p:embed/>
                </p:oleObj>
              </mc:Choice>
              <mc:Fallback>
                <p:oleObj name="Visio" r:id="rId2" imgW="3657600" imgH="1358900" progId="Visio.Drawing.11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F68F4A2F-E63C-9E46-8A86-96EC434844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4824" y="4545780"/>
                        <a:ext cx="4514850" cy="165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1942002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0353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关系：现实世界中事物内部以及事物之间的关系。在信息世界中反映为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实体内部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的关系和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实体之间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的关系。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关系的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种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形式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一对一关系（</a:t>
            </a:r>
            <a:r>
              <a:rPr lang="en-US" altLang="zh-CN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1:1</a:t>
            </a:r>
            <a:r>
              <a:rPr lang="zh-CN" altLang="en-US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）， 一对多关系（</a:t>
            </a:r>
            <a:r>
              <a:rPr lang="en-US" altLang="zh-CN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1:n</a:t>
            </a:r>
            <a:r>
              <a:rPr lang="zh-CN" altLang="en-US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），   多对多关系（</a:t>
            </a:r>
            <a:r>
              <a:rPr lang="en-US" altLang="zh-CN" sz="2000" dirty="0" err="1">
                <a:latin typeface="微软雅黑" panose="020B0503020204020204" pitchFamily="34" charset="-122"/>
                <a:sym typeface="Calibri" panose="020F0502020204030204" pitchFamily="34" charset="0"/>
              </a:rPr>
              <a:t>m:n</a:t>
            </a:r>
            <a:r>
              <a:rPr lang="zh-CN" altLang="en-US" sz="2000" dirty="0">
                <a:latin typeface="微软雅黑" panose="020B0503020204020204" pitchFamily="34" charset="-122"/>
                <a:sym typeface="Calibri" panose="020F0502020204030204" pitchFamily="34" charset="0"/>
              </a:rPr>
              <a:t>）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）关系（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Relationship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graphicFrame>
        <p:nvGraphicFramePr>
          <p:cNvPr id="17" name="Object 1">
            <a:extLst>
              <a:ext uri="{FF2B5EF4-FFF2-40B4-BE49-F238E27FC236}">
                <a16:creationId xmlns:a16="http://schemas.microsoft.com/office/drawing/2014/main" id="{F56B1703-C439-9C43-B0BB-6450611F1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367317"/>
              </p:ext>
            </p:extLst>
          </p:nvPr>
        </p:nvGraphicFramePr>
        <p:xfrm>
          <a:off x="683313" y="4804909"/>
          <a:ext cx="2303462" cy="158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27300" imgH="1930400" progId="Visio.Drawing.11">
                  <p:embed/>
                </p:oleObj>
              </mc:Choice>
              <mc:Fallback>
                <p:oleObj r:id="rId2" imgW="2527300" imgH="1930400" progId="Visio.Drawing.11">
                  <p:embed/>
                  <p:pic>
                    <p:nvPicPr>
                      <p:cNvPr id="2050" name="Object 1">
                        <a:extLst>
                          <a:ext uri="{FF2B5EF4-FFF2-40B4-BE49-F238E27FC236}">
                            <a16:creationId xmlns:a16="http://schemas.microsoft.com/office/drawing/2014/main" id="{4B527E39-E8CA-1F40-80BA-6C3B4A905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13" y="4804909"/>
                        <a:ext cx="2303462" cy="15865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456BA046-DF74-9842-B063-2A4C12270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9456"/>
              </p:ext>
            </p:extLst>
          </p:nvPr>
        </p:nvGraphicFramePr>
        <p:xfrm>
          <a:off x="3347138" y="4801061"/>
          <a:ext cx="2376487" cy="156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27300" imgH="1930400" progId="Visio.Drawing.11">
                  <p:embed/>
                </p:oleObj>
              </mc:Choice>
              <mc:Fallback>
                <p:oleObj r:id="rId4" imgW="2527300" imgH="1930400" progId="Visio.Drawing.11">
                  <p:embed/>
                  <p:pic>
                    <p:nvPicPr>
                      <p:cNvPr id="2051" name="Object 3">
                        <a:extLst>
                          <a:ext uri="{FF2B5EF4-FFF2-40B4-BE49-F238E27FC236}">
                            <a16:creationId xmlns:a16="http://schemas.microsoft.com/office/drawing/2014/main" id="{81069431-86F5-AF46-B577-BDDBDA56F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138" y="4801061"/>
                        <a:ext cx="2376487" cy="15655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>
            <a:extLst>
              <a:ext uri="{FF2B5EF4-FFF2-40B4-BE49-F238E27FC236}">
                <a16:creationId xmlns:a16="http://schemas.microsoft.com/office/drawing/2014/main" id="{8CCC4163-8904-0342-AA36-BB52B9DF6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581879"/>
              </p:ext>
            </p:extLst>
          </p:nvPr>
        </p:nvGraphicFramePr>
        <p:xfrm>
          <a:off x="6053825" y="4798495"/>
          <a:ext cx="2333625" cy="155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27300" imgH="2006600" progId="Visio.Drawing.11">
                  <p:embed/>
                </p:oleObj>
              </mc:Choice>
              <mc:Fallback>
                <p:oleObj r:id="rId6" imgW="2527300" imgH="2006600" progId="Visio.Drawing.11">
                  <p:embed/>
                  <p:pic>
                    <p:nvPicPr>
                      <p:cNvPr id="2052" name="Object 5">
                        <a:extLst>
                          <a:ext uri="{FF2B5EF4-FFF2-40B4-BE49-F238E27FC236}">
                            <a16:creationId xmlns:a16="http://schemas.microsoft.com/office/drawing/2014/main" id="{FF7F1B20-329D-224A-B920-464D07836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825" y="4798495"/>
                        <a:ext cx="2333625" cy="15515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8280146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55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03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一对一关系（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1:1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）：如果一个实体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至多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与一个实体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发生关系，反之亦然，则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两个实体之间具有一对一关系，简单记为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1:1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）关系（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Relationship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5BBD8394-FED2-B947-AF19-89322C8F5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186260"/>
              </p:ext>
            </p:extLst>
          </p:nvPr>
        </p:nvGraphicFramePr>
        <p:xfrm>
          <a:off x="1582026" y="4469539"/>
          <a:ext cx="5630493" cy="74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92700" imgH="609600" progId="Visio.Drawing.11">
                  <p:embed/>
                </p:oleObj>
              </mc:Choice>
              <mc:Fallback>
                <p:oleObj name="Visio" r:id="rId2" imgW="5092700" imgH="609600" progId="Visio.Drawing.11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4C8048E6-3BA8-9248-AC1D-FEDE6C28F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026" y="4469539"/>
                        <a:ext cx="5630493" cy="7497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0976397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03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一对多关系（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1:n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）：如果</a:t>
            </a:r>
            <a:r>
              <a:rPr lang="zh-CN" altLang="en-US" sz="2000" dirty="0"/>
              <a:t>一个实体</a:t>
            </a:r>
            <a:r>
              <a:rPr lang="en-US" altLang="zh-CN" sz="2000" dirty="0"/>
              <a:t>A</a:t>
            </a:r>
            <a:r>
              <a:rPr lang="zh-CN" altLang="en-US" sz="2000" dirty="0"/>
              <a:t>可以与多个（包含</a:t>
            </a:r>
            <a:r>
              <a:rPr lang="en-US" altLang="zh-CN" sz="2000" dirty="0"/>
              <a:t>0</a:t>
            </a:r>
            <a:r>
              <a:rPr lang="zh-CN" altLang="en-US" sz="2000" dirty="0"/>
              <a:t>个）实体</a:t>
            </a:r>
            <a:r>
              <a:rPr lang="en-US" altLang="zh-CN" sz="2000" dirty="0"/>
              <a:t>B</a:t>
            </a:r>
            <a:r>
              <a:rPr lang="zh-CN" altLang="en-US" sz="2000" dirty="0"/>
              <a:t>发生关系，而一个实体</a:t>
            </a:r>
            <a:r>
              <a:rPr lang="en-US" altLang="zh-CN" sz="2000" dirty="0"/>
              <a:t>B</a:t>
            </a:r>
            <a:r>
              <a:rPr lang="zh-CN" altLang="en-US" sz="2000" dirty="0"/>
              <a:t>至多与一个实体</a:t>
            </a:r>
            <a:r>
              <a:rPr lang="en-US" altLang="zh-CN" sz="2000" dirty="0"/>
              <a:t>A</a:t>
            </a:r>
            <a:r>
              <a:rPr lang="zh-CN" altLang="en-US" sz="2000" dirty="0"/>
              <a:t>发生关系，则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  <a:r>
              <a:rPr lang="zh-CN" altLang="en-US" sz="2000" dirty="0"/>
              <a:t>两个实体之间具有一对多关系，简单记为</a:t>
            </a:r>
            <a:r>
              <a:rPr lang="en-US" altLang="zh-CN" sz="2000" dirty="0"/>
              <a:t>1:n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）关系（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Relationship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64236A99-98EE-034C-A6F0-046C1B025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544685"/>
              </p:ext>
            </p:extLst>
          </p:nvPr>
        </p:nvGraphicFramePr>
        <p:xfrm>
          <a:off x="1582026" y="4459123"/>
          <a:ext cx="5630493" cy="74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92700" imgH="609600" progId="Visio.Drawing.11">
                  <p:embed/>
                </p:oleObj>
              </mc:Choice>
              <mc:Fallback>
                <p:oleObj name="Visio" r:id="rId2" imgW="5092700" imgH="609600" progId="Visio.Drawing.11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CFEAB86D-55B9-C646-9876-DCBF781DE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026" y="4459123"/>
                        <a:ext cx="5630493" cy="7497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3567360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03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多对多关系（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</a:rPr>
              <a:t>m:n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）：</a:t>
            </a:r>
            <a:r>
              <a:rPr lang="zh-CN" altLang="en-US" sz="2000" dirty="0"/>
              <a:t>如果一个实体</a:t>
            </a:r>
            <a:r>
              <a:rPr lang="en-US" altLang="zh-CN" sz="2000" dirty="0"/>
              <a:t>A</a:t>
            </a:r>
            <a:r>
              <a:rPr lang="zh-CN" altLang="en-US" sz="2000" dirty="0"/>
              <a:t>可以与多个（包含</a:t>
            </a:r>
            <a:r>
              <a:rPr lang="en-US" altLang="zh-CN" sz="2000" dirty="0"/>
              <a:t>0</a:t>
            </a:r>
            <a:r>
              <a:rPr lang="zh-CN" altLang="en-US" sz="2000" dirty="0"/>
              <a:t>个）实体</a:t>
            </a:r>
            <a:r>
              <a:rPr lang="en-US" altLang="zh-CN" sz="2000" dirty="0"/>
              <a:t>B</a:t>
            </a:r>
            <a:r>
              <a:rPr lang="zh-CN" altLang="en-US" sz="2000" dirty="0"/>
              <a:t>发生关系，而一个实体</a:t>
            </a:r>
            <a:r>
              <a:rPr lang="en-US" altLang="zh-CN" sz="2000" dirty="0"/>
              <a:t>B</a:t>
            </a:r>
            <a:r>
              <a:rPr lang="zh-CN" altLang="en-US" sz="2000" dirty="0"/>
              <a:t>也可以与多个（包含</a:t>
            </a:r>
            <a:r>
              <a:rPr lang="en-US" altLang="zh-CN" sz="2000" dirty="0"/>
              <a:t>0</a:t>
            </a:r>
            <a:r>
              <a:rPr lang="zh-CN" altLang="en-US" sz="2000" dirty="0"/>
              <a:t>个）实体</a:t>
            </a:r>
            <a:r>
              <a:rPr lang="en-US" altLang="zh-CN" sz="2000" dirty="0"/>
              <a:t>A</a:t>
            </a:r>
            <a:r>
              <a:rPr lang="zh-CN" altLang="en-US" sz="2000" dirty="0"/>
              <a:t>发生关系，则</a:t>
            </a:r>
            <a:r>
              <a:rPr lang="en-US" altLang="zh-CN" sz="2000" dirty="0"/>
              <a:t>A</a:t>
            </a:r>
            <a:r>
              <a:rPr lang="zh-CN" altLang="en-US" sz="2000" dirty="0"/>
              <a:t>与</a:t>
            </a:r>
            <a:r>
              <a:rPr lang="en-US" altLang="zh-CN" sz="2000" dirty="0"/>
              <a:t>B</a:t>
            </a:r>
            <a:r>
              <a:rPr lang="zh-CN" altLang="en-US" sz="2000" dirty="0"/>
              <a:t>两个实体之间具有多对多的关系，简单记为</a:t>
            </a:r>
            <a:r>
              <a:rPr lang="en-US" altLang="zh-CN" sz="2000" dirty="0" err="1"/>
              <a:t>m:n</a:t>
            </a:r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）关系（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Relationship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0E5AB6CE-0DF5-534C-9FCA-222A9A956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026" y="4836622"/>
            <a:ext cx="5630493" cy="83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688208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58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7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sym typeface="Calibri" panose="020F0502020204030204" pitchFamily="34" charset="0"/>
              </a:rPr>
              <a:t>用矩形表示实体，在框内写上实体名</a:t>
            </a:r>
            <a:endParaRPr lang="en-US" altLang="zh-CN" sz="2000" dirty="0"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sym typeface="Calibri" panose="020F0502020204030204" pitchFamily="34" charset="0"/>
              </a:rPr>
              <a:t>用椭圆形表示实体的属性，并用无向边把实体和属性连接起来</a:t>
            </a:r>
            <a:endParaRPr lang="en-US" altLang="zh-CN" sz="2000" dirty="0"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sym typeface="Calibri" panose="020F0502020204030204" pitchFamily="34" charset="0"/>
              </a:rPr>
              <a:t>用菱形表示实体间的关系，在菱形框内写上关系名，用无向边分别把菱形框与有关实体连接起来，在无向边旁注明关系的类型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）表示方式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FF41491-C936-D14C-A21B-74AA20B7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09" y="5339458"/>
            <a:ext cx="5566738" cy="110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739981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59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85739"/>
            <a:ext cx="7402272" cy="27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sym typeface="Calibri" panose="020F0502020204030204" pitchFamily="34" charset="0"/>
              </a:rPr>
              <a:t>把相互关系的实体集（方框）通过关系（菱形框）连接起来，注明关系方式</a:t>
            </a:r>
            <a:endParaRPr lang="en-US" altLang="zh-CN" sz="2000" dirty="0"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57188" indent="-3476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alibri" panose="020F0502020204030204" pitchFamily="34" charset="0"/>
                <a:sym typeface="Calibri" panose="020F0502020204030204" pitchFamily="34" charset="0"/>
              </a:rPr>
              <a:t>再把实体集的属性（椭圆框）连到相应实体集上</a:t>
            </a: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9525">
              <a:spcBef>
                <a:spcPts val="600"/>
              </a:spcBef>
              <a:spcAft>
                <a:spcPts val="60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）图形绘制要点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3427708282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60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组成元素：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实体、关系和属性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3303E-F8B2-C84E-B3F0-04F850B2B4B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203889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）图形绘制要点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A7184DA-6A52-2B44-9AB9-291102CF41B2}"/>
              </a:ext>
            </a:extLst>
          </p:cNvPr>
          <p:cNvSpPr txBox="1">
            <a:spLocks/>
          </p:cNvSpPr>
          <p:nvPr/>
        </p:nvSpPr>
        <p:spPr bwMode="auto">
          <a:xfrm>
            <a:off x="592530" y="2945220"/>
            <a:ext cx="824865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723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例：学生实体和班级实体的关系的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E-R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图。</a:t>
            </a:r>
            <a:endParaRPr lang="zh-CN" altLang="en-US" sz="2000" dirty="0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5119931C-6AEB-D443-BC2F-D84B49590975}"/>
              </a:ext>
            </a:extLst>
          </p:cNvPr>
          <p:cNvGrpSpPr>
            <a:grpSpLocks/>
          </p:cNvGrpSpPr>
          <p:nvPr/>
        </p:nvGrpSpPr>
        <p:grpSpPr bwMode="auto">
          <a:xfrm>
            <a:off x="1398412" y="3866859"/>
            <a:ext cx="6737350" cy="2024062"/>
            <a:chOff x="340" y="1734"/>
            <a:chExt cx="4244" cy="1700"/>
          </a:xfrm>
        </p:grpSpPr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C5FFFCDD-AA30-D945-BAC2-00787B77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" y="2481"/>
              <a:ext cx="3556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600" b="1"/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88E511A9-F2A8-BC42-9A40-E82BB0E4E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" y="2429"/>
              <a:ext cx="700" cy="33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solidFill>
                    <a:srgbClr val="FF0000"/>
                  </a:solidFill>
                  <a:latin typeface="Tahoma" panose="020B0604030504040204" pitchFamily="34" charset="0"/>
                </a:rPr>
                <a:t>学生</a:t>
              </a: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9091386F-753D-264D-8D65-6E4E6546E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2470"/>
              <a:ext cx="656" cy="33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solidFill>
                    <a:srgbClr val="FF0000"/>
                  </a:solidFill>
                  <a:latin typeface="Tahoma" panose="020B0604030504040204" pitchFamily="34" charset="0"/>
                </a:rPr>
                <a:t>班级</a:t>
              </a:r>
            </a:p>
          </p:txBody>
        </p:sp>
        <p:sp>
          <p:nvSpPr>
            <p:cNvPr id="21" name="AutoShape 8">
              <a:extLst>
                <a:ext uri="{FF2B5EF4-FFF2-40B4-BE49-F238E27FC236}">
                  <a16:creationId xmlns:a16="http://schemas.microsoft.com/office/drawing/2014/main" id="{C185B794-9D7F-7E43-8DBB-BDD9D43AA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219"/>
              <a:ext cx="679" cy="796"/>
            </a:xfrm>
            <a:prstGeom prst="diamond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属于</a:t>
              </a: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09C44C95-0C67-D542-A734-70522D3EB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" y="1884"/>
              <a:ext cx="700" cy="33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学号</a:t>
              </a:r>
            </a:p>
          </p:txBody>
        </p:sp>
        <p:sp>
          <p:nvSpPr>
            <p:cNvPr id="23" name="Oval 10">
              <a:extLst>
                <a:ext uri="{FF2B5EF4-FFF2-40B4-BE49-F238E27FC236}">
                  <a16:creationId xmlns:a16="http://schemas.microsoft.com/office/drawing/2014/main" id="{BF687203-91DB-6640-9CE4-BFEDAA58A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" y="1884"/>
              <a:ext cx="701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 dirty="0">
                  <a:latin typeface="Tahoma" panose="020B0604030504040204" pitchFamily="34" charset="0"/>
                </a:rPr>
                <a:t>姓名</a:t>
              </a:r>
            </a:p>
          </p:txBody>
        </p:sp>
        <p:sp>
          <p:nvSpPr>
            <p:cNvPr id="24" name="Oval 11">
              <a:extLst>
                <a:ext uri="{FF2B5EF4-FFF2-40B4-BE49-F238E27FC236}">
                  <a16:creationId xmlns:a16="http://schemas.microsoft.com/office/drawing/2014/main" id="{3F11ADD6-9A71-1842-B35D-B5ED82AE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429"/>
              <a:ext cx="700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性别</a:t>
              </a:r>
            </a:p>
          </p:txBody>
        </p:sp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AEB6B50E-7BE3-CF4E-AED6-540F010B3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057"/>
              <a:ext cx="875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出生日期</a:t>
              </a:r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D973129A-BFF2-1F41-A534-92420728E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" y="3057"/>
              <a:ext cx="701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班级</a:t>
              </a:r>
            </a:p>
          </p:txBody>
        </p:sp>
        <p:sp>
          <p:nvSpPr>
            <p:cNvPr id="27" name="Oval 15">
              <a:extLst>
                <a:ext uri="{FF2B5EF4-FFF2-40B4-BE49-F238E27FC236}">
                  <a16:creationId xmlns:a16="http://schemas.microsoft.com/office/drawing/2014/main" id="{AAE8B6B3-0CF3-1D41-B800-7D8F4D945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734"/>
              <a:ext cx="700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班级名</a:t>
              </a:r>
            </a:p>
          </p:txBody>
        </p:sp>
        <p:sp>
          <p:nvSpPr>
            <p:cNvPr id="28" name="Oval 16">
              <a:extLst>
                <a:ext uri="{FF2B5EF4-FFF2-40B4-BE49-F238E27FC236}">
                  <a16:creationId xmlns:a16="http://schemas.microsoft.com/office/drawing/2014/main" id="{A6311CBA-BD8D-D149-B9D8-7CB1FDFDA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" y="3099"/>
              <a:ext cx="887" cy="33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1600" b="1">
                  <a:latin typeface="Tahoma" panose="020B0604030504040204" pitchFamily="34" charset="0"/>
                </a:rPr>
                <a:t>班主任</a:t>
              </a:r>
            </a:p>
          </p:txBody>
        </p:sp>
        <p:sp>
          <p:nvSpPr>
            <p:cNvPr id="29" name="Line 17">
              <a:extLst>
                <a:ext uri="{FF2B5EF4-FFF2-40B4-BE49-F238E27FC236}">
                  <a16:creationId xmlns:a16="http://schemas.microsoft.com/office/drawing/2014/main" id="{7815C0DF-B025-0B4F-A0ED-B3C3C50D1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2613"/>
              <a:ext cx="590" cy="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18">
              <a:extLst>
                <a:ext uri="{FF2B5EF4-FFF2-40B4-BE49-F238E27FC236}">
                  <a16:creationId xmlns:a16="http://schemas.microsoft.com/office/drawing/2014/main" id="{9AAC36E4-21FE-414D-BCB3-EF66F3680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5" y="2638"/>
              <a:ext cx="7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14B3681B-DA02-294A-9D34-5D491780B8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2069"/>
              <a:ext cx="45" cy="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6C22BC82-B1B8-C84D-82B1-1103FE008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1" y="2806"/>
              <a:ext cx="21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6F512B22-4654-8545-BDFD-8371B8FFF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2764"/>
              <a:ext cx="219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975C281D-23B6-D44C-835B-D8552EAE6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4" y="2764"/>
              <a:ext cx="350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Line 24">
              <a:extLst>
                <a:ext uri="{FF2B5EF4-FFF2-40B4-BE49-F238E27FC236}">
                  <a16:creationId xmlns:a16="http://schemas.microsoft.com/office/drawing/2014/main" id="{46FBE25E-B8D2-B044-B168-2B1A3D8B1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0" y="259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" name="Line 25">
              <a:extLst>
                <a:ext uri="{FF2B5EF4-FFF2-40B4-BE49-F238E27FC236}">
                  <a16:creationId xmlns:a16="http://schemas.microsoft.com/office/drawing/2014/main" id="{07DCDCCA-5411-CC49-A600-2B9F9A081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9" y="2219"/>
              <a:ext cx="17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941B8128-CBE4-6740-8814-D241BFFC41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0" y="2219"/>
              <a:ext cx="219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Text Box 27">
              <a:extLst>
                <a:ext uri="{FF2B5EF4-FFF2-40B4-BE49-F238E27FC236}">
                  <a16:creationId xmlns:a16="http://schemas.microsoft.com/office/drawing/2014/main" id="{56C45B73-374A-2746-99F6-463EAB646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" y="2354"/>
              <a:ext cx="307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600" b="1" dirty="0">
                  <a:latin typeface="Tahoma" panose="020B0604030504040204" pitchFamily="34" charset="0"/>
                </a:rPr>
                <a:t>n</a:t>
              </a:r>
            </a:p>
          </p:txBody>
        </p:sp>
        <p:sp>
          <p:nvSpPr>
            <p:cNvPr id="39" name="Text Box 28">
              <a:extLst>
                <a:ext uri="{FF2B5EF4-FFF2-40B4-BE49-F238E27FC236}">
                  <a16:creationId xmlns:a16="http://schemas.microsoft.com/office/drawing/2014/main" id="{3B4B35E5-434E-064A-B03D-B72284849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" y="2371"/>
              <a:ext cx="26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600" b="1" dirty="0">
                  <a:latin typeface="Tahoma" panose="020B060403050404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170087"/>
      </p:ext>
    </p:extLst>
  </p:cSld>
  <p:clrMapOvr>
    <a:masterClrMapping/>
  </p:clrMapOvr>
  <p:transition spd="slow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61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F1B0F33B-EF89-1C47-9DFF-9E643D7AE35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实体关系图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E-R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AA7184DA-6A52-2B44-9AB9-291102CF41B2}"/>
              </a:ext>
            </a:extLst>
          </p:cNvPr>
          <p:cNvSpPr txBox="1">
            <a:spLocks/>
          </p:cNvSpPr>
          <p:nvPr/>
        </p:nvSpPr>
        <p:spPr bwMode="auto">
          <a:xfrm>
            <a:off x="116608" y="1405528"/>
            <a:ext cx="4984438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723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pitchFamily="34" charset="-122"/>
              </a:rPr>
              <a:t>例：某个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高等学校信息数据库系统包含学生、教师、专业、教科书和课程五个实体，画出其实体关系的</a:t>
            </a:r>
            <a:r>
              <a:rPr lang="en-US" altLang="zh-CN" sz="2000" dirty="0">
                <a:solidFill>
                  <a:srgbClr val="000000"/>
                </a:solidFill>
                <a:latin typeface="+mj-ea"/>
                <a:ea typeface="+mj-ea"/>
              </a:rPr>
              <a:t>E-R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</a:rPr>
              <a:t>图</a:t>
            </a:r>
            <a:r>
              <a:rPr lang="zh-CN" altLang="en-US" sz="2000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pitchFamily="34" charset="-122"/>
              </a:rPr>
              <a:t>。</a:t>
            </a:r>
            <a:endParaRPr lang="zh-CN" altLang="en-US" sz="2000" dirty="0">
              <a:latin typeface="+mj-ea"/>
              <a:ea typeface="+mj-ea"/>
              <a:sym typeface="Calibri" panose="020F0502020204030204" pitchFamily="34" charset="0"/>
            </a:endParaRPr>
          </a:p>
        </p:txBody>
      </p:sp>
      <p:grpSp>
        <p:nvGrpSpPr>
          <p:cNvPr id="41" name="Group 27">
            <a:extLst>
              <a:ext uri="{FF2B5EF4-FFF2-40B4-BE49-F238E27FC236}">
                <a16:creationId xmlns:a16="http://schemas.microsoft.com/office/drawing/2014/main" id="{933764B2-A330-7943-A1C5-1A307B3FDD95}"/>
              </a:ext>
            </a:extLst>
          </p:cNvPr>
          <p:cNvGrpSpPr>
            <a:grpSpLocks/>
          </p:cNvGrpSpPr>
          <p:nvPr/>
        </p:nvGrpSpPr>
        <p:grpSpPr bwMode="auto">
          <a:xfrm>
            <a:off x="152655" y="2706804"/>
            <a:ext cx="8657435" cy="3580979"/>
            <a:chOff x="1526" y="1262"/>
            <a:chExt cx="7698" cy="4780"/>
          </a:xfrm>
        </p:grpSpPr>
        <p:sp>
          <p:nvSpPr>
            <p:cNvPr id="42" name="Line 28">
              <a:extLst>
                <a:ext uri="{FF2B5EF4-FFF2-40B4-BE49-F238E27FC236}">
                  <a16:creationId xmlns:a16="http://schemas.microsoft.com/office/drawing/2014/main" id="{820A37E6-F5F2-9244-985A-01C24CDBA9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0" y="4954"/>
              <a:ext cx="44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9">
              <a:extLst>
                <a:ext uri="{FF2B5EF4-FFF2-40B4-BE49-F238E27FC236}">
                  <a16:creationId xmlns:a16="http://schemas.microsoft.com/office/drawing/2014/main" id="{4B21E7F0-655F-3443-B503-53F08D1B5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1689"/>
              <a:ext cx="0" cy="137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30">
              <a:extLst>
                <a:ext uri="{FF2B5EF4-FFF2-40B4-BE49-F238E27FC236}">
                  <a16:creationId xmlns:a16="http://schemas.microsoft.com/office/drawing/2014/main" id="{21F88DE3-774A-734E-AA3B-36B17B083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8" y="1689"/>
              <a:ext cx="0" cy="137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31">
              <a:extLst>
                <a:ext uri="{FF2B5EF4-FFF2-40B4-BE49-F238E27FC236}">
                  <a16:creationId xmlns:a16="http://schemas.microsoft.com/office/drawing/2014/main" id="{5A17DD7A-54C5-6249-A37A-2419281DD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8" y="3247"/>
              <a:ext cx="27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60DC8440-A467-CC49-BFCB-56D4ABADC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247"/>
              <a:ext cx="27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33">
              <a:extLst>
                <a:ext uri="{FF2B5EF4-FFF2-40B4-BE49-F238E27FC236}">
                  <a16:creationId xmlns:a16="http://schemas.microsoft.com/office/drawing/2014/main" id="{5D5A6004-F547-E24D-B256-565C3DE08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1" y="3247"/>
              <a:ext cx="227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216DAE8F-E623-8840-B532-4905152BD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1" y="3247"/>
              <a:ext cx="16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35">
              <a:extLst>
                <a:ext uri="{FF2B5EF4-FFF2-40B4-BE49-F238E27FC236}">
                  <a16:creationId xmlns:a16="http://schemas.microsoft.com/office/drawing/2014/main" id="{F5A09E31-FB03-EA4A-9B5B-D59395065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5" y="3247"/>
              <a:ext cx="27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36">
              <a:extLst>
                <a:ext uri="{FF2B5EF4-FFF2-40B4-BE49-F238E27FC236}">
                  <a16:creationId xmlns:a16="http://schemas.microsoft.com/office/drawing/2014/main" id="{BF556D79-E098-E24C-895A-2DD3EBCF9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" y="3247"/>
              <a:ext cx="167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7">
              <a:extLst>
                <a:ext uri="{FF2B5EF4-FFF2-40B4-BE49-F238E27FC236}">
                  <a16:creationId xmlns:a16="http://schemas.microsoft.com/office/drawing/2014/main" id="{628A3DC7-D41B-1041-9931-E5B2DF966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0" y="3475"/>
              <a:ext cx="0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8">
              <a:extLst>
                <a:ext uri="{FF2B5EF4-FFF2-40B4-BE49-F238E27FC236}">
                  <a16:creationId xmlns:a16="http://schemas.microsoft.com/office/drawing/2014/main" id="{4D8DBA6B-7D56-C945-AC3F-2B49E778B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0" y="4529"/>
              <a:ext cx="0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9">
              <a:extLst>
                <a:ext uri="{FF2B5EF4-FFF2-40B4-BE49-F238E27FC236}">
                  <a16:creationId xmlns:a16="http://schemas.microsoft.com/office/drawing/2014/main" id="{A8BD792D-2605-4D44-9862-B3BFDE658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2" y="3471"/>
              <a:ext cx="214" cy="35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40">
              <a:extLst>
                <a:ext uri="{FF2B5EF4-FFF2-40B4-BE49-F238E27FC236}">
                  <a16:creationId xmlns:a16="http://schemas.microsoft.com/office/drawing/2014/main" id="{676ABEB7-82B5-A34E-A0A1-B567DC91B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2" y="5211"/>
              <a:ext cx="677" cy="41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41">
              <a:extLst>
                <a:ext uri="{FF2B5EF4-FFF2-40B4-BE49-F238E27FC236}">
                  <a16:creationId xmlns:a16="http://schemas.microsoft.com/office/drawing/2014/main" id="{24223776-DB08-A742-951E-6EFB0D81C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68" y="2647"/>
              <a:ext cx="1004" cy="45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42">
              <a:extLst>
                <a:ext uri="{FF2B5EF4-FFF2-40B4-BE49-F238E27FC236}">
                  <a16:creationId xmlns:a16="http://schemas.microsoft.com/office/drawing/2014/main" id="{9C35CDE6-BB69-9144-A7BC-517BF7C77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7" y="2978"/>
              <a:ext cx="25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M</a:t>
              </a:r>
              <a:endParaRPr lang="en-US" altLang="zh-CN" b="1" u="sng"/>
            </a:p>
          </p:txBody>
        </p:sp>
        <p:sp>
          <p:nvSpPr>
            <p:cNvPr id="57" name="Rectangle 43">
              <a:extLst>
                <a:ext uri="{FF2B5EF4-FFF2-40B4-BE49-F238E27FC236}">
                  <a16:creationId xmlns:a16="http://schemas.microsoft.com/office/drawing/2014/main" id="{1B3D2208-A1F0-C44D-8D22-25CC2CEAD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2978"/>
              <a:ext cx="25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58" name="Rectangle 44">
              <a:extLst>
                <a:ext uri="{FF2B5EF4-FFF2-40B4-BE49-F238E27FC236}">
                  <a16:creationId xmlns:a16="http://schemas.microsoft.com/office/drawing/2014/main" id="{4DC58057-DC0D-564C-9E8E-848AB3999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2978"/>
              <a:ext cx="15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1</a:t>
              </a:r>
              <a:endParaRPr lang="en-US" altLang="zh-CN" b="1" u="sng"/>
            </a:p>
          </p:txBody>
        </p:sp>
        <p:sp>
          <p:nvSpPr>
            <p:cNvPr id="59" name="Rectangle 45">
              <a:extLst>
                <a:ext uri="{FF2B5EF4-FFF2-40B4-BE49-F238E27FC236}">
                  <a16:creationId xmlns:a16="http://schemas.microsoft.com/office/drawing/2014/main" id="{FCAB8EC9-CC1D-6641-A48D-B9DF247C7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6" y="2978"/>
              <a:ext cx="206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60" name="Line 46">
              <a:extLst>
                <a:ext uri="{FF2B5EF4-FFF2-40B4-BE49-F238E27FC236}">
                  <a16:creationId xmlns:a16="http://schemas.microsoft.com/office/drawing/2014/main" id="{AF98192F-C5D7-3C43-B857-1DF6F2738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8" y="3472"/>
              <a:ext cx="335" cy="3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47">
              <a:extLst>
                <a:ext uri="{FF2B5EF4-FFF2-40B4-BE49-F238E27FC236}">
                  <a16:creationId xmlns:a16="http://schemas.microsoft.com/office/drawing/2014/main" id="{F853671A-9AFB-B948-8B1E-255F3F1A1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7" y="4927"/>
              <a:ext cx="33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48">
              <a:extLst>
                <a:ext uri="{FF2B5EF4-FFF2-40B4-BE49-F238E27FC236}">
                  <a16:creationId xmlns:a16="http://schemas.microsoft.com/office/drawing/2014/main" id="{C56BCF40-50AC-6F41-B02A-C3EA727FC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3422"/>
              <a:ext cx="0" cy="150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49">
              <a:extLst>
                <a:ext uri="{FF2B5EF4-FFF2-40B4-BE49-F238E27FC236}">
                  <a16:creationId xmlns:a16="http://schemas.microsoft.com/office/drawing/2014/main" id="{8D49D639-0363-9544-8AE9-F07ED4C99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5" y="1689"/>
              <a:ext cx="1673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50">
              <a:extLst>
                <a:ext uri="{FF2B5EF4-FFF2-40B4-BE49-F238E27FC236}">
                  <a16:creationId xmlns:a16="http://schemas.microsoft.com/office/drawing/2014/main" id="{E7F05565-4E83-8048-BA2E-FAE042210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1689"/>
              <a:ext cx="1171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51">
              <a:extLst>
                <a:ext uri="{FF2B5EF4-FFF2-40B4-BE49-F238E27FC236}">
                  <a16:creationId xmlns:a16="http://schemas.microsoft.com/office/drawing/2014/main" id="{F13241B7-E939-594C-9605-F049DD89F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1" y="3481"/>
              <a:ext cx="260" cy="31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52">
              <a:extLst>
                <a:ext uri="{FF2B5EF4-FFF2-40B4-BE49-F238E27FC236}">
                  <a16:creationId xmlns:a16="http://schemas.microsoft.com/office/drawing/2014/main" id="{884936D0-59F0-1442-AB46-BB714B6CDD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8" y="5202"/>
              <a:ext cx="543" cy="41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53">
              <a:extLst>
                <a:ext uri="{FF2B5EF4-FFF2-40B4-BE49-F238E27FC236}">
                  <a16:creationId xmlns:a16="http://schemas.microsoft.com/office/drawing/2014/main" id="{5FA4EC13-CB8A-0F48-9383-72C78F1CD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56" y="5207"/>
              <a:ext cx="101" cy="4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54">
              <a:extLst>
                <a:ext uri="{FF2B5EF4-FFF2-40B4-BE49-F238E27FC236}">
                  <a16:creationId xmlns:a16="http://schemas.microsoft.com/office/drawing/2014/main" id="{4E2B2474-7045-A04C-B0CE-90ACBC1A5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9" y="5215"/>
              <a:ext cx="1603" cy="38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55">
              <a:extLst>
                <a:ext uri="{FF2B5EF4-FFF2-40B4-BE49-F238E27FC236}">
                  <a16:creationId xmlns:a16="http://schemas.microsoft.com/office/drawing/2014/main" id="{003A134B-77F4-8845-8AA0-F84B0CDF7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32" y="3089"/>
              <a:ext cx="168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56">
              <a:extLst>
                <a:ext uri="{FF2B5EF4-FFF2-40B4-BE49-F238E27FC236}">
                  <a16:creationId xmlns:a16="http://schemas.microsoft.com/office/drawing/2014/main" id="{4EAA3A81-C328-6B4D-A41B-B050E6723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32" y="2404"/>
              <a:ext cx="168" cy="91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7">
              <a:extLst>
                <a:ext uri="{FF2B5EF4-FFF2-40B4-BE49-F238E27FC236}">
                  <a16:creationId xmlns:a16="http://schemas.microsoft.com/office/drawing/2014/main" id="{FBB36A31-B007-904B-A0F4-A67E2D4CB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2" y="3317"/>
              <a:ext cx="168" cy="45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58">
              <a:extLst>
                <a:ext uri="{FF2B5EF4-FFF2-40B4-BE49-F238E27FC236}">
                  <a16:creationId xmlns:a16="http://schemas.microsoft.com/office/drawing/2014/main" id="{32E6C27A-5954-BC40-88D8-5303B7C74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2" y="3317"/>
              <a:ext cx="168" cy="114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9">
              <a:extLst>
                <a:ext uri="{FF2B5EF4-FFF2-40B4-BE49-F238E27FC236}">
                  <a16:creationId xmlns:a16="http://schemas.microsoft.com/office/drawing/2014/main" id="{F7041924-9C46-2E40-AB98-89019286D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23" y="2632"/>
              <a:ext cx="167" cy="45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0">
              <a:extLst>
                <a:ext uri="{FF2B5EF4-FFF2-40B4-BE49-F238E27FC236}">
                  <a16:creationId xmlns:a16="http://schemas.microsoft.com/office/drawing/2014/main" id="{C7B63644-3B54-B54B-B690-210D66F66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5" y="2632"/>
              <a:ext cx="167" cy="45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61">
              <a:extLst>
                <a:ext uri="{FF2B5EF4-FFF2-40B4-BE49-F238E27FC236}">
                  <a16:creationId xmlns:a16="http://schemas.microsoft.com/office/drawing/2014/main" id="{1EC44EC9-A0F3-ED4D-8469-8B02D65CF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1" y="4115"/>
              <a:ext cx="44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62">
              <a:extLst>
                <a:ext uri="{FF2B5EF4-FFF2-40B4-BE49-F238E27FC236}">
                  <a16:creationId xmlns:a16="http://schemas.microsoft.com/office/drawing/2014/main" id="{7952EF7F-0085-3A4A-B25E-C28A4B9A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1417"/>
              <a:ext cx="157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1</a:t>
              </a:r>
              <a:endParaRPr lang="en-US" altLang="zh-CN" b="1" u="sng"/>
            </a:p>
          </p:txBody>
        </p:sp>
        <p:sp>
          <p:nvSpPr>
            <p:cNvPr id="77" name="Rectangle 63">
              <a:extLst>
                <a:ext uri="{FF2B5EF4-FFF2-40B4-BE49-F238E27FC236}">
                  <a16:creationId xmlns:a16="http://schemas.microsoft.com/office/drawing/2014/main" id="{5782DF7F-B460-7142-AD2F-A44A0B318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" y="1417"/>
              <a:ext cx="190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78" name="Rectangle 64">
              <a:extLst>
                <a:ext uri="{FF2B5EF4-FFF2-40B4-BE49-F238E27FC236}">
                  <a16:creationId xmlns:a16="http://schemas.microsoft.com/office/drawing/2014/main" id="{346E86EF-8A37-8D4F-A35F-6F07CCC91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8" y="2978"/>
              <a:ext cx="190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79" name="Rectangle 65">
              <a:extLst>
                <a:ext uri="{FF2B5EF4-FFF2-40B4-BE49-F238E27FC236}">
                  <a16:creationId xmlns:a16="http://schemas.microsoft.com/office/drawing/2014/main" id="{EFCC67A2-5146-B14D-83F6-5D344507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3497"/>
              <a:ext cx="322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M</a:t>
              </a:r>
              <a:endParaRPr lang="en-US" altLang="zh-CN" b="1" u="sng"/>
            </a:p>
          </p:txBody>
        </p:sp>
        <p:sp>
          <p:nvSpPr>
            <p:cNvPr id="80" name="Rectangle 66">
              <a:extLst>
                <a:ext uri="{FF2B5EF4-FFF2-40B4-BE49-F238E27FC236}">
                  <a16:creationId xmlns:a16="http://schemas.microsoft.com/office/drawing/2014/main" id="{6337407B-6A51-1B48-BD5D-DFF45EBBE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" y="4476"/>
              <a:ext cx="207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81" name="Rectangle 67">
              <a:extLst>
                <a:ext uri="{FF2B5EF4-FFF2-40B4-BE49-F238E27FC236}">
                  <a16:creationId xmlns:a16="http://schemas.microsoft.com/office/drawing/2014/main" id="{72D8B9B9-318C-2748-86BA-E0B0CD811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7" y="2978"/>
              <a:ext cx="191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M</a:t>
              </a:r>
              <a:endParaRPr lang="en-US" altLang="zh-CN" b="1" u="sng"/>
            </a:p>
          </p:txBody>
        </p:sp>
        <p:sp>
          <p:nvSpPr>
            <p:cNvPr id="82" name="Rectangle 68">
              <a:extLst>
                <a:ext uri="{FF2B5EF4-FFF2-40B4-BE49-F238E27FC236}">
                  <a16:creationId xmlns:a16="http://schemas.microsoft.com/office/drawing/2014/main" id="{6137A354-1F94-3B46-AB3D-22B62BC84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" y="4674"/>
              <a:ext cx="15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1</a:t>
              </a:r>
              <a:endParaRPr lang="en-US" altLang="zh-CN" b="1" u="sng"/>
            </a:p>
          </p:txBody>
        </p:sp>
        <p:sp>
          <p:nvSpPr>
            <p:cNvPr id="83" name="Rectangle 69">
              <a:extLst>
                <a:ext uri="{FF2B5EF4-FFF2-40B4-BE49-F238E27FC236}">
                  <a16:creationId xmlns:a16="http://schemas.microsoft.com/office/drawing/2014/main" id="{6FA9A550-EA23-BA4D-B020-83C9EEAD7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8" y="4694"/>
              <a:ext cx="25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en-US" altLang="zh-CN" sz="900" b="1">
                  <a:latin typeface="Times New Roman" panose="02020603050405020304" pitchFamily="18" charset="0"/>
                </a:rPr>
                <a:t>N</a:t>
              </a:r>
              <a:endParaRPr lang="en-US" altLang="zh-CN" b="1" u="sng"/>
            </a:p>
          </p:txBody>
        </p:sp>
        <p:sp>
          <p:nvSpPr>
            <p:cNvPr id="84" name="Line 70">
              <a:extLst>
                <a:ext uri="{FF2B5EF4-FFF2-40B4-BE49-F238E27FC236}">
                  <a16:creationId xmlns:a16="http://schemas.microsoft.com/office/drawing/2014/main" id="{C548C3EF-9DBB-B546-9239-C385F9B7CB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0" y="3472"/>
              <a:ext cx="837" cy="3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1">
              <a:extLst>
                <a:ext uri="{FF2B5EF4-FFF2-40B4-BE49-F238E27FC236}">
                  <a16:creationId xmlns:a16="http://schemas.microsoft.com/office/drawing/2014/main" id="{DBB022FA-B2AD-2948-B14F-DF1B2AF36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9" y="3472"/>
              <a:ext cx="168" cy="3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AutoShape 72">
              <a:extLst>
                <a:ext uri="{FF2B5EF4-FFF2-40B4-BE49-F238E27FC236}">
                  <a16:creationId xmlns:a16="http://schemas.microsoft.com/office/drawing/2014/main" id="{5AA74479-C562-2842-8B0D-D4A07901E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" y="4523"/>
              <a:ext cx="731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属于</a:t>
              </a:r>
            </a:p>
          </p:txBody>
        </p:sp>
        <p:sp>
          <p:nvSpPr>
            <p:cNvPr id="87" name="AutoShape 73">
              <a:extLst>
                <a:ext uri="{FF2B5EF4-FFF2-40B4-BE49-F238E27FC236}">
                  <a16:creationId xmlns:a16="http://schemas.microsoft.com/office/drawing/2014/main" id="{68390D63-F057-BD41-BADF-39FB1D175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8" y="1262"/>
              <a:ext cx="848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所属</a:t>
              </a:r>
            </a:p>
          </p:txBody>
        </p:sp>
        <p:sp>
          <p:nvSpPr>
            <p:cNvPr id="88" name="Rectangle 74">
              <a:extLst>
                <a:ext uri="{FF2B5EF4-FFF2-40B4-BE49-F238E27FC236}">
                  <a16:creationId xmlns:a16="http://schemas.microsoft.com/office/drawing/2014/main" id="{448DE2AC-7477-204A-99E1-CAE840385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" y="3018"/>
              <a:ext cx="669" cy="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225"/>
                </a:spcBef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教科书</a:t>
              </a:r>
            </a:p>
          </p:txBody>
        </p:sp>
        <p:sp>
          <p:nvSpPr>
            <p:cNvPr id="89" name="Rectangle 75">
              <a:extLst>
                <a:ext uri="{FF2B5EF4-FFF2-40B4-BE49-F238E27FC236}">
                  <a16:creationId xmlns:a16="http://schemas.microsoft.com/office/drawing/2014/main" id="{A30FA7A6-E5BE-F04F-A609-158D5A2B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3018"/>
              <a:ext cx="669" cy="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225"/>
                </a:spcBef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专业</a:t>
              </a:r>
            </a:p>
          </p:txBody>
        </p:sp>
        <p:sp>
          <p:nvSpPr>
            <p:cNvPr id="90" name="AutoShape 76">
              <a:extLst>
                <a:ext uri="{FF2B5EF4-FFF2-40B4-BE49-F238E27FC236}">
                  <a16:creationId xmlns:a16="http://schemas.microsoft.com/office/drawing/2014/main" id="{6554FBC2-44A7-304D-A4DF-9C232863E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2824"/>
              <a:ext cx="788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订购</a:t>
              </a:r>
            </a:p>
          </p:txBody>
        </p:sp>
        <p:sp>
          <p:nvSpPr>
            <p:cNvPr id="91" name="Rectangle 77">
              <a:extLst>
                <a:ext uri="{FF2B5EF4-FFF2-40B4-BE49-F238E27FC236}">
                  <a16:creationId xmlns:a16="http://schemas.microsoft.com/office/drawing/2014/main" id="{E0082A05-1540-EA4B-9273-426B646C3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3" y="3018"/>
              <a:ext cx="669" cy="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225"/>
                </a:spcBef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课程</a:t>
              </a:r>
            </a:p>
          </p:txBody>
        </p:sp>
        <p:sp>
          <p:nvSpPr>
            <p:cNvPr id="92" name="AutoShape 78">
              <a:extLst>
                <a:ext uri="{FF2B5EF4-FFF2-40B4-BE49-F238E27FC236}">
                  <a16:creationId xmlns:a16="http://schemas.microsoft.com/office/drawing/2014/main" id="{871AA700-F903-254C-8C9F-09FE4209B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" y="2824"/>
              <a:ext cx="760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开课</a:t>
              </a:r>
            </a:p>
          </p:txBody>
        </p:sp>
        <p:sp>
          <p:nvSpPr>
            <p:cNvPr id="93" name="Rectangle 79">
              <a:extLst>
                <a:ext uri="{FF2B5EF4-FFF2-40B4-BE49-F238E27FC236}">
                  <a16:creationId xmlns:a16="http://schemas.microsoft.com/office/drawing/2014/main" id="{CAFBE385-2626-5F48-AD9D-CAD095C98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3" y="3018"/>
              <a:ext cx="669" cy="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225"/>
                </a:spcBef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教师</a:t>
              </a:r>
            </a:p>
          </p:txBody>
        </p:sp>
        <p:sp>
          <p:nvSpPr>
            <p:cNvPr id="94" name="Rectangle 80">
              <a:extLst>
                <a:ext uri="{FF2B5EF4-FFF2-40B4-BE49-F238E27FC236}">
                  <a16:creationId xmlns:a16="http://schemas.microsoft.com/office/drawing/2014/main" id="{15453B17-6AEF-0542-A34B-2974BF589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3" y="4751"/>
              <a:ext cx="669" cy="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225"/>
                </a:spcBef>
              </a:pPr>
              <a:r>
                <a:rPr lang="zh-CN" altLang="en-US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学生</a:t>
              </a:r>
            </a:p>
          </p:txBody>
        </p:sp>
        <p:sp>
          <p:nvSpPr>
            <p:cNvPr id="95" name="AutoShape 81">
              <a:extLst>
                <a:ext uri="{FF2B5EF4-FFF2-40B4-BE49-F238E27FC236}">
                  <a16:creationId xmlns:a16="http://schemas.microsoft.com/office/drawing/2014/main" id="{BA3F8615-48C1-3648-AF6D-7F0B0024C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8" y="2824"/>
              <a:ext cx="788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教学</a:t>
              </a:r>
            </a:p>
          </p:txBody>
        </p:sp>
        <p:sp>
          <p:nvSpPr>
            <p:cNvPr id="96" name="AutoShape 82">
              <a:extLst>
                <a:ext uri="{FF2B5EF4-FFF2-40B4-BE49-F238E27FC236}">
                  <a16:creationId xmlns:a16="http://schemas.microsoft.com/office/drawing/2014/main" id="{98DD6EE3-A2CE-924F-86AD-8A5B25064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" y="3686"/>
              <a:ext cx="731" cy="846"/>
            </a:xfrm>
            <a:prstGeom prst="flowChartDecision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880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选修</a:t>
              </a:r>
            </a:p>
          </p:txBody>
        </p:sp>
        <p:sp>
          <p:nvSpPr>
            <p:cNvPr id="97" name="Oval 83">
              <a:extLst>
                <a:ext uri="{FF2B5EF4-FFF2-40B4-BE49-F238E27FC236}">
                  <a16:creationId xmlns:a16="http://schemas.microsoft.com/office/drawing/2014/main" id="{1F684258-230E-584D-81A0-EFE54C4E1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3803"/>
              <a:ext cx="773" cy="49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专业名</a:t>
              </a:r>
            </a:p>
          </p:txBody>
        </p:sp>
        <p:sp>
          <p:nvSpPr>
            <p:cNvPr id="98" name="Oval 84">
              <a:extLst>
                <a:ext uri="{FF2B5EF4-FFF2-40B4-BE49-F238E27FC236}">
                  <a16:creationId xmlns:a16="http://schemas.microsoft.com/office/drawing/2014/main" id="{5A72C78E-23D3-7B44-97CC-71E9E851C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3803"/>
              <a:ext cx="773" cy="49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专业号</a:t>
              </a:r>
              <a:endParaRPr lang="zh-CN" altLang="en-US" sz="1600" b="1" u="sng"/>
            </a:p>
          </p:txBody>
        </p:sp>
        <p:sp>
          <p:nvSpPr>
            <p:cNvPr id="99" name="Oval 85">
              <a:extLst>
                <a:ext uri="{FF2B5EF4-FFF2-40B4-BE49-F238E27FC236}">
                  <a16:creationId xmlns:a16="http://schemas.microsoft.com/office/drawing/2014/main" id="{047F6502-D240-A342-8FB8-FFF1DDD99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" y="5600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 b="1">
                  <a:latin typeface="Times New Roman" panose="02020603050405020304" pitchFamily="18" charset="0"/>
                </a:rPr>
                <a:t>学号</a:t>
              </a:r>
            </a:p>
          </p:txBody>
        </p:sp>
        <p:sp>
          <p:nvSpPr>
            <p:cNvPr id="100" name="Oval 86">
              <a:extLst>
                <a:ext uri="{FF2B5EF4-FFF2-40B4-BE49-F238E27FC236}">
                  <a16:creationId xmlns:a16="http://schemas.microsoft.com/office/drawing/2014/main" id="{4FD90D14-8964-444D-888B-DC055ABC9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6" y="5600"/>
              <a:ext cx="624" cy="442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姓名</a:t>
              </a:r>
            </a:p>
          </p:txBody>
        </p:sp>
        <p:sp>
          <p:nvSpPr>
            <p:cNvPr id="101" name="Oval 87">
              <a:extLst>
                <a:ext uri="{FF2B5EF4-FFF2-40B4-BE49-F238E27FC236}">
                  <a16:creationId xmlns:a16="http://schemas.microsoft.com/office/drawing/2014/main" id="{F3B9D168-E362-4344-AB1D-B8E551B16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" y="5600"/>
              <a:ext cx="624" cy="442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性别</a:t>
              </a:r>
            </a:p>
          </p:txBody>
        </p:sp>
        <p:sp>
          <p:nvSpPr>
            <p:cNvPr id="102" name="Oval 88">
              <a:extLst>
                <a:ext uri="{FF2B5EF4-FFF2-40B4-BE49-F238E27FC236}">
                  <a16:creationId xmlns:a16="http://schemas.microsoft.com/office/drawing/2014/main" id="{FD677E9D-E8DA-3B40-9B9C-271C6A34F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6" y="5600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年龄</a:t>
              </a:r>
              <a:endParaRPr lang="zh-CN" altLang="en-US" sz="1600" b="1" u="sng"/>
            </a:p>
          </p:txBody>
        </p:sp>
        <p:sp>
          <p:nvSpPr>
            <p:cNvPr id="103" name="Oval 89">
              <a:extLst>
                <a:ext uri="{FF2B5EF4-FFF2-40B4-BE49-F238E27FC236}">
                  <a16:creationId xmlns:a16="http://schemas.microsoft.com/office/drawing/2014/main" id="{A2C946F6-BC34-2742-A97C-2B69B4A4C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8" y="2175"/>
              <a:ext cx="900" cy="49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职工号</a:t>
              </a:r>
            </a:p>
          </p:txBody>
        </p:sp>
        <p:sp>
          <p:nvSpPr>
            <p:cNvPr id="104" name="Oval 90">
              <a:extLst>
                <a:ext uri="{FF2B5EF4-FFF2-40B4-BE49-F238E27FC236}">
                  <a16:creationId xmlns:a16="http://schemas.microsoft.com/office/drawing/2014/main" id="{3455AB44-57DD-D34B-8C09-DEEAF7065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0" y="2860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姓名</a:t>
              </a:r>
            </a:p>
          </p:txBody>
        </p:sp>
        <p:sp>
          <p:nvSpPr>
            <p:cNvPr id="105" name="Oval 91">
              <a:extLst>
                <a:ext uri="{FF2B5EF4-FFF2-40B4-BE49-F238E27FC236}">
                  <a16:creationId xmlns:a16="http://schemas.microsoft.com/office/drawing/2014/main" id="{BFDF445C-4AA6-1D4B-BCD6-B52A8A736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0" y="3548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性别</a:t>
              </a:r>
            </a:p>
          </p:txBody>
        </p:sp>
        <p:sp>
          <p:nvSpPr>
            <p:cNvPr id="106" name="Oval 92">
              <a:extLst>
                <a:ext uri="{FF2B5EF4-FFF2-40B4-BE49-F238E27FC236}">
                  <a16:creationId xmlns:a16="http://schemas.microsoft.com/office/drawing/2014/main" id="{F5E5E3B5-4A80-3242-8634-1AAC7C794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0" y="4230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民族</a:t>
              </a:r>
            </a:p>
          </p:txBody>
        </p:sp>
        <p:sp>
          <p:nvSpPr>
            <p:cNvPr id="107" name="Oval 93">
              <a:extLst>
                <a:ext uri="{FF2B5EF4-FFF2-40B4-BE49-F238E27FC236}">
                  <a16:creationId xmlns:a16="http://schemas.microsoft.com/office/drawing/2014/main" id="{67BFEF8C-D92D-D448-8424-51A9E94F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5" y="2175"/>
              <a:ext cx="818" cy="49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课程号</a:t>
              </a:r>
            </a:p>
          </p:txBody>
        </p:sp>
        <p:sp>
          <p:nvSpPr>
            <p:cNvPr id="108" name="Oval 94">
              <a:extLst>
                <a:ext uri="{FF2B5EF4-FFF2-40B4-BE49-F238E27FC236}">
                  <a16:creationId xmlns:a16="http://schemas.microsoft.com/office/drawing/2014/main" id="{42CDE077-3353-254E-A890-1294F196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1" y="2161"/>
              <a:ext cx="818" cy="49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课程名</a:t>
              </a:r>
            </a:p>
          </p:txBody>
        </p:sp>
        <p:sp>
          <p:nvSpPr>
            <p:cNvPr id="109" name="Oval 95">
              <a:extLst>
                <a:ext uri="{FF2B5EF4-FFF2-40B4-BE49-F238E27FC236}">
                  <a16:creationId xmlns:a16="http://schemas.microsoft.com/office/drawing/2014/main" id="{68C986C2-511D-E34D-8E3E-F701DB043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8" y="2161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学分</a:t>
              </a:r>
            </a:p>
          </p:txBody>
        </p:sp>
        <p:sp>
          <p:nvSpPr>
            <p:cNvPr id="110" name="Oval 96">
              <a:extLst>
                <a:ext uri="{FF2B5EF4-FFF2-40B4-BE49-F238E27FC236}">
                  <a16:creationId xmlns:a16="http://schemas.microsoft.com/office/drawing/2014/main" id="{A37D0A5D-F706-864A-BB37-B180EADE3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4" y="3873"/>
              <a:ext cx="624" cy="442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800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成绩</a:t>
              </a:r>
            </a:p>
          </p:txBody>
        </p:sp>
        <p:sp>
          <p:nvSpPr>
            <p:cNvPr id="111" name="Oval 97">
              <a:extLst>
                <a:ext uri="{FF2B5EF4-FFF2-40B4-BE49-F238E27FC236}">
                  <a16:creationId xmlns:a16="http://schemas.microsoft.com/office/drawing/2014/main" id="{D93398E0-7AC1-BB4E-BA64-EDB589890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3739"/>
              <a:ext cx="612" cy="431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书号</a:t>
              </a:r>
            </a:p>
          </p:txBody>
        </p:sp>
        <p:sp>
          <p:nvSpPr>
            <p:cNvPr id="112" name="Oval 98">
              <a:extLst>
                <a:ext uri="{FF2B5EF4-FFF2-40B4-BE49-F238E27FC236}">
                  <a16:creationId xmlns:a16="http://schemas.microsoft.com/office/drawing/2014/main" id="{6B1777F0-9EA8-0847-BB0C-D34D6E27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3739"/>
              <a:ext cx="637" cy="442"/>
            </a:xfrm>
            <a:prstGeom prst="ellipse">
              <a:avLst/>
            </a:prstGeom>
            <a:solidFill>
              <a:srgbClr val="FFFFFF"/>
            </a:solidFill>
            <a:ln w="6350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书名</a:t>
              </a:r>
            </a:p>
          </p:txBody>
        </p:sp>
        <p:sp>
          <p:nvSpPr>
            <p:cNvPr id="113" name="Oval 99">
              <a:extLst>
                <a:ext uri="{FF2B5EF4-FFF2-40B4-BE49-F238E27FC236}">
                  <a16:creationId xmlns:a16="http://schemas.microsoft.com/office/drawing/2014/main" id="{AB24F6B7-BC09-0743-BF06-30348B277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1" y="3739"/>
              <a:ext cx="773" cy="497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225"/>
                </a:spcBef>
              </a:pPr>
              <a:r>
                <a:rPr lang="zh-CN" altLang="en-US" sz="1600" b="1">
                  <a:latin typeface="Times New Roman" panose="02020603050405020304" pitchFamily="18" charset="0"/>
                </a:rPr>
                <a:t>出版社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5150905"/>
      </p:ext>
    </p:extLst>
  </p:cSld>
  <p:clrMapOvr>
    <a:masterClrMapping/>
  </p:clrMapOvr>
  <p:transition spd="slow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2.3.2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 数据流图（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DFD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796117"/>
            <a:ext cx="7402272" cy="37161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主要作用是指明系统中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数据是如何流动和变换的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，以及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描述使数据流进行变换的功能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，在数据流图中出现的每个功能的描述，则写在加工规格说明中，它们一起构成软件的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功能模型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是从数据传递和加工角度，以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图形方式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来表达系统的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逻辑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功能、数据在系统内部的逻辑流向和逻辑变换过程，是结构化系统分析方法的主要表达工具的一种图示方法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800" dirty="0"/>
              <a:t>是用来描绘软件系统</a:t>
            </a:r>
            <a:r>
              <a:rPr lang="zh-CN" altLang="en-US" sz="1800" dirty="0">
                <a:highlight>
                  <a:srgbClr val="FFFF00"/>
                </a:highlight>
              </a:rPr>
              <a:t>逻辑模型的图形工具</a:t>
            </a:r>
            <a:r>
              <a:rPr lang="zh-CN" altLang="en-US" sz="1800" dirty="0"/>
              <a:t>，它描绘信息和数据从输入到输出的过程中所经历的一系列变换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D7F337F-383C-5842-9485-470DA8FC0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pic>
        <p:nvPicPr>
          <p:cNvPr id="8" name="Picture 4" descr="E:\fdoc\teach\教案\软件工程_研究生同等学历\软件工程_研究生同等学历.part01\download\211.101.171.24\courses\GD\jsj\GD_jsj_024y\images\images\chapter02\2_6.gif">
            <a:extLst>
              <a:ext uri="{FF2B5EF4-FFF2-40B4-BE49-F238E27FC236}">
                <a16:creationId xmlns:a16="http://schemas.microsoft.com/office/drawing/2014/main" id="{44685D7B-4B38-754B-A457-CA2CEBE41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54" y="476194"/>
            <a:ext cx="3659727" cy="226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0858786"/>
      </p:ext>
    </p:extLst>
  </p:cSld>
  <p:clrMapOvr>
    <a:masterClrMapping/>
  </p:clrMapOvr>
  <p:transition spd="slow"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数据流图的定义：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230679"/>
            <a:ext cx="7402272" cy="426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数据流图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：描绘系统的逻辑模型，只描绘数据流在系统中流动和处理的情况，是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逻辑系统的图形表示</a:t>
            </a:r>
            <a:endParaRPr lang="en-US" altLang="zh-CN" sz="21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有了数据流图，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软件设计师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可以自顶而下地分析系统的信息流程、在图上确定需要计算机处理的部分、向数据库设计过渡、根据数据流向确定存取方式、能够确定一个处理过程。而在测试过程中，数据流图可以方便、直接地帮助程序员查找到错误的发生位置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0878758"/>
      </p:ext>
    </p:extLst>
  </p:cSld>
  <p:clrMapOvr>
    <a:masterClrMapping/>
  </p:clrMapOvr>
  <p:transition spd="slow">
    <p:wip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数据流图的定义：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230679"/>
            <a:ext cx="7402272" cy="426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按照软件内部数据传递、变换的关系，自顶向下逐层分解，找到满足功能要求的所有可实现的软件。这种方法以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分层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的形式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反映结构关系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，清楚地表达和容易理解了整个系统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设计数据流图只需考虑系统必须完成的基本逻辑功能，完全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不需要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考虑如何具体的实现这些功能</a:t>
            </a: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8363490"/>
      </p:ext>
    </p:extLst>
  </p:cSld>
  <p:clrMapOvr>
    <a:masterClrMapping/>
  </p:clrMapOvr>
  <p:transition spd="slow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65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EABCC1F3-B534-B045-93EF-86F9C406D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53" y="3398701"/>
            <a:ext cx="1112838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71BBF16A-D42B-9043-B492-D3C020B55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394" y="3695664"/>
            <a:ext cx="8159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57DEEC8B-01EB-5C49-9C87-E7E773B11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699" y="3429000"/>
            <a:ext cx="1112838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2597DA55-44C5-394B-9213-AA5D69ABD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982" y="3504128"/>
            <a:ext cx="1260475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</a:p>
          <a:p>
            <a:pPr marL="0" lvl="1" indent="0">
              <a:lnSpc>
                <a:spcPct val="145000"/>
              </a:lnSpc>
              <a:spcBef>
                <a:spcPts val="600"/>
              </a:spcBef>
              <a:buNone/>
            </a:pPr>
            <a:endParaRPr lang="en-US" altLang="zh-CN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16F2C0-DD40-F74D-9A86-524E69A4A4A5}"/>
              </a:ext>
            </a:extLst>
          </p:cNvPr>
          <p:cNvGrpSpPr/>
          <p:nvPr/>
        </p:nvGrpSpPr>
        <p:grpSpPr>
          <a:xfrm>
            <a:off x="2852921" y="4756589"/>
            <a:ext cx="959005" cy="959005"/>
            <a:chOff x="2852921" y="4756589"/>
            <a:chExt cx="959005" cy="95900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DCBECA9-3905-F249-B762-0FA0E8746F4C}"/>
                </a:ext>
              </a:extLst>
            </p:cNvPr>
            <p:cNvSpPr/>
            <p:nvPr/>
          </p:nvSpPr>
          <p:spPr>
            <a:xfrm>
              <a:off x="2852921" y="4756589"/>
              <a:ext cx="959005" cy="959005"/>
            </a:xfrm>
            <a:prstGeom prst="ellipse">
              <a:avLst/>
            </a:prstGeom>
            <a:noFill/>
            <a:ln>
              <a:solidFill>
                <a:srgbClr val="0432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DF72D5A-C154-2542-BFC9-8F50EFFE2521}"/>
                </a:ext>
              </a:extLst>
            </p:cNvPr>
            <p:cNvSpPr txBox="1"/>
            <p:nvPr/>
          </p:nvSpPr>
          <p:spPr>
            <a:xfrm>
              <a:off x="2932313" y="4954738"/>
              <a:ext cx="8002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600" dirty="0"/>
                <a:t>处理</a:t>
              </a:r>
              <a:endParaRPr kumimoji="1" lang="en-US" altLang="zh-CN" sz="1600" dirty="0"/>
            </a:p>
            <a:p>
              <a:pPr algn="ctr"/>
              <a:r>
                <a:rPr kumimoji="1" lang="zh-CN" altLang="en-US" sz="1600" dirty="0"/>
                <a:t>或加工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C2CED7F1-509D-844B-9CAA-A193839FA2D2}"/>
              </a:ext>
            </a:extLst>
          </p:cNvPr>
          <p:cNvSpPr txBox="1"/>
          <p:nvPr/>
        </p:nvSpPr>
        <p:spPr>
          <a:xfrm>
            <a:off x="1008238" y="6105261"/>
            <a:ext cx="1476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（实线箭头线）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48B5F8-292D-A344-BBCB-9707696619DF}"/>
              </a:ext>
            </a:extLst>
          </p:cNvPr>
          <p:cNvSpPr txBox="1"/>
          <p:nvPr/>
        </p:nvSpPr>
        <p:spPr>
          <a:xfrm>
            <a:off x="2484387" y="6101953"/>
            <a:ext cx="1728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（圆角矩形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圆形）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1933A2-A152-1447-B15E-E8569B7B1905}"/>
              </a:ext>
            </a:extLst>
          </p:cNvPr>
          <p:cNvSpPr txBox="1"/>
          <p:nvPr/>
        </p:nvSpPr>
        <p:spPr>
          <a:xfrm>
            <a:off x="4390856" y="6101953"/>
            <a:ext cx="1728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（开口矩形）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C4F9F3-001E-EF43-B402-C3A8BE59B1BD}"/>
              </a:ext>
            </a:extLst>
          </p:cNvPr>
          <p:cNvSpPr txBox="1"/>
          <p:nvPr/>
        </p:nvSpPr>
        <p:spPr>
          <a:xfrm>
            <a:off x="6201509" y="6076662"/>
            <a:ext cx="1728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（矩形）</a:t>
            </a:r>
          </a:p>
        </p:txBody>
      </p:sp>
    </p:spTree>
    <p:extLst>
      <p:ext uri="{BB962C8B-B14F-4D97-AF65-F5344CB8AC3E}">
        <p14:creationId xmlns:p14="http://schemas.microsoft.com/office/powerpoint/2010/main" val="1939046287"/>
      </p:ext>
    </p:extLst>
  </p:cSld>
  <p:clrMapOvr>
    <a:masterClrMapping/>
  </p:clrMapOvr>
  <p:transition spd="slow">
    <p:wip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1828606" y="2764938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数据流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：表示被加工数据及其流向</a:t>
            </a: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 indent="0">
              <a:lnSpc>
                <a:spcPct val="145000"/>
              </a:lnSpc>
              <a:spcBef>
                <a:spcPts val="600"/>
              </a:spcBef>
              <a:buNone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  <a:endParaRPr lang="zh-CN" altLang="en-US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3457255"/>
            <a:ext cx="7402272" cy="26967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数据流实际上是一个具有某种实际意义的数据集合，可以由一个或几个数据项组成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可能是一个单据、一个报表、一个计算结果，也可能是一条消息等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数据流通常用名词命名</a:t>
            </a: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94EF290C-A73C-F443-B484-6A92AC402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35" y="2725996"/>
            <a:ext cx="8159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4130195"/>
      </p:ext>
    </p:extLst>
  </p:cSld>
  <p:clrMapOvr>
    <a:masterClrMapping/>
  </p:clrMapOvr>
  <p:transition spd="slow"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1905640" y="2764938"/>
            <a:ext cx="6504870" cy="170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39950" indent="-21304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数据处理或加工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表示对数据流的一种变换。它接受输入数据流，并把输入数据流变换成输出数据流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 indent="0">
              <a:lnSpc>
                <a:spcPct val="145000"/>
              </a:lnSpc>
              <a:spcBef>
                <a:spcPts val="600"/>
              </a:spcBef>
              <a:buNone/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  <a:endParaRPr lang="zh-CN" altLang="en-US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472145"/>
            <a:ext cx="7402272" cy="14667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每个数据处理或加工都应取一个名字表示它的含义，并规定一个编号用来标识该数据处理在层次分解中的位置。名字中必须包含一个动词，例如“计算”、“打印”等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EF445D30-7CAA-DD4A-B659-7DB31E5F5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33" y="2871418"/>
            <a:ext cx="1017610" cy="9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532889"/>
      </p:ext>
    </p:extLst>
  </p:cSld>
  <p:clrMapOvr>
    <a:masterClrMapping/>
  </p:clrMapOvr>
  <p:transition spd="slow">
    <p:wip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68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2117103" y="2764938"/>
            <a:ext cx="6293407" cy="1516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81125" indent="-137160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CC6600"/>
                </a:solidFill>
                <a:latin typeface="微软雅黑" panose="020B0503020204020204" pitchFamily="34" charset="-122"/>
              </a:rPr>
              <a:t>数据存储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：表示某处理在对数据流加工过程中需要访问的数据集合，相对于数据流而言是处于静态的。它有时是几个处理的联系桥梁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 indent="0">
              <a:lnSpc>
                <a:spcPct val="145000"/>
              </a:lnSpc>
              <a:spcBef>
                <a:spcPts val="600"/>
              </a:spcBef>
              <a:buNone/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  <a:endParaRPr lang="zh-CN" altLang="en-US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939981"/>
            <a:ext cx="7402272" cy="1513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数据存储通常用名词命名和数字编号。在数据流图中，不应该有只读不写或只写不读的数据存储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5" name="Picture 9">
            <a:extLst>
              <a:ext uri="{FF2B5EF4-FFF2-40B4-BE49-F238E27FC236}">
                <a16:creationId xmlns:a16="http://schemas.microsoft.com/office/drawing/2014/main" id="{17EC8BA4-6254-FE46-AC0C-26AE39A8D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31" y="2967760"/>
            <a:ext cx="1260475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31824"/>
      </p:ext>
    </p:extLst>
  </p:cSld>
  <p:clrMapOvr>
    <a:masterClrMapping/>
  </p:clrMapOvr>
  <p:transition spd="slow">
    <p:wip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69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2059320" y="2764938"/>
            <a:ext cx="6351189" cy="1516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4788" indent="-1465263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CC6600"/>
                </a:solidFill>
                <a:latin typeface="微软雅黑" panose="020B0503020204020204" pitchFamily="34" charset="-122"/>
              </a:rPr>
              <a:t>外部实体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：表示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信息的生产者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（有时称数据源点）或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sym typeface="微软雅黑" panose="020B0503020204020204" pitchFamily="34" charset="-122"/>
              </a:rPr>
              <a:t>信息的消费者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（有时称数据终点）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1" indent="0">
              <a:lnSpc>
                <a:spcPct val="145000"/>
              </a:lnSpc>
              <a:spcBef>
                <a:spcPts val="600"/>
              </a:spcBef>
              <a:buNone/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  <a:endParaRPr lang="zh-CN" altLang="en-US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4277338"/>
            <a:ext cx="7402272" cy="1910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</a:rPr>
              <a:t>在数据流图中，既要有数据源点，也要有数据终点。没有只产生不消费或只消费不产生数据流的数据流图。外部实体可以是人员、岗位或部门，其名称通常用名词命名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A516A1D3-D4FA-2D47-84A8-EE8C8E518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00" y="2785294"/>
            <a:ext cx="1112838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9947577"/>
      </p:ext>
    </p:extLst>
  </p:cSld>
  <p:clrMapOvr>
    <a:masterClrMapping/>
  </p:clrMapOvr>
  <p:transition spd="slow">
    <p:wip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70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数据流图的组成元素：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2764938"/>
            <a:ext cx="7402272" cy="1516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4788" indent="-1465263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CC6600"/>
                </a:solidFill>
                <a:latin typeface="微软雅黑" panose="020B0503020204020204" pitchFamily="34" charset="-122"/>
              </a:rPr>
              <a:t>其它辅助符号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F7A90117-5AE8-C54E-A427-4F7093EB5B2F}"/>
              </a:ext>
            </a:extLst>
          </p:cNvPr>
          <p:cNvSpPr txBox="1">
            <a:spLocks noChangeArrowheads="1"/>
          </p:cNvSpPr>
          <p:nvPr/>
        </p:nvSpPr>
        <p:spPr>
          <a:xfrm>
            <a:off x="1008238" y="1929970"/>
            <a:ext cx="7402272" cy="646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数据流、数据处理或加工、数据存储、外部实体 </a:t>
            </a:r>
            <a:endParaRPr lang="zh-CN" altLang="en-US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CC66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Oval 88">
            <a:extLst>
              <a:ext uri="{FF2B5EF4-FFF2-40B4-BE49-F238E27FC236}">
                <a16:creationId xmlns:a16="http://schemas.microsoft.com/office/drawing/2014/main" id="{545B2009-C6D2-A444-ABE5-55F27E8D5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063" y="4363087"/>
            <a:ext cx="388508" cy="2957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70" name="Line 89">
            <a:extLst>
              <a:ext uri="{FF2B5EF4-FFF2-40B4-BE49-F238E27FC236}">
                <a16:creationId xmlns:a16="http://schemas.microsoft.com/office/drawing/2014/main" id="{5FA4F089-1CE0-FE4F-94E3-023A59293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7689" y="4275957"/>
            <a:ext cx="347918" cy="13069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90">
            <a:extLst>
              <a:ext uri="{FF2B5EF4-FFF2-40B4-BE49-F238E27FC236}">
                <a16:creationId xmlns:a16="http://schemas.microsoft.com/office/drawing/2014/main" id="{C2B30058-A582-254F-B19F-01D11D458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37689" y="4625795"/>
            <a:ext cx="360964" cy="2178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91">
            <a:extLst>
              <a:ext uri="{FF2B5EF4-FFF2-40B4-BE49-F238E27FC236}">
                <a16:creationId xmlns:a16="http://schemas.microsoft.com/office/drawing/2014/main" id="{3A6FB859-280E-A348-885C-28A6FEB52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9618" y="4493781"/>
            <a:ext cx="279784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Text Box 92">
            <a:extLst>
              <a:ext uri="{FF2B5EF4-FFF2-40B4-BE49-F238E27FC236}">
                <a16:creationId xmlns:a16="http://schemas.microsoft.com/office/drawing/2014/main" id="{14019AE6-2094-1549-9F0A-BF353190A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823" y="4001368"/>
            <a:ext cx="375461" cy="480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74" name="Text Box 93">
            <a:extLst>
              <a:ext uri="{FF2B5EF4-FFF2-40B4-BE49-F238E27FC236}">
                <a16:creationId xmlns:a16="http://schemas.microsoft.com/office/drawing/2014/main" id="{B4FC2CCA-6C98-9E4F-B783-AAC441BB5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957" y="4631075"/>
            <a:ext cx="495783" cy="480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75" name="Text Box 94">
            <a:extLst>
              <a:ext uri="{FF2B5EF4-FFF2-40B4-BE49-F238E27FC236}">
                <a16:creationId xmlns:a16="http://schemas.microsoft.com/office/drawing/2014/main" id="{FD7AECFF-C01D-FE43-94FB-47354C65F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893" y="4259083"/>
            <a:ext cx="331971" cy="5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</a:p>
        </p:txBody>
      </p:sp>
      <p:sp>
        <p:nvSpPr>
          <p:cNvPr id="76" name="Text Box 95">
            <a:extLst>
              <a:ext uri="{FF2B5EF4-FFF2-40B4-BE49-F238E27FC236}">
                <a16:creationId xmlns:a16="http://schemas.microsoft.com/office/drawing/2014/main" id="{8AFB9AD7-E2FE-A34F-999F-32B31498C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531" y="4139983"/>
            <a:ext cx="215999" cy="480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61" name="Oval 97">
            <a:extLst>
              <a:ext uri="{FF2B5EF4-FFF2-40B4-BE49-F238E27FC236}">
                <a16:creationId xmlns:a16="http://schemas.microsoft.com/office/drawing/2014/main" id="{228FACA6-9F23-494C-A403-91694783D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9977" y="4370993"/>
            <a:ext cx="374650" cy="31643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62" name="Line 98">
            <a:extLst>
              <a:ext uri="{FF2B5EF4-FFF2-40B4-BE49-F238E27FC236}">
                <a16:creationId xmlns:a16="http://schemas.microsoft.com/office/drawing/2014/main" id="{CCBD3E8C-69B2-5841-BA98-568D6DDFF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040" y="4604225"/>
            <a:ext cx="334963" cy="1418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99">
            <a:extLst>
              <a:ext uri="{FF2B5EF4-FFF2-40B4-BE49-F238E27FC236}">
                <a16:creationId xmlns:a16="http://schemas.microsoft.com/office/drawing/2014/main" id="{DC63EC4D-2BDE-5E4D-88E7-901A861E55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9540" y="4211413"/>
            <a:ext cx="322263" cy="19913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100">
            <a:extLst>
              <a:ext uri="{FF2B5EF4-FFF2-40B4-BE49-F238E27FC236}">
                <a16:creationId xmlns:a16="http://schemas.microsoft.com/office/drawing/2014/main" id="{A8582A85-2736-8742-B8F5-DFA5042FE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902" y="4546940"/>
            <a:ext cx="3476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Text Box 101">
            <a:extLst>
              <a:ext uri="{FF2B5EF4-FFF2-40B4-BE49-F238E27FC236}">
                <a16:creationId xmlns:a16="http://schemas.microsoft.com/office/drawing/2014/main" id="{E6960833-395D-0B4D-B2DF-7ECEB003A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902" y="4171859"/>
            <a:ext cx="360363" cy="48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66" name="Text Box 102">
            <a:extLst>
              <a:ext uri="{FF2B5EF4-FFF2-40B4-BE49-F238E27FC236}">
                <a16:creationId xmlns:a16="http://schemas.microsoft.com/office/drawing/2014/main" id="{05454793-39A9-4746-9795-14FE15BFA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002" y="4042286"/>
            <a:ext cx="477838" cy="48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67" name="Text Box 103">
            <a:extLst>
              <a:ext uri="{FF2B5EF4-FFF2-40B4-BE49-F238E27FC236}">
                <a16:creationId xmlns:a16="http://schemas.microsoft.com/office/drawing/2014/main" id="{DE0B9DDB-BBD7-5A4D-830A-61FA23CC2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7819" y="4212510"/>
            <a:ext cx="320675" cy="5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</a:p>
        </p:txBody>
      </p:sp>
      <p:sp>
        <p:nvSpPr>
          <p:cNvPr id="68" name="Text Box 104">
            <a:extLst>
              <a:ext uri="{FF2B5EF4-FFF2-40B4-BE49-F238E27FC236}">
                <a16:creationId xmlns:a16="http://schemas.microsoft.com/office/drawing/2014/main" id="{74A171CD-8810-5B46-BA65-5D63ADBD4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5877" y="4620592"/>
            <a:ext cx="307975" cy="48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53" name="Oval 106">
            <a:extLst>
              <a:ext uri="{FF2B5EF4-FFF2-40B4-BE49-F238E27FC236}">
                <a16:creationId xmlns:a16="http://schemas.microsoft.com/office/drawing/2014/main" id="{5E50ADE5-43E7-1845-B8D2-9C7593CF3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654" y="3322142"/>
            <a:ext cx="333842" cy="28352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54" name="Line 107">
            <a:extLst>
              <a:ext uri="{FF2B5EF4-FFF2-40B4-BE49-F238E27FC236}">
                <a16:creationId xmlns:a16="http://schemas.microsoft.com/office/drawing/2014/main" id="{024DC96C-5486-CD4C-8C01-FAE8EDEA1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30" y="3238243"/>
            <a:ext cx="298701" cy="1258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108">
            <a:extLst>
              <a:ext uri="{FF2B5EF4-FFF2-40B4-BE49-F238E27FC236}">
                <a16:creationId xmlns:a16="http://schemas.microsoft.com/office/drawing/2014/main" id="{C4365A45-A7D7-C943-8F4E-5F7C3CAE2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3930" y="3573841"/>
            <a:ext cx="309513" cy="2097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109">
            <a:extLst>
              <a:ext uri="{FF2B5EF4-FFF2-40B4-BE49-F238E27FC236}">
                <a16:creationId xmlns:a16="http://schemas.microsoft.com/office/drawing/2014/main" id="{72A1F307-173D-144B-88A3-1F6A746D2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3496" y="3447992"/>
            <a:ext cx="2405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Text Box 110">
            <a:extLst>
              <a:ext uri="{FF2B5EF4-FFF2-40B4-BE49-F238E27FC236}">
                <a16:creationId xmlns:a16="http://schemas.microsoft.com/office/drawing/2014/main" id="{25B1D49A-5D54-D44F-BE09-CCE1FDE95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048" y="2905538"/>
            <a:ext cx="321678" cy="48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58" name="Text Box 111">
            <a:extLst>
              <a:ext uri="{FF2B5EF4-FFF2-40B4-BE49-F238E27FC236}">
                <a16:creationId xmlns:a16="http://schemas.microsoft.com/office/drawing/2014/main" id="{220638B6-F5DB-024F-BEEC-D85210DD9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1792" y="3643275"/>
            <a:ext cx="427101" cy="48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59" name="Text Box 112">
            <a:extLst>
              <a:ext uri="{FF2B5EF4-FFF2-40B4-BE49-F238E27FC236}">
                <a16:creationId xmlns:a16="http://schemas.microsoft.com/office/drawing/2014/main" id="{F1DAA43D-744C-BC45-A280-E98857D39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131" y="3174595"/>
            <a:ext cx="285185" cy="52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sp>
        <p:nvSpPr>
          <p:cNvPr id="60" name="Text Box 113">
            <a:extLst>
              <a:ext uri="{FF2B5EF4-FFF2-40B4-BE49-F238E27FC236}">
                <a16:creationId xmlns:a16="http://schemas.microsoft.com/office/drawing/2014/main" id="{4AD10AB7-6A57-6845-A89A-0A1D9E2E9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893" y="3048746"/>
            <a:ext cx="274372" cy="48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45" name="Oval 115">
            <a:extLst>
              <a:ext uri="{FF2B5EF4-FFF2-40B4-BE49-F238E27FC236}">
                <a16:creationId xmlns:a16="http://schemas.microsoft.com/office/drawing/2014/main" id="{643476A2-F695-A146-8377-A066B44D6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2705" y="3284359"/>
            <a:ext cx="374650" cy="29597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46" name="Line 116">
            <a:extLst>
              <a:ext uri="{FF2B5EF4-FFF2-40B4-BE49-F238E27FC236}">
                <a16:creationId xmlns:a16="http://schemas.microsoft.com/office/drawing/2014/main" id="{DC5A3596-0EA3-E74E-9D59-53629F80D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5768" y="3503952"/>
            <a:ext cx="334963" cy="130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117">
            <a:extLst>
              <a:ext uri="{FF2B5EF4-FFF2-40B4-BE49-F238E27FC236}">
                <a16:creationId xmlns:a16="http://schemas.microsoft.com/office/drawing/2014/main" id="{7E7796F6-CCD1-6B4A-8B95-16173C30B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00368" y="3119324"/>
            <a:ext cx="322263" cy="1868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118">
            <a:extLst>
              <a:ext uri="{FF2B5EF4-FFF2-40B4-BE49-F238E27FC236}">
                <a16:creationId xmlns:a16="http://schemas.microsoft.com/office/drawing/2014/main" id="{81431FF9-9355-3C43-BFFA-A7EC8B2C1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6630" y="3449395"/>
            <a:ext cx="3476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119">
            <a:extLst>
              <a:ext uri="{FF2B5EF4-FFF2-40B4-BE49-F238E27FC236}">
                <a16:creationId xmlns:a16="http://schemas.microsoft.com/office/drawing/2014/main" id="{2B88C170-2046-0C4E-BD91-DE638C765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6630" y="3094773"/>
            <a:ext cx="360363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50" name="Text Box 120">
            <a:extLst>
              <a:ext uri="{FF2B5EF4-FFF2-40B4-BE49-F238E27FC236}">
                <a16:creationId xmlns:a16="http://schemas.microsoft.com/office/drawing/2014/main" id="{24DDD237-252C-744A-A28D-709A25E49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268" y="2943377"/>
            <a:ext cx="476250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51" name="Text Box 121">
            <a:extLst>
              <a:ext uri="{FF2B5EF4-FFF2-40B4-BE49-F238E27FC236}">
                <a16:creationId xmlns:a16="http://schemas.microsoft.com/office/drawing/2014/main" id="{9A824559-7984-3945-ADBA-9FD0D564B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55" y="3109687"/>
            <a:ext cx="322263" cy="52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sp>
        <p:nvSpPr>
          <p:cNvPr id="52" name="Text Box 122">
            <a:extLst>
              <a:ext uri="{FF2B5EF4-FFF2-40B4-BE49-F238E27FC236}">
                <a16:creationId xmlns:a16="http://schemas.microsoft.com/office/drawing/2014/main" id="{AAE14812-338C-F84B-88C3-733AC2522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7655" y="3503952"/>
            <a:ext cx="307975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29" name="Oval 124">
            <a:extLst>
              <a:ext uri="{FF2B5EF4-FFF2-40B4-BE49-F238E27FC236}">
                <a16:creationId xmlns:a16="http://schemas.microsoft.com/office/drawing/2014/main" id="{20443E42-5612-8E43-87D4-2F829987A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285" y="4836511"/>
            <a:ext cx="396875" cy="325979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30" name="Line 125">
            <a:extLst>
              <a:ext uri="{FF2B5EF4-FFF2-40B4-BE49-F238E27FC236}">
                <a16:creationId xmlns:a16="http://schemas.microsoft.com/office/drawing/2014/main" id="{16BDF578-CE13-D14B-91F3-D6C02D95E1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1672" y="4741036"/>
            <a:ext cx="357188" cy="1445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26">
            <a:extLst>
              <a:ext uri="{FF2B5EF4-FFF2-40B4-BE49-F238E27FC236}">
                <a16:creationId xmlns:a16="http://schemas.microsoft.com/office/drawing/2014/main" id="{4CB20537-1F5C-5948-9D59-31D88502CB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1035" y="5127028"/>
            <a:ext cx="390525" cy="2236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27">
            <a:extLst>
              <a:ext uri="{FF2B5EF4-FFF2-40B4-BE49-F238E27FC236}">
                <a16:creationId xmlns:a16="http://schemas.microsoft.com/office/drawing/2014/main" id="{7E98AF18-E402-7A4D-BC10-98EB43892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7797" y="4981088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128">
            <a:extLst>
              <a:ext uri="{FF2B5EF4-FFF2-40B4-BE49-F238E27FC236}">
                <a16:creationId xmlns:a16="http://schemas.microsoft.com/office/drawing/2014/main" id="{1C5EAE37-DDE8-C243-B9BA-150C1EBDA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1522" y="4438244"/>
            <a:ext cx="382588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34" name="Text Box 129">
            <a:extLst>
              <a:ext uri="{FF2B5EF4-FFF2-40B4-BE49-F238E27FC236}">
                <a16:creationId xmlns:a16="http://schemas.microsoft.com/office/drawing/2014/main" id="{1E5D73DA-2AB4-4645-B1B1-DD30814C8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260" y="5137940"/>
            <a:ext cx="506413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35" name="Text Box 130">
            <a:extLst>
              <a:ext uri="{FF2B5EF4-FFF2-40B4-BE49-F238E27FC236}">
                <a16:creationId xmlns:a16="http://schemas.microsoft.com/office/drawing/2014/main" id="{789DA611-017A-8343-BEC2-A38716C56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8122" y="4644197"/>
            <a:ext cx="330200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37" name="Oval 133">
            <a:extLst>
              <a:ext uri="{FF2B5EF4-FFF2-40B4-BE49-F238E27FC236}">
                <a16:creationId xmlns:a16="http://schemas.microsoft.com/office/drawing/2014/main" id="{09F80545-9280-E64D-AB43-8D0CED506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6660" y="4833783"/>
            <a:ext cx="385763" cy="30961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16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</a:p>
        </p:txBody>
      </p:sp>
      <p:sp>
        <p:nvSpPr>
          <p:cNvPr id="38" name="Line 134">
            <a:extLst>
              <a:ext uri="{FF2B5EF4-FFF2-40B4-BE49-F238E27FC236}">
                <a16:creationId xmlns:a16="http://schemas.microsoft.com/office/drawing/2014/main" id="{FB54A977-2FA8-A047-B3B5-4BB86423B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1785" y="5062924"/>
            <a:ext cx="330200" cy="13775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135">
            <a:extLst>
              <a:ext uri="{FF2B5EF4-FFF2-40B4-BE49-F238E27FC236}">
                <a16:creationId xmlns:a16="http://schemas.microsoft.com/office/drawing/2014/main" id="{5CE6612E-3067-F74A-B001-9A5BD4B0E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7335" y="4661928"/>
            <a:ext cx="317500" cy="19504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136">
            <a:extLst>
              <a:ext uri="{FF2B5EF4-FFF2-40B4-BE49-F238E27FC236}">
                <a16:creationId xmlns:a16="http://schemas.microsoft.com/office/drawing/2014/main" id="{BBD31246-7B7F-D04D-A495-7CB44D6EA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5347" y="5005639"/>
            <a:ext cx="341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137">
            <a:extLst>
              <a:ext uri="{FF2B5EF4-FFF2-40B4-BE49-F238E27FC236}">
                <a16:creationId xmlns:a16="http://schemas.microsoft.com/office/drawing/2014/main" id="{952BD526-E201-3747-BCC8-6F89C9FE1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347" y="4657836"/>
            <a:ext cx="354013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42" name="Text Box 138">
            <a:extLst>
              <a:ext uri="{FF2B5EF4-FFF2-40B4-BE49-F238E27FC236}">
                <a16:creationId xmlns:a16="http://schemas.microsoft.com/office/drawing/2014/main" id="{C0A37B9A-1320-0F41-A53C-3F360FCD5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3510" y="4495529"/>
            <a:ext cx="466725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43" name="Text Box 139">
            <a:extLst>
              <a:ext uri="{FF2B5EF4-FFF2-40B4-BE49-F238E27FC236}">
                <a16:creationId xmlns:a16="http://schemas.microsoft.com/office/drawing/2014/main" id="{4DAC2E05-CF43-A14F-9816-2143FA9BA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210" y="5030189"/>
            <a:ext cx="303213" cy="480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1600"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21" name="Text Box 142">
            <a:extLst>
              <a:ext uri="{FF2B5EF4-FFF2-40B4-BE49-F238E27FC236}">
                <a16:creationId xmlns:a16="http://schemas.microsoft.com/office/drawing/2014/main" id="{3F19FD1B-2D50-C649-8AEB-9F78E37AA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749" y="5960210"/>
            <a:ext cx="728663" cy="386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  <a:spcBef>
                <a:spcPct val="25000"/>
              </a:spcBef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* 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sp>
        <p:nvSpPr>
          <p:cNvPr id="22" name="Text Box 147">
            <a:extLst>
              <a:ext uri="{FF2B5EF4-FFF2-40B4-BE49-F238E27FC236}">
                <a16:creationId xmlns:a16="http://schemas.microsoft.com/office/drawing/2014/main" id="{FEA772C0-259B-1640-B372-18F2D7D2D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099" y="5910290"/>
            <a:ext cx="762000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</a:p>
        </p:txBody>
      </p:sp>
      <p:sp>
        <p:nvSpPr>
          <p:cNvPr id="23" name="Text Box 148">
            <a:extLst>
              <a:ext uri="{FF2B5EF4-FFF2-40B4-BE49-F238E27FC236}">
                <a16:creationId xmlns:a16="http://schemas.microsoft.com/office/drawing/2014/main" id="{C0B25757-1877-9C43-BC91-7C74EDED3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698" y="5910290"/>
            <a:ext cx="1123949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互斥（非）</a:t>
            </a:r>
          </a:p>
        </p:txBody>
      </p:sp>
      <p:sp>
        <p:nvSpPr>
          <p:cNvPr id="24" name="Oval 157">
            <a:extLst>
              <a:ext uri="{FF2B5EF4-FFF2-40B4-BE49-F238E27FC236}">
                <a16:creationId xmlns:a16="http://schemas.microsoft.com/office/drawing/2014/main" id="{88B2C2D8-9630-F145-90FD-5D17CEF1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511" y="6025438"/>
            <a:ext cx="239709" cy="24091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sp>
        <p:nvSpPr>
          <p:cNvPr id="136" name="Oval 157">
            <a:extLst>
              <a:ext uri="{FF2B5EF4-FFF2-40B4-BE49-F238E27FC236}">
                <a16:creationId xmlns:a16="http://schemas.microsoft.com/office/drawing/2014/main" id="{EA4364EF-1907-1A41-8305-051E42DD0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018" y="4913139"/>
            <a:ext cx="239709" cy="240918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  <p:sp>
        <p:nvSpPr>
          <p:cNvPr id="137" name="Oval 157">
            <a:extLst>
              <a:ext uri="{FF2B5EF4-FFF2-40B4-BE49-F238E27FC236}">
                <a16:creationId xmlns:a16="http://schemas.microsoft.com/office/drawing/2014/main" id="{9BA3F578-14ED-9F44-B2CC-696A5296A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5265" y="4822006"/>
            <a:ext cx="239709" cy="240918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1197862"/>
      </p:ext>
    </p:extLst>
  </p:cSld>
  <p:clrMapOvr>
    <a:masterClrMapping/>
  </p:clrMapOvr>
  <p:transition spd="slow">
    <p:wip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71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数据流图的表示方式：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2"/>
            <a:ext cx="7402272" cy="3272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对于不同的问题，数据流图可以有不同的画法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一般情况下，应该遵守“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由外向里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”的原则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409575" indent="-4000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即先确定系统的边界或范围，再考虑系统的内部，先画数据处理的输入和输出，再画数据处理内部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5448703"/>
      </p:ext>
    </p:extLst>
  </p:cSld>
  <p:clrMapOvr>
    <a:masterClrMapping/>
  </p:clrMapOvr>
  <p:transition spd="slow">
    <p:wip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具体实行步骤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1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）识别系统的输入和输出，画出顶层图</a:t>
            </a:r>
            <a:endParaRPr lang="en-US" altLang="zh-CN" sz="2100" dirty="0">
              <a:solidFill>
                <a:srgbClr val="CC66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即确定系统的边界。在系统分析初期，系统的功能需求等还不很明确，为了防止遗漏，不妨先将范围定得大一些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系统边界确定后，那么越过边界的数据流就是系统的输入或输出，将输入与输出用加工符号连接起来，并加上输入数据来源和输出数据去向就形成了顶层图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0783593"/>
      </p:ext>
    </p:extLst>
  </p:cSld>
  <p:clrMapOvr>
    <a:masterClrMapping/>
  </p:clrMapOvr>
  <p:transition spd="slow">
    <p:wip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具体实行步骤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1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）分析系统内部的数据流、加工与文件，画出一级细化图</a:t>
            </a:r>
            <a:endParaRPr lang="en-US" altLang="zh-CN" sz="2100" dirty="0">
              <a:solidFill>
                <a:srgbClr val="CC66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从系统输入端到输出端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也可反之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)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，逐步用数据流和加工连接起来，当数据流的组成或值发生变化时，就在该处画一个“加工”符号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画数据流图时，还应同时画上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，以反映各种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数据的存贮处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，并表明数据流是流入还是流出文件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6562677"/>
      </p:ext>
    </p:extLst>
  </p:cSld>
  <p:clrMapOvr>
    <a:masterClrMapping/>
  </p:clrMapOvr>
  <p:transition spd="slow">
    <p:wip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具体实行步骤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1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CC6600"/>
                </a:solidFill>
                <a:latin typeface="微软雅黑" panose="020B0503020204020204" pitchFamily="34" charset="-122"/>
              </a:rPr>
              <a:t>）加工的进一步分解，画出二级细化图</a:t>
            </a:r>
            <a:endParaRPr lang="en-US" altLang="zh-CN" sz="2100" dirty="0">
              <a:solidFill>
                <a:srgbClr val="CC66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同样运用“由外向里”方式对每个加工进行分析，如果在该加工内部还有数据流，则可将该加工分成若干个子加工，并用一些数据流把子加工联接起来，即可画出二级细化图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二级细化图可在一级细化图的基础上画出，也可单独画出该加工的二级细化图，二级细化图也称为该加工的子图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0857624"/>
      </p:ext>
    </p:extLst>
  </p:cSld>
  <p:clrMapOvr>
    <a:masterClrMapping/>
  </p:clrMapOvr>
  <p:transition spd="slow">
    <p:wip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3E2819-C2E2-5A44-A441-02553135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B8352-4891-804B-8CB8-EAFD4E57CF78}" type="datetime1">
              <a:rPr lang="zh-CN" altLang="en-US" smtClean="0"/>
              <a:t>2025/2/24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4F0D4-F482-E74D-9A23-BBC70C68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75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8A1F39-93A5-B24B-A648-6239C730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重庆大学大数据与软件学院</a:t>
            </a:r>
            <a:endParaRPr lang="zh-CN" altLang="en-US" dirty="0"/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46002217-7C07-F24D-AD35-953D17962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900916"/>
            <a:ext cx="9144000" cy="3603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27FB814C-EE7F-8F43-8C7F-B90F43B235A3}"/>
              </a:ext>
            </a:extLst>
          </p:cNvPr>
          <p:cNvGrpSpPr>
            <a:grpSpLocks/>
          </p:cNvGrpSpPr>
          <p:nvPr/>
        </p:nvGrpSpPr>
        <p:grpSpPr bwMode="auto">
          <a:xfrm>
            <a:off x="3581399" y="1832653"/>
            <a:ext cx="2362200" cy="533400"/>
            <a:chOff x="2160" y="336"/>
            <a:chExt cx="1488" cy="448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135C75DB-873D-0148-972A-77D11883D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"/>
              <a:ext cx="1488" cy="448"/>
            </a:xfrm>
            <a:prstGeom prst="parallelogram">
              <a:avLst>
                <a:gd name="adj" fmla="val 58202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18A38543-159E-BD45-B0D1-C97E14553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448"/>
              <a:ext cx="267" cy="22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D04ECFC5-2E31-C340-ADFF-338ADCD9D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9" y="560"/>
              <a:ext cx="3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9BAA9495-C74C-A840-A6C4-C71E4A48D5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729346">
              <a:off x="2961" y="448"/>
              <a:ext cx="34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FA02D996-BE54-C64C-8DF3-26827319B8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79650">
              <a:off x="2961" y="635"/>
              <a:ext cx="3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" name="Line 8">
            <a:extLst>
              <a:ext uri="{FF2B5EF4-FFF2-40B4-BE49-F238E27FC236}">
                <a16:creationId xmlns:a16="http://schemas.microsoft.com/office/drawing/2014/main" id="{AA2F7748-8905-3D49-9B8D-B02FF6F204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799" y="2404153"/>
            <a:ext cx="8382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83737363-438E-CD49-8B9F-DA61EE7E1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1999" y="2404153"/>
            <a:ext cx="10668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4F36A4F4-51AA-8E4D-809A-168F98AAD402}"/>
              </a:ext>
            </a:extLst>
          </p:cNvPr>
          <p:cNvGrpSpPr>
            <a:grpSpLocks/>
          </p:cNvGrpSpPr>
          <p:nvPr/>
        </p:nvGrpSpPr>
        <p:grpSpPr bwMode="auto">
          <a:xfrm>
            <a:off x="3276599" y="2747053"/>
            <a:ext cx="2438400" cy="685800"/>
            <a:chOff x="1584" y="1056"/>
            <a:chExt cx="1968" cy="720"/>
          </a:xfrm>
        </p:grpSpPr>
        <p:sp>
          <p:nvSpPr>
            <p:cNvPr id="17" name="AutoShape 11">
              <a:extLst>
                <a:ext uri="{FF2B5EF4-FFF2-40B4-BE49-F238E27FC236}">
                  <a16:creationId xmlns:a16="http://schemas.microsoft.com/office/drawing/2014/main" id="{676AA4C1-FBA5-2145-8594-1195D555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056"/>
              <a:ext cx="1968" cy="720"/>
            </a:xfrm>
            <a:prstGeom prst="parallelogram">
              <a:avLst>
                <a:gd name="adj" fmla="val 47897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251F7F7-FE57-ED41-970A-33183185C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39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3">
              <a:extLst>
                <a:ext uri="{FF2B5EF4-FFF2-40B4-BE49-F238E27FC236}">
                  <a16:creationId xmlns:a16="http://schemas.microsoft.com/office/drawing/2014/main" id="{98767724-BAE3-E341-920E-9865A4F6A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248"/>
              <a:ext cx="336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en-US">
                  <a:latin typeface="Times New Roman" panose="02020603050405020304" pitchFamily="18" charset="0"/>
                </a:rPr>
                <a:t>1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628B61E1-DE16-314E-99E5-ECD3C7417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200"/>
              <a:ext cx="24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5">
              <a:extLst>
                <a:ext uri="{FF2B5EF4-FFF2-40B4-BE49-F238E27FC236}">
                  <a16:creationId xmlns:a16="http://schemas.microsoft.com/office/drawing/2014/main" id="{7B7EB8A9-273B-B949-8EA3-8708915D3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056"/>
              <a:ext cx="336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69450268-D7B8-E640-939C-F24E33326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20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A917925D-CF6E-7A4A-A917-60296D581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440"/>
              <a:ext cx="24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8E4EB610-900B-7049-B049-9A0C64BE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392"/>
              <a:ext cx="336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9B9204EC-F908-C34E-8ABB-E5FA60F1A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584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" name="Line 20">
            <a:extLst>
              <a:ext uri="{FF2B5EF4-FFF2-40B4-BE49-F238E27FC236}">
                <a16:creationId xmlns:a16="http://schemas.microsoft.com/office/drawing/2014/main" id="{F3A8FFC5-9D2F-C54B-B33B-F0B1CD38E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599" y="3490003"/>
            <a:ext cx="1524000" cy="2857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1">
            <a:extLst>
              <a:ext uri="{FF2B5EF4-FFF2-40B4-BE49-F238E27FC236}">
                <a16:creationId xmlns:a16="http://schemas.microsoft.com/office/drawing/2014/main" id="{99DC83E8-686F-874B-B917-47ED19055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599" y="3490003"/>
            <a:ext cx="533400" cy="2857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" name="Group 22">
            <a:extLst>
              <a:ext uri="{FF2B5EF4-FFF2-40B4-BE49-F238E27FC236}">
                <a16:creationId xmlns:a16="http://schemas.microsoft.com/office/drawing/2014/main" id="{8A6800C5-503E-7941-A4BC-77CEB13673FF}"/>
              </a:ext>
            </a:extLst>
          </p:cNvPr>
          <p:cNvGrpSpPr>
            <a:grpSpLocks/>
          </p:cNvGrpSpPr>
          <p:nvPr/>
        </p:nvGrpSpPr>
        <p:grpSpPr bwMode="auto">
          <a:xfrm>
            <a:off x="1676399" y="3775753"/>
            <a:ext cx="2514600" cy="742950"/>
            <a:chOff x="288" y="2208"/>
            <a:chExt cx="1968" cy="720"/>
          </a:xfrm>
        </p:grpSpPr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0CA36A81-A624-1749-BF1E-0B6233C38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208"/>
              <a:ext cx="1968" cy="720"/>
            </a:xfrm>
            <a:prstGeom prst="parallelogram">
              <a:avLst>
                <a:gd name="adj" fmla="val 47897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F561B3B2-15AF-9B44-8E56-09466F043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736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25">
              <a:extLst>
                <a:ext uri="{FF2B5EF4-FFF2-40B4-BE49-F238E27FC236}">
                  <a16:creationId xmlns:a16="http://schemas.microsoft.com/office/drawing/2014/main" id="{95836528-35B2-0141-B6D0-220197185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92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1.1</a:t>
              </a:r>
            </a:p>
          </p:txBody>
        </p:sp>
        <p:sp>
          <p:nvSpPr>
            <p:cNvPr id="32" name="Line 26">
              <a:extLst>
                <a:ext uri="{FF2B5EF4-FFF2-40B4-BE49-F238E27FC236}">
                  <a16:creationId xmlns:a16="http://schemas.microsoft.com/office/drawing/2014/main" id="{577A752C-9FE2-A146-A8FF-34E40A92F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73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00BAE652-8C60-1641-B540-CC128B685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4" y="2448"/>
              <a:ext cx="9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28">
              <a:extLst>
                <a:ext uri="{FF2B5EF4-FFF2-40B4-BE49-F238E27FC236}">
                  <a16:creationId xmlns:a16="http://schemas.microsoft.com/office/drawing/2014/main" id="{200C3763-93A7-A549-9A3C-F659CA906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208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1.2</a:t>
              </a:r>
            </a:p>
          </p:txBody>
        </p:sp>
        <p:sp>
          <p:nvSpPr>
            <p:cNvPr id="35" name="Oval 29">
              <a:extLst>
                <a:ext uri="{FF2B5EF4-FFF2-40B4-BE49-F238E27FC236}">
                  <a16:creationId xmlns:a16="http://schemas.microsoft.com/office/drawing/2014/main" id="{AE0C47D7-749A-CE46-A943-C5FA276E8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592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1.4</a:t>
              </a:r>
            </a:p>
          </p:txBody>
        </p:sp>
        <p:sp>
          <p:nvSpPr>
            <p:cNvPr id="36" name="Line 30">
              <a:extLst>
                <a:ext uri="{FF2B5EF4-FFF2-40B4-BE49-F238E27FC236}">
                  <a16:creationId xmlns:a16="http://schemas.microsoft.com/office/drawing/2014/main" id="{DF41A91B-2BFD-DD45-BAFE-1BE7C6A76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35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1">
              <a:extLst>
                <a:ext uri="{FF2B5EF4-FFF2-40B4-BE49-F238E27FC236}">
                  <a16:creationId xmlns:a16="http://schemas.microsoft.com/office/drawing/2014/main" id="{82C2E149-0A0A-784C-BC57-B40806D89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08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1.3</a:t>
              </a:r>
            </a:p>
          </p:txBody>
        </p:sp>
        <p:sp>
          <p:nvSpPr>
            <p:cNvPr id="38" name="Line 32">
              <a:extLst>
                <a:ext uri="{FF2B5EF4-FFF2-40B4-BE49-F238E27FC236}">
                  <a16:creationId xmlns:a16="http://schemas.microsoft.com/office/drawing/2014/main" id="{888062C2-CC97-F744-90B4-9FD25C55A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35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3">
              <a:extLst>
                <a:ext uri="{FF2B5EF4-FFF2-40B4-BE49-F238E27FC236}">
                  <a16:creationId xmlns:a16="http://schemas.microsoft.com/office/drawing/2014/main" id="{FEFA69FB-C409-5D49-8649-AD5DEE0A4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3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" name="Line 34">
            <a:extLst>
              <a:ext uri="{FF2B5EF4-FFF2-40B4-BE49-F238E27FC236}">
                <a16:creationId xmlns:a16="http://schemas.microsoft.com/office/drawing/2014/main" id="{C55C9073-535D-084D-A9B4-8341BA1F3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1999" y="3490003"/>
            <a:ext cx="457200" cy="2857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35">
            <a:extLst>
              <a:ext uri="{FF2B5EF4-FFF2-40B4-BE49-F238E27FC236}">
                <a16:creationId xmlns:a16="http://schemas.microsoft.com/office/drawing/2014/main" id="{73C9F0F1-02AB-4D40-B06D-54C9FA646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1999" y="3490003"/>
            <a:ext cx="2590800" cy="2857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" name="Group 36">
            <a:extLst>
              <a:ext uri="{FF2B5EF4-FFF2-40B4-BE49-F238E27FC236}">
                <a16:creationId xmlns:a16="http://schemas.microsoft.com/office/drawing/2014/main" id="{EE14DC71-1E81-7243-AF47-B2A03C364D4B}"/>
              </a:ext>
            </a:extLst>
          </p:cNvPr>
          <p:cNvGrpSpPr>
            <a:grpSpLocks/>
          </p:cNvGrpSpPr>
          <p:nvPr/>
        </p:nvGrpSpPr>
        <p:grpSpPr bwMode="auto">
          <a:xfrm>
            <a:off x="4571999" y="3775753"/>
            <a:ext cx="2590800" cy="742950"/>
            <a:chOff x="2880" y="2160"/>
            <a:chExt cx="1968" cy="720"/>
          </a:xfrm>
        </p:grpSpPr>
        <p:sp>
          <p:nvSpPr>
            <p:cNvPr id="43" name="AutoShape 37">
              <a:extLst>
                <a:ext uri="{FF2B5EF4-FFF2-40B4-BE49-F238E27FC236}">
                  <a16:creationId xmlns:a16="http://schemas.microsoft.com/office/drawing/2014/main" id="{343D54C0-8DFC-9541-A4E4-698368524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160"/>
              <a:ext cx="1968" cy="720"/>
            </a:xfrm>
            <a:prstGeom prst="parallelogram">
              <a:avLst>
                <a:gd name="adj" fmla="val 47897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44" name="Line 38">
              <a:extLst>
                <a:ext uri="{FF2B5EF4-FFF2-40B4-BE49-F238E27FC236}">
                  <a16:creationId xmlns:a16="http://schemas.microsoft.com/office/drawing/2014/main" id="{7C7422AB-8F9D-E240-A338-BAD62150C4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640"/>
              <a:ext cx="384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39">
              <a:extLst>
                <a:ext uri="{FF2B5EF4-FFF2-40B4-BE49-F238E27FC236}">
                  <a16:creationId xmlns:a16="http://schemas.microsoft.com/office/drawing/2014/main" id="{D67B24E2-3E57-A04A-9336-8411E4053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448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2.1</a:t>
              </a:r>
            </a:p>
          </p:txBody>
        </p:sp>
        <p:sp>
          <p:nvSpPr>
            <p:cNvPr id="46" name="Line 40">
              <a:extLst>
                <a:ext uri="{FF2B5EF4-FFF2-40B4-BE49-F238E27FC236}">
                  <a16:creationId xmlns:a16="http://schemas.microsoft.com/office/drawing/2014/main" id="{2AA9C67F-3608-B146-818C-400187999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448"/>
              <a:ext cx="33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Oval 41">
              <a:extLst>
                <a:ext uri="{FF2B5EF4-FFF2-40B4-BE49-F238E27FC236}">
                  <a16:creationId xmlns:a16="http://schemas.microsoft.com/office/drawing/2014/main" id="{4556ECAF-3D15-4E46-8A79-D4A64211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25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600">
                  <a:latin typeface="Times New Roman" panose="02020603050405020304" pitchFamily="18" charset="0"/>
                </a:rPr>
                <a:t>2.2</a:t>
              </a:r>
            </a:p>
          </p:txBody>
        </p:sp>
        <p:sp>
          <p:nvSpPr>
            <p:cNvPr id="48" name="Line 42">
              <a:extLst>
                <a:ext uri="{FF2B5EF4-FFF2-40B4-BE49-F238E27FC236}">
                  <a16:creationId xmlns:a16="http://schemas.microsoft.com/office/drawing/2014/main" id="{78292E8D-C924-974F-AF74-241889034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256"/>
              <a:ext cx="28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" name="Line 43">
            <a:extLst>
              <a:ext uri="{FF2B5EF4-FFF2-40B4-BE49-F238E27FC236}">
                <a16:creationId xmlns:a16="http://schemas.microsoft.com/office/drawing/2014/main" id="{2B706B23-C518-5342-8C33-CB213DFE62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2999" y="4575853"/>
            <a:ext cx="15240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44">
            <a:extLst>
              <a:ext uri="{FF2B5EF4-FFF2-40B4-BE49-F238E27FC236}">
                <a16:creationId xmlns:a16="http://schemas.microsoft.com/office/drawing/2014/main" id="{2374A9DA-CE8B-FF4A-9A27-D9EC26BCF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6999" y="4575853"/>
            <a:ext cx="5334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8" name="Group 52">
            <a:extLst>
              <a:ext uri="{FF2B5EF4-FFF2-40B4-BE49-F238E27FC236}">
                <a16:creationId xmlns:a16="http://schemas.microsoft.com/office/drawing/2014/main" id="{CB9E4465-E92D-6441-B91C-F95409B1C2DF}"/>
              </a:ext>
            </a:extLst>
          </p:cNvPr>
          <p:cNvGrpSpPr>
            <a:grpSpLocks/>
          </p:cNvGrpSpPr>
          <p:nvPr/>
        </p:nvGrpSpPr>
        <p:grpSpPr bwMode="auto">
          <a:xfrm>
            <a:off x="3124199" y="4918753"/>
            <a:ext cx="2514600" cy="742950"/>
            <a:chOff x="2016" y="3312"/>
            <a:chExt cx="1776" cy="720"/>
          </a:xfrm>
        </p:grpSpPr>
        <p:sp>
          <p:nvSpPr>
            <p:cNvPr id="59" name="AutoShape 53">
              <a:extLst>
                <a:ext uri="{FF2B5EF4-FFF2-40B4-BE49-F238E27FC236}">
                  <a16:creationId xmlns:a16="http://schemas.microsoft.com/office/drawing/2014/main" id="{8E78D8F9-565B-DA43-86C7-8455BF82E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1776" cy="720"/>
            </a:xfrm>
            <a:prstGeom prst="parallelogram">
              <a:avLst>
                <a:gd name="adj" fmla="val 43224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60" name="Oval 54">
              <a:extLst>
                <a:ext uri="{FF2B5EF4-FFF2-40B4-BE49-F238E27FC236}">
                  <a16:creationId xmlns:a16="http://schemas.microsoft.com/office/drawing/2014/main" id="{3549D68B-3370-EB4A-A37E-C2CFFF246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360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2.1.3</a:t>
              </a:r>
            </a:p>
          </p:txBody>
        </p:sp>
        <p:sp>
          <p:nvSpPr>
            <p:cNvPr id="61" name="Oval 55">
              <a:extLst>
                <a:ext uri="{FF2B5EF4-FFF2-40B4-BE49-F238E27FC236}">
                  <a16:creationId xmlns:a16="http://schemas.microsoft.com/office/drawing/2014/main" id="{67162325-AA19-7242-BBA5-81F22796A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504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2.1.2</a:t>
              </a:r>
            </a:p>
          </p:txBody>
        </p:sp>
        <p:sp>
          <p:nvSpPr>
            <p:cNvPr id="62" name="Oval 56">
              <a:extLst>
                <a:ext uri="{FF2B5EF4-FFF2-40B4-BE49-F238E27FC236}">
                  <a16:creationId xmlns:a16="http://schemas.microsoft.com/office/drawing/2014/main" id="{290CE569-07DF-7349-8DD5-4A6DB6E94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96"/>
              <a:ext cx="336" cy="336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2.1.1</a:t>
              </a:r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E5C53ED7-8F9F-8F49-8157-627C9F9F1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936"/>
              <a:ext cx="192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C7CCF45F-66DA-FA40-A58F-F03C0E176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3744"/>
              <a:ext cx="192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12C40603-59D2-7E49-B396-DAC5A9F179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42104" flipV="1">
              <a:off x="3073" y="3544"/>
              <a:ext cx="144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B0D7034D-1DBC-3F44-AE24-376697C63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3360"/>
              <a:ext cx="144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" name="Line 61">
            <a:extLst>
              <a:ext uri="{FF2B5EF4-FFF2-40B4-BE49-F238E27FC236}">
                <a16:creationId xmlns:a16="http://schemas.microsoft.com/office/drawing/2014/main" id="{D2AD84BD-66A6-5643-A6D4-FB6542780F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399" y="4575853"/>
            <a:ext cx="16764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62">
            <a:extLst>
              <a:ext uri="{FF2B5EF4-FFF2-40B4-BE49-F238E27FC236}">
                <a16:creationId xmlns:a16="http://schemas.microsoft.com/office/drawing/2014/main" id="{F3C534E9-E2D9-D840-A828-71CD46A9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799" y="4575853"/>
            <a:ext cx="381000" cy="3429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63">
            <a:extLst>
              <a:ext uri="{FF2B5EF4-FFF2-40B4-BE49-F238E27FC236}">
                <a16:creationId xmlns:a16="http://schemas.microsoft.com/office/drawing/2014/main" id="{79BDED2A-578A-E34F-BAD3-AC42B091A0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799" y="4531403"/>
            <a:ext cx="287338" cy="3873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64">
            <a:extLst>
              <a:ext uri="{FF2B5EF4-FFF2-40B4-BE49-F238E27FC236}">
                <a16:creationId xmlns:a16="http://schemas.microsoft.com/office/drawing/2014/main" id="{E1514866-C656-0645-842A-5F15F41B8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6824" y="4531403"/>
            <a:ext cx="1730375" cy="3873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" name="Group 65">
            <a:extLst>
              <a:ext uri="{FF2B5EF4-FFF2-40B4-BE49-F238E27FC236}">
                <a16:creationId xmlns:a16="http://schemas.microsoft.com/office/drawing/2014/main" id="{5F06023A-F326-FD44-8ED3-F491492D5942}"/>
              </a:ext>
            </a:extLst>
          </p:cNvPr>
          <p:cNvGrpSpPr>
            <a:grpSpLocks/>
          </p:cNvGrpSpPr>
          <p:nvPr/>
        </p:nvGrpSpPr>
        <p:grpSpPr bwMode="auto">
          <a:xfrm>
            <a:off x="5562599" y="4918753"/>
            <a:ext cx="2514600" cy="742950"/>
            <a:chOff x="3792" y="3264"/>
            <a:chExt cx="1776" cy="720"/>
          </a:xfrm>
        </p:grpSpPr>
        <p:sp>
          <p:nvSpPr>
            <p:cNvPr id="72" name="AutoShape 66">
              <a:extLst>
                <a:ext uri="{FF2B5EF4-FFF2-40B4-BE49-F238E27FC236}">
                  <a16:creationId xmlns:a16="http://schemas.microsoft.com/office/drawing/2014/main" id="{02C8A48C-287B-DA41-B482-7BAF36039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264"/>
              <a:ext cx="1776" cy="720"/>
            </a:xfrm>
            <a:prstGeom prst="parallelogram">
              <a:avLst>
                <a:gd name="adj" fmla="val 43224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73" name="Oval 67">
              <a:extLst>
                <a:ext uri="{FF2B5EF4-FFF2-40B4-BE49-F238E27FC236}">
                  <a16:creationId xmlns:a16="http://schemas.microsoft.com/office/drawing/2014/main" id="{0B000D87-59D4-5447-AC0C-E19CDA848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696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2.2.2</a:t>
              </a:r>
            </a:p>
          </p:txBody>
        </p:sp>
        <p:sp>
          <p:nvSpPr>
            <p:cNvPr id="74" name="Oval 68">
              <a:extLst>
                <a:ext uri="{FF2B5EF4-FFF2-40B4-BE49-F238E27FC236}">
                  <a16:creationId xmlns:a16="http://schemas.microsoft.com/office/drawing/2014/main" id="{8A7C369F-2B2E-7E47-8613-DB51874BD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312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2.2.3</a:t>
              </a:r>
            </a:p>
          </p:txBody>
        </p:sp>
        <p:sp>
          <p:nvSpPr>
            <p:cNvPr id="75" name="Oval 69">
              <a:extLst>
                <a:ext uri="{FF2B5EF4-FFF2-40B4-BE49-F238E27FC236}">
                  <a16:creationId xmlns:a16="http://schemas.microsoft.com/office/drawing/2014/main" id="{08795620-6263-2C43-B48D-7874D5D80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408"/>
              <a:ext cx="288" cy="288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2.2.1</a:t>
              </a:r>
            </a:p>
          </p:txBody>
        </p:sp>
        <p:sp>
          <p:nvSpPr>
            <p:cNvPr id="76" name="Line 70">
              <a:extLst>
                <a:ext uri="{FF2B5EF4-FFF2-40B4-BE49-F238E27FC236}">
                  <a16:creationId xmlns:a16="http://schemas.microsoft.com/office/drawing/2014/main" id="{95F57B35-49AE-BF49-B3AE-64ECC3FA4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3648"/>
              <a:ext cx="24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71">
              <a:extLst>
                <a:ext uri="{FF2B5EF4-FFF2-40B4-BE49-F238E27FC236}">
                  <a16:creationId xmlns:a16="http://schemas.microsoft.com/office/drawing/2014/main" id="{669010F9-845F-3149-B705-4AA72FDA9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504"/>
              <a:ext cx="336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72">
              <a:extLst>
                <a:ext uri="{FF2B5EF4-FFF2-40B4-BE49-F238E27FC236}">
                  <a16:creationId xmlns:a16="http://schemas.microsoft.com/office/drawing/2014/main" id="{C13AD172-882E-A445-9D60-975D6AF4D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3456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73">
              <a:extLst>
                <a:ext uri="{FF2B5EF4-FFF2-40B4-BE49-F238E27FC236}">
                  <a16:creationId xmlns:a16="http://schemas.microsoft.com/office/drawing/2014/main" id="{B549E0EF-2C09-A743-9236-39A54D52F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696"/>
              <a:ext cx="19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74">
              <a:extLst>
                <a:ext uri="{FF2B5EF4-FFF2-40B4-BE49-F238E27FC236}">
                  <a16:creationId xmlns:a16="http://schemas.microsoft.com/office/drawing/2014/main" id="{F2EB3D3F-CFC8-0E45-AF9F-5CFD8B99F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3552"/>
              <a:ext cx="14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1" name="Text Box 75">
            <a:extLst>
              <a:ext uri="{FF2B5EF4-FFF2-40B4-BE49-F238E27FC236}">
                <a16:creationId xmlns:a16="http://schemas.microsoft.com/office/drawing/2014/main" id="{38332277-1639-6B4A-800C-71358046E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2" y="1758041"/>
            <a:ext cx="533400" cy="706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000" b="1">
                <a:latin typeface="隶书" pitchFamily="49" charset="-122"/>
              </a:rPr>
              <a:t>顶层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82" name="Text Box 76">
            <a:extLst>
              <a:ext uri="{FF2B5EF4-FFF2-40B4-BE49-F238E27FC236}">
                <a16:creationId xmlns:a16="http://schemas.microsoft.com/office/drawing/2014/main" id="{E81B6717-F2AB-E047-A8A5-13258F441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649" y="2893103"/>
            <a:ext cx="492125" cy="1600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000" b="1">
                <a:latin typeface="宋体" panose="02010600030101010101" pitchFamily="2" charset="-122"/>
              </a:rPr>
              <a:t>中 间 层</a:t>
            </a:r>
          </a:p>
        </p:txBody>
      </p:sp>
      <p:sp>
        <p:nvSpPr>
          <p:cNvPr id="83" name="Text Box 77">
            <a:extLst>
              <a:ext uri="{FF2B5EF4-FFF2-40B4-BE49-F238E27FC236}">
                <a16:creationId xmlns:a16="http://schemas.microsoft.com/office/drawing/2014/main" id="{CEA5AC70-A1AF-A946-B3B5-B9929AFD4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3887" y="4998128"/>
            <a:ext cx="492125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000" b="1">
                <a:latin typeface="宋体" panose="02010600030101010101" pitchFamily="2" charset="-122"/>
              </a:rPr>
              <a:t>底层   </a:t>
            </a:r>
          </a:p>
        </p:txBody>
      </p:sp>
      <p:sp>
        <p:nvSpPr>
          <p:cNvPr id="84" name="Text Box 78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764CB1D9-2998-C44A-90AE-F455D6DA3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69" y="2216148"/>
            <a:ext cx="2382838" cy="120032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b="1" dirty="0">
                <a:latin typeface="幼圆" pitchFamily="49" charset="-122"/>
                <a:ea typeface="幼圆" pitchFamily="49" charset="-122"/>
              </a:rPr>
              <a:t>先全局后局部</a:t>
            </a:r>
            <a:r>
              <a:rPr kumimoji="1" lang="en-US" altLang="zh-CN" b="1" dirty="0">
                <a:latin typeface="幼圆" pitchFamily="49" charset="-122"/>
                <a:ea typeface="幼圆" pitchFamily="49" charset="-122"/>
              </a:rPr>
              <a:t>,</a:t>
            </a:r>
          </a:p>
          <a:p>
            <a:pPr>
              <a:spcBef>
                <a:spcPct val="50000"/>
              </a:spcBef>
            </a:pPr>
            <a:r>
              <a:rPr kumimoji="1" lang="zh-CN" altLang="en-US" b="1" dirty="0">
                <a:latin typeface="幼圆" pitchFamily="49" charset="-122"/>
                <a:ea typeface="幼圆" pitchFamily="49" charset="-122"/>
              </a:rPr>
              <a:t>先整体后细节</a:t>
            </a:r>
            <a:r>
              <a:rPr kumimoji="1" lang="en-US" altLang="zh-CN" b="1" dirty="0">
                <a:latin typeface="幼圆" pitchFamily="49" charset="-122"/>
                <a:ea typeface="幼圆" pitchFamily="49" charset="-122"/>
              </a:rPr>
              <a:t>,</a:t>
            </a:r>
          </a:p>
          <a:p>
            <a:pPr>
              <a:spcBef>
                <a:spcPct val="50000"/>
              </a:spcBef>
            </a:pPr>
            <a:r>
              <a:rPr kumimoji="1" lang="zh-CN" altLang="en-US" b="1" dirty="0">
                <a:latin typeface="幼圆" pitchFamily="49" charset="-122"/>
                <a:ea typeface="幼圆" pitchFamily="49" charset="-122"/>
              </a:rPr>
              <a:t>先抽象后具体</a:t>
            </a:r>
            <a:r>
              <a:rPr kumimoji="1" lang="en-US" altLang="zh-CN" b="1" dirty="0">
                <a:latin typeface="幼圆" pitchFamily="49" charset="-122"/>
                <a:ea typeface="幼圆" pitchFamily="49" charset="-122"/>
              </a:rPr>
              <a:t>.</a:t>
            </a:r>
          </a:p>
        </p:txBody>
      </p:sp>
      <p:sp>
        <p:nvSpPr>
          <p:cNvPr id="85" name="Text Box 79">
            <a:extLst>
              <a:ext uri="{FF2B5EF4-FFF2-40B4-BE49-F238E27FC236}">
                <a16:creationId xmlns:a16="http://schemas.microsoft.com/office/drawing/2014/main" id="{DDA4E7D6-E3CD-EB40-87B4-F9D6F058A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4" y="1973941"/>
            <a:ext cx="685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0</a:t>
            </a:r>
            <a:r>
              <a:rPr kumimoji="1" lang="zh-CN" altLang="en-US" sz="2000">
                <a:latin typeface="Times New Roman" panose="02020603050405020304" pitchFamily="18" charset="0"/>
              </a:rPr>
              <a:t>图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6" name="Text Box 80">
            <a:extLst>
              <a:ext uri="{FF2B5EF4-FFF2-40B4-BE49-F238E27FC236}">
                <a16:creationId xmlns:a16="http://schemas.microsoft.com/office/drawing/2014/main" id="{4321680C-711A-B541-8F11-BA004DA89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4205966"/>
            <a:ext cx="685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1</a:t>
            </a:r>
            <a:r>
              <a:rPr kumimoji="1" lang="zh-CN" altLang="en-US" sz="2000">
                <a:latin typeface="Times New Roman" panose="02020603050405020304" pitchFamily="18" charset="0"/>
              </a:rPr>
              <a:t>图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7" name="Text Box 81">
            <a:extLst>
              <a:ext uri="{FF2B5EF4-FFF2-40B4-BE49-F238E27FC236}">
                <a16:creationId xmlns:a16="http://schemas.microsoft.com/office/drawing/2014/main" id="{DECB9865-E243-A445-A3C2-124C2EE3D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287" y="4232953"/>
            <a:ext cx="685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>
                <a:latin typeface="Times New Roman" panose="02020603050405020304" pitchFamily="18" charset="0"/>
              </a:rPr>
              <a:t>2</a:t>
            </a:r>
            <a:r>
              <a:rPr kumimoji="1" lang="zh-CN" altLang="en-US" sz="2000">
                <a:latin typeface="Times New Roman" panose="02020603050405020304" pitchFamily="18" charset="0"/>
              </a:rPr>
              <a:t>图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8" name="Text Box 82">
            <a:extLst>
              <a:ext uri="{FF2B5EF4-FFF2-40B4-BE49-F238E27FC236}">
                <a16:creationId xmlns:a16="http://schemas.microsoft.com/office/drawing/2014/main" id="{417137ED-FB9F-C748-A413-22092FE2F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4" y="5923641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</a:rPr>
              <a:t>1.1</a:t>
            </a:r>
            <a:r>
              <a:rPr kumimoji="1" lang="zh-CN" altLang="en-US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89" name="Text Box 83">
            <a:extLst>
              <a:ext uri="{FF2B5EF4-FFF2-40B4-BE49-F238E27FC236}">
                <a16:creationId xmlns:a16="http://schemas.microsoft.com/office/drawing/2014/main" id="{B74DC9D2-20FE-8E4B-8A9D-C9486CFB9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3174" y="5866491"/>
            <a:ext cx="990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</a:rPr>
              <a:t>2.1</a:t>
            </a:r>
            <a:r>
              <a:rPr kumimoji="1" lang="zh-CN" altLang="en-US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90" name="Text Box 84">
            <a:extLst>
              <a:ext uri="{FF2B5EF4-FFF2-40B4-BE49-F238E27FC236}">
                <a16:creationId xmlns:a16="http://schemas.microsoft.com/office/drawing/2014/main" id="{E2B31EC2-DBF0-684B-8DEA-CDEA8FDF2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7" y="5861728"/>
            <a:ext cx="11430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>
                <a:latin typeface="Times New Roman" panose="02020603050405020304" pitchFamily="18" charset="0"/>
              </a:rPr>
              <a:t>2.2 </a:t>
            </a:r>
            <a:r>
              <a:rPr kumimoji="1" lang="zh-CN" altLang="en-US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91" name="Line 87">
            <a:extLst>
              <a:ext uri="{FF2B5EF4-FFF2-40B4-BE49-F238E27FC236}">
                <a16:creationId xmlns:a16="http://schemas.microsoft.com/office/drawing/2014/main" id="{8DFC5EF7-40F9-814C-9E9A-74672F2125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-1" y="2621641"/>
            <a:ext cx="914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88">
            <a:extLst>
              <a:ext uri="{FF2B5EF4-FFF2-40B4-BE49-F238E27FC236}">
                <a16:creationId xmlns:a16="http://schemas.microsoft.com/office/drawing/2014/main" id="{3B720A81-7BBC-284C-8EE1-145E0CF23E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-1" y="4782228"/>
            <a:ext cx="914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Rectangle 89">
            <a:extLst>
              <a:ext uri="{FF2B5EF4-FFF2-40B4-BE49-F238E27FC236}">
                <a16:creationId xmlns:a16="http://schemas.microsoft.com/office/drawing/2014/main" id="{C495C7DD-0C61-0C4A-9E79-FC934318CA23}"/>
              </a:ext>
            </a:extLst>
          </p:cNvPr>
          <p:cNvSpPr txBox="1">
            <a:spLocks noChangeArrowheads="1"/>
          </p:cNvSpPr>
          <p:nvPr/>
        </p:nvSpPr>
        <p:spPr>
          <a:xfrm>
            <a:off x="322400" y="1664378"/>
            <a:ext cx="2390775" cy="485775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lang="zh-CN" sz="255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tx2"/>
                </a:solidFill>
              </a:rPr>
              <a:t>分层</a:t>
            </a:r>
            <a:r>
              <a:rPr lang="en-US" altLang="zh-CN" sz="2400" b="1" dirty="0">
                <a:solidFill>
                  <a:schemeClr val="tx2"/>
                </a:solidFill>
              </a:rPr>
              <a:t>DFD </a:t>
            </a:r>
            <a:r>
              <a:rPr lang="zh-CN" altLang="en-US" sz="2400" b="1" dirty="0">
                <a:solidFill>
                  <a:schemeClr val="tx2"/>
                </a:solidFill>
              </a:rPr>
              <a:t>图</a:t>
            </a:r>
          </a:p>
        </p:txBody>
      </p:sp>
      <p:sp>
        <p:nvSpPr>
          <p:cNvPr id="94" name="Rectangle 2">
            <a:extLst>
              <a:ext uri="{FF2B5EF4-FFF2-40B4-BE49-F238E27FC236}">
                <a16:creationId xmlns:a16="http://schemas.microsoft.com/office/drawing/2014/main" id="{F5784DFD-594A-9F47-8545-741603776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17507F-2D85-5B45-ABC4-4CB3FE518E95}"/>
              </a:ext>
            </a:extLst>
          </p:cNvPr>
          <p:cNvGrpSpPr/>
          <p:nvPr/>
        </p:nvGrpSpPr>
        <p:grpSpPr>
          <a:xfrm>
            <a:off x="647699" y="4879974"/>
            <a:ext cx="2514600" cy="742950"/>
            <a:chOff x="647699" y="4879974"/>
            <a:chExt cx="2514600" cy="742950"/>
          </a:xfrm>
        </p:grpSpPr>
        <p:sp>
          <p:nvSpPr>
            <p:cNvPr id="52" name="AutoShape 46">
              <a:extLst>
                <a:ext uri="{FF2B5EF4-FFF2-40B4-BE49-F238E27FC236}">
                  <a16:creationId xmlns:a16="http://schemas.microsoft.com/office/drawing/2014/main" id="{3B09351C-79AD-4341-8878-E2FEAAA28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99" y="4879974"/>
              <a:ext cx="2514600" cy="742950"/>
            </a:xfrm>
            <a:prstGeom prst="parallelogram">
              <a:avLst>
                <a:gd name="adj" fmla="val 43224"/>
              </a:avLst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Bottom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  <a:contourClr>
                <a:srgbClr val="FFFF99"/>
              </a:contourClr>
            </a:sp3d>
          </p:spPr>
          <p:txBody>
            <a:bodyPr wrap="none" anchor="ctr"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endParaRPr kumimoji="1" lang="zh-CN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53" name="Line 47">
              <a:extLst>
                <a:ext uri="{FF2B5EF4-FFF2-40B4-BE49-F238E27FC236}">
                  <a16:creationId xmlns:a16="http://schemas.microsoft.com/office/drawing/2014/main" id="{C4D6C8FC-C54F-D448-9852-6163A4EAA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648" y="5463583"/>
              <a:ext cx="271849" cy="990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48">
              <a:extLst>
                <a:ext uri="{FF2B5EF4-FFF2-40B4-BE49-F238E27FC236}">
                  <a16:creationId xmlns:a16="http://schemas.microsoft.com/office/drawing/2014/main" id="{0518DC5E-E88C-1D48-8D08-3DF08A3B2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496" y="5166403"/>
              <a:ext cx="543697" cy="396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1.1.1</a:t>
              </a:r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5A7EA2DE-767A-2041-B6C7-6A3AF1CA3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3194" y="5265463"/>
              <a:ext cx="271849" cy="495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Oval 50">
              <a:extLst>
                <a:ext uri="{FF2B5EF4-FFF2-40B4-BE49-F238E27FC236}">
                  <a16:creationId xmlns:a16="http://schemas.microsoft.com/office/drawing/2014/main" id="{3113909B-7D25-C547-8D9C-CAE1D0E4E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080" y="5017813"/>
              <a:ext cx="543697" cy="39624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1400">
                  <a:latin typeface="Times New Roman" panose="02020603050405020304" pitchFamily="18" charset="0"/>
                </a:rPr>
                <a:t>1.1.2</a:t>
              </a:r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2C2932BA-7539-3F49-BB9C-276A7794D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777" y="5067343"/>
              <a:ext cx="339811" cy="990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51">
              <a:extLst>
                <a:ext uri="{FF2B5EF4-FFF2-40B4-BE49-F238E27FC236}">
                  <a16:creationId xmlns:a16="http://schemas.microsoft.com/office/drawing/2014/main" id="{91178FB0-E06D-3A48-849D-BE1856B66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6037" y="4946101"/>
              <a:ext cx="214312" cy="2615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6" name="云形 95">
            <a:extLst>
              <a:ext uri="{FF2B5EF4-FFF2-40B4-BE49-F238E27FC236}">
                <a16:creationId xmlns:a16="http://schemas.microsoft.com/office/drawing/2014/main" id="{2BE066AE-0182-A243-8A3E-CF364D093FB5}"/>
              </a:ext>
            </a:extLst>
          </p:cNvPr>
          <p:cNvSpPr/>
          <p:nvPr/>
        </p:nvSpPr>
        <p:spPr>
          <a:xfrm>
            <a:off x="6072946" y="1264258"/>
            <a:ext cx="900282" cy="63665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97" name="云形 96">
            <a:extLst>
              <a:ext uri="{FF2B5EF4-FFF2-40B4-BE49-F238E27FC236}">
                <a16:creationId xmlns:a16="http://schemas.microsoft.com/office/drawing/2014/main" id="{98693B38-D910-3544-AE3B-FE06B25DF4F5}"/>
              </a:ext>
            </a:extLst>
          </p:cNvPr>
          <p:cNvSpPr/>
          <p:nvPr/>
        </p:nvSpPr>
        <p:spPr>
          <a:xfrm>
            <a:off x="5958553" y="2645074"/>
            <a:ext cx="900282" cy="63665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98" name="云形 97">
            <a:extLst>
              <a:ext uri="{FF2B5EF4-FFF2-40B4-BE49-F238E27FC236}">
                <a16:creationId xmlns:a16="http://schemas.microsoft.com/office/drawing/2014/main" id="{9488D130-23CE-2D4F-A261-82BE212BA213}"/>
              </a:ext>
            </a:extLst>
          </p:cNvPr>
          <p:cNvSpPr/>
          <p:nvPr/>
        </p:nvSpPr>
        <p:spPr>
          <a:xfrm>
            <a:off x="7339446" y="3457571"/>
            <a:ext cx="900282" cy="63665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99" name="云形 98">
            <a:extLst>
              <a:ext uri="{FF2B5EF4-FFF2-40B4-BE49-F238E27FC236}">
                <a16:creationId xmlns:a16="http://schemas.microsoft.com/office/drawing/2014/main" id="{943CF050-3A0D-584A-8BD4-A64B7E33BFE1}"/>
              </a:ext>
            </a:extLst>
          </p:cNvPr>
          <p:cNvSpPr/>
          <p:nvPr/>
        </p:nvSpPr>
        <p:spPr>
          <a:xfrm>
            <a:off x="8065302" y="4993650"/>
            <a:ext cx="900282" cy="63665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</p:spTree>
    <p:extLst>
      <p:ext uri="{BB962C8B-B14F-4D97-AF65-F5344CB8AC3E}">
        <p14:creationId xmlns:p14="http://schemas.microsoft.com/office/powerpoint/2010/main" val="26808121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15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500"/>
                            </p:stCondLst>
                            <p:childTnLst>
                              <p:par>
                                <p:cTn id="1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0"/>
                            </p:stCondLst>
                            <p:childTnLst>
                              <p:par>
                                <p:cTn id="12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75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uild="p" autoUpdateAnimBg="0" advAuto="0"/>
      <p:bldP spid="82" grpId="0" build="p" autoUpdateAnimBg="0" advAuto="0"/>
      <p:bldP spid="83" grpId="0" build="p" autoUpdateAnimBg="0" advAuto="0"/>
      <p:bldP spid="84" grpId="0" animBg="1" autoUpdateAnimBg="0"/>
      <p:bldP spid="85" grpId="0" animBg="1" autoUpdateAnimBg="0"/>
      <p:bldP spid="86" grpId="0" animBg="1" autoUpdateAnimBg="0"/>
      <p:bldP spid="87" grpId="0" animBg="1" autoUpdateAnimBg="0"/>
      <p:bldP spid="88" grpId="0" autoUpdateAnimBg="0"/>
      <p:bldP spid="89" grpId="0" autoUpdateAnimBg="0"/>
      <p:bldP spid="90" grpId="0" animBg="1" autoUpdateAnimBg="0"/>
      <p:bldP spid="96" grpId="0" animBg="1"/>
      <p:bldP spid="97" grpId="0" animBg="1"/>
      <p:bldP spid="98" grpId="0" animBg="1"/>
      <p:bldP spid="9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具体实行步骤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300" dirty="0">
                <a:solidFill>
                  <a:srgbClr val="CC66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300" dirty="0">
                <a:solidFill>
                  <a:srgbClr val="CC66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2300" dirty="0">
                <a:solidFill>
                  <a:srgbClr val="CC6600"/>
                </a:solidFill>
                <a:latin typeface="微软雅黑" panose="020B0503020204020204" pitchFamily="34" charset="-122"/>
              </a:rPr>
              <a:t>）其它注意事项</a:t>
            </a: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一般应先给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数据流命名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，再根据输入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输出数据流名的含义为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加工命名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。名字含义要确切，要能反映相应的整体。若碰到难以命名的情况，则很可能是分解不恰当造成的，应考虑重新分解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从左至右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画数据流图。通常左侧、右侧分别是数据源的起点和终点，中间是一系列加工和文件。正式的数据流图应尽量避免线条交叉，必要时可用重复的数据源、终点和文件符号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此外，数据流图中各种符号布置要合理，分布应均匀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571718"/>
      </p:ext>
    </p:extLst>
  </p:cSld>
  <p:clrMapOvr>
    <a:masterClrMapping/>
  </p:clrMapOvr>
  <p:transition spd="slow">
    <p:wip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数据流图的表示方式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总结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顶层图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说明了系统的边界，即系统的输入和输出数据流，顶层图只有一张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底层图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由一些不能再分解的加工组成，这些加工都已足够简单，称为基本加工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在顶层和底层之间的是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中间层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。中间层的数据流图描述了某个加工的分解，而它的组成部分又要进一步分解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画各层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图时，“由外向内”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271224"/>
      </p:ext>
    </p:extLst>
  </p:cSld>
  <p:clrMapOvr>
    <a:masterClrMapping/>
  </p:clrMapOvr>
  <p:transition spd="slow">
    <p:wip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78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数据流图绘制时应注意的问题 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）合理编号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分层数据流图的顶层称为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层，称它是第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层的父图。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而第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层既是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层图的子图，又是第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层图的父图，依此类推。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由于父图中有的加工可能就是功能单元，不能再分解，因此，父图拥有的子图数少于或等于父图中的加工个数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338501"/>
      </p:ext>
    </p:extLst>
  </p:cSld>
  <p:clrMapOvr>
    <a:masterClrMapping/>
  </p:clrMapOvr>
  <p:transition spd="slow">
    <p:wip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79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数据流图绘制时应注意的问题 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）注意子图与父图的平衡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子图与父图的数据流必须平衡，这是分层数据流的重要性质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这里的平衡指的是子图的输入、输出数据流必须与父图中对应加工的输入、输出数据流相同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5461858"/>
      </p:ext>
    </p:extLst>
  </p:cSld>
  <p:clrMapOvr>
    <a:masterClrMapping/>
  </p:clrMapOvr>
  <p:transition spd="slow">
    <p:wip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80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数据流图绘制时应注意的问题 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）分解的程度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对于规模较大的系统的分层数据流图，如果一下子把加工直接分解成基本加工单元，一张图上画出过多的加工将使人难以理解，也增加了分解的复杂度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然而，如果每次分解产生的子加工太少，会使分解层次过多而增加作图的工作量，阅读也不方便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经验表明，一般说来一个加工每次分解量最多不要超过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七个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为宜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9008590"/>
      </p:ext>
    </p:extLst>
  </p:cSld>
  <p:clrMapOvr>
    <a:masterClrMapping/>
  </p:clrMapOvr>
  <p:transition spd="slow">
    <p:wip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81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4607701" cy="124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0588" indent="-890588">
              <a:lnSpc>
                <a:spcPct val="120000"/>
              </a:lnSpc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实例：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画出图书预定系统的各层数据流图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551222"/>
            <a:ext cx="7402272" cy="219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图书预订系统：书店向顾客发放订单，顾客将所填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订单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交由系统处理，系统首先依据图书目录对订单进行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检查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并对合格订单进行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处理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，处理过程中根据顾客情况和订单数目将订单分为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优先订单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与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正常订单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两种，随时处理优先订单，定期处理正常订单。最后系统根据所处理的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订单汇总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，并按出版社要求发给出版社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4386935"/>
      </p:ext>
    </p:extLst>
  </p:cSld>
  <p:clrMapOvr>
    <a:masterClrMapping/>
  </p:clrMapOvr>
  <p:transition spd="slow">
    <p:wip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4607701" cy="124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0588" indent="-890588">
              <a:lnSpc>
                <a:spcPct val="120000"/>
              </a:lnSpc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实例：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画出图书预定系统的各层数据流图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551222"/>
            <a:ext cx="7402272" cy="6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第一步，画出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关联数据流图</a:t>
            </a:r>
            <a:endParaRPr lang="zh-CN" altLang="en-US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EC5880FD-C9D2-7E42-995A-3682D598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00" y="4059371"/>
            <a:ext cx="7053262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0">
            <a:extLst>
              <a:ext uri="{FF2B5EF4-FFF2-40B4-BE49-F238E27FC236}">
                <a16:creationId xmlns:a16="http://schemas.microsoft.com/office/drawing/2014/main" id="{3E7DEE86-F2A9-9A4A-8A86-EB772BCE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073" y="5685734"/>
            <a:ext cx="2895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hlink"/>
              </a:buClr>
              <a:buFont typeface="Wingdings" pitchFamily="2" charset="2"/>
              <a:buNone/>
            </a:pPr>
            <a:r>
              <a:rPr kumimoji="1" lang="zh-CN" altLang="en-US" sz="1600" b="1" dirty="0">
                <a:latin typeface="+mj-ea"/>
                <a:ea typeface="+mj-ea"/>
              </a:rPr>
              <a:t>图书预订系统关联图</a:t>
            </a:r>
            <a:endParaRPr kumimoji="1" lang="zh-CN" altLang="en-US" sz="1600" dirty="0">
              <a:latin typeface="+mj-ea"/>
              <a:ea typeface="+mj-ea"/>
            </a:endParaRPr>
          </a:p>
          <a:p>
            <a:pPr algn="ctr">
              <a:buClr>
                <a:schemeClr val="hlink"/>
              </a:buClr>
              <a:buFont typeface="Wingdings" pitchFamily="2" charset="2"/>
              <a:buNone/>
            </a:pPr>
            <a:endParaRPr kumimoji="1" lang="en-US" altLang="zh-CN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36610405"/>
      </p:ext>
    </p:extLst>
  </p:cSld>
  <p:clrMapOvr>
    <a:masterClrMapping/>
  </p:clrMapOvr>
  <p:transition spd="slow">
    <p:wip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4607701" cy="124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0588" indent="-890588">
              <a:lnSpc>
                <a:spcPct val="120000"/>
              </a:lnSpc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实例：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画出图书预定系统的各层数据流图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349641"/>
            <a:ext cx="7402272" cy="1385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第二步，逐层分解加工，画出下层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。注意到根据题意，当绘出系统顶层图后并不能将所有加工分解成基本加工，还要进行二层图分解。并在分解加工过程中逐步充实进数据存储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3E7DEE86-F2A9-9A4A-8A86-EB772BCE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073" y="6189857"/>
            <a:ext cx="2895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hlink"/>
              </a:buClr>
              <a:buFont typeface="Wingdings" pitchFamily="2" charset="2"/>
              <a:buNone/>
            </a:pPr>
            <a:r>
              <a:rPr kumimoji="1" lang="zh-CN" altLang="en-US" sz="1600" b="1" dirty="0">
                <a:highlight>
                  <a:srgbClr val="FFFF00"/>
                </a:highlight>
                <a:latin typeface="+mj-ea"/>
                <a:ea typeface="+mj-ea"/>
              </a:rPr>
              <a:t>图书预订系统</a:t>
            </a:r>
            <a:r>
              <a:rPr kumimoji="1" lang="zh-CN" altLang="en-US" sz="1600" b="1" dirty="0">
                <a:latin typeface="+mj-ea"/>
                <a:ea typeface="+mj-ea"/>
              </a:rPr>
              <a:t>一层图</a:t>
            </a:r>
            <a:endParaRPr kumimoji="1" lang="zh-CN" altLang="en-US" sz="1600" dirty="0">
              <a:latin typeface="+mj-ea"/>
              <a:ea typeface="+mj-ea"/>
            </a:endParaRPr>
          </a:p>
          <a:p>
            <a:pPr algn="ctr">
              <a:buClr>
                <a:schemeClr val="hlink"/>
              </a:buClr>
              <a:buFont typeface="Wingdings" pitchFamily="2" charset="2"/>
              <a:buNone/>
            </a:pPr>
            <a:endParaRPr kumimoji="1" lang="en-US" altLang="zh-CN" dirty="0">
              <a:latin typeface="+mj-ea"/>
              <a:ea typeface="+mj-ea"/>
            </a:endParaRPr>
          </a:p>
        </p:txBody>
      </p:sp>
      <p:pic>
        <p:nvPicPr>
          <p:cNvPr id="15" name="Picture 63">
            <a:extLst>
              <a:ext uri="{FF2B5EF4-FFF2-40B4-BE49-F238E27FC236}">
                <a16:creationId xmlns:a16="http://schemas.microsoft.com/office/drawing/2014/main" id="{1645B34D-4DB0-7E44-A15F-17A7605B0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277" y="3787341"/>
            <a:ext cx="7191485" cy="233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106734"/>
      </p:ext>
    </p:extLst>
  </p:cSld>
  <p:clrMapOvr>
    <a:masterClrMapping/>
  </p:clrMapOvr>
  <p:transition spd="slow">
    <p:wip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4607701" cy="124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0588" indent="-890588">
              <a:lnSpc>
                <a:spcPct val="120000"/>
              </a:lnSpc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实例：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画出图书预定系统的各层数据流图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Box 20">
            <a:extLst>
              <a:ext uri="{FF2B5EF4-FFF2-40B4-BE49-F238E27FC236}">
                <a16:creationId xmlns:a16="http://schemas.microsoft.com/office/drawing/2014/main" id="{3E7DEE86-F2A9-9A4A-8A86-EB772BCE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073" y="6189857"/>
            <a:ext cx="2895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hlink"/>
              </a:buClr>
              <a:buFont typeface="Wingdings" pitchFamily="2" charset="2"/>
              <a:buNone/>
            </a:pPr>
            <a:r>
              <a:rPr kumimoji="1" lang="zh-CN" altLang="en-US" sz="1600" b="1" dirty="0">
                <a:highlight>
                  <a:srgbClr val="FFFF00"/>
                </a:highlight>
                <a:latin typeface="+mj-ea"/>
                <a:ea typeface="+mj-ea"/>
              </a:rPr>
              <a:t>订单处理</a:t>
            </a:r>
            <a:r>
              <a:rPr kumimoji="1" lang="en-US" altLang="zh-CN" sz="1600" b="1" dirty="0">
                <a:latin typeface="+mj-ea"/>
                <a:ea typeface="+mj-ea"/>
              </a:rPr>
              <a:t>P2</a:t>
            </a:r>
            <a:r>
              <a:rPr kumimoji="1" lang="zh-CN" altLang="en-US" sz="1600" b="1" dirty="0">
                <a:latin typeface="+mj-ea"/>
                <a:ea typeface="+mj-ea"/>
              </a:rPr>
              <a:t>的二层图</a:t>
            </a:r>
            <a:endParaRPr kumimoji="1" lang="zh-CN" altLang="en-US" sz="1600" dirty="0">
              <a:latin typeface="+mj-ea"/>
              <a:ea typeface="+mj-ea"/>
            </a:endParaRPr>
          </a:p>
          <a:p>
            <a:pPr algn="ctr">
              <a:buClr>
                <a:schemeClr val="hlink"/>
              </a:buClr>
              <a:buFont typeface="Wingdings" pitchFamily="2" charset="2"/>
              <a:buNone/>
            </a:pPr>
            <a:endParaRPr kumimoji="1" lang="en-US" altLang="zh-CN" dirty="0">
              <a:latin typeface="+mj-ea"/>
              <a:ea typeface="+mj-ea"/>
            </a:endParaRPr>
          </a:p>
        </p:txBody>
      </p:sp>
      <p:pic>
        <p:nvPicPr>
          <p:cNvPr id="17" name="Picture 111">
            <a:extLst>
              <a:ext uri="{FF2B5EF4-FFF2-40B4-BE49-F238E27FC236}">
                <a16:creationId xmlns:a16="http://schemas.microsoft.com/office/drawing/2014/main" id="{41DC1422-5986-E84E-BA45-E9C0E64BB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23" y="2685819"/>
            <a:ext cx="7392084" cy="3346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478401"/>
      </p:ext>
    </p:extLst>
  </p:cSld>
  <p:clrMapOvr>
    <a:masterClrMapping/>
  </p:clrMapOvr>
  <p:transition spd="slow">
    <p:wip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85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4607701" cy="124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0588" indent="-890588">
              <a:lnSpc>
                <a:spcPct val="120000"/>
              </a:lnSpc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实例：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微信支付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DFD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图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B1C118-5000-3642-8947-5728D2F7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5" y="2260078"/>
            <a:ext cx="7119618" cy="42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71888"/>
      </p:ext>
    </p:extLst>
  </p:cSld>
  <p:clrMapOvr>
    <a:masterClrMapping/>
  </p:clrMapOvr>
  <p:transition spd="slow">
    <p:wip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数据流图的作用：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系统分析的主要任务是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建立新系统的逻辑模型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具体地讲主要是画出新系统的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，编写定义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的数据词典。</a:t>
            </a: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建立新系统的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是一项十分重要的工作。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因为建立的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是系统开发乃至系统维护的依据，</a:t>
            </a:r>
            <a:r>
              <a:rPr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是系统的重要文档之一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系统分析员要在详细调查中，在与用户的反复交流中修改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，力求新建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是正确的、准确的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760258"/>
      </p:ext>
    </p:extLst>
  </p:cSld>
  <p:clrMapOvr>
    <a:masterClrMapping/>
  </p:clrMapOvr>
  <p:transition spd="slow">
    <p:wip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数据流图小结：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4E8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数据流图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DFD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72084" lvl="1" indent="-342900" algn="just"/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通过上面这个例子可以知道，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所表现的范围可大到整个系统，小到一个模块。在需求分析中，常常用一组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DFD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图由粗到精地表示同一软件在不同抽象级别上的功能模型，即为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分层数据流图</a:t>
            </a:r>
          </a:p>
          <a:p>
            <a:pPr marL="672084" lvl="1" indent="-342900" algn="just"/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设计数据流图只需考虑系统必须完成的基本功能，完全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不需要考虑如何具体实现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这些功能</a:t>
            </a:r>
          </a:p>
          <a:p>
            <a:pPr marL="672084" lvl="1" indent="-342900" algn="just"/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同一数据流图上不能有两个数据流同名</a:t>
            </a:r>
          </a:p>
          <a:p>
            <a:pPr marL="672084" lvl="1" indent="-342900" algn="just"/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多个数据流可以指向同一个加工（处理），也可从某个加工散发出多个数据流</a:t>
            </a:r>
          </a:p>
          <a:p>
            <a:pPr marL="672084" lvl="1" indent="-342900" algn="just"/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画数据流图是</a:t>
            </a:r>
            <a:r>
              <a:rPr lang="zh-CN" altLang="en-US" sz="21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一项艰巨的工作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，要做好重画的思想准备，重画是为了消除隐患，有必要不断改进</a:t>
            </a:r>
            <a:endParaRPr lang="zh-CN" altLang="en-US" sz="21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004529"/>
      </p:ext>
    </p:extLst>
  </p:cSld>
  <p:clrMapOvr>
    <a:masterClrMapping/>
  </p:clrMapOvr>
  <p:transition spd="slow">
    <p:wip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88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2.3.3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STD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C0CFE87-9F21-554F-B305-A11916775AB8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946619"/>
            <a:ext cx="7402272" cy="3084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2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状态转换图：是用于指明系统在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外部事件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作用下将会如何动作，表明了系统的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各种状态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，以及各种状态间的</a:t>
            </a:r>
            <a:r>
              <a:rPr lang="zh-CN" altLang="en-US" sz="20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转换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09575" lvl="2" indent="-4000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此外，状态转换图：还指明了作为特定事件的结果，系统将做哪些动作，从而构成行为模型的基础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 b="1" dirty="0">
              <a:solidFill>
                <a:schemeClr val="accent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36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pic>
        <p:nvPicPr>
          <p:cNvPr id="8" name="Picture 4" descr="E:\fdoc\teach\教案\软件工程_研究生同等学历\软件工程_研究生同等学历.part01\download\211.101.171.24\courses\GD\jsj\GD_jsj_024y\images\images\chapter02\2_6.gif">
            <a:extLst>
              <a:ext uri="{FF2B5EF4-FFF2-40B4-BE49-F238E27FC236}">
                <a16:creationId xmlns:a16="http://schemas.microsoft.com/office/drawing/2014/main" id="{7E3E8F0F-A8AA-D644-A1BB-57799D290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54" y="476194"/>
            <a:ext cx="3659727" cy="226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7767059"/>
      </p:ext>
    </p:extLst>
  </p:cSld>
  <p:clrMapOvr>
    <a:masterClrMapping/>
  </p:clrMapOvr>
  <p:transition spd="slow">
    <p:wip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89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状态转换图的组成元素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456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）状态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状态是人或事物表现出来的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形态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。是指现实（或虚拟）事物处于生成、生存、发展、消亡时期或各转化临界点时的形态或事物态势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是任何可以被观察到的系统</a:t>
            </a:r>
            <a:r>
              <a:rPr lang="zh-CN" altLang="zh-CN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行为模式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，一个状态代表系统的一种行为模式，状态规定了系统对事件的</a:t>
            </a:r>
            <a:r>
              <a:rPr lang="zh-CN" altLang="zh-CN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响应方式</a:t>
            </a:r>
            <a:endParaRPr lang="en-US" altLang="zh-CN" sz="18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在状态转换图中，定义的状态主要有：</a:t>
            </a:r>
            <a:r>
              <a:rPr lang="zh-CN" altLang="zh-CN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初态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（即开始状态），</a:t>
            </a:r>
            <a:r>
              <a:rPr lang="zh-CN" altLang="zh-CN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终态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（即最终状态）和</a:t>
            </a:r>
            <a:r>
              <a:rPr lang="zh-CN" altLang="zh-CN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中间状态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。在一个状态转换图中只能有一个初态，而终态可以有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0</a:t>
            </a:r>
            <a:r>
              <a:rPr lang="zh-CN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到多个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969621"/>
      </p:ext>
    </p:extLst>
  </p:cSld>
  <p:clrMapOvr>
    <a:masterClrMapping/>
  </p:clrMapOvr>
  <p:transition spd="slow">
    <p:wip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90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状态转换图的组成元素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0"/>
            <a:ext cx="7402272" cy="3925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）事件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是在某个特定时刻发生的事情，它是对引起系统做动作或从一个状态转换到另一个状态的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外界事件的抽象</a:t>
            </a:r>
            <a:endParaRPr lang="en-US" altLang="zh-CN" sz="1800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也就是，事件就是引起系统</a:t>
            </a:r>
            <a:r>
              <a:rPr lang="zh-CN" altLang="en-US" sz="180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</a:rPr>
              <a:t>做动作或转换状态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的控制信息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）转换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表示状态从一种状态变为另一种状态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247039"/>
      </p:ext>
    </p:extLst>
  </p:cSld>
  <p:clrMapOvr>
    <a:masterClrMapping/>
  </p:clrMapOvr>
  <p:transition spd="slow">
    <p:wip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91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4"/>
            <a:ext cx="7402272" cy="3526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）状态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初态：用实心圆表示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终态：用一对同心圆（内圆为实心圆）表示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中间状态：用圆角矩形表示，可以用两条水平横线把它分成上、中、下</a:t>
            </a:r>
            <a:r>
              <a:rPr lang="en-US" altLang="zh-CN" sz="1800" dirty="0"/>
              <a:t>3</a:t>
            </a:r>
            <a:r>
              <a:rPr lang="zh-CN" altLang="en-US" sz="1800" dirty="0"/>
              <a:t>个部分。上面部分为</a:t>
            </a:r>
            <a:r>
              <a:rPr lang="zh-CN" altLang="en-US" sz="1800" dirty="0">
                <a:highlight>
                  <a:srgbClr val="FFFF00"/>
                </a:highlight>
              </a:rPr>
              <a:t>状态的名称</a:t>
            </a:r>
            <a:r>
              <a:rPr lang="zh-CN" altLang="en-US" sz="1800" dirty="0"/>
              <a:t>，这部分是必须有的；中间部分为</a:t>
            </a:r>
            <a:r>
              <a:rPr lang="zh-CN" altLang="en-US" sz="1800" dirty="0">
                <a:highlight>
                  <a:srgbClr val="FFFF00"/>
                </a:highlight>
              </a:rPr>
              <a:t>状态变量</a:t>
            </a:r>
            <a:r>
              <a:rPr lang="zh-CN" altLang="en-US" sz="1800" dirty="0"/>
              <a:t>的名字和值，这部分是可选的；下面部分是</a:t>
            </a:r>
            <a:r>
              <a:rPr lang="zh-CN" altLang="en-US" sz="1800" dirty="0">
                <a:highlight>
                  <a:srgbClr val="FFFF00"/>
                </a:highlight>
              </a:rPr>
              <a:t>活动表</a:t>
            </a:r>
            <a:r>
              <a:rPr lang="zh-CN" altLang="en-US" sz="1800" dirty="0"/>
              <a:t>，这部分也是可选的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852640797"/>
      </p:ext>
    </p:extLst>
  </p:cSld>
  <p:clrMapOvr>
    <a:masterClrMapping/>
  </p:clrMapOvr>
  <p:transition spd="slow">
    <p:wip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92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4"/>
            <a:ext cx="7402272" cy="3782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）事件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是</a:t>
            </a:r>
            <a:r>
              <a:rPr lang="zh-CN" altLang="en-US" sz="1800" dirty="0">
                <a:highlight>
                  <a:srgbClr val="FFFF00"/>
                </a:highlight>
              </a:rPr>
              <a:t>引起转换的消息</a:t>
            </a:r>
            <a:r>
              <a:rPr lang="zh-CN" altLang="en-US" sz="1800" dirty="0"/>
              <a:t>，用箭头上的标记表示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在状态转换图中，经常使用下述</a:t>
            </a:r>
            <a:r>
              <a:rPr lang="en-US" altLang="zh-CN" sz="1800" dirty="0"/>
              <a:t>3</a:t>
            </a:r>
            <a:r>
              <a:rPr lang="zh-CN" altLang="en-US" sz="1800" dirty="0"/>
              <a:t>种标准事件：</a:t>
            </a:r>
            <a:r>
              <a:rPr lang="en-US" altLang="zh-CN" sz="1800" dirty="0">
                <a:solidFill>
                  <a:srgbClr val="FF0000"/>
                </a:solidFill>
              </a:rPr>
              <a:t>entry</a:t>
            </a:r>
            <a:r>
              <a:rPr lang="zh-CN" altLang="en-US" sz="1800" dirty="0">
                <a:solidFill>
                  <a:srgbClr val="FF0000"/>
                </a:solidFill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</a:rPr>
              <a:t>exit</a:t>
            </a:r>
            <a:r>
              <a:rPr lang="zh-CN" altLang="en-US" sz="1800" dirty="0">
                <a:solidFill>
                  <a:srgbClr val="FF0000"/>
                </a:solidFill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</a:rPr>
              <a:t>do</a:t>
            </a: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/>
              <a:t>entry</a:t>
            </a:r>
            <a:r>
              <a:rPr lang="zh-CN" altLang="en-US" sz="1800" dirty="0"/>
              <a:t>事件：指定进入该状态的动作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/>
              <a:t>exit</a:t>
            </a:r>
            <a:r>
              <a:rPr lang="zh-CN" altLang="en-US" sz="1800" dirty="0"/>
              <a:t>事件：指定退出该状态的动作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/>
              <a:t>do</a:t>
            </a:r>
            <a:r>
              <a:rPr lang="zh-CN" altLang="en-US" sz="1800" dirty="0"/>
              <a:t>事件：则指定在该状态下的动作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744129436"/>
      </p:ext>
    </p:extLst>
  </p:cSld>
  <p:clrMapOvr>
    <a:masterClrMapping/>
  </p:clrMapOvr>
  <p:transition spd="slow">
    <p:wip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4"/>
            <a:ext cx="7402272" cy="3782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）转换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两个状态之间带箭头的连线称为状态转换，箭头指明了转换方向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如果在箭头线上未标明事件，则表示在源状态的内部活动执行完之后</a:t>
            </a:r>
            <a:r>
              <a:rPr lang="zh-CN" altLang="en-US" sz="1800" dirty="0">
                <a:highlight>
                  <a:srgbClr val="FFFF00"/>
                </a:highlight>
              </a:rPr>
              <a:t>自动触发转换</a:t>
            </a:r>
            <a:endParaRPr lang="en-US" altLang="zh-CN" sz="1800" dirty="0">
              <a:highlight>
                <a:srgbClr val="FFFF00"/>
              </a:highlight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还可以用事件后的方括号表示先决条件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只有当这个条件为真时，才会发送状态变化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用状态自身的弧线箭头表示先决条件不为真时，状态不会变化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287967593"/>
      </p:ext>
    </p:extLst>
  </p:cSld>
  <p:clrMapOvr>
    <a:masterClrMapping/>
  </p:clrMapOvr>
  <p:transition spd="slow">
    <p:wip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94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5"/>
            <a:ext cx="7402272" cy="56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实例：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  <p:pic>
        <p:nvPicPr>
          <p:cNvPr id="10" name="Picture 2" descr="Center">
            <a:extLst>
              <a:ext uri="{FF2B5EF4-FFF2-40B4-BE49-F238E27FC236}">
                <a16:creationId xmlns:a16="http://schemas.microsoft.com/office/drawing/2014/main" id="{E70A1CDF-20C1-894B-B46C-8D14D6000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11" y="3613296"/>
            <a:ext cx="7948777" cy="236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938131"/>
      </p:ext>
    </p:extLst>
  </p:cSld>
  <p:clrMapOvr>
    <a:masterClrMapping/>
  </p:clrMapOvr>
  <p:transition spd="slow">
    <p:wip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95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4"/>
            <a:ext cx="7402272" cy="37826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 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zh-CN" sz="2100" dirty="0">
                <a:solidFill>
                  <a:schemeClr val="accent5">
                    <a:lumMod val="75000"/>
                  </a:schemeClr>
                </a:solidFill>
              </a:rPr>
              <a:t>复印机控制软件的状态转换图</a:t>
            </a:r>
            <a:endParaRPr lang="en-US" altLang="zh-CN" sz="21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algn="just">
              <a:spcBef>
                <a:spcPts val="60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	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7030A0"/>
                </a:solidFill>
              </a:rPr>
              <a:t>复印机的工作过程大致如下：</a:t>
            </a:r>
            <a:endParaRPr lang="en-US" altLang="zh-CN" sz="1800" dirty="0">
              <a:solidFill>
                <a:srgbClr val="7030A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700" dirty="0"/>
              <a:t>未接到复印命令时处于</a:t>
            </a:r>
            <a:r>
              <a:rPr lang="zh-CN" altLang="en-US" sz="1700" dirty="0">
                <a:highlight>
                  <a:srgbClr val="FFFF00"/>
                </a:highlight>
              </a:rPr>
              <a:t>闲置状态</a:t>
            </a:r>
            <a:r>
              <a:rPr lang="zh-CN" altLang="en-US" sz="1700" dirty="0"/>
              <a:t>，一旦接到复印命令则进入</a:t>
            </a:r>
            <a:r>
              <a:rPr lang="zh-CN" altLang="en-US" sz="1700" dirty="0">
                <a:highlight>
                  <a:srgbClr val="FFFF00"/>
                </a:highlight>
              </a:rPr>
              <a:t>复印状态</a:t>
            </a:r>
            <a:r>
              <a:rPr lang="zh-CN" altLang="en-US" sz="1700" dirty="0"/>
              <a:t>，完成一个复印命令规定的工作后又回到闲置状态，等待下一个复印命令</a:t>
            </a:r>
            <a:endParaRPr lang="en-US" altLang="zh-CN" sz="17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700" dirty="0"/>
              <a:t>如果执行复印命令时发现没纸，则进入</a:t>
            </a:r>
            <a:r>
              <a:rPr lang="zh-CN" altLang="en-US" sz="1700" dirty="0">
                <a:highlight>
                  <a:srgbClr val="FFFF00"/>
                </a:highlight>
              </a:rPr>
              <a:t>缺纸状态</a:t>
            </a:r>
            <a:r>
              <a:rPr lang="zh-CN" altLang="en-US" sz="1700" dirty="0"/>
              <a:t>，发出警告，等待装纸，装满纸后进入闲置状态，准备接收复印命令</a:t>
            </a:r>
            <a:endParaRPr lang="en-US" altLang="zh-CN" sz="17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700" dirty="0"/>
              <a:t>如果复印时发生卡纸故障，则进入</a:t>
            </a:r>
            <a:r>
              <a:rPr lang="zh-CN" altLang="en-US" sz="1700" dirty="0">
                <a:highlight>
                  <a:srgbClr val="FFFF00"/>
                </a:highlight>
              </a:rPr>
              <a:t>卡纸状态</a:t>
            </a:r>
            <a:r>
              <a:rPr lang="zh-CN" altLang="en-US" sz="1700" dirty="0"/>
              <a:t>，发出警告等待维修人员来排除故障，故障排除后回到闲置状态</a:t>
            </a:r>
            <a:endParaRPr lang="zh-CN" altLang="en-US" sz="1700" dirty="0"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916937050"/>
      </p:ext>
    </p:extLst>
  </p:cSld>
  <p:clrMapOvr>
    <a:masterClrMapping/>
  </p:clrMapOvr>
  <p:transition spd="slow">
    <p:wip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96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4"/>
            <a:ext cx="7402272" cy="3782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 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zh-CN" sz="2100" dirty="0">
                <a:solidFill>
                  <a:schemeClr val="accent5">
                    <a:lumMod val="75000"/>
                  </a:schemeClr>
                </a:solidFill>
              </a:rPr>
              <a:t>复印机控制软件的状态转换图</a:t>
            </a:r>
            <a:endParaRPr lang="en-US" altLang="zh-CN" sz="21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algn="just">
              <a:spcBef>
                <a:spcPts val="600"/>
              </a:spcBef>
            </a:pP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	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7030A0"/>
                </a:solidFill>
              </a:rPr>
              <a:t>复印机的工作过程大致如下：</a:t>
            </a:r>
            <a:endParaRPr lang="en-US" altLang="zh-CN" sz="1800" dirty="0">
              <a:solidFill>
                <a:srgbClr val="7030A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状态：闲置状态、复印状态、缺纸状态、卡纸状态</a:t>
            </a:r>
            <a:endParaRPr lang="en-US" altLang="zh-CN" sz="1800" dirty="0"/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事件：复印命令、完成复印命令、发现没纸、装满纸、发生卡纸故障、故障排除</a:t>
            </a:r>
            <a:endParaRPr lang="en-US" altLang="zh-CN" sz="1800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780566053"/>
      </p:ext>
    </p:extLst>
  </p:cSld>
  <p:clrMapOvr>
    <a:masterClrMapping/>
  </p:clrMapOvr>
  <p:transition spd="slow">
    <p:wip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97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3991252" cy="117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id="{7C472B95-A73F-924B-9FA9-3F671D957E5A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3F871CCC-425D-ED40-A49C-4A0777C5B17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679105"/>
            <a:ext cx="7402272" cy="56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 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-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zh-CN" altLang="zh-CN" sz="2100" dirty="0">
                <a:solidFill>
                  <a:schemeClr val="accent5">
                    <a:lumMod val="75000"/>
                  </a:schemeClr>
                </a:solidFill>
              </a:rPr>
              <a:t>复印机控制软件的状态转换图</a:t>
            </a:r>
            <a:endParaRPr lang="en-US" altLang="zh-CN" sz="21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0C3C6C31-F9C9-294D-88C8-C15182E933D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864446"/>
            <a:ext cx="7402272" cy="75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/>
              <a:t>主要包括：状态、事件和转换三种符号</a:t>
            </a:r>
            <a:endParaRPr lang="en-US" altLang="zh-CN" sz="1800" dirty="0"/>
          </a:p>
        </p:txBody>
      </p:sp>
      <p:pic>
        <p:nvPicPr>
          <p:cNvPr id="10" name="Picture 2" descr="JTILCA_E{YD5]9BCP][X49F">
            <a:extLst>
              <a:ext uri="{FF2B5EF4-FFF2-40B4-BE49-F238E27FC236}">
                <a16:creationId xmlns:a16="http://schemas.microsoft.com/office/drawing/2014/main" id="{30D13A99-EB76-C948-ACBD-35EF79224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9" t="1923" r="2190"/>
          <a:stretch>
            <a:fillRect/>
          </a:stretch>
        </p:blipFill>
        <p:spPr bwMode="auto">
          <a:xfrm>
            <a:off x="2262625" y="565079"/>
            <a:ext cx="6078537" cy="5553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40073662"/>
      </p:ext>
    </p:extLst>
  </p:cSld>
  <p:clrMapOvr>
    <a:masterClrMapping/>
  </p:clrMapOvr>
  <p:transition spd="slow">
    <p:wip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F5BA7-D5CC-0143-817A-876E06F68B2D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altLang="zh-CN" smtClean="0"/>
              <a:pPr/>
              <a:t>98</a:t>
            </a:fld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27B8360-B56A-2C46-A9B0-26DC4AFD7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12" name="云形 11">
            <a:extLst>
              <a:ext uri="{FF2B5EF4-FFF2-40B4-BE49-F238E27FC236}">
                <a16:creationId xmlns:a16="http://schemas.microsoft.com/office/drawing/2014/main" id="{D657A3EC-5B83-884D-B794-B6CDC80C7211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  <a:solidFill>
            <a:srgbClr val="CC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状态转换图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STD</a:t>
            </a:r>
            <a:endParaRPr kumimoji="1"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285A9CB8-9807-CC43-BD27-0C4594FBFCB5}"/>
              </a:ext>
            </a:extLst>
          </p:cNvPr>
          <p:cNvSpPr txBox="1">
            <a:spLocks noChangeArrowheads="1"/>
          </p:cNvSpPr>
          <p:nvPr/>
        </p:nvSpPr>
        <p:spPr>
          <a:xfrm>
            <a:off x="837603" y="1283745"/>
            <a:ext cx="4819782" cy="156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状态转换图的符号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r>
              <a:rPr lang="zh-CN" altLang="en-US" sz="2400" dirty="0">
                <a:solidFill>
                  <a:srgbClr val="CC6600"/>
                </a:solidFill>
                <a:sym typeface="微软雅黑" panose="020B0503020204020204" pitchFamily="34" charset="-122"/>
              </a:rPr>
              <a:t>扩展：状态图（面向对象分析）</a:t>
            </a:r>
            <a:endParaRPr lang="en-US" altLang="zh-CN" sz="2400" dirty="0">
              <a:solidFill>
                <a:srgbClr val="CC6600"/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4179748"/>
      </p:ext>
    </p:extLst>
  </p:cSld>
  <p:clrMapOvr>
    <a:masterClrMapping/>
  </p:clrMapOvr>
  <p:transition spd="slow">
    <p:wip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3844466-2623-AE47-85AE-399CD51E1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28638"/>
            <a:ext cx="479107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状态图 </a:t>
            </a:r>
            <a:r>
              <a:rPr lang="en-US" altLang="zh-CN" sz="2400" dirty="0">
                <a:solidFill>
                  <a:srgbClr val="4E8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华文新魏" panose="02010800040101010101" pitchFamily="2" charset="-122"/>
              </a:rPr>
              <a:t>—</a:t>
            </a:r>
            <a:r>
              <a:rPr lang="en-US" altLang="zh-CN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什么是状态图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FA5611D9-D509-EA4C-8167-B066E6F2B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1136650"/>
            <a:ext cx="7807325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◇ 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状态图（</a:t>
            </a:r>
            <a:r>
              <a:rPr lang="en-US" altLang="zh-CN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state diagram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）的概念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FF00"/>
                </a:solidFill>
              </a:rPr>
              <a:t>    </a:t>
            </a:r>
            <a:r>
              <a:rPr lang="zh-CN" altLang="en-US" sz="1800" dirty="0">
                <a:ea typeface="楷体_GB2312" panose="02010609030101010101" pitchFamily="49" charset="-122"/>
              </a:rPr>
              <a:t>人或事物表现出来的形态。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/>
              <a:t>    </a:t>
            </a:r>
            <a:r>
              <a:rPr lang="zh-CN" altLang="en-US" sz="1800" dirty="0">
                <a:ea typeface="楷体_GB2312" panose="02010609030101010101" pitchFamily="49" charset="-122"/>
              </a:rPr>
              <a:t>当系统与用户（也可能是其它系统）交互的时候，组成系统的对象为了适应交互需要经历必要的变化。如果要对系统建立模型，那么模型中必须要反映出这种变化。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◇ 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状态图与类图、对象图和用例图的本质区别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楷体_GB2312" panose="02010609030101010101" pitchFamily="49" charset="-122"/>
              </a:rPr>
              <a:t>     状态图只是对单个对象建立模型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9643F033-B758-E247-9EDF-0AE34CE5C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" y="4289425"/>
            <a:ext cx="7324725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◇ 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符号特征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楷体_GB2312" panose="02010609030101010101" pitchFamily="49" charset="-122"/>
              </a:rPr>
              <a:t>      ＊ 状态用圆角矩形表示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/>
              <a:t>     </a:t>
            </a:r>
            <a:r>
              <a:rPr lang="zh-CN" altLang="en-US" sz="1800" dirty="0">
                <a:ea typeface="楷体_GB2312" panose="02010609030101010101" pitchFamily="49" charset="-122"/>
              </a:rPr>
              <a:t>＊ 状态间带箭头的实线代表状态的迁移（转移），箭头指向目标状态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楷体_GB2312" panose="02010609030101010101" pitchFamily="49" charset="-122"/>
              </a:rPr>
              <a:t>      ＊ 实心圆代表状态转移的起点，眼形圆圈代表终点</a:t>
            </a:r>
          </a:p>
        </p:txBody>
      </p:sp>
      <p:pic>
        <p:nvPicPr>
          <p:cNvPr id="13318" name="Picture 7" descr="T8-1">
            <a:extLst>
              <a:ext uri="{FF2B5EF4-FFF2-40B4-BE49-F238E27FC236}">
                <a16:creationId xmlns:a16="http://schemas.microsoft.com/office/drawing/2014/main" id="{A909143E-C40D-3446-95AF-CB2B7C0BC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8" y="3095625"/>
            <a:ext cx="4468812" cy="20685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2023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4AAE4AA-5696-E846-B412-7C21C327B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28638"/>
            <a:ext cx="479107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状态图 </a:t>
            </a:r>
            <a:r>
              <a:rPr lang="en-US" altLang="zh-CN" sz="2400" dirty="0">
                <a:solidFill>
                  <a:srgbClr val="4E8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华文新魏" panose="02010800040101010101" pitchFamily="2" charset="-122"/>
              </a:rPr>
              <a:t>—</a:t>
            </a:r>
            <a:r>
              <a:rPr lang="en-US" altLang="zh-CN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什么是状态图</a:t>
            </a:r>
          </a:p>
        </p:txBody>
      </p:sp>
      <p:pic>
        <p:nvPicPr>
          <p:cNvPr id="15362" name="Picture 7" descr="T8-2">
            <a:extLst>
              <a:ext uri="{FF2B5EF4-FFF2-40B4-BE49-F238E27FC236}">
                <a16:creationId xmlns:a16="http://schemas.microsoft.com/office/drawing/2014/main" id="{0763D200-166E-F349-B9FF-58DA80828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2770188"/>
            <a:ext cx="5264150" cy="18129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圆角矩形 10">
            <a:hlinkClick r:id="rId4" action="ppaction://hlinkpres?slideindex=1&amp;slidetitle=" tooltip="鼠标已进入该对象"/>
            <a:extLst>
              <a:ext uri="{FF2B5EF4-FFF2-40B4-BE49-F238E27FC236}">
                <a16:creationId xmlns:a16="http://schemas.microsoft.com/office/drawing/2014/main" id="{AFF77074-5196-9B4B-8DFC-573D7E0CF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3048000"/>
            <a:ext cx="1411287" cy="881063"/>
          </a:xfrm>
          <a:prstGeom prst="roundRect">
            <a:avLst>
              <a:gd name="adj" fmla="val 10259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15365" name="Picture 3" descr="Book-3">
            <a:hlinkClick r:id="rId5" action="ppaction://hlinksldjump"/>
            <a:extLst>
              <a:ext uri="{FF2B5EF4-FFF2-40B4-BE49-F238E27FC236}">
                <a16:creationId xmlns:a16="http://schemas.microsoft.com/office/drawing/2014/main" id="{86FD5C39-7921-0049-BE35-66B4824BC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794375"/>
            <a:ext cx="539750" cy="757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4">
            <a:extLst>
              <a:ext uri="{FF2B5EF4-FFF2-40B4-BE49-F238E27FC236}">
                <a16:creationId xmlns:a16="http://schemas.microsoft.com/office/drawing/2014/main" id="{2C218916-4C8D-754F-9945-EC85F2DD1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508125"/>
            <a:ext cx="7807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◇ 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增加状态图的细节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楷体_GB2312" panose="02010609030101010101" pitchFamily="49" charset="-122"/>
              </a:rPr>
              <a:t>     常用的活动（入口动作；出口动作；动作）</a:t>
            </a:r>
          </a:p>
        </p:txBody>
      </p:sp>
      <p:pic>
        <p:nvPicPr>
          <p:cNvPr id="735240" name="Picture 8" descr="T8-3">
            <a:extLst>
              <a:ext uri="{FF2B5EF4-FFF2-40B4-BE49-F238E27FC236}">
                <a16:creationId xmlns:a16="http://schemas.microsoft.com/office/drawing/2014/main" id="{6AEED1A1-6DF3-4F49-B638-46134CA3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63" y="801688"/>
            <a:ext cx="5395912" cy="574992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5241" name="AutoShape 9">
            <a:extLst>
              <a:ext uri="{FF2B5EF4-FFF2-40B4-BE49-F238E27FC236}">
                <a16:creationId xmlns:a16="http://schemas.microsoft.com/office/drawing/2014/main" id="{30641D0E-AEC4-D144-A0DE-91D876A8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227013"/>
            <a:ext cx="1706563" cy="669925"/>
          </a:xfrm>
          <a:prstGeom prst="wedgeEllipseCallout">
            <a:avLst>
              <a:gd name="adj1" fmla="val -65537"/>
              <a:gd name="adj2" fmla="val 150949"/>
            </a:avLst>
          </a:prstGeom>
          <a:solidFill>
            <a:srgbClr val="00FFFF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入口动作（</a:t>
            </a:r>
            <a:r>
              <a:rPr lang="en-US" altLang="zh-CN" sz="1600">
                <a:latin typeface="宋体" panose="02010600030101010101" pitchFamily="2" charset="-122"/>
              </a:rPr>
              <a:t>entry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735242" name="AutoShape 10">
            <a:extLst>
              <a:ext uri="{FF2B5EF4-FFF2-40B4-BE49-F238E27FC236}">
                <a16:creationId xmlns:a16="http://schemas.microsoft.com/office/drawing/2014/main" id="{B4CEAB05-F7E8-E841-A1CD-2F5976D5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1774825"/>
            <a:ext cx="1706562" cy="669925"/>
          </a:xfrm>
          <a:prstGeom prst="wedgeEllipseCallout">
            <a:avLst>
              <a:gd name="adj1" fmla="val 138278"/>
              <a:gd name="adj2" fmla="val -32227"/>
            </a:avLst>
          </a:prstGeom>
          <a:solidFill>
            <a:srgbClr val="00FFFF"/>
          </a:solidFill>
          <a:ln w="9525" algn="ctr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latin typeface="宋体" panose="02010600030101010101" pitchFamily="2" charset="-122"/>
              </a:rPr>
              <a:t>出口动作（</a:t>
            </a:r>
            <a:r>
              <a:rPr lang="en-US" altLang="zh-CN" sz="1600" dirty="0">
                <a:latin typeface="宋体" panose="02010600030101010101" pitchFamily="2" charset="-122"/>
              </a:rPr>
              <a:t>exit</a:t>
            </a:r>
            <a:r>
              <a:rPr lang="zh-CN" altLang="en-US" sz="1600" dirty="0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735243" name="AutoShape 11">
            <a:extLst>
              <a:ext uri="{FF2B5EF4-FFF2-40B4-BE49-F238E27FC236}">
                <a16:creationId xmlns:a16="http://schemas.microsoft.com/office/drawing/2014/main" id="{3F97E1BC-28E9-C64C-8A6B-9F4A19C3E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4238625"/>
            <a:ext cx="1706562" cy="669925"/>
          </a:xfrm>
          <a:prstGeom prst="wedgeEllipseCallout">
            <a:avLst>
              <a:gd name="adj1" fmla="val 108699"/>
              <a:gd name="adj2" fmla="val -256398"/>
            </a:avLst>
          </a:prstGeom>
          <a:solidFill>
            <a:srgbClr val="00FFFF"/>
          </a:solidFill>
          <a:ln w="9525" algn="ctr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动作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latin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</a:rPr>
              <a:t>do</a:t>
            </a:r>
            <a:r>
              <a:rPr lang="zh-CN" altLang="en-US" sz="1600">
                <a:latin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324790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5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5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5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5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5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5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5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5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41" grpId="0" animBg="1"/>
      <p:bldP spid="735242" grpId="0" animBg="1"/>
      <p:bldP spid="73524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Book-3">
            <a:hlinkClick r:id="rId3" action="ppaction://hlinksldjump"/>
            <a:extLst>
              <a:ext uri="{FF2B5EF4-FFF2-40B4-BE49-F238E27FC236}">
                <a16:creationId xmlns:a16="http://schemas.microsoft.com/office/drawing/2014/main" id="{BFDF5BE8-67A2-B04A-9027-B9C80BB84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794375"/>
            <a:ext cx="539750" cy="757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4">
            <a:extLst>
              <a:ext uri="{FF2B5EF4-FFF2-40B4-BE49-F238E27FC236}">
                <a16:creationId xmlns:a16="http://schemas.microsoft.com/office/drawing/2014/main" id="{2EBF5939-A7B7-A449-96BC-76810633F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508125"/>
            <a:ext cx="7807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</a:rPr>
              <a:t>◇ </a:t>
            </a: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ea typeface="楷体_GB2312" panose="02010609030101010101" pitchFamily="49" charset="-122"/>
              </a:rPr>
              <a:t>增加状态图的细节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bg1"/>
                </a:solidFill>
                <a:ea typeface="楷体_GB2312" panose="02010609030101010101" pitchFamily="49" charset="-122"/>
              </a:rPr>
              <a:t>     </a:t>
            </a:r>
          </a:p>
        </p:txBody>
      </p:sp>
      <p:sp>
        <p:nvSpPr>
          <p:cNvPr id="737290" name="Text Box 10">
            <a:extLst>
              <a:ext uri="{FF2B5EF4-FFF2-40B4-BE49-F238E27FC236}">
                <a16:creationId xmlns:a16="http://schemas.microsoft.com/office/drawing/2014/main" id="{EBB6CCBC-0473-8546-B37A-7AB4354B2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1958975"/>
            <a:ext cx="78073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ea typeface="楷体_GB2312" panose="02010609030101010101" pitchFamily="49" charset="-122"/>
              </a:rPr>
              <a:t>触发器事件（</a:t>
            </a:r>
            <a:r>
              <a:rPr lang="en-US" altLang="zh-CN" sz="1800" dirty="0">
                <a:ea typeface="楷体_GB2312" panose="02010609030101010101" pitchFamily="49" charset="-122"/>
              </a:rPr>
              <a:t>trigger event</a:t>
            </a:r>
            <a:r>
              <a:rPr lang="zh-CN" altLang="en-US" sz="1800" dirty="0">
                <a:ea typeface="楷体_GB2312" panose="02010609030101010101" pitchFamily="49" charset="-122"/>
              </a:rPr>
              <a:t>）；无触发器转移（</a:t>
            </a:r>
            <a:r>
              <a:rPr lang="en-US" altLang="zh-CN" sz="1800" dirty="0">
                <a:ea typeface="楷体_GB2312" panose="02010609030101010101" pitchFamily="49" charset="-122"/>
              </a:rPr>
              <a:t>triggerless transition</a:t>
            </a:r>
            <a:r>
              <a:rPr lang="zh-CN" altLang="en-US" sz="1800" dirty="0">
                <a:ea typeface="楷体_GB2312" panose="02010609030101010101" pitchFamily="49" charset="-122"/>
              </a:rPr>
              <a:t>）</a:t>
            </a:r>
          </a:p>
        </p:txBody>
      </p:sp>
      <p:pic>
        <p:nvPicPr>
          <p:cNvPr id="737291" name="Picture 11" descr="T8-4">
            <a:extLst>
              <a:ext uri="{FF2B5EF4-FFF2-40B4-BE49-F238E27FC236}">
                <a16:creationId xmlns:a16="http://schemas.microsoft.com/office/drawing/2014/main" id="{E1FF62B6-5D49-7848-9B15-B5D88EEC3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3721100"/>
            <a:ext cx="7777163" cy="24526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7292" name="Picture 12" descr="T8-5">
            <a:extLst>
              <a:ext uri="{FF2B5EF4-FFF2-40B4-BE49-F238E27FC236}">
                <a16:creationId xmlns:a16="http://schemas.microsoft.com/office/drawing/2014/main" id="{5E1AB4E3-2A7A-6047-9F3E-0CBE364CA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3928" r="3499" b="2864"/>
          <a:stretch>
            <a:fillRect/>
          </a:stretch>
        </p:blipFill>
        <p:spPr bwMode="auto">
          <a:xfrm>
            <a:off x="1066800" y="2338388"/>
            <a:ext cx="7797800" cy="42735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7293" name="Text Box 13">
            <a:extLst>
              <a:ext uri="{FF2B5EF4-FFF2-40B4-BE49-F238E27FC236}">
                <a16:creationId xmlns:a16="http://schemas.microsoft.com/office/drawing/2014/main" id="{808F3922-A96E-944A-9B7C-746A29404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2338388"/>
            <a:ext cx="78073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bg1"/>
                </a:solidFill>
                <a:ea typeface="楷体_GB2312" panose="02010609030101010101" pitchFamily="49" charset="-122"/>
              </a:rPr>
              <a:t>保护条件（</a:t>
            </a:r>
            <a:r>
              <a:rPr lang="en-US" altLang="zh-CN" sz="1800">
                <a:solidFill>
                  <a:schemeClr val="bg1"/>
                </a:solidFill>
                <a:ea typeface="楷体_GB2312" panose="02010609030101010101" pitchFamily="49" charset="-122"/>
              </a:rPr>
              <a:t>guard condition</a:t>
            </a:r>
            <a:r>
              <a:rPr lang="zh-CN" altLang="en-US" sz="1800">
                <a:solidFill>
                  <a:schemeClr val="bg1"/>
                </a:solidFill>
                <a:ea typeface="楷体_GB2312" panose="02010609030101010101" pitchFamily="49" charset="-122"/>
              </a:rPr>
              <a:t>）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8412DF2-82EA-BE4E-AEA6-3DAB7464C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28638"/>
            <a:ext cx="479107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状态图 </a:t>
            </a:r>
            <a:r>
              <a:rPr lang="en-US" altLang="zh-CN" sz="2400" dirty="0">
                <a:solidFill>
                  <a:srgbClr val="4E8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华文新魏" panose="02010800040101010101" pitchFamily="2" charset="-122"/>
              </a:rPr>
              <a:t>—</a:t>
            </a:r>
            <a:r>
              <a:rPr lang="en-US" altLang="zh-CN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什么是状态图</a:t>
            </a:r>
          </a:p>
        </p:txBody>
      </p:sp>
    </p:spTree>
    <p:extLst>
      <p:ext uri="{BB962C8B-B14F-4D97-AF65-F5344CB8AC3E}">
        <p14:creationId xmlns:p14="http://schemas.microsoft.com/office/powerpoint/2010/main" val="31454994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90" grpId="0"/>
      <p:bldP spid="73729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549D6D-0EBA-AE49-9FEF-EC27AFD80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28638"/>
            <a:ext cx="479107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状态图 </a:t>
            </a:r>
            <a:r>
              <a:rPr lang="en-US" altLang="zh-CN" sz="2400" dirty="0">
                <a:solidFill>
                  <a:srgbClr val="4E8F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华文新魏" panose="02010800040101010101" pitchFamily="2" charset="-122"/>
              </a:rPr>
              <a:t>—</a:t>
            </a:r>
            <a:r>
              <a:rPr lang="en-US" altLang="zh-CN" sz="24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 </a:t>
            </a:r>
            <a:r>
              <a:rPr lang="zh-CN" altLang="en-US" sz="1800" dirty="0">
                <a:solidFill>
                  <a:srgbClr val="4E8F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华文新魏" panose="02010800040101010101" pitchFamily="2" charset="-122"/>
              </a:rPr>
              <a:t>子状态</a:t>
            </a:r>
          </a:p>
        </p:txBody>
      </p:sp>
      <p:pic>
        <p:nvPicPr>
          <p:cNvPr id="19459" name="Picture 3" descr="Book-3">
            <a:hlinkClick r:id="rId3" action="ppaction://hlinksldjump"/>
            <a:extLst>
              <a:ext uri="{FF2B5EF4-FFF2-40B4-BE49-F238E27FC236}">
                <a16:creationId xmlns:a16="http://schemas.microsoft.com/office/drawing/2014/main" id="{2B6988D3-EA44-5047-83F5-017246A8E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794375"/>
            <a:ext cx="539750" cy="7572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6" descr="T8-7">
            <a:extLst>
              <a:ext uri="{FF2B5EF4-FFF2-40B4-BE49-F238E27FC236}">
                <a16:creationId xmlns:a16="http://schemas.microsoft.com/office/drawing/2014/main" id="{9CD7E44C-9A0B-1B45-902F-40B2D25F3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2082800"/>
            <a:ext cx="6284912" cy="446881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tx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61" name="Text Box 8">
            <a:extLst>
              <a:ext uri="{FF2B5EF4-FFF2-40B4-BE49-F238E27FC236}">
                <a16:creationId xmlns:a16="http://schemas.microsoft.com/office/drawing/2014/main" id="{15F177ED-B88A-6149-B2A0-D212B8EDB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1501775"/>
            <a:ext cx="78073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4E8F00"/>
                </a:solidFill>
              </a:rPr>
              <a:t>◇ </a:t>
            </a:r>
            <a:r>
              <a:rPr lang="zh-CN" altLang="en-US" sz="1800" dirty="0">
                <a:solidFill>
                  <a:srgbClr val="4E8F00"/>
                </a:solidFill>
                <a:ea typeface="楷体_GB2312" panose="02010609030101010101" pitchFamily="49" charset="-122"/>
              </a:rPr>
              <a:t>顺序子状态（</a:t>
            </a:r>
            <a:r>
              <a:rPr lang="en-US" altLang="zh-CN" sz="1800" dirty="0">
                <a:solidFill>
                  <a:srgbClr val="4E8F00"/>
                </a:solidFill>
                <a:ea typeface="楷体_GB2312" panose="02010609030101010101" pitchFamily="49" charset="-122"/>
              </a:rPr>
              <a:t>sequential substate</a:t>
            </a:r>
            <a:r>
              <a:rPr lang="zh-CN" altLang="en-US" sz="1800" dirty="0">
                <a:solidFill>
                  <a:srgbClr val="4E8F00"/>
                </a:solidFill>
                <a:ea typeface="楷体_GB2312" panose="02010609030101010101" pitchFamily="49" charset="-122"/>
              </a:rPr>
              <a:t>），并发子状态（</a:t>
            </a:r>
            <a:r>
              <a:rPr lang="en-US" altLang="zh-CN" sz="1800" dirty="0">
                <a:solidFill>
                  <a:srgbClr val="4E8F00"/>
                </a:solidFill>
                <a:ea typeface="楷体_GB2312" panose="02010609030101010101" pitchFamily="49" charset="-122"/>
              </a:rPr>
              <a:t>concurrent substate</a:t>
            </a:r>
            <a:r>
              <a:rPr lang="zh-CN" altLang="en-US" sz="1800" dirty="0">
                <a:solidFill>
                  <a:srgbClr val="4E8F00"/>
                </a:solidFill>
                <a:ea typeface="楷体_GB2312" panose="0201060903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229616"/>
      </p:ext>
    </p:extLst>
  </p:cSld>
  <p:clrMapOvr>
    <a:masterClrMapping/>
  </p:clrMapOvr>
  <p:transition spd="slow">
    <p:wip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103</a:t>
            </a:fld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7A0703E1-8A41-CA4D-B669-967B44E747C1}"/>
              </a:ext>
            </a:extLst>
          </p:cNvPr>
          <p:cNvSpPr txBox="1">
            <a:spLocks noChangeArrowheads="1"/>
          </p:cNvSpPr>
          <p:nvPr/>
        </p:nvSpPr>
        <p:spPr>
          <a:xfrm>
            <a:off x="837602" y="1283745"/>
            <a:ext cx="6688045" cy="64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9313" indent="-849313"/>
            <a:r>
              <a:rPr lang="en-US" altLang="zh-CN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2.3.4</a:t>
            </a:r>
            <a:r>
              <a:rPr lang="zh-CN" altLang="en-US" sz="23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数据词典（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DD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sym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sz="2300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  <a:p>
            <a:pPr marL="849313" indent="-849313"/>
            <a:endParaRPr lang="zh-CN" altLang="en-US" dirty="0">
              <a:solidFill>
                <a:schemeClr val="accent5">
                  <a:lumMod val="7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2193221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）什么是数据词典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数据字典：是描述数据的</a:t>
            </a:r>
            <a:r>
              <a:rPr lang="zh-CN" altLang="en-US" sz="19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信息集合</a:t>
            </a: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，是对系统中使用的所有数据元素定义的集合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数据词典：把软件中的数据精确地、严格地定义，并以字典式顺序将它们组织成词条，使得用户、分析员和开发人员有</a:t>
            </a:r>
            <a:r>
              <a:rPr lang="zh-CN" altLang="en-US" sz="19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共同的理解</a:t>
            </a:r>
            <a:endParaRPr lang="en-US" altLang="zh-CN" sz="1900" dirty="0">
              <a:solidFill>
                <a:schemeClr val="tx2"/>
              </a:solidFill>
              <a:highlight>
                <a:srgbClr val="FFFF00"/>
              </a:highlight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38759" lvl="1" indent="-400050">
              <a:spcBef>
                <a:spcPts val="600"/>
              </a:spcBef>
              <a:spcAft>
                <a:spcPts val="600"/>
              </a:spcAft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数据流图和数据字典共同构成系统的逻辑模型</a:t>
            </a:r>
            <a:endParaRPr lang="en-US" altLang="zh-CN" sz="1900" dirty="0">
              <a:solidFill>
                <a:schemeClr val="tx2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Picture 4" descr="E:\fdoc\teach\教案\软件工程_研究生同等学历\软件工程_研究生同等学历.part01\download\211.101.171.24\courses\GD\jsj\GD_jsj_024y\images\images\chapter02\2_6.gif">
            <a:extLst>
              <a:ext uri="{FF2B5EF4-FFF2-40B4-BE49-F238E27FC236}">
                <a16:creationId xmlns:a16="http://schemas.microsoft.com/office/drawing/2014/main" id="{362094FE-B081-E546-8FF2-05FA53ACE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54" y="476194"/>
            <a:ext cx="3659727" cy="226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576328"/>
      </p:ext>
    </p:extLst>
  </p:cSld>
  <p:clrMapOvr>
    <a:masterClrMapping/>
  </p:clrMapOvr>
  <p:transition spd="slow">
    <p:wip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104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66480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）数据词典的组织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9525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rgbClr val="7030A0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结构化分析建模中的</a:t>
            </a:r>
            <a:r>
              <a:rPr lang="en-US" altLang="zh-CN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种数据：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只含一个数据的</a:t>
            </a:r>
            <a:r>
              <a:rPr lang="zh-CN" altLang="en-US" sz="19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数据项</a:t>
            </a: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（或数据元素、数据流分量）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由多个相关数据项组成的</a:t>
            </a:r>
            <a:r>
              <a:rPr lang="zh-CN" altLang="en-US" sz="19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数据流</a:t>
            </a: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（复合数据）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数据文件或数据存储</a:t>
            </a:r>
            <a:endParaRPr lang="en-US" altLang="zh-CN" sz="1900" dirty="0">
              <a:solidFill>
                <a:schemeClr val="tx2"/>
              </a:solidFill>
              <a:highlight>
                <a:srgbClr val="FFFF00"/>
              </a:highlight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EC877AB5-B40A-1748-B20D-3690A21FCD70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</p:spTree>
    <p:extLst>
      <p:ext uri="{BB962C8B-B14F-4D97-AF65-F5344CB8AC3E}">
        <p14:creationId xmlns:p14="http://schemas.microsoft.com/office/powerpoint/2010/main" val="1694692132"/>
      </p:ext>
    </p:extLst>
  </p:cSld>
  <p:clrMapOvr>
    <a:masterClrMapping/>
  </p:clrMapOvr>
  <p:transition spd="slow">
    <p:wip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105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66480"/>
            <a:ext cx="7402272" cy="3925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）数据词典的组织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9525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rgbClr val="7030A0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由数据元素组成数据的</a:t>
            </a:r>
            <a:r>
              <a:rPr lang="en-US" altLang="zh-CN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种方式：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顺序：即以确定次序连接两个或更多的分量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选择：即从两个或更多的分量中选择其中一个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重复：即把选定的分量重复</a:t>
            </a:r>
            <a:r>
              <a:rPr lang="en-US" altLang="zh-CN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0</a:t>
            </a:r>
            <a:r>
              <a:rPr lang="zh-CN" altLang="en-US" sz="19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次或多次</a:t>
            </a:r>
            <a:endParaRPr lang="en-US" altLang="zh-CN" sz="19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01DB64F8-3A11-984D-BC85-07263C6BE4C5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</p:spTree>
    <p:extLst>
      <p:ext uri="{BB962C8B-B14F-4D97-AF65-F5344CB8AC3E}">
        <p14:creationId xmlns:p14="http://schemas.microsoft.com/office/powerpoint/2010/main" val="1310301998"/>
      </p:ext>
    </p:extLst>
  </p:cSld>
  <p:clrMapOvr>
    <a:masterClrMapping/>
  </p:clrMapOvr>
  <p:transition spd="slow">
    <p:wip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106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71246"/>
            <a:ext cx="7402272" cy="4950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数据词典的词条中应包含的信息</a:t>
            </a:r>
            <a:endParaRPr lang="en-US" altLang="zh-CN" sz="2100" dirty="0">
              <a:solidFill>
                <a:srgbClr val="000000"/>
              </a:solidFill>
              <a:latin typeface="微软雅黑" panose="020B0503020204020204" pitchFamily="34" charset="-122"/>
            </a:endParaRPr>
          </a:p>
          <a:p>
            <a:pPr marL="9525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rgbClr val="7030A0"/>
                </a:solidFill>
                <a:sym typeface="微软雅黑" panose="020B0503020204020204" pitchFamily="34" charset="-122"/>
              </a:rPr>
              <a:t>	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应包含的信息如下：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名称</a:t>
            </a:r>
            <a:endParaRPr lang="en-US" altLang="zh-CN" sz="18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别名或编号</a:t>
            </a: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组成或组织</a:t>
            </a:r>
            <a:r>
              <a:rPr lang="zh-CN" altLang="en-US" sz="18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结构</a:t>
            </a: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的描述</a:t>
            </a:r>
            <a:endParaRPr lang="en-US" altLang="zh-CN" sz="18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8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类型、长度、取值范围</a:t>
            </a: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等</a:t>
            </a: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18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何处使用</a:t>
            </a: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：使用该词条的加工</a:t>
            </a:r>
            <a:endParaRPr lang="en-US" altLang="zh-CN" sz="18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77FCCFD9-AA56-1949-8A9D-62D686282AD6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</p:spTree>
    <p:extLst>
      <p:ext uri="{BB962C8B-B14F-4D97-AF65-F5344CB8AC3E}">
        <p14:creationId xmlns:p14="http://schemas.microsoft.com/office/powerpoint/2010/main" val="4134579883"/>
      </p:ext>
    </p:extLst>
  </p:cSld>
  <p:clrMapOvr>
    <a:masterClrMapping/>
  </p:clrMapOvr>
  <p:transition spd="slow">
    <p:wip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107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A0840FA-35D1-1E48-9F73-6974BD3C7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61029"/>
              </p:ext>
            </p:extLst>
          </p:nvPr>
        </p:nvGraphicFramePr>
        <p:xfrm>
          <a:off x="765511" y="2419741"/>
          <a:ext cx="7626645" cy="3979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8866">
                  <a:extLst>
                    <a:ext uri="{9D8B030D-6E8A-4147-A177-3AD203B41FA5}">
                      <a16:colId xmlns:a16="http://schemas.microsoft.com/office/drawing/2014/main" val="475217668"/>
                    </a:ext>
                  </a:extLst>
                </a:gridCol>
              </a:tblGrid>
              <a:tr h="5180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</a:rPr>
                        <a:t>符号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6858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  <a:sym typeface="Calibri" panose="020F0502020204030204" pitchFamily="34" charset="0"/>
                        </a:rPr>
                        <a:t>含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  <a:sym typeface="Calibri" panose="020F0502020204030204" pitchFamily="34" charset="0"/>
                        </a:rPr>
                        <a:t>      </a:t>
                      </a:r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+mn-cs"/>
                          <a:sym typeface="Calibri" panose="020F0502020204030204" pitchFamily="34" charset="0"/>
                        </a:rPr>
                        <a:t>义</a:t>
                      </a:r>
                      <a:endParaRPr lang="zh-CN" altLang="zh-C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=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等价于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、定义为，即符号“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=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”左边的部分由右边部分组成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6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+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和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的意思，起连接作用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[ ]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表示：符号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[ ]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括起来的部分是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可选项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336593106"/>
                  </a:ext>
                </a:extLst>
              </a:tr>
              <a:tr h="6675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{ }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 marL="625475" indent="-625475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625475" marR="0" lvl="0" indent="-6254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表示：符号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{ }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括起来的部分是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可重复项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。例如，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1{…}5 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表示花括号内的分量可重复最少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1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次、最多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5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次、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6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( )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表示：符号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( )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括起来的部分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可有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/</a:t>
                      </a: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可无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6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*...*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Calibri" panose="020F0502020204030204" pitchFamily="34" charset="0"/>
                      </a:endParaRPr>
                    </a:p>
                  </a:txBody>
                  <a:tcPr marL="77268" marR="77268" marT="0" marB="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zh-CN" sz="16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Calibri" panose="020F0502020204030204" pitchFamily="34" charset="0"/>
                        </a:rPr>
                        <a:t>表示：限定的注释</a:t>
                      </a:r>
                    </a:p>
                  </a:txBody>
                  <a:tcPr marL="77268" marR="77268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云形 14">
            <a:extLst>
              <a:ext uri="{FF2B5EF4-FFF2-40B4-BE49-F238E27FC236}">
                <a16:creationId xmlns:a16="http://schemas.microsoft.com/office/drawing/2014/main" id="{D060DC1A-A1BA-9040-969F-570E3C8DB94B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1DD4B31E-965B-8D4E-AC2C-D974A4E7665A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66481"/>
            <a:ext cx="7402272" cy="748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）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数据词典中各种符号的含义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5639147"/>
      </p:ext>
    </p:extLst>
  </p:cSld>
  <p:clrMapOvr>
    <a:masterClrMapping/>
  </p:clrMapOvr>
  <p:transition spd="slow">
    <p:wip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108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71246"/>
            <a:ext cx="7402272" cy="4950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某商场订货系统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假定讨论的对象是待开发的某商场订货系统</a:t>
            </a:r>
            <a:endParaRPr lang="en-US" altLang="zh-CN" sz="18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该系统的入库单格式如表所示。</a:t>
            </a:r>
            <a:r>
              <a:rPr lang="zh-CN" altLang="en-US" sz="18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库存帐</a:t>
            </a: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包括：货物代号、货物名称、类型、规格、款式、数量、单价、单位、供应商名称等基本信息，每个货物一页帐。每发生一笔入出库业务都需要对库存帐更新</a:t>
            </a:r>
            <a:endParaRPr lang="en-US" altLang="zh-CN" sz="1800" dirty="0">
              <a:solidFill>
                <a:schemeClr val="tx2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chemeClr val="tx2"/>
                </a:solidFill>
                <a:sym typeface="Calibri" panose="020F0502020204030204" pitchFamily="34" charset="0"/>
              </a:rPr>
              <a:t>该系统的入库单格式如表所示</a:t>
            </a:r>
            <a:endParaRPr lang="en-US" altLang="zh-CN" sz="1800" dirty="0">
              <a:solidFill>
                <a:schemeClr val="tx2"/>
              </a:solidFill>
              <a:sym typeface="Calibri" panose="020F0502020204030204" pitchFamily="34" charset="0"/>
            </a:endParaRPr>
          </a:p>
          <a:p>
            <a:pPr marL="795909" lvl="1" indent="-457200">
              <a:spcBef>
                <a:spcPts val="600"/>
              </a:spcBef>
              <a:spcAft>
                <a:spcPts val="600"/>
              </a:spcAft>
            </a:pPr>
            <a:r>
              <a:rPr lang="zh-CN" altLang="en-US" sz="1800" dirty="0">
                <a:solidFill>
                  <a:schemeClr val="tx2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请用数据词典的组织和说明方法给出</a:t>
            </a:r>
            <a:r>
              <a:rPr lang="zh-CN" altLang="en-US" sz="1800" dirty="0">
                <a:solidFill>
                  <a:schemeClr val="tx2"/>
                </a:solidFill>
                <a:highlight>
                  <a:srgbClr val="FFFF00"/>
                </a:highlight>
                <a:latin typeface="Calibri" panose="020F0502020204030204" pitchFamily="34" charset="0"/>
                <a:sym typeface="Calibri" panose="020F0502020204030204" pitchFamily="34" charset="0"/>
              </a:rPr>
              <a:t>入库单的词条</a:t>
            </a:r>
            <a:endParaRPr lang="zh-CN" altLang="en-US" sz="1800" dirty="0">
              <a:solidFill>
                <a:schemeClr val="tx2"/>
              </a:solidFill>
              <a:highlight>
                <a:srgbClr val="FFFF00"/>
              </a:highlight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45000"/>
              </a:lnSpc>
              <a:spcBef>
                <a:spcPts val="600"/>
              </a:spcBef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77FCCFD9-AA56-1949-8A9D-62D686282AD6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</p:spTree>
    <p:extLst>
      <p:ext uri="{BB962C8B-B14F-4D97-AF65-F5344CB8AC3E}">
        <p14:creationId xmlns:p14="http://schemas.microsoft.com/office/powerpoint/2010/main" val="3426231252"/>
      </p:ext>
    </p:extLst>
  </p:cSld>
  <p:clrMapOvr>
    <a:masterClrMapping/>
  </p:clrMapOvr>
  <p:transition spd="slow">
    <p:wip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ECBD7DD3-A000-A74F-B7EC-923D2B9E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616623" cy="228600"/>
          </a:xfrm>
        </p:spPr>
        <p:txBody>
          <a:bodyPr/>
          <a:lstStyle/>
          <a:p>
            <a:fld id="{15998C56-F1EC-7C41-BBB0-25F64AC8BC81}" type="datetime1">
              <a:rPr lang="zh-CN" altLang="en-US" smtClean="0"/>
              <a:t>2025/2/24</a:t>
            </a:fld>
            <a:endParaRPr lang="zh-CN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66CD375A-2ABF-FF4F-BA57-800C3946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606" y="6629400"/>
            <a:ext cx="6858194" cy="228600"/>
          </a:xfrm>
        </p:spPr>
        <p:txBody>
          <a:bodyPr/>
          <a:lstStyle/>
          <a:p>
            <a:r>
              <a:rPr lang="zh-CN" altLang="en-US" dirty="0"/>
              <a:t>重庆大学大数据与软件学院</a:t>
            </a:r>
          </a:p>
        </p:txBody>
      </p: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65892D28-507E-B949-A01D-BF79489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29400"/>
            <a:ext cx="457200" cy="228600"/>
          </a:xfrm>
        </p:spPr>
        <p:txBody>
          <a:bodyPr/>
          <a:lstStyle/>
          <a:p>
            <a:fld id="{9CD8D479-8942-46E8-A226-A4E01F7A105C}" type="slidenum">
              <a:rPr lang="en-US" altLang="zh-CN" smtClean="0"/>
              <a:pPr/>
              <a:t>109</a:t>
            </a:fld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6AE7AF-FD46-164E-8A41-C7719D032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313" y="173261"/>
            <a:ext cx="8265477" cy="902005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4E8F00"/>
                </a:solidFill>
              </a:rPr>
              <a:t>2.3 </a:t>
            </a:r>
            <a:r>
              <a:rPr lang="zh-CN" altLang="en-US" dirty="0">
                <a:solidFill>
                  <a:srgbClr val="4E8F00"/>
                </a:solidFill>
              </a:rPr>
              <a:t> </a:t>
            </a:r>
            <a:r>
              <a:rPr lang="zh-CN" altLang="en-US" dirty="0">
                <a:solidFill>
                  <a:srgbClr val="4E8F00"/>
                </a:solidFill>
                <a:sym typeface="微软雅黑" panose="020B0503020204020204" pitchFamily="34" charset="-122"/>
              </a:rPr>
              <a:t>结构化分析建模</a:t>
            </a:r>
            <a:endParaRPr lang="zh-CN" altLang="en-US" dirty="0">
              <a:solidFill>
                <a:srgbClr val="4E8F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B435CE-6C82-FD45-A7BF-56B419EA8BE4}"/>
              </a:ext>
            </a:extLst>
          </p:cNvPr>
          <p:cNvSpPr txBox="1">
            <a:spLocks noChangeArrowheads="1"/>
          </p:cNvSpPr>
          <p:nvPr/>
        </p:nvSpPr>
        <p:spPr>
          <a:xfrm>
            <a:off x="837601" y="1471247"/>
            <a:ext cx="7402272" cy="819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825"/>
              </a:spcBef>
              <a:buFont typeface="Arial" panose="020B0604020202020204" pitchFamily="34" charset="0"/>
              <a:buNone/>
              <a:defRPr lang="zh-CN" sz="22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9184" indent="-116586" algn="l" defTabSz="685800" rtl="0" eaLnBrk="1" latinLnBrk="0" hangingPunct="1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07492" indent="-116586" algn="l" defTabSz="685800" rtl="0" eaLnBrk="1" latinLnBrk="0" hangingPunct="1">
              <a:lnSpc>
                <a:spcPct val="13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600" kern="1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defRPr>
            </a:lvl3pPr>
            <a:lvl4pPr marL="6789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4pPr>
            <a:lvl5pPr marL="8503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Microsoft YaHei UI" panose="020B0503020204020204" pitchFamily="34" charset="-122"/>
                <a:cs typeface="+mn-cs"/>
              </a:defRPr>
            </a:lvl5pPr>
            <a:lvl6pPr marL="10218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932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6474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36192" indent="-116586" algn="l" defTabSz="6858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spcBef>
                <a:spcPts val="600"/>
              </a:spcBef>
              <a:spcAft>
                <a:spcPts val="600"/>
              </a:spcAft>
            </a:pP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</a:rPr>
              <a:t>实例</a:t>
            </a:r>
            <a:r>
              <a:rPr lang="zh-CN" altLang="en-US" sz="21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某商场订货系统 </a:t>
            </a:r>
            <a:r>
              <a:rPr lang="en-US" altLang="zh-CN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–</a:t>
            </a:r>
            <a:r>
              <a:rPr lang="zh-CN" altLang="en-US" sz="2000" dirty="0">
                <a:solidFill>
                  <a:srgbClr val="7030A0"/>
                </a:solidFill>
                <a:sym typeface="微软雅黑" panose="020B0503020204020204" pitchFamily="34" charset="-122"/>
              </a:rPr>
              <a:t> 商场入库单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342900" lvl="1" indent="-342900">
              <a:lnSpc>
                <a:spcPct val="125000"/>
              </a:lnSpc>
              <a:spcBef>
                <a:spcPts val="600"/>
              </a:spcBef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77FCCFD9-AA56-1949-8A9D-62D686282AD6}"/>
              </a:ext>
            </a:extLst>
          </p:cNvPr>
          <p:cNvSpPr/>
          <p:nvPr/>
        </p:nvSpPr>
        <p:spPr>
          <a:xfrm>
            <a:off x="5774931" y="739739"/>
            <a:ext cx="2360831" cy="1245004"/>
          </a:xfrm>
          <a:prstGeom prst="cloud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数据词典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057800D-7214-4A43-AF2A-7C3F49697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90301"/>
              </p:ext>
            </p:extLst>
          </p:nvPr>
        </p:nvGraphicFramePr>
        <p:xfrm>
          <a:off x="1073823" y="3876987"/>
          <a:ext cx="6395865" cy="2241274"/>
        </p:xfrm>
        <a:graphic>
          <a:graphicData uri="http://schemas.openxmlformats.org/drawingml/2006/table">
            <a:tbl>
              <a:tblPr/>
              <a:tblGrid>
                <a:gridCol w="994073">
                  <a:extLst>
                    <a:ext uri="{9D8B030D-6E8A-4147-A177-3AD203B41FA5}">
                      <a16:colId xmlns:a16="http://schemas.microsoft.com/office/drawing/2014/main" val="2069048773"/>
                    </a:ext>
                  </a:extLst>
                </a:gridCol>
                <a:gridCol w="853861">
                  <a:extLst>
                    <a:ext uri="{9D8B030D-6E8A-4147-A177-3AD203B41FA5}">
                      <a16:colId xmlns:a16="http://schemas.microsoft.com/office/drawing/2014/main" val="719580863"/>
                    </a:ext>
                  </a:extLst>
                </a:gridCol>
                <a:gridCol w="568042">
                  <a:extLst>
                    <a:ext uri="{9D8B030D-6E8A-4147-A177-3AD203B41FA5}">
                      <a16:colId xmlns:a16="http://schemas.microsoft.com/office/drawing/2014/main" val="1239650838"/>
                    </a:ext>
                  </a:extLst>
                </a:gridCol>
                <a:gridCol w="568042">
                  <a:extLst>
                    <a:ext uri="{9D8B030D-6E8A-4147-A177-3AD203B41FA5}">
                      <a16:colId xmlns:a16="http://schemas.microsoft.com/office/drawing/2014/main" val="1753449038"/>
                    </a:ext>
                  </a:extLst>
                </a:gridCol>
                <a:gridCol w="568042">
                  <a:extLst>
                    <a:ext uri="{9D8B030D-6E8A-4147-A177-3AD203B41FA5}">
                      <a16:colId xmlns:a16="http://schemas.microsoft.com/office/drawing/2014/main" val="2558610169"/>
                    </a:ext>
                  </a:extLst>
                </a:gridCol>
                <a:gridCol w="569839">
                  <a:extLst>
                    <a:ext uri="{9D8B030D-6E8A-4147-A177-3AD203B41FA5}">
                      <a16:colId xmlns:a16="http://schemas.microsoft.com/office/drawing/2014/main" val="3525261658"/>
                    </a:ext>
                  </a:extLst>
                </a:gridCol>
                <a:gridCol w="568042">
                  <a:extLst>
                    <a:ext uri="{9D8B030D-6E8A-4147-A177-3AD203B41FA5}">
                      <a16:colId xmlns:a16="http://schemas.microsoft.com/office/drawing/2014/main" val="4117901922"/>
                    </a:ext>
                  </a:extLst>
                </a:gridCol>
                <a:gridCol w="568042">
                  <a:extLst>
                    <a:ext uri="{9D8B030D-6E8A-4147-A177-3AD203B41FA5}">
                      <a16:colId xmlns:a16="http://schemas.microsoft.com/office/drawing/2014/main" val="3455059323"/>
                    </a:ext>
                  </a:extLst>
                </a:gridCol>
                <a:gridCol w="1137882">
                  <a:extLst>
                    <a:ext uri="{9D8B030D-6E8A-4147-A177-3AD203B41FA5}">
                      <a16:colId xmlns:a16="http://schemas.microsoft.com/office/drawing/2014/main" val="198660568"/>
                    </a:ext>
                  </a:extLst>
                </a:gridCol>
              </a:tblGrid>
              <a:tr h="320182">
                <a:tc gridSpan="9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某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商场入库单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1008"/>
                  </a:ext>
                </a:extLst>
              </a:tr>
              <a:tr h="320182">
                <a:tc gridSpan="9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入库单号：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         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入库日期：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月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日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421306"/>
                  </a:ext>
                </a:extLst>
              </a:tr>
              <a:tr h="320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货物代号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货物名称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款式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规格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单位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单价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供应商名称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51856"/>
                  </a:ext>
                </a:extLst>
              </a:tr>
              <a:tr h="320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97175"/>
                  </a:ext>
                </a:extLst>
              </a:tr>
              <a:tr h="320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84873"/>
                  </a:ext>
                </a:extLst>
              </a:tr>
              <a:tr h="3201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02288"/>
                  </a:ext>
                </a:extLst>
              </a:tr>
              <a:tr h="320182">
                <a:tc gridSpan="9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入库人员：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                     </a:t>
                      </a:r>
                      <a:r>
                        <a:rPr kumimoji="0" lang="zh-CN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仓库主任：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343483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B91BFDE-FA94-FC41-A3E3-EFFD75AC2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63401"/>
              </p:ext>
            </p:extLst>
          </p:nvPr>
        </p:nvGraphicFramePr>
        <p:xfrm>
          <a:off x="2950768" y="430158"/>
          <a:ext cx="5648325" cy="319125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648325">
                  <a:extLst>
                    <a:ext uri="{9D8B030D-6E8A-4147-A177-3AD203B41FA5}">
                      <a16:colId xmlns:a16="http://schemas.microsoft.com/office/drawing/2014/main" val="2511171413"/>
                    </a:ext>
                  </a:extLst>
                </a:gridCol>
              </a:tblGrid>
              <a:tr h="3871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数据流名：入库单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96494"/>
                  </a:ext>
                </a:extLst>
              </a:tr>
              <a:tr h="3871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别名：无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8793"/>
                  </a:ext>
                </a:extLst>
              </a:tr>
              <a:tr h="9856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组织结构的描述：入库单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入库单号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入库日期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+1{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货物代号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货物名称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款式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规格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数量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单位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单价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供应商名称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}3+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入库人员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仓库主任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80877"/>
                  </a:ext>
                </a:extLst>
              </a:tr>
              <a:tr h="3871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组成：按入库单号从小到大排列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952474"/>
                  </a:ext>
                </a:extLst>
              </a:tr>
              <a:tr h="3871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何处使用：由入库人员产生，由处理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“办理入库”接受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99331"/>
                  </a:ext>
                </a:extLst>
              </a:tr>
              <a:tr h="65707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sym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备注：组织结构的描述中的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花括号内部分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</a:t>
                      </a: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重复的下界和上界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788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338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A0D5A0F-2ACC-504C-8AA9-52D19E10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33" y="2502998"/>
            <a:ext cx="5212080" cy="926002"/>
          </a:xfrm>
        </p:spPr>
        <p:txBody>
          <a:bodyPr/>
          <a:lstStyle/>
          <a:p>
            <a:r>
              <a:rPr lang="zh-CN" altLang="en-US" dirty="0"/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23475476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试验1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试验1" id="{D0FC9D1F-E22A-42E8-A7DA-057A10670BAD}" vid="{05874D67-174A-4DBA-8E33-E98A4D4F3B7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试验1</Template>
  <TotalTime>0</TotalTime>
  <Words>8199</Words>
  <Application>Microsoft Office PowerPoint</Application>
  <PresentationFormat>全屏显示(4:3)</PresentationFormat>
  <Paragraphs>1784</Paragraphs>
  <Slides>110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110</vt:i4>
      </vt:variant>
    </vt:vector>
  </HeadingPairs>
  <TitlesOfParts>
    <vt:vector size="128" baseType="lpstr">
      <vt:lpstr>Microsoft YaHei UI</vt:lpstr>
      <vt:lpstr>黑体</vt:lpstr>
      <vt:lpstr>华文中宋</vt:lpstr>
      <vt:lpstr>楷体_GB2312</vt:lpstr>
      <vt:lpstr>隶书</vt:lpstr>
      <vt:lpstr>宋体</vt:lpstr>
      <vt:lpstr>Microsoft YaHei</vt:lpstr>
      <vt:lpstr>Microsoft YaHei</vt:lpstr>
      <vt:lpstr>幼圆</vt:lpstr>
      <vt:lpstr>Arial</vt:lpstr>
      <vt:lpstr>Calibri</vt:lpstr>
      <vt:lpstr>Corbel</vt:lpstr>
      <vt:lpstr>Tahoma</vt:lpstr>
      <vt:lpstr>Times New Roman</vt:lpstr>
      <vt:lpstr>Wingdings</vt:lpstr>
      <vt:lpstr>试验1</vt:lpstr>
      <vt:lpstr>Visio</vt:lpstr>
      <vt:lpstr>Visio.Drawing.11</vt:lpstr>
      <vt:lpstr>软件工程导论</vt:lpstr>
      <vt:lpstr>PowerPoint 演示文稿</vt:lpstr>
      <vt:lpstr>第 2 章   软件需求分析</vt:lpstr>
      <vt:lpstr>2.1  软件需求分析的概念</vt:lpstr>
      <vt:lpstr>2.1  软件需求分析的概念</vt:lpstr>
      <vt:lpstr>2.1  软件需求分析的概念 - 需求分析的任务</vt:lpstr>
      <vt:lpstr>2.1  软件需求分析的概念 - 需求分析的任务</vt:lpstr>
      <vt:lpstr>PowerPoint 演示文稿</vt:lpstr>
      <vt:lpstr>PowerPoint 演示文稿</vt:lpstr>
      <vt:lpstr>PowerPoint 演示文稿</vt:lpstr>
      <vt:lpstr>PowerPoint 演示文稿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2.1  软件需求分析的概念 - 软件需求分析的过程</vt:lpstr>
      <vt:lpstr>第 2 章   软件需求分析</vt:lpstr>
      <vt:lpstr>1.4  软件工程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2.2  结构化分析方法</vt:lpstr>
      <vt:lpstr>第 2 章   软件需求分析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PowerPoint 演示文稿</vt:lpstr>
      <vt:lpstr>PowerPoint 演示文稿</vt:lpstr>
      <vt:lpstr>PowerPoint 演示文稿</vt:lpstr>
      <vt:lpstr>PowerPoint 演示文稿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2.3  结构化分析建模</vt:lpstr>
      <vt:lpstr>本章结束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2013-08-19T11:32:30Z</dcterms:created>
  <dcterms:modified xsi:type="dcterms:W3CDTF">2025-02-24T10:05:04Z</dcterms:modified>
</cp:coreProperties>
</file>