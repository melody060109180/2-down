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webp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30.png"/><Relationship Id="rId3" Type="http://schemas.openxmlformats.org/officeDocument/2006/relationships/tags" Target="../tags/tag2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1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4.png"/><Relationship Id="rId17" Type="http://schemas.openxmlformats.org/officeDocument/2006/relationships/image" Target="../media/image33.pn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32.pn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" y="14129"/>
            <a:ext cx="9129713" cy="512921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42963" y="1829693"/>
            <a:ext cx="7458075" cy="580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kern="0" spc="2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具身智能：前沿技术演进与工业落地实战</a:t>
            </a:r>
            <a:endParaRPr lang="en-US" sz="2850" dirty="0"/>
          </a:p>
        </p:txBody>
      </p:sp>
      <p:sp>
        <p:nvSpPr>
          <p:cNvPr id="6" name="Text 1"/>
          <p:cNvSpPr/>
          <p:nvPr/>
        </p:nvSpPr>
        <p:spPr>
          <a:xfrm>
            <a:off x="921703" y="3024485"/>
            <a:ext cx="7458075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从端到端模型到工厂产线部署</a:t>
            </a:r>
            <a:endParaRPr lang="en-US" sz="1500" dirty="0"/>
          </a:p>
        </p:txBody>
      </p:sp>
      <p:sp>
        <p:nvSpPr>
          <p:cNvPr id="7" name="文本框 6"/>
          <p:cNvSpPr txBox="1"/>
          <p:nvPr/>
        </p:nvSpPr>
        <p:spPr>
          <a:xfrm>
            <a:off x="971550" y="3999230"/>
            <a:ext cx="2545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汇报人：</a:t>
            </a:r>
            <a:r>
              <a:rPr lang="zh-CN" altLang="en-US"/>
              <a:t>罗健彬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860800" y="730250"/>
            <a:ext cx="1309370" cy="39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第</a:t>
            </a:r>
            <a:r>
              <a:rPr lang="en-US" altLang="zh-CN" sz="2400"/>
              <a:t>27</a:t>
            </a:r>
            <a:r>
              <a:rPr lang="zh-CN" altLang="en-US" sz="2400"/>
              <a:t>组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5247640" y="3999230"/>
            <a:ext cx="413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组员：罗健彬</a:t>
            </a:r>
            <a:r>
              <a:rPr lang="en-US" altLang="zh-CN"/>
              <a:t>     </a:t>
            </a:r>
            <a:r>
              <a:rPr lang="zh-CN" altLang="en-US"/>
              <a:t>王昊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794" y="413445"/>
            <a:ext cx="4461942" cy="330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技术底座：从规则驱动转向端到端 VLA 模型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35769" y="1007269"/>
            <a:ext cx="3630337" cy="1049741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234976"/>
            <a:ext cx="160734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0822" y="1185863"/>
            <a:ext cx="1100138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端到端控制架构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614363" y="1498402"/>
            <a:ext cx="3273149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视觉-语言-动作（VLA）模型直接将感知数据转化为执行指令，显著减少了传统分层架构中的累积误差与延迟。</a:t>
            </a:r>
            <a:endParaRPr lang="en-US" sz="850" dirty="0"/>
          </a:p>
        </p:txBody>
      </p:sp>
      <p:sp>
        <p:nvSpPr>
          <p:cNvPr id="9" name="Shape 4"/>
          <p:cNvSpPr/>
          <p:nvPr/>
        </p:nvSpPr>
        <p:spPr>
          <a:xfrm>
            <a:off x="435769" y="2257034"/>
            <a:ext cx="3630337" cy="1049741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484741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675" y="2435628"/>
            <a:ext cx="1100138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零样本泛化能力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14363" y="2748167"/>
            <a:ext cx="3273149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依托大规模预训练，机器人能够理解非预设的自然语言指令，在面对未见过的工件或环境时具备更强的适应性。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435769" y="3506800"/>
            <a:ext cx="3630337" cy="1049741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734507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8675" y="3685394"/>
            <a:ext cx="1126396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典型代表：RT-2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14363" y="3997933"/>
            <a:ext cx="3273149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Google DeepMind 的 RT-2 模型展示了如何将互联网规模的知识迁移至机器人控制，提升了复杂任务的处理效率。</a:t>
            </a:r>
            <a:endParaRPr lang="en-US" sz="850" dirty="0"/>
          </a:p>
        </p:txBody>
      </p:sp>
      <p:sp>
        <p:nvSpPr>
          <p:cNvPr id="17" name="Shape 10"/>
          <p:cNvSpPr/>
          <p:nvPr/>
        </p:nvSpPr>
        <p:spPr>
          <a:xfrm>
            <a:off x="4351855" y="1060261"/>
            <a:ext cx="4356376" cy="34290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012" y="1376818"/>
            <a:ext cx="4142063" cy="2795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794" y="413445"/>
            <a:ext cx="4343400" cy="330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仿真与交互：物理规律预测与高精度灵巧手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35769" y="1007269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1196578"/>
            <a:ext cx="128588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8669" y="1150144"/>
            <a:ext cx="11430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物理规律仿真预测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78644" y="1428750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NVIDIA Cosmos 等世界模型通过视频生成技术，为机器人提供符合物理定律的预演环境，实现决策前的动作仿真。</a:t>
            </a:r>
            <a:endParaRPr lang="en-US" sz="800" dirty="0"/>
          </a:p>
        </p:txBody>
      </p:sp>
      <p:sp>
        <p:nvSpPr>
          <p:cNvPr id="9" name="Shape 4"/>
          <p:cNvSpPr/>
          <p:nvPr/>
        </p:nvSpPr>
        <p:spPr>
          <a:xfrm>
            <a:off x="435769" y="2071688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4" y="2260997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381" y="2214563"/>
            <a:ext cx="10001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触觉感知灵巧手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78644" y="2493169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集成阵列式触觉传感器，实现毫米级力控精度，支持处理易碎品及精密组装任务，是具身智能与物理世界交互的关键。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435769" y="3136106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3325416"/>
            <a:ext cx="100013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50094" y="3278981"/>
            <a:ext cx="85725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合成数据闭环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578644" y="3557588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利用仿真环境生成海量高质量合成数据，有效解决了真实场景交互数据获取成本高、长尾场景覆盖不足的瓶颈。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4351855" y="1007269"/>
            <a:ext cx="4356376" cy="164306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740" y="1078706"/>
            <a:ext cx="3482578" cy="150018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351855" y="2793206"/>
            <a:ext cx="4356376" cy="164306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936" y="2864644"/>
            <a:ext cx="1500188" cy="15001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794" y="413445"/>
            <a:ext cx="3657600" cy="330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海外实战：汽车总装线的自动化尝试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35769" y="1007269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1196578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4381" y="1150144"/>
            <a:ext cx="1635333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Figure 02：宝马工厂实测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78644" y="1428750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在宝马斯帕坦堡工厂完成 20 小时连续作业，验证了机器人在真实工业环境下抓取、放置钣金件的稳定性与可靠性。</a:t>
            </a:r>
            <a:endParaRPr lang="en-US" sz="800" dirty="0"/>
          </a:p>
        </p:txBody>
      </p:sp>
      <p:sp>
        <p:nvSpPr>
          <p:cNvPr id="9" name="Shape 4"/>
          <p:cNvSpPr/>
          <p:nvPr/>
        </p:nvSpPr>
        <p:spPr>
          <a:xfrm>
            <a:off x="435769" y="2071688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4" y="2260997"/>
            <a:ext cx="85725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5806" y="2214563"/>
            <a:ext cx="1688269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Tesla Optimus：电池搬运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78644" y="2493169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在德州超级工厂执行电池单元分拣与搬运任务，利用 FSD 同源视觉算法实现环境感知，探索人形机器人的量产路径。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435769" y="3136106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3325416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4381" y="3278981"/>
            <a:ext cx="5715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实战意义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578644" y="3557588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标志着人形机器人从实验室演示转向真实的工业节拍匹配，验证了其作为通用生产力工具的初步可行性。</a:t>
            </a:r>
            <a:endParaRPr lang="en-US" sz="800" dirty="0"/>
          </a:p>
        </p:txBody>
      </p:sp>
      <p:pic>
        <p:nvPicPr>
          <p:cNvPr id="2" name="图片 1"/>
          <p:cNvPicPr/>
          <p:nvPr/>
        </p:nvPicPr>
        <p:blipFill>
          <a:blip r:embed="rId5"/>
          <a:stretch>
            <a:fillRect/>
          </a:stretch>
        </p:blipFill>
        <p:spPr>
          <a:xfrm>
            <a:off x="4560570" y="401320"/>
            <a:ext cx="3756025" cy="210439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6"/>
          <a:stretch>
            <a:fillRect/>
          </a:stretch>
        </p:blipFill>
        <p:spPr>
          <a:xfrm>
            <a:off x="4560570" y="2493010"/>
            <a:ext cx="3754755" cy="2329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794" y="413445"/>
            <a:ext cx="4013336" cy="330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国内进展：3C 电子制造产线的深度部署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35769" y="1007269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1196578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4381" y="1150144"/>
            <a:ext cx="1516177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智元 G2：精密组装实战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78644" y="1428750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在电子产线执行插拔、组装等高精度任务，适配 3C 行业产品更迭快、工位复杂的特点，展现了国产机器人的落地速度。</a:t>
            </a:r>
            <a:endParaRPr lang="en-US" sz="800" dirty="0"/>
          </a:p>
        </p:txBody>
      </p:sp>
      <p:sp>
        <p:nvSpPr>
          <p:cNvPr id="9" name="Shape 4"/>
          <p:cNvSpPr/>
          <p:nvPr/>
        </p:nvSpPr>
        <p:spPr>
          <a:xfrm>
            <a:off x="435769" y="2071688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4" y="2260997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381" y="2214563"/>
            <a:ext cx="11430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强化学习算法应用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78644" y="2493169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RL 算法提升机器人在非结构化环境下的作业成功率，使其能够自主处理零件摆放不均等常见的产线异常。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435769" y="3136106"/>
            <a:ext cx="3630337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3325416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4381" y="3278981"/>
            <a:ext cx="10001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柔性制造新范式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578644" y="3557588"/>
            <a:ext cx="33445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人形机器人为传统自动化难以覆盖的柔性工位提供了新方案，降低了产线改造的硬件成本与时间周期。</a:t>
            </a:r>
            <a:endParaRPr lang="en-US" sz="8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405" y="411480"/>
            <a:ext cx="3837940" cy="2010410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4641850" y="2421890"/>
            <a:ext cx="3579495" cy="23914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794" y="413445"/>
            <a:ext cx="4114800" cy="330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产业趋势：多机协作与全流程自动化演进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35769" y="1007269"/>
            <a:ext cx="3630337" cy="1049741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234976"/>
            <a:ext cx="160734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0822" y="1185863"/>
            <a:ext cx="12573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多智能体协同调度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614363" y="1498402"/>
            <a:ext cx="3273149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通过云端统一调度，实现人形机器人、四足机器人与 AGV 的无缝配合，优化群体作业的路径规划与任务分配。</a:t>
            </a:r>
            <a:endParaRPr lang="en-US" sz="850" dirty="0"/>
          </a:p>
        </p:txBody>
      </p:sp>
      <p:sp>
        <p:nvSpPr>
          <p:cNvPr id="9" name="Shape 4"/>
          <p:cNvSpPr/>
          <p:nvPr/>
        </p:nvSpPr>
        <p:spPr>
          <a:xfrm>
            <a:off x="435769" y="2257034"/>
            <a:ext cx="3630337" cy="1049741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484741"/>
            <a:ext cx="144661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4748" y="2435628"/>
            <a:ext cx="12573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全流程自动化闭环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14363" y="2748167"/>
            <a:ext cx="3273149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从物料搬运到精细组装的端到端自动化，减少人工干预，提升生产流程的极致柔性化与响应速度。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435769" y="3506800"/>
            <a:ext cx="3630337" cy="1049741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734507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8675" y="3685394"/>
            <a:ext cx="12573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降低产线改造门槛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14363" y="3997933"/>
            <a:ext cx="3273149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通用型具身实体能够快速适配不同产品线的切换需求，显著降低了传统自动化产线改造的时间与硬件成本。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065" y="999490"/>
            <a:ext cx="2639695" cy="161353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5430" y="2613025"/>
            <a:ext cx="2640330" cy="18097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760" y="1007110"/>
            <a:ext cx="2396490" cy="16141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760" y="2613025"/>
            <a:ext cx="2397760" cy="1805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794" y="413445"/>
            <a:ext cx="3657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商业化与未来发展展望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1"/>
          <p:cNvSpPr/>
          <p:nvPr>
            <p:custDataLst>
              <p:tags r:id="rId2"/>
            </p:custDataLst>
          </p:nvPr>
        </p:nvSpPr>
        <p:spPr>
          <a:xfrm>
            <a:off x="394494" y="1149860"/>
            <a:ext cx="3338237" cy="96527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9993" y="1493230"/>
            <a:ext cx="118242" cy="118242"/>
          </a:xfrm>
          <a:prstGeom prst="rect">
            <a:avLst/>
          </a:prstGeom>
        </p:spPr>
      </p:pic>
      <p:sp>
        <p:nvSpPr>
          <p:cNvPr id="7" name="Text 2"/>
          <p:cNvSpPr/>
          <p:nvPr>
            <p:custDataLst>
              <p:tags r:id="rId5"/>
            </p:custDataLst>
          </p:nvPr>
        </p:nvSpPr>
        <p:spPr>
          <a:xfrm>
            <a:off x="797061" y="1448069"/>
            <a:ext cx="101162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落地路径优先级</a:t>
            </a:r>
            <a:endParaRPr lang="en-US" sz="1100" dirty="0"/>
          </a:p>
        </p:txBody>
      </p:sp>
      <p:sp>
        <p:nvSpPr>
          <p:cNvPr id="8" name="Text 3"/>
          <p:cNvSpPr/>
          <p:nvPr>
            <p:custDataLst>
              <p:tags r:id="rId6"/>
            </p:custDataLst>
          </p:nvPr>
        </p:nvSpPr>
        <p:spPr>
          <a:xfrm>
            <a:off x="599993" y="1735461"/>
            <a:ext cx="3009789" cy="334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工业制造（汽车/电子）→ 商业物流（仓储/配送）→ 家庭服务。优先在环境结构化、任务重复性高的场景实现商业闭环。</a:t>
            </a:r>
            <a:endParaRPr lang="en-US" sz="850" dirty="0"/>
          </a:p>
        </p:txBody>
      </p:sp>
      <p:sp>
        <p:nvSpPr>
          <p:cNvPr id="9" name="Shape 4"/>
          <p:cNvSpPr/>
          <p:nvPr>
            <p:custDataLst>
              <p:tags r:id="rId7"/>
            </p:custDataLst>
          </p:nvPr>
        </p:nvSpPr>
        <p:spPr>
          <a:xfrm>
            <a:off x="435769" y="2433052"/>
            <a:ext cx="3338237" cy="96527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99993" y="2642438"/>
            <a:ext cx="118242" cy="118242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10"/>
            </p:custDataLst>
          </p:nvPr>
        </p:nvSpPr>
        <p:spPr>
          <a:xfrm>
            <a:off x="797061" y="2597277"/>
            <a:ext cx="867102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成本下降趋势</a:t>
            </a:r>
            <a:endParaRPr lang="en-US" sz="1100" dirty="0"/>
          </a:p>
        </p:txBody>
      </p:sp>
      <p:sp>
        <p:nvSpPr>
          <p:cNvPr id="12" name="Text 6"/>
          <p:cNvSpPr/>
          <p:nvPr>
            <p:custDataLst>
              <p:tags r:id="rId11"/>
            </p:custDataLst>
          </p:nvPr>
        </p:nvSpPr>
        <p:spPr>
          <a:xfrm>
            <a:off x="599993" y="2884668"/>
            <a:ext cx="3009789" cy="334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随着核心零部件国产化与规模化效应，预计 2027 年单台成本将降至 3 万美元以下，迎来性能与成本的平衡点。</a:t>
            </a:r>
            <a:endParaRPr lang="en-US" sz="850" dirty="0"/>
          </a:p>
        </p:txBody>
      </p:sp>
      <p:sp>
        <p:nvSpPr>
          <p:cNvPr id="13" name="Shape 7"/>
          <p:cNvSpPr/>
          <p:nvPr>
            <p:custDataLst>
              <p:tags r:id="rId12"/>
            </p:custDataLst>
          </p:nvPr>
        </p:nvSpPr>
        <p:spPr>
          <a:xfrm>
            <a:off x="435769" y="3582261"/>
            <a:ext cx="3338237" cy="96527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99993" y="3791647"/>
            <a:ext cx="118242" cy="118242"/>
          </a:xfrm>
          <a:prstGeom prst="rect">
            <a:avLst/>
          </a:prstGeom>
        </p:spPr>
      </p:pic>
      <p:sp>
        <p:nvSpPr>
          <p:cNvPr id="15" name="Text 8"/>
          <p:cNvSpPr/>
          <p:nvPr>
            <p:custDataLst>
              <p:tags r:id="rId15"/>
            </p:custDataLst>
          </p:nvPr>
        </p:nvSpPr>
        <p:spPr>
          <a:xfrm>
            <a:off x="797061" y="3746485"/>
            <a:ext cx="578068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</a:t>
            </a:r>
            <a:endParaRPr lang="en-US" sz="1100" dirty="0"/>
          </a:p>
        </p:txBody>
      </p:sp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599993" y="4033877"/>
            <a:ext cx="3009789" cy="334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物理实体是 AI 真正理解物理规律、产生因果逻辑的必要载体。具身智能将作为新型生产力，重塑制造业劳动力结构。</a:t>
            </a:r>
            <a:endParaRPr lang="en-US" sz="85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73805" y="694690"/>
            <a:ext cx="5051425" cy="206629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73805" y="2760980"/>
            <a:ext cx="5051425" cy="23025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2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3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4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5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6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7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8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9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10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11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ags/tag12.xml><?xml version="1.0" encoding="utf-8"?>
<p:tagLst xmlns:p="http://schemas.openxmlformats.org/presentationml/2006/main">
  <p:tag name="KSO_WM_DIAGRAM_VIRTUALLY_FRAME" val="{&quot;height&quot;:282.1426343614715,&quot;left&quot;:31.062519685039366,&quot;top&quot;:76.64012154404035,&quot;width&quot;:266.103307086614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WPS 演示</Application>
  <PresentationFormat>On-screen Show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微软雅黑</vt:lpstr>
      <vt:lpstr>Calibri</vt:lpstr>
      <vt:lpstr>等线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WPS_1708085418</cp:lastModifiedBy>
  <cp:revision>6</cp:revision>
  <dcterms:created xsi:type="dcterms:W3CDTF">2026-05-12T13:42:00Z</dcterms:created>
  <dcterms:modified xsi:type="dcterms:W3CDTF">2026-05-13T07:13:09Z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BEC57FE77D4C456C9655C763571F0436_12</vt:lpwstr>
  </property>
  <property fmtid="{D5CDD505-2E9C-101B-9397-08002B2CF9AE}" pid="3" name="KSOProductBuildVer">
    <vt:lpwstr>2052-12.1.0.25865</vt:lpwstr>
  </property>
</Properties>
</file>