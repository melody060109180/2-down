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357" r:id="rId6"/>
    <p:sldId id="395" r:id="rId7"/>
    <p:sldId id="391" r:id="rId8"/>
    <p:sldId id="396" r:id="rId9"/>
    <p:sldId id="399" r:id="rId10"/>
    <p:sldId id="383" r:id="rId11"/>
    <p:sldId id="400" r:id="rId12"/>
    <p:sldId id="398" r:id="rId13"/>
    <p:sldId id="359" r:id="rId14"/>
    <p:sldId id="392" r:id="rId15"/>
    <p:sldId id="402" r:id="rId16"/>
    <p:sldId id="393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AE3EAE9D-1837-4FA0-9242-3BCE1F55825D}">
          <p14:sldIdLst>
            <p14:sldId id="256"/>
            <p14:sldId id="357"/>
            <p14:sldId id="395"/>
            <p14:sldId id="391"/>
            <p14:sldId id="396"/>
            <p14:sldId id="399"/>
            <p14:sldId id="383"/>
            <p14:sldId id="400"/>
            <p14:sldId id="398"/>
            <p14:sldId id="359"/>
            <p14:sldId id="392"/>
            <p14:sldId id="402"/>
            <p14:sldId id="3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2222"/>
    <a:srgbClr val="BD582C"/>
    <a:srgbClr val="FFFFFF"/>
    <a:srgbClr val="D0BDA9"/>
    <a:srgbClr val="BF2125"/>
    <a:srgbClr val="70706D"/>
    <a:srgbClr val="995836"/>
    <a:srgbClr val="FEF1EB"/>
    <a:srgbClr val="D09D5E"/>
    <a:srgbClr val="C7E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7" autoAdjust="0"/>
    <p:restoredTop sz="80975" autoAdjust="0"/>
  </p:normalViewPr>
  <p:slideViewPr>
    <p:cSldViewPr snapToGrid="0">
      <p:cViewPr varScale="1">
        <p:scale>
          <a:sx n="71" d="100"/>
          <a:sy n="71" d="100"/>
        </p:scale>
        <p:origin x="322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点击鼠标移动幻灯片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CN" sz="2000" b="0" strike="noStrike" spc="-1">
                <a:latin typeface="Arial" panose="020B0604020202020204"/>
              </a:rPr>
              <a:t>点击编辑备注格式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&lt;页眉&gt;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&lt;日期/时间&gt;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&lt;页脚&gt;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1413BBE-968A-475A-8474-00C8A5FCBDA9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D628CDB-234F-4FF5-9353-3D74B31BEFC8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MIPS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架构是一种采取 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精简指令集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RISC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）的处理器架构，常用于一些移动设备。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X86\ARM\RISC-V\MIPS.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32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位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MIPS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指令在不同类型指令中分别有不同结构。但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[31:26]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表示的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opcode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，以及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[5:0]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表示的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-apple-system"/>
              </a:rPr>
              <a:t>funct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，为译码阶段明确指令控制信号的主要字段。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</a:t>
            </a:r>
            <a:r>
              <a:rPr lang="en-US" altLang="zh-CN" dirty="0"/>
              <a:t>R-type</a:t>
            </a:r>
            <a:r>
              <a:rPr lang="zh-CN" altLang="en-US" dirty="0"/>
              <a:t>指令的举例。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再讲以下控制器中的</a:t>
            </a:r>
            <a:r>
              <a:rPr lang="en-US" altLang="zh-CN" sz="1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Main Decoder</a:t>
            </a:r>
            <a:r>
              <a:rPr lang="zh-CN" altLang="en-US" sz="1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zh-CN" alt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7"/>
          <p:cNvSpPr>
            <a:spLocks noGrp="1"/>
          </p:cNvSpPr>
          <p:nvPr>
            <p:ph sz="quarter" idx="10"/>
          </p:nvPr>
        </p:nvSpPr>
        <p:spPr>
          <a:xfrm>
            <a:off x="386828" y="293998"/>
            <a:ext cx="6136710" cy="503238"/>
          </a:xfrm>
          <a:prstGeom prst="rect">
            <a:avLst/>
          </a:prstGeom>
        </p:spPr>
        <p:txBody>
          <a:bodyPr anchor="ctr"/>
          <a:lstStyle>
            <a:lvl1pPr>
              <a:buClr>
                <a:srgbClr val="C02025"/>
              </a:buClr>
              <a:defRPr sz="3200">
                <a:solidFill>
                  <a:srgbClr val="C02025"/>
                </a:solidFill>
              </a:defRPr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内容占位符 19"/>
          <p:cNvSpPr>
            <a:spLocks noGrp="1"/>
          </p:cNvSpPr>
          <p:nvPr>
            <p:ph sz="quarter" idx="11"/>
          </p:nvPr>
        </p:nvSpPr>
        <p:spPr>
          <a:xfrm>
            <a:off x="386828" y="865849"/>
            <a:ext cx="5026025" cy="503238"/>
          </a:xfrm>
          <a:prstGeom prst="rect">
            <a:avLst/>
          </a:prstGeom>
        </p:spPr>
        <p:txBody>
          <a:bodyPr anchor="ctr"/>
          <a:lstStyle>
            <a:lvl1pPr>
              <a:defRPr sz="2400" b="1"/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2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1193400" y="1737720"/>
            <a:ext cx="9966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zh-CN" sz="8000" b="0" strike="noStrike" spc="-1">
                <a:solidFill>
                  <a:srgbClr val="000000"/>
                </a:solidFill>
                <a:latin typeface="Arial" panose="020B0604020202020204"/>
              </a:rPr>
              <a:t>点击鼠标编辑标题文字格式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0DB3891-28C7-4298-A152-BD6A13FA5D87}" type="slidenum">
              <a:rPr lang="en-US" sz="1050" b="0" strike="noStrike" spc="-1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en-US" sz="1050" b="0" strike="noStrike" spc="-1">
              <a:latin typeface="Times New Roman" panose="02020603050405020304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1156680" y="4681620"/>
            <a:ext cx="98751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点击鼠标编辑大纲文字格式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第二个大纲级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第三大纲级别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第四大纲级别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第五大纲级别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第六大纲级别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第七大纲级别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4"/>
          <p:cNvSpPr/>
          <p:nvPr/>
        </p:nvSpPr>
        <p:spPr>
          <a:xfrm rot="10800000" flipH="1">
            <a:off x="380519" y="805680"/>
            <a:ext cx="1143303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338" y="108782"/>
            <a:ext cx="2168769" cy="6656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marL="285750" indent="-285750" algn="l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6pPr>
      <a:lvl7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7849" y="2027406"/>
            <a:ext cx="1103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accent2">
                    <a:lumMod val="75000"/>
                  </a:schemeClr>
                </a:solidFill>
              </a:rPr>
              <a:t>计算机组成与结构课程</a:t>
            </a:r>
            <a:r>
              <a:rPr lang="en-US" altLang="zh-CN" sz="6000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r>
              <a:rPr lang="zh-CN" altLang="en-US" sz="6000" dirty="0">
                <a:solidFill>
                  <a:schemeClr val="accent2">
                    <a:lumMod val="75000"/>
                  </a:schemeClr>
                </a:solidFill>
              </a:rPr>
              <a:t>实验二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13" y="97371"/>
            <a:ext cx="3179842" cy="975927"/>
          </a:xfrm>
          <a:prstGeom prst="rect">
            <a:avLst/>
          </a:prstGeom>
        </p:spPr>
      </p:pic>
      <p:sp>
        <p:nvSpPr>
          <p:cNvPr id="6" name="TextShape 2"/>
          <p:cNvSpPr txBox="1"/>
          <p:nvPr/>
        </p:nvSpPr>
        <p:spPr>
          <a:xfrm>
            <a:off x="1066979" y="4623778"/>
            <a:ext cx="10058040" cy="1800468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重庆大学</a:t>
            </a:r>
            <a:r>
              <a:rPr lang="en-US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大数据与软件</a:t>
            </a:r>
            <a:r>
              <a:rPr lang="zh-CN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学院</a:t>
            </a:r>
            <a:endParaRPr lang="en-US" altLang="zh-CN" sz="2400" b="0" strike="noStrike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任课教师：刘铎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2026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月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18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日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实验概述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725" y="1543453"/>
            <a:ext cx="6710286" cy="499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MIPS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架构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CPU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的传统流程可分为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取指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译码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执行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访存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</a:rPr>
              <a:t>回写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(Instruction Fetch, Decode, Execution, Memory Request, Write Back)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五阶段。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实验一完成了执行阶段的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部分，本实验将继续实现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取指、译码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两个阶段的功能。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5" t="1532" r="28716" b="1149"/>
          <a:stretch>
            <a:fillRect/>
          </a:stretch>
        </p:blipFill>
        <p:spPr>
          <a:xfrm>
            <a:off x="8238892" y="1550299"/>
            <a:ext cx="3361918" cy="44568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4" y="3929317"/>
            <a:ext cx="7441323" cy="1046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实验概述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725" y="1543453"/>
            <a:ext cx="6710286" cy="7207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取指过程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：根据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程序计数器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PC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中的指令地址，从存储器中取出一条指令，同时，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PC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根据指令字长度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自动递增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产生下一条指令所需要的指令地址；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译码过程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：对取指令操作中得到的指令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进行分析并译码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，确定这条指令需要完成的操作，从而产生相应的操作控制信号，用于驱动执行状态中的各种操作。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实验一完成了执行阶段的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部分，本实验将继续实现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取指、译码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两个阶段的功能。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5" t="1532" r="28716" b="1149"/>
          <a:stretch>
            <a:fillRect/>
          </a:stretch>
        </p:blipFill>
        <p:spPr>
          <a:xfrm>
            <a:off x="8238892" y="1550299"/>
            <a:ext cx="3361918" cy="4456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740912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取指、译码阶段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653" y="1478422"/>
            <a:ext cx="7192010" cy="543686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70553" y="1421136"/>
            <a:ext cx="3119607" cy="5347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72159" y="1618174"/>
            <a:ext cx="1322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取指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6004560" y="1650123"/>
            <a:ext cx="3365412" cy="4072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69972" y="1664340"/>
            <a:ext cx="998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译码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590681" y="4441057"/>
            <a:ext cx="702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①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4337" y="3813514"/>
            <a:ext cx="702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②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41130" y="1777816"/>
            <a:ext cx="702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③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464377" y="5120640"/>
            <a:ext cx="282370" cy="4038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5464377" y="5120640"/>
            <a:ext cx="282370" cy="4038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740912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译码原理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5726" y="1478422"/>
            <a:ext cx="11576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MIPS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仅有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三种指令类型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R-Type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寄存器型指令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），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I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型：立即数型指令，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J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型：跳转型指令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026" name="Picture 2" descr="1606910723(1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806" y="2309419"/>
            <a:ext cx="9195044" cy="322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22"/>
          <p:cNvSpPr txBox="1"/>
          <p:nvPr/>
        </p:nvSpPr>
        <p:spPr>
          <a:xfrm>
            <a:off x="375726" y="5736559"/>
            <a:ext cx="103604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op: 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操作码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；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en-US" altLang="zh-CN" sz="2400" dirty="0" err="1">
                <a:latin typeface="楷体" panose="02010609060101010101" charset="-122"/>
                <a:ea typeface="楷体" panose="02010609060101010101" charset="-122"/>
              </a:rPr>
              <a:t>rs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：源寄存器；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</a:rPr>
              <a:t>rt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：目标寄存器；</a:t>
            </a:r>
            <a:r>
              <a:rPr lang="en-US" altLang="zh-CN" sz="2400" dirty="0" err="1">
                <a:latin typeface="楷体" panose="02010609060101010101" charset="-122"/>
                <a:ea typeface="楷体" panose="02010609060101010101" charset="-122"/>
              </a:rPr>
              <a:t>rd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目的寄存器；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en-US" altLang="zh-CN" sz="2400" dirty="0" err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func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：功能码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，具体的操作类型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-apple-system"/>
              </a:rPr>
              <a:t>；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740912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译码举例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5387" y="2857027"/>
            <a:ext cx="7070280" cy="32429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536" y="1478422"/>
            <a:ext cx="7297168" cy="7811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33" y="2579588"/>
            <a:ext cx="3646805" cy="365633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3528508" y="1333948"/>
            <a:ext cx="1409252" cy="10400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204856" y="2373958"/>
            <a:ext cx="2571078" cy="1660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8261873" y="1305657"/>
            <a:ext cx="1118796" cy="10400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2423160" y="2220342"/>
            <a:ext cx="5953461" cy="28393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528059" y="6285613"/>
            <a:ext cx="613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</a:rPr>
              <a:t>Note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：指令格式参考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附录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；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540" y="799269"/>
            <a:ext cx="11440547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Main Decoder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91087" y="1541780"/>
            <a:ext cx="6655215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-1" dirty="0">
                <a:solidFill>
                  <a:srgbClr val="000000"/>
                </a:solidFill>
                <a:ea typeface="楷体" panose="02010609060101010101" charset="-122"/>
              </a:rPr>
              <a:t>输入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：</a:t>
            </a:r>
            <a:r>
              <a:rPr lang="en-US" altLang="zh-CN" sz="2000" spc="-1" dirty="0" err="1">
                <a:solidFill>
                  <a:srgbClr val="000000"/>
                </a:solidFill>
                <a:ea typeface="楷体" panose="02010609060101010101" charset="-122"/>
              </a:rPr>
              <a:t>inst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[31:26]</a:t>
            </a:r>
            <a:endParaRPr lang="en-US" altLang="zh-CN" sz="20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spc="-1" dirty="0">
                <a:solidFill>
                  <a:srgbClr val="000000"/>
                </a:solidFill>
                <a:ea typeface="楷体" panose="02010609060101010101" charset="-122"/>
              </a:rPr>
              <a:t>输出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：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9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种控制信号，对应于具体的各种操作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endParaRPr lang="en-US" altLang="zh-CN" sz="2000" spc="-1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58" y="1861020"/>
            <a:ext cx="3646805" cy="3656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087" y="2590927"/>
            <a:ext cx="7695303" cy="3842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740912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控制器的作用（仅作了解）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181"/>
          <a:stretch>
            <a:fillRect/>
          </a:stretch>
        </p:blipFill>
        <p:spPr>
          <a:xfrm>
            <a:off x="1107015" y="1478422"/>
            <a:ext cx="9792243" cy="5201868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3991087" y="1366221"/>
            <a:ext cx="2581835" cy="206277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740912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Main Decoder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译码举例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27" y="2352831"/>
            <a:ext cx="10835746" cy="3001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存储器与控制器实验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 controller</a:t>
            </a:r>
            <a:r>
              <a:rPr lang="zh-CN" alt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模块</a:t>
            </a:r>
            <a:endParaRPr lang="zh-CN" alt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135" y="2934335"/>
            <a:ext cx="6369050" cy="3218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" y="2426970"/>
            <a:ext cx="2859405" cy="15367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128135" y="1661795"/>
            <a:ext cx="701357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两个输入信号：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inst[5:0]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，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Aluop[1:0]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（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Main decoder</a:t>
            </a: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的输出）</a:t>
            </a:r>
            <a:endParaRPr lang="zh-CN" altLang="en-US" sz="20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spc="-1" dirty="0">
                <a:solidFill>
                  <a:srgbClr val="000000"/>
                </a:solidFill>
                <a:ea typeface="楷体" panose="02010609060101010101" charset="-122"/>
              </a:rPr>
              <a:t>输出信号：</a:t>
            </a:r>
            <a:r>
              <a:rPr lang="en-US" altLang="zh-CN" sz="2000" spc="-1" dirty="0">
                <a:solidFill>
                  <a:srgbClr val="000000"/>
                </a:solidFill>
                <a:ea typeface="楷体" panose="02010609060101010101" charset="-122"/>
              </a:rPr>
              <a:t>Alucontrol[2:0]</a:t>
            </a:r>
            <a:endParaRPr lang="zh-CN" altLang="en-US" sz="2000" spc="-1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6811010" y="2117090"/>
            <a:ext cx="716280" cy="8362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5380991" y="2117090"/>
            <a:ext cx="1997271" cy="930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825225"/>
            <a:ext cx="11440547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</a:rPr>
              <a:t>指令存储器</a:t>
            </a:r>
            <a:r>
              <a:rPr lang="en-US" altLang="zh-CN" sz="3200" dirty="0">
                <a:latin typeface="楷体" panose="02010609060101010101" charset="-122"/>
                <a:ea typeface="楷体" panose="02010609060101010101" charset="-122"/>
              </a:rPr>
              <a:t>(</a:t>
            </a:r>
            <a:r>
              <a:rPr lang="en-US" altLang="zh-CN" sz="3200" dirty="0" err="1">
                <a:latin typeface="楷体" panose="02010609060101010101" charset="-122"/>
                <a:ea typeface="楷体" panose="02010609060101010101" charset="-122"/>
              </a:rPr>
              <a:t>I</a:t>
            </a:r>
            <a:r>
              <a:rPr lang="en-US" altLang="zh-CN" sz="3200" b="1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nst_ram</a:t>
            </a:r>
            <a:r>
              <a:rPr lang="en-US" altLang="zh-CN" sz="32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)</a:t>
            </a:r>
            <a:endParaRPr lang="en-US" altLang="zh-CN" sz="32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715" y="2156460"/>
            <a:ext cx="3191510" cy="24695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854801" y="2272930"/>
            <a:ext cx="6268606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使用 Block Memory，导入 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coe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文件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spc="-1" dirty="0" err="1">
                <a:solidFill>
                  <a:srgbClr val="000000"/>
                </a:solidFill>
                <a:ea typeface="楷体" panose="02010609060101010101" charset="-122"/>
              </a:rPr>
              <a:t>coe</a:t>
            </a:r>
            <a:r>
              <a:rPr lang="en-US" altLang="zh-CN" sz="2400" b="1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r>
              <a:rPr lang="en-US" altLang="zh-CN" sz="2400" b="1" spc="-1" dirty="0" err="1">
                <a:solidFill>
                  <a:srgbClr val="000000"/>
                </a:solidFill>
                <a:ea typeface="楷体" panose="02010609060101010101" charset="-122"/>
              </a:rPr>
              <a:t>文件</a:t>
            </a:r>
            <a:r>
              <a:rPr lang="en-US" altLang="zh-CN" sz="2400" b="1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：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Vivado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中存储器的初始化文件，内部包含对应的指令，可自定义；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具体步骤和样例参考</a:t>
            </a:r>
            <a:r>
              <a:rPr lang="en-US" altLang="zh-CN" sz="2400" spc="-1" dirty="0">
                <a:solidFill>
                  <a:srgbClr val="FF0000"/>
                </a:solidFill>
                <a:ea typeface="楷体" panose="02010609060101010101" charset="-122"/>
              </a:rPr>
              <a:t>Lab2_</a:t>
            </a:r>
            <a:r>
              <a:rPr lang="zh-CN" altLang="en-US" sz="2400" spc="-1" dirty="0">
                <a:solidFill>
                  <a:srgbClr val="FF0000"/>
                </a:solidFill>
                <a:ea typeface="楷体" panose="02010609060101010101" charset="-122"/>
              </a:rPr>
              <a:t>指导书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指令格式参考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附录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</a:rPr>
              <a:t>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实验二：</a:t>
            </a:r>
            <a:r>
              <a:rPr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存储器与控制器实验</a:t>
            </a:r>
            <a:endParaRPr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2782" y="825225"/>
            <a:ext cx="11440547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32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en-US" altLang="zh-CN" sz="32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4258" y="1681260"/>
            <a:ext cx="10446466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1.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在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coe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文件中定义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R-type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LW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SW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BEQ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ADDI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J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指令；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2.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自行编写对应模块和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Testbench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仿真文件，时钟周期设为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10ns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，每个时钟周期输入地址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Address + 4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，</a:t>
            </a:r>
            <a:r>
              <a:rPr lang="zh-CN" altLang="en-US" sz="2400" spc="-1" dirty="0">
                <a:solidFill>
                  <a:srgbClr val="FF0000"/>
                </a:solidFill>
                <a:ea typeface="楷体" panose="02010609060101010101" charset="-122"/>
              </a:rPr>
              <a:t>捕获输出信号并打印在控制台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。</a:t>
            </a:r>
            <a:endParaRPr lang="zh-CN" altLang="en-US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FF0000"/>
                </a:solidFill>
                <a:ea typeface="楷体" panose="02010609060101010101" charset="-122"/>
              </a:rPr>
              <a:t>打印格式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:instruction: 32’h00000000, 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memtoreg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: 1, 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memwrite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: 0, .....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spc="-1" dirty="0">
                <a:solidFill>
                  <a:srgbClr val="000000"/>
                </a:solidFill>
                <a:ea typeface="楷体" panose="02010609060101010101" charset="-122"/>
              </a:rPr>
              <a:t>模块汇总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：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Top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模块、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PC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模块、控制器模块、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main_decode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alu_decode</a:t>
            </a:r>
            <a:r>
              <a:rPr lang="en-US" altLang="zh-CN" sz="2400" spc="-1" dirty="0">
                <a:solidFill>
                  <a:srgbClr val="000000"/>
                </a:solidFill>
                <a:ea typeface="楷体" panose="02010609060101010101" charset="-122"/>
              </a:rPr>
              <a:t> 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模块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spc="-1" dirty="0">
                <a:solidFill>
                  <a:srgbClr val="FF0000"/>
                </a:solidFill>
                <a:ea typeface="楷体" panose="02010609060101010101" charset="-122"/>
              </a:rPr>
              <a:t>提交的代码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：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top.v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pc.v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controller.v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maindecode.v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、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aludecode.v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以及</a:t>
            </a:r>
            <a:r>
              <a:rPr lang="en-US" altLang="zh-CN" sz="2400" spc="-1" dirty="0" err="1">
                <a:solidFill>
                  <a:srgbClr val="000000"/>
                </a:solidFill>
                <a:ea typeface="楷体" panose="02010609060101010101" charset="-122"/>
              </a:rPr>
              <a:t>xx.coe</a:t>
            </a:r>
            <a:r>
              <a:rPr lang="zh-CN" altLang="en-US" sz="2400" spc="-1" dirty="0">
                <a:solidFill>
                  <a:srgbClr val="000000"/>
                </a:solidFill>
                <a:ea typeface="楷体" panose="02010609060101010101" charset="-122"/>
              </a:rPr>
              <a:t>文件</a:t>
            </a:r>
            <a:endParaRPr lang="en-US" altLang="zh-CN" sz="2400" spc="-1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实验报告提交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5726" y="955983"/>
            <a:ext cx="11440547" cy="4615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时间：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下次实验课之前提交</a:t>
            </a:r>
            <a:endParaRPr lang="en-US" altLang="zh-CN" sz="2800" spc="-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方式：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邮箱（</a:t>
            </a:r>
            <a:r>
              <a:rPr lang="en-US" altLang="zh-CN" sz="28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guotianze@stu.cqu.edu.cn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命名：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x_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组号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2_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小组成员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3”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注意：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实验源码也要求提交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，单独开一个名为</a:t>
            </a:r>
            <a:r>
              <a:rPr lang="en-US" altLang="zh-CN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code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的文件夹，存放代码文件；最后上交的是一个压缩包</a:t>
            </a:r>
            <a:endParaRPr lang="en-US" altLang="zh-CN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800" b="1" spc="-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严禁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禁止出现多组完全一样的实验报告</a:t>
            </a:r>
            <a:r>
              <a:rPr lang="zh-CN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zh-CN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Clr>
                <a:srgbClr val="000000"/>
              </a:buClr>
              <a:buFont typeface="Noto Sans Symbols"/>
              <a:buNone/>
            </a:pPr>
            <a:endParaRPr lang="zh-CN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GNmZTY0NGQ1ZWFkNjUxZjMyYjBkYTdjOGYxZmUzYWYifQ=="/>
</p:tagLst>
</file>

<file path=ppt/theme/theme1.xml><?xml version="1.0" encoding="utf-8"?>
<a:theme xmlns:a="http://schemas.openxmlformats.org/drawingml/2006/main" name="Office Theme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WPS 演示</Application>
  <PresentationFormat>宽屏</PresentationFormat>
  <Paragraphs>107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Arial</vt:lpstr>
      <vt:lpstr>Times New Roman</vt:lpstr>
      <vt:lpstr>Calibri</vt:lpstr>
      <vt:lpstr>Symbol</vt:lpstr>
      <vt:lpstr>Noto Sans Symbols</vt:lpstr>
      <vt:lpstr>Segoe Print</vt:lpstr>
      <vt:lpstr>楷体</vt:lpstr>
      <vt:lpstr>黑体</vt:lpstr>
      <vt:lpstr>Times New Roman</vt:lpstr>
      <vt:lpstr>-apple-system</vt:lpstr>
      <vt:lpstr>DejaVu Sans</vt:lpstr>
      <vt:lpstr>Calibri</vt:lpstr>
      <vt:lpstr>微软雅黑</vt:lpstr>
      <vt:lpstr>Arial Unicode MS</vt:lpstr>
      <vt:lpstr>-apple-system</vt:lpstr>
      <vt:lpstr>Noto Sans Symbols</vt:lpstr>
      <vt:lpstr>Symbol</vt:lpstr>
      <vt:lpstr>Wingdings</vt:lpstr>
      <vt:lpstr>Saturday Sans Regular</vt:lpstr>
      <vt:lpstr>Be Happy</vt:lpstr>
      <vt:lpstr>Office Theme</vt:lpstr>
      <vt:lpstr>Office Theme</vt:lpstr>
      <vt:lpstr>PowerPoint 演示文稿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实验二：存储器与控制器实验</vt:lpstr>
      <vt:lpstr>实验报告提交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项目设计Ⅲ</dc:title>
  <dc:creator>YX M</dc:creator>
  <cp:lastModifiedBy>唐绎雄</cp:lastModifiedBy>
  <cp:revision>1114</cp:revision>
  <dcterms:created xsi:type="dcterms:W3CDTF">2024-04-07T07:23:00Z</dcterms:created>
  <dcterms:modified xsi:type="dcterms:W3CDTF">2026-04-07T07:07:31Z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4</vt:i4>
  </property>
  <property fmtid="{D5CDD505-2E9C-101B-9397-08002B2CF9AE}" pid="8" name="PresentationFormat">
    <vt:lpwstr>宽屏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  <property fmtid="{D5CDD505-2E9C-101B-9397-08002B2CF9AE}" pid="12" name="ICV">
    <vt:lpwstr>69822A701227420F9EF2E22782474A34_12</vt:lpwstr>
  </property>
  <property fmtid="{D5CDD505-2E9C-101B-9397-08002B2CF9AE}" pid="13" name="KSOProductBuildVer">
    <vt:lpwstr>2052-12.1.0.25222</vt:lpwstr>
  </property>
</Properties>
</file>