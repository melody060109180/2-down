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397" r:id="rId4"/>
    <p:sldId id="357" r:id="rId6"/>
    <p:sldId id="398" r:id="rId7"/>
    <p:sldId id="386" r:id="rId8"/>
    <p:sldId id="387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393" r:id="rId17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AE3EAE9D-1837-4FA0-9242-3BCE1F55825D}">
          <p14:sldIdLst>
            <p14:sldId id="397"/>
            <p14:sldId id="357"/>
            <p14:sldId id="398"/>
            <p14:sldId id="386"/>
            <p14:sldId id="387"/>
            <p14:sldId id="399"/>
            <p14:sldId id="400"/>
            <p14:sldId id="401"/>
            <p14:sldId id="402"/>
            <p14:sldId id="403"/>
            <p14:sldId id="404"/>
            <p14:sldId id="405"/>
            <p14:sldId id="39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2222"/>
    <a:srgbClr val="BD582C"/>
    <a:srgbClr val="FFFFFF"/>
    <a:srgbClr val="D0BDA9"/>
    <a:srgbClr val="BF2125"/>
    <a:srgbClr val="70706D"/>
    <a:srgbClr val="995836"/>
    <a:srgbClr val="FEF1EB"/>
    <a:srgbClr val="D09D5E"/>
    <a:srgbClr val="C7E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7" autoAdjust="0"/>
    <p:restoredTop sz="80975" autoAdjust="0"/>
  </p:normalViewPr>
  <p:slideViewPr>
    <p:cSldViewPr snapToGrid="0">
      <p:cViewPr varScale="1">
        <p:scale>
          <a:sx n="100" d="100"/>
          <a:sy n="100" d="100"/>
        </p:scale>
        <p:origin x="898" y="67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点击鼠标移动幻灯片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CN" sz="2000" b="0" strike="noStrike" spc="-1">
                <a:latin typeface="Arial" panose="020B0604020202020204"/>
              </a:rPr>
              <a:t>点击编辑备注格式</a:t>
            </a:r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&lt;页眉&gt;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 panose="02020603050405020304"/>
              </a:rPr>
              <a:t>&lt;日期/时间&gt;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&lt;页脚&gt;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3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1413BBE-968A-475A-8474-00C8A5FCBDA9}" type="slidenum">
              <a:rPr lang="en-US" sz="1400" b="0" strike="noStrike" spc="-1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 dirty="0">
              <a:latin typeface="Arial" panose="020B0604020202020204"/>
            </a:endParaRPr>
          </a:p>
        </p:txBody>
      </p:sp>
      <p:sp>
        <p:nvSpPr>
          <p:cNvPr id="16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6D628CDB-234F-4FF5-9353-3D74B31BEFC8}" type="slidenum">
              <a:rPr lang="en-US" sz="1400" b="0" strike="noStrike" spc="-1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MIPS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架构是一种采取 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-apple-system"/>
              </a:rPr>
              <a:t>精简指令集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RISC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）的处理器架构，常用于一些移动设备。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X86\ARM\RISC-V\MIPS.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一堆物理原件组成的结构，内部包含多种可选择的路径。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负数涉及到补码，正数高位补</a:t>
            </a:r>
            <a:r>
              <a:rPr lang="en-US" altLang="zh-CN" dirty="0"/>
              <a:t>0</a:t>
            </a:r>
            <a:r>
              <a:rPr lang="zh-CN" altLang="en-US" dirty="0"/>
              <a:t>；实现参考</a:t>
            </a:r>
            <a:r>
              <a:rPr lang="en-US" altLang="zh-CN" sz="1800" b="0" i="0" u="none" strike="noStrike" baseline="0" dirty="0">
                <a:solidFill>
                  <a:srgbClr val="00FF00"/>
                </a:solidFill>
                <a:latin typeface="FandolSong-Regular-Identity-H"/>
              </a:rPr>
              <a:t>《</a:t>
            </a:r>
            <a:r>
              <a:rPr lang="zh-CN" altLang="en-US" sz="1800" b="0" i="0" u="none" strike="noStrike" baseline="0" dirty="0">
                <a:solidFill>
                  <a:srgbClr val="00FF00"/>
                </a:solidFill>
                <a:latin typeface="FandolSong-Regular-Identity-H"/>
              </a:rPr>
              <a:t>其他组件实现</a:t>
            </a:r>
            <a:r>
              <a:rPr lang="en-US" altLang="zh-CN" sz="1800" b="0" i="0" u="none" strike="noStrike" baseline="0" dirty="0">
                <a:solidFill>
                  <a:srgbClr val="00FF00"/>
                </a:solidFill>
                <a:latin typeface="TeXGyreTermes-Regular"/>
              </a:rPr>
              <a:t>.pdf</a:t>
            </a:r>
            <a:r>
              <a:rPr lang="en-US" altLang="zh-CN" sz="1800" b="0" i="0" u="none" strike="noStrike" baseline="0" dirty="0">
                <a:solidFill>
                  <a:srgbClr val="00FF00"/>
                </a:solidFill>
                <a:latin typeface="FandolSong-Regular-Identity-H"/>
              </a:rPr>
              <a:t>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7"/>
          <p:cNvSpPr>
            <a:spLocks noGrp="1"/>
          </p:cNvSpPr>
          <p:nvPr>
            <p:ph sz="quarter" idx="10"/>
          </p:nvPr>
        </p:nvSpPr>
        <p:spPr>
          <a:xfrm>
            <a:off x="386828" y="293998"/>
            <a:ext cx="6136710" cy="503238"/>
          </a:xfrm>
          <a:prstGeom prst="rect">
            <a:avLst/>
          </a:prstGeom>
        </p:spPr>
        <p:txBody>
          <a:bodyPr anchor="ctr"/>
          <a:lstStyle>
            <a:lvl1pPr>
              <a:buClr>
                <a:srgbClr val="C02025"/>
              </a:buClr>
              <a:defRPr sz="3200">
                <a:solidFill>
                  <a:srgbClr val="C02025"/>
                </a:solidFill>
              </a:defRPr>
            </a:lvl1pPr>
            <a:lvl2pPr marL="635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0" name="内容占位符 19"/>
          <p:cNvSpPr>
            <a:spLocks noGrp="1"/>
          </p:cNvSpPr>
          <p:nvPr>
            <p:ph sz="quarter" idx="11"/>
          </p:nvPr>
        </p:nvSpPr>
        <p:spPr>
          <a:xfrm>
            <a:off x="386828" y="865849"/>
            <a:ext cx="5026025" cy="503238"/>
          </a:xfrm>
          <a:prstGeom prst="rect">
            <a:avLst/>
          </a:prstGeom>
        </p:spPr>
        <p:txBody>
          <a:bodyPr anchor="ctr"/>
          <a:lstStyle>
            <a:lvl1pPr>
              <a:defRPr sz="2400" b="1"/>
            </a:lvl1pPr>
            <a:lvl2pPr marL="635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stomShape 1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2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CustomShape 3" hidden="1"/>
          <p:cNvSpPr/>
          <p:nvPr/>
        </p:nvSpPr>
        <p:spPr>
          <a:xfrm>
            <a:off x="1193400" y="1737720"/>
            <a:ext cx="99666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7F7F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PlaceHolder 6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r>
              <a:rPr lang="zh-CN" sz="8000" b="0" strike="noStrike" spc="-1">
                <a:solidFill>
                  <a:srgbClr val="000000"/>
                </a:solidFill>
                <a:latin typeface="Arial" panose="020B0604020202020204"/>
              </a:rPr>
              <a:t>点击鼠标编辑标题文字格式</a:t>
            </a:r>
            <a:endParaRPr lang="en-US" sz="8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ftr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sldNum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60DB3891-28C7-4298-A152-BD6A13FA5D87}" type="slidenum">
              <a:rPr lang="en-US" sz="1050" b="0" strike="noStrike" spc="-1">
                <a:solidFill>
                  <a:srgbClr val="888888"/>
                </a:solidFill>
                <a:latin typeface="Calibri" panose="020F0502020204030204"/>
                <a:ea typeface="Calibri" panose="020F0502020204030204"/>
              </a:rPr>
            </a:fld>
            <a:endParaRPr lang="en-US" sz="1050" b="0" strike="noStrike" spc="-1">
              <a:latin typeface="Times New Roman" panose="02020603050405020304"/>
            </a:endParaRPr>
          </a:p>
        </p:txBody>
      </p:sp>
      <p:sp>
        <p:nvSpPr>
          <p:cNvPr id="9" name="CustomShape 10"/>
          <p:cNvSpPr/>
          <p:nvPr/>
        </p:nvSpPr>
        <p:spPr>
          <a:xfrm>
            <a:off x="1156680" y="4681620"/>
            <a:ext cx="98751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7F7F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PlaceHolder 11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点击鼠标编辑大纲文字格式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第二个大纲级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第三大纲级别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第四大纲级别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Arial" panose="020B0604020202020204"/>
              </a:rPr>
              <a:t>第五大纲级别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Arial" panose="020B0604020202020204"/>
              </a:rPr>
              <a:t>第六大纲级别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Arial" panose="020B0604020202020204"/>
              </a:rPr>
              <a:t>第七大纲级别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4"/>
          <p:cNvSpPr/>
          <p:nvPr/>
        </p:nvSpPr>
        <p:spPr>
          <a:xfrm rot="10800000" flipH="1">
            <a:off x="380519" y="805680"/>
            <a:ext cx="11433037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338" y="108782"/>
            <a:ext cx="2168769" cy="6656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marL="285750" indent="-285750" algn="l" defTabSz="914400" rtl="0" eaLnBrk="1" latinLnBrk="0" hangingPunct="1">
        <a:lnSpc>
          <a:spcPct val="90000"/>
        </a:lnSpc>
        <a:spcBef>
          <a:spcPct val="0"/>
        </a:spcBef>
        <a:buFont typeface="Wingdings" panose="05000000000000000000" pitchFamily="2" charset="2"/>
        <a:buChar char="Ø"/>
        <a:defRPr sz="1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10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1pPr>
      <a:lvl2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2pPr>
      <a:lvl3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3pPr>
      <a:lvl4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4pPr>
      <a:lvl5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6pPr>
      <a:lvl7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77849" y="2027406"/>
            <a:ext cx="110363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accent2">
                    <a:lumMod val="75000"/>
                  </a:schemeClr>
                </a:solidFill>
              </a:rPr>
              <a:t>计算机组成与结构课程</a:t>
            </a:r>
            <a:r>
              <a:rPr lang="en-US" altLang="zh-CN" sz="6000" dirty="0">
                <a:solidFill>
                  <a:schemeClr val="accent2">
                    <a:lumMod val="75000"/>
                  </a:schemeClr>
                </a:solidFill>
              </a:rPr>
              <a:t>-</a:t>
            </a:r>
            <a:r>
              <a:rPr lang="zh-CN" altLang="en-US" sz="6000" dirty="0">
                <a:solidFill>
                  <a:schemeClr val="accent2">
                    <a:lumMod val="75000"/>
                  </a:schemeClr>
                </a:solidFill>
              </a:rPr>
              <a:t>实验三</a:t>
            </a:r>
            <a:endParaRPr lang="zh-CN" altLang="en-US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013" y="97371"/>
            <a:ext cx="3179842" cy="975927"/>
          </a:xfrm>
          <a:prstGeom prst="rect">
            <a:avLst/>
          </a:prstGeom>
        </p:spPr>
      </p:pic>
      <p:sp>
        <p:nvSpPr>
          <p:cNvPr id="6" name="TextShape 2"/>
          <p:cNvSpPr txBox="1"/>
          <p:nvPr/>
        </p:nvSpPr>
        <p:spPr>
          <a:xfrm>
            <a:off x="1066979" y="4623778"/>
            <a:ext cx="10058040" cy="1800468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重庆大学</a:t>
            </a:r>
            <a:r>
              <a:rPr lang="en-US" altLang="zh-CN" sz="2400" b="0" strike="noStrike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0" strike="noStrike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大数据与软件</a:t>
            </a:r>
            <a:r>
              <a:rPr lang="zh-CN" altLang="zh-CN" sz="2400" b="0" strike="noStrike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学院</a:t>
            </a:r>
            <a:endParaRPr lang="en-US" altLang="zh-CN" sz="2400" b="0" strike="noStrike" spc="-1" dirty="0">
              <a:solidFill>
                <a:srgbClr val="63705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任课教师：刘铎</a:t>
            </a:r>
            <a:endParaRPr lang="en-US" altLang="zh-CN" sz="2400" spc="-1" dirty="0">
              <a:solidFill>
                <a:srgbClr val="63705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zh-CN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2026</a:t>
            </a: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</a:t>
            </a:r>
            <a:r>
              <a:rPr lang="en-US" altLang="zh-CN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</a:t>
            </a: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月</a:t>
            </a:r>
            <a:r>
              <a:rPr lang="en-US" altLang="zh-CN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25</a:t>
            </a: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日</a:t>
            </a:r>
            <a:endParaRPr lang="en-US" altLang="zh-CN" sz="2400" spc="-1" dirty="0">
              <a:solidFill>
                <a:srgbClr val="63705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实验三：简易单周期</a:t>
            </a:r>
            <a:r>
              <a:rPr sz="32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实验概述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5726" y="1588389"/>
            <a:ext cx="6710286" cy="499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MIPS</a:t>
            </a: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架构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CPU</a:t>
            </a: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的传统流程可分为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</a:rPr>
              <a:t>取指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</a:rPr>
              <a:t>译码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</a:rPr>
              <a:t>执行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</a:rPr>
              <a:t>访存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</a:rPr>
              <a:t>回写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五阶段。</a:t>
            </a:r>
            <a:endParaRPr lang="en-US" altLang="zh-CN" sz="240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</a:rPr>
              <a:t>实验一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：涉及执行阶段，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</a:rPr>
              <a:t>实验二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：实现取指和译码。</a:t>
            </a:r>
            <a:endParaRPr lang="en-US" altLang="zh-CN" sz="240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执行：执行指令对应的操作；</a:t>
            </a:r>
            <a:endParaRPr lang="en-US" altLang="zh-CN" sz="240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访存：内存访问，读写；</a:t>
            </a:r>
            <a:endParaRPr lang="en-US" altLang="zh-CN" sz="240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回写：写寄存器；</a:t>
            </a:r>
            <a:endParaRPr lang="en-US" altLang="zh-CN" sz="240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实验三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：整合所有阶段，实现一个简易的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完整的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CPU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指令处理流程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，且支持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多指令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zh-CN" altLang="en-US" sz="2400" dirty="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05" t="1532" r="28716" b="1149"/>
          <a:stretch>
            <a:fillRect/>
          </a:stretch>
        </p:blipFill>
        <p:spPr>
          <a:xfrm>
            <a:off x="8238892" y="1550299"/>
            <a:ext cx="3361918" cy="44568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实验三：简易单周期</a:t>
            </a:r>
            <a:r>
              <a:rPr sz="32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总体框架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5725" y="1581999"/>
            <a:ext cx="4427502" cy="4454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Datapath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（数据通路）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：连接寄存器、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、内存和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I/O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的物理路径。简单讲，一堆物理原件组成的结构，内部包含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多种可选择的路径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Data Memory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：存放数据的内存，现实中一般为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DRAM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，本实验中仍然用</a:t>
            </a: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coe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文件模拟。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9486"/>
          <a:stretch>
            <a:fillRect/>
          </a:stretch>
        </p:blipFill>
        <p:spPr>
          <a:xfrm>
            <a:off x="5318235" y="948694"/>
            <a:ext cx="6498038" cy="58983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实验三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简易单周期实验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7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Datapath</a:t>
            </a: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的展开</a:t>
            </a:r>
            <a:endParaRPr lang="en-US" altLang="zh-CN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88389"/>
            <a:ext cx="8305634" cy="4917825"/>
          </a:xfrm>
          <a:prstGeom prst="rect">
            <a:avLst/>
          </a:prstGeom>
        </p:spPr>
      </p:pic>
      <p:sp>
        <p:nvSpPr>
          <p:cNvPr id="4" name="矩形: 圆角 3"/>
          <p:cNvSpPr/>
          <p:nvPr/>
        </p:nvSpPr>
        <p:spPr>
          <a:xfrm>
            <a:off x="2063409" y="2994228"/>
            <a:ext cx="4263820" cy="28705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116320" y="741774"/>
            <a:ext cx="4075680" cy="6116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Register File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寄存器堆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，多个寄存器组成的阵列，具有专门的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读端口与写端口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，可以多路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并发访问不同的寄存器；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Sign Extend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：有符号扩展，将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位有符号数扩展到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32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位；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&lt;&lt;2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：左移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位；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多路选择器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：多个输入中选一个，本实验为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个输入；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实验三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简易单周期实验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32bit</a:t>
            </a: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的</a:t>
            </a:r>
            <a:r>
              <a:rPr lang="en-US" altLang="zh-CN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选择器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4713" y="1760876"/>
            <a:ext cx="4811358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module mux2_32(input wire[31:0] a,b,</a:t>
            </a:r>
            <a:endParaRPr lang="zh-CN" altLang="en-US" dirty="0"/>
          </a:p>
          <a:p>
            <a:r>
              <a:rPr lang="zh-CN" altLang="en-US" dirty="0"/>
              <a:t>              input wire sel,</a:t>
            </a:r>
            <a:endParaRPr lang="zh-CN" altLang="en-US" dirty="0"/>
          </a:p>
          <a:p>
            <a:r>
              <a:rPr lang="zh-CN" altLang="en-US" dirty="0"/>
              <a:t>              output wire[31:0] ans);</a:t>
            </a:r>
            <a:endParaRPr lang="zh-CN" altLang="en-US" dirty="0"/>
          </a:p>
          <a:p>
            <a:r>
              <a:rPr lang="zh-CN" altLang="en-US" dirty="0"/>
              <a:t>    assign ans = sel ? a : b;</a:t>
            </a:r>
            <a:endParaRPr lang="zh-CN" altLang="en-US" dirty="0"/>
          </a:p>
          <a:p>
            <a:r>
              <a:rPr lang="zh-CN" altLang="en-US" dirty="0"/>
              <a:t>endmodule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246071" y="1760876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module regfile(</a:t>
            </a:r>
            <a:endParaRPr lang="zh-CN" altLang="en-US" dirty="0"/>
          </a:p>
          <a:p>
            <a:r>
              <a:rPr lang="zh-CN" altLang="en-US" dirty="0"/>
              <a:t>	input wire clk,</a:t>
            </a:r>
            <a:endParaRPr lang="zh-CN" altLang="en-US" dirty="0"/>
          </a:p>
          <a:p>
            <a:r>
              <a:rPr lang="zh-CN" altLang="en-US" dirty="0"/>
              <a:t>	input wire we3,</a:t>
            </a:r>
            <a:endParaRPr lang="zh-CN" altLang="en-US" dirty="0"/>
          </a:p>
          <a:p>
            <a:r>
              <a:rPr lang="zh-CN" altLang="en-US" dirty="0"/>
              <a:t>	input wire[4:0] ra1,ra2,wa3,</a:t>
            </a:r>
            <a:endParaRPr lang="zh-CN" altLang="en-US" dirty="0"/>
          </a:p>
          <a:p>
            <a:r>
              <a:rPr lang="zh-CN" altLang="en-US" dirty="0"/>
              <a:t>	input wire[31:0] wd3,</a:t>
            </a:r>
            <a:endParaRPr lang="zh-CN" altLang="en-US" dirty="0"/>
          </a:p>
          <a:p>
            <a:r>
              <a:rPr lang="zh-CN" altLang="en-US" dirty="0"/>
              <a:t>	output wire[31:0] rd1,rd2</a:t>
            </a:r>
            <a:endParaRPr lang="zh-CN" altLang="en-US" dirty="0"/>
          </a:p>
          <a:p>
            <a:r>
              <a:rPr lang="zh-CN" altLang="en-US" dirty="0"/>
              <a:t>	reg [31:0] rf[31:0];</a:t>
            </a:r>
            <a:endParaRPr lang="zh-CN" altLang="en-US" dirty="0"/>
          </a:p>
          <a:p>
            <a:r>
              <a:rPr lang="zh-CN" altLang="en-US" dirty="0"/>
              <a:t>	always @(posedge clk) begin</a:t>
            </a:r>
            <a:endParaRPr lang="zh-CN" altLang="en-US" dirty="0"/>
          </a:p>
          <a:p>
            <a:r>
              <a:rPr lang="zh-CN" altLang="en-US" dirty="0"/>
              <a:t>		if(we3) begin</a:t>
            </a:r>
            <a:endParaRPr lang="zh-CN" altLang="en-US" dirty="0"/>
          </a:p>
          <a:p>
            <a:r>
              <a:rPr lang="zh-CN" altLang="en-US" dirty="0"/>
              <a:t>			 rf[wa3] &lt;= wd3;</a:t>
            </a:r>
            <a:endParaRPr lang="zh-CN" altLang="en-US" dirty="0"/>
          </a:p>
          <a:p>
            <a:r>
              <a:rPr lang="zh-CN" altLang="en-US" dirty="0"/>
              <a:t>		end</a:t>
            </a:r>
            <a:endParaRPr lang="zh-CN" altLang="en-US" dirty="0"/>
          </a:p>
          <a:p>
            <a:r>
              <a:rPr lang="zh-CN" altLang="en-US" dirty="0"/>
              <a:t>	end</a:t>
            </a:r>
            <a:endParaRPr lang="zh-CN" altLang="en-US" dirty="0"/>
          </a:p>
          <a:p>
            <a:r>
              <a:rPr lang="zh-CN" altLang="en-US" dirty="0"/>
              <a:t>	assign rd1 = (ra1 != 0) ? rf[ra1] : 0;</a:t>
            </a:r>
            <a:endParaRPr lang="zh-CN" altLang="en-US" dirty="0"/>
          </a:p>
          <a:p>
            <a:r>
              <a:rPr lang="zh-CN" altLang="en-US" dirty="0"/>
              <a:t>	assign rd2 = (ra2 != 0) ? rf[ra2] : 0;</a:t>
            </a:r>
            <a:endParaRPr lang="zh-CN" altLang="en-US" dirty="0"/>
          </a:p>
          <a:p>
            <a:r>
              <a:rPr lang="zh-CN" altLang="en-US" dirty="0"/>
              <a:t>endmodule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120446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寄存器堆模块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实验三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：简易单周期实验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71412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3200" b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lw</a:t>
            </a: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指令执行过程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1484" y="1473484"/>
            <a:ext cx="9814756" cy="2238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LW </a:t>
            </a: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rt,offset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(base)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：从内存的指定地址处读取一个字的值到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rt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寄存器中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rt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: register target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base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：基地址，指向某个寄存器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offset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：地址偏移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实验三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：简易单周期实验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71412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3200" b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lw</a:t>
            </a: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指令执行过程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873" y="1760667"/>
            <a:ext cx="4170827" cy="166833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092767" y="3428998"/>
            <a:ext cx="2367473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1.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取出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lw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指令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40" y="1586238"/>
            <a:ext cx="4409440" cy="175626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349322" y="3342501"/>
            <a:ext cx="4409439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2.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将指令的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base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连接到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，得到基地址值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73" y="4082153"/>
            <a:ext cx="4166957" cy="2294512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416917" y="6220450"/>
            <a:ext cx="3474913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使用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sign extent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扩展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offset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235" y="4077860"/>
            <a:ext cx="5377900" cy="214258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489819" y="6220450"/>
            <a:ext cx="4409439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4.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将基地址值与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offset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相加，得到内存地址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实验三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：简易单周期实验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71412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3200" b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lw</a:t>
            </a: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指令执行过程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67039" y="5212919"/>
            <a:ext cx="4409439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5.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rt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连接到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，索引目标寄存器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6. 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从内存中读取一个字到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rt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中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7. rt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为写操作，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RegWrite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被使能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166" y="1588389"/>
            <a:ext cx="8117187" cy="360763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305" y="1950720"/>
            <a:ext cx="2301707" cy="33625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748404" y="5348170"/>
            <a:ext cx="2301707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8.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结束，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PC+4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实验三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：简易单周期实验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71412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3200" b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lw</a:t>
            </a: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指令数据通路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560" y="1859596"/>
            <a:ext cx="9174480" cy="3889885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3606800" y="2915920"/>
            <a:ext cx="3596640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191000" y="4724400"/>
            <a:ext cx="2301240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568440" y="3169920"/>
            <a:ext cx="2301240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4615180" y="5623560"/>
            <a:ext cx="5267960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831743" y="2645092"/>
            <a:ext cx="528513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①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926743" y="4397692"/>
            <a:ext cx="528513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②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719060" y="3076891"/>
            <a:ext cx="528513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③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492240" y="5168307"/>
            <a:ext cx="528513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④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实验三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：简易单周期实验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71412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3200" b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sw</a:t>
            </a: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指令数据通路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460" y="1628624"/>
            <a:ext cx="9931079" cy="43784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实验三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：简易单周期实验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71412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型指令数据通路（</a:t>
            </a:r>
            <a:r>
              <a:rPr lang="zh-CN" alt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多一个源寄存器</a:t>
            </a: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458" y="1727285"/>
            <a:ext cx="11227443" cy="47444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实验三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：简易单周期实验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71412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实验要求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5628" y="1588389"/>
            <a:ext cx="10446466" cy="3344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1. 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实现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lw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sw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add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sub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slt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beq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j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指令的完整执行流程；</a:t>
            </a:r>
            <a:endParaRPr lang="en-US" altLang="zh-CN" sz="2400" spc="-1" dirty="0">
              <a:solidFill>
                <a:srgbClr val="000000"/>
              </a:solidFill>
              <a:ea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2.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自行编写对应模块和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Testbench 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仿真文件，时钟周期设为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10ns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，每个时钟周期输入地址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Address + 4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，执行相应操作</a:t>
            </a:r>
            <a:r>
              <a:rPr lang="zh-CN" altLang="en-US" sz="2400" spc="-1" dirty="0">
                <a:solidFill>
                  <a:srgbClr val="FF0000"/>
                </a:solidFill>
                <a:ea typeface="楷体" panose="02010609060101010101" charset="-122"/>
              </a:rPr>
              <a:t>并打印对应指令在控制台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。</a:t>
            </a:r>
            <a:endParaRPr lang="zh-CN" altLang="en-US" sz="2400" spc="-1" dirty="0">
              <a:solidFill>
                <a:srgbClr val="000000"/>
              </a:solidFill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pc="-1" dirty="0">
                <a:solidFill>
                  <a:srgbClr val="FF0000"/>
                </a:solidFill>
                <a:ea typeface="楷体" panose="02010609060101010101" charset="-122"/>
              </a:rPr>
              <a:t>打印格式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: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lw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 $2, 80($0)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（指令含义），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8c020050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（对应的机器码，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16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进制）</a:t>
            </a:r>
            <a:endParaRPr lang="en-US" altLang="zh-CN" sz="2400" spc="-1" dirty="0">
              <a:solidFill>
                <a:srgbClr val="000000"/>
              </a:solidFill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spc="-1" dirty="0">
                <a:solidFill>
                  <a:srgbClr val="000000"/>
                </a:solidFill>
                <a:ea typeface="楷体" panose="02010609060101010101" charset="-122"/>
              </a:rPr>
              <a:t>模块汇总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：参考指导书</a:t>
            </a:r>
            <a:endParaRPr lang="en-US" altLang="zh-CN" sz="2400" spc="-1" dirty="0">
              <a:solidFill>
                <a:srgbClr val="000000"/>
              </a:solidFill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实验报告提交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5726" y="955983"/>
            <a:ext cx="11440547" cy="5262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时间：</a:t>
            </a:r>
            <a:r>
              <a:rPr lang="zh-CN" altLang="en-US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实验一（</a:t>
            </a:r>
            <a:r>
              <a:rPr lang="en-US" altLang="zh-CN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月</a:t>
            </a:r>
            <a:r>
              <a:rPr lang="en-US" altLang="zh-CN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21</a:t>
            </a:r>
            <a:r>
              <a:rPr lang="zh-CN" altLang="en-US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号之前）、实验二以及三（</a:t>
            </a:r>
            <a:r>
              <a:rPr lang="en-US" altLang="zh-CN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月</a:t>
            </a:r>
            <a:r>
              <a:rPr lang="en-US" altLang="zh-CN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30</a:t>
            </a:r>
            <a:r>
              <a:rPr lang="zh-CN" altLang="en-US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号之前）</a:t>
            </a:r>
            <a:endParaRPr lang="en-US" altLang="zh-CN" sz="2800" b="1" spc="-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方式：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邮箱（</a:t>
            </a:r>
            <a:r>
              <a:rPr lang="en-US" altLang="zh-CN" sz="2800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guotianze@stu.cqu.edu.cn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endParaRPr lang="en-US" altLang="zh-CN" sz="28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命名：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x_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组号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_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小组成员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1_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小组成员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2_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小组成员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3”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</a:t>
            </a:r>
            <a:endParaRPr lang="en-US" altLang="zh-CN" sz="28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注意：</a:t>
            </a:r>
            <a:r>
              <a:rPr lang="zh-CN" altLang="en-US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实验源码也要求提交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，单独开一个名为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code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的文件夹，存放代码文件；最后上交的是一个压缩包</a:t>
            </a:r>
            <a:endParaRPr lang="en-US" altLang="zh-CN" sz="28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800" b="1" spc="-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严禁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</a:t>
            </a:r>
            <a:r>
              <a:rPr lang="zh-CN" altLang="en-US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禁止出现多组完全一样的实验报告（都没有分数）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。</a:t>
            </a:r>
            <a:endParaRPr lang="en-US" altLang="zh-CN" sz="28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内容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</a:t>
            </a:r>
            <a:r>
              <a:rPr lang="zh-CN" altLang="en-US" sz="2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排版整齐</a:t>
            </a:r>
            <a:r>
              <a:rPr lang="zh-CN" altLang="en-US" sz="2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，内容完整且</a:t>
            </a:r>
            <a:r>
              <a:rPr lang="zh-CN" altLang="en-US" sz="2800" b="1" spc="-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符合要求</a:t>
            </a:r>
            <a:r>
              <a:rPr lang="zh-CN" altLang="en-US" sz="2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，图片清晰等。</a:t>
            </a:r>
            <a:endParaRPr lang="zh-CN" altLang="en-US" sz="28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Clr>
                <a:srgbClr val="000000"/>
              </a:buClr>
              <a:buFont typeface="Noto Sans Symbols"/>
              <a:buNone/>
            </a:pPr>
            <a:endParaRPr lang="zh-CN" altLang="en-US" sz="28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GNmZTY0NGQ1ZWFkNjUxZjMyYjBkYTdjOGYxZmUzYWYifQ=="/>
</p:tagLst>
</file>

<file path=ppt/theme/theme1.xml><?xml version="1.0" encoding="utf-8"?>
<a:theme xmlns:a="http://schemas.openxmlformats.org/drawingml/2006/main" name="Office Theme">
  <a:themeElements>
    <a:clrScheme name="蓝色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1679</Words>
  <Application>WPS 演示</Application>
  <PresentationFormat>宽屏</PresentationFormat>
  <Paragraphs>131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43" baseType="lpstr">
      <vt:lpstr>Arial</vt:lpstr>
      <vt:lpstr>宋体</vt:lpstr>
      <vt:lpstr>Wingdings</vt:lpstr>
      <vt:lpstr>Arial</vt:lpstr>
      <vt:lpstr>Times New Roman</vt:lpstr>
      <vt:lpstr>Calibri</vt:lpstr>
      <vt:lpstr>Symbol</vt:lpstr>
      <vt:lpstr>Noto Sans Symbols</vt:lpstr>
      <vt:lpstr>Segoe Print</vt:lpstr>
      <vt:lpstr>楷体</vt:lpstr>
      <vt:lpstr>黑体</vt:lpstr>
      <vt:lpstr>Times New Roman</vt:lpstr>
      <vt:lpstr>-apple-system</vt:lpstr>
      <vt:lpstr>FandolSong-Regular-Identity-H</vt:lpstr>
      <vt:lpstr>TeXGyreTermes-Regular</vt:lpstr>
      <vt:lpstr>DejaVu Sans</vt:lpstr>
      <vt:lpstr>Calibri</vt:lpstr>
      <vt:lpstr>微软雅黑</vt:lpstr>
      <vt:lpstr>Arial Unicode MS</vt:lpstr>
      <vt:lpstr>-apple-system</vt:lpstr>
      <vt:lpstr>FandolSong-Regular-Identity-H</vt:lpstr>
      <vt:lpstr>Noto Sans Symbols</vt:lpstr>
      <vt:lpstr>Symbol</vt:lpstr>
      <vt:lpstr>TeXGyreTermes-Regular</vt:lpstr>
      <vt:lpstr>Wingdings</vt:lpstr>
      <vt:lpstr>Saturday Sans Regular</vt:lpstr>
      <vt:lpstr>Be Happy</vt:lpstr>
      <vt:lpstr>Therese</vt:lpstr>
      <vt:lpstr>Office Theme</vt:lpstr>
      <vt:lpstr>Office Theme</vt:lpstr>
      <vt:lpstr>PowerPoint 演示文稿</vt:lpstr>
      <vt:lpstr>实验三：简易单周期实验</vt:lpstr>
      <vt:lpstr>实验三：简易单周期实验</vt:lpstr>
      <vt:lpstr>实验三：简易单周期实验</vt:lpstr>
      <vt:lpstr>实验三：简易单周期实验</vt:lpstr>
      <vt:lpstr>实验三：简易单周期实验</vt:lpstr>
      <vt:lpstr>实验三：简易单周期实验</vt:lpstr>
      <vt:lpstr>实验三：简易单周期实验</vt:lpstr>
      <vt:lpstr>实验三：简易单周期实验</vt:lpstr>
      <vt:lpstr>实验三：简易单周期实验</vt:lpstr>
      <vt:lpstr>实验三：简易单周期实验</vt:lpstr>
      <vt:lpstr>实验三：简易单周期实验</vt:lpstr>
      <vt:lpstr>实验报告提交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项目设计Ⅲ</dc:title>
  <dc:creator>YX M</dc:creator>
  <cp:lastModifiedBy>唐绎雄</cp:lastModifiedBy>
  <cp:revision>1128</cp:revision>
  <dcterms:created xsi:type="dcterms:W3CDTF">2024-04-07T07:23:00Z</dcterms:created>
  <dcterms:modified xsi:type="dcterms:W3CDTF">2026-04-07T07:07:30Z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1</vt:i4>
  </property>
  <property fmtid="{D5CDD505-2E9C-101B-9397-08002B2CF9AE}" pid="7" name="Notes">
    <vt:i4>4</vt:i4>
  </property>
  <property fmtid="{D5CDD505-2E9C-101B-9397-08002B2CF9AE}" pid="8" name="PresentationFormat">
    <vt:lpwstr>宽屏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4</vt:i4>
  </property>
  <property fmtid="{D5CDD505-2E9C-101B-9397-08002B2CF9AE}" pid="12" name="ICV">
    <vt:lpwstr>69822A701227420F9EF2E22782474A34_12</vt:lpwstr>
  </property>
  <property fmtid="{D5CDD505-2E9C-101B-9397-08002B2CF9AE}" pid="13" name="KSOProductBuildVer">
    <vt:lpwstr>2052-12.1.0.25222</vt:lpwstr>
  </property>
</Properties>
</file>