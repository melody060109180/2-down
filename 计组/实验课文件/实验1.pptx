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56" r:id="rId4"/>
    <p:sldId id="354" r:id="rId6"/>
    <p:sldId id="353" r:id="rId7"/>
    <p:sldId id="355" r:id="rId8"/>
    <p:sldId id="362" r:id="rId9"/>
    <p:sldId id="363" r:id="rId10"/>
    <p:sldId id="364" r:id="rId11"/>
    <p:sldId id="365" r:id="rId12"/>
    <p:sldId id="376" r:id="rId13"/>
    <p:sldId id="377" r:id="rId14"/>
    <p:sldId id="378" r:id="rId15"/>
    <p:sldId id="379" r:id="rId16"/>
    <p:sldId id="380" r:id="rId17"/>
    <p:sldId id="381" r:id="rId18"/>
    <p:sldId id="382" r:id="rId19"/>
    <p:sldId id="383" r:id="rId20"/>
    <p:sldId id="384" r:id="rId21"/>
    <p:sldId id="366" r:id="rId22"/>
    <p:sldId id="367" r:id="rId23"/>
    <p:sldId id="368" r:id="rId24"/>
    <p:sldId id="369" r:id="rId25"/>
    <p:sldId id="370" r:id="rId26"/>
    <p:sldId id="371" r:id="rId27"/>
    <p:sldId id="372" r:id="rId28"/>
    <p:sldId id="357" r:id="rId29"/>
    <p:sldId id="358" r:id="rId30"/>
    <p:sldId id="359" r:id="rId31"/>
    <p:sldId id="360" r:id="rId32"/>
    <p:sldId id="361" r:id="rId33"/>
    <p:sldId id="385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始" id="{AE3EAE9D-1837-4FA0-9242-3BCE1F55825D}">
          <p14:sldIdLst>
            <p14:sldId id="256"/>
            <p14:sldId id="354"/>
            <p14:sldId id="353"/>
            <p14:sldId id="355"/>
            <p14:sldId id="362"/>
            <p14:sldId id="363"/>
            <p14:sldId id="364"/>
            <p14:sldId id="36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66"/>
            <p14:sldId id="367"/>
            <p14:sldId id="368"/>
            <p14:sldId id="369"/>
            <p14:sldId id="370"/>
            <p14:sldId id="371"/>
            <p14:sldId id="372"/>
            <p14:sldId id="357"/>
            <p14:sldId id="358"/>
            <p14:sldId id="359"/>
            <p14:sldId id="360"/>
            <p14:sldId id="361"/>
            <p14:sldId id="38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2222"/>
    <a:srgbClr val="BD582C"/>
    <a:srgbClr val="FFFFFF"/>
    <a:srgbClr val="D0BDA9"/>
    <a:srgbClr val="BF2125"/>
    <a:srgbClr val="70706D"/>
    <a:srgbClr val="995836"/>
    <a:srgbClr val="FEF1EB"/>
    <a:srgbClr val="D09D5E"/>
    <a:srgbClr val="C7E1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57" autoAdjust="0"/>
    <p:restoredTop sz="80975" autoAdjust="0"/>
  </p:normalViewPr>
  <p:slideViewPr>
    <p:cSldViewPr snapToGrid="0">
      <p:cViewPr varScale="1">
        <p:scale>
          <a:sx n="100" d="100"/>
          <a:sy n="100" d="100"/>
        </p:scale>
        <p:origin x="898" y="67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CN" sz="1400" b="0" strike="noStrike" spc="-1">
                <a:solidFill>
                  <a:srgbClr val="000000"/>
                </a:solidFill>
                <a:latin typeface="Arial" panose="020B0604020202020204"/>
              </a:rPr>
              <a:t>点击鼠标移动幻灯片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zh-CN" sz="2000" b="0" strike="noStrike" spc="-1">
                <a:latin typeface="Arial" panose="020B0604020202020204"/>
              </a:rPr>
              <a:t>点击编辑备注格式</a:t>
            </a:r>
            <a:endParaRPr lang="en-US" sz="2000" b="0" strike="noStrike" spc="-1">
              <a:latin typeface="Arial" panose="020B0604020202020204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 panose="02020603050405020304"/>
              </a:rPr>
              <a:t>&lt;页眉&gt;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 panose="02020603050405020304"/>
              </a:rPr>
              <a:t>&lt;日期/时间&gt;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137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 panose="02020603050405020304"/>
              </a:rPr>
              <a:t>&lt;页脚&gt;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138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1413BBE-968A-475A-8474-00C8A5FCBDA9}" type="slidenum">
              <a:rPr lang="en-US" sz="1400" b="0" strike="noStrike" spc="-1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 dirty="0">
              <a:latin typeface="Arial" panose="020B0604020202020204"/>
            </a:endParaRPr>
          </a:p>
        </p:txBody>
      </p:sp>
      <p:sp>
        <p:nvSpPr>
          <p:cNvPr id="169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6D628CDB-234F-4FF5-9353-3D74B31BEFC8}" type="slidenum">
              <a:rPr lang="en-US" sz="1400" b="0" strike="noStrike" spc="-1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体验硬件编程和软件编程的相似之处以及区别；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更加深入地了解计算机的结构；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Roboto" panose="02000000000000000000" pitchFamily="2" charset="0"/>
              </a:rPr>
              <a:t>高阻，或者说“阻高”，是一种电路分析时的特殊情况。简单来说，它可以被看作是具有极高的输入（输出）电阻，在极限状态下就成为了断路。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Roboto" panose="02000000000000000000" pitchFamily="2" charset="0"/>
              </a:rPr>
              <a:t>本实验通过设计一个简单的</a:t>
            </a:r>
            <a:r>
              <a:rPr lang="en-US" altLang="zh-CN" b="0" i="0" dirty="0">
                <a:effectLst/>
                <a:latin typeface="Roboto" panose="02000000000000000000" pitchFamily="2" charset="0"/>
              </a:rPr>
              <a:t>ALU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帮助同学们更好地理解数据通路和</a:t>
            </a:r>
            <a:r>
              <a:rPr lang="en-US" altLang="zh-CN" b="0" i="0" dirty="0">
                <a:effectLst/>
                <a:latin typeface="Roboto" panose="02000000000000000000" pitchFamily="2" charset="0"/>
              </a:rPr>
              <a:t>ALU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的工作原理，并通过该实验使同学们熟悉</a:t>
            </a:r>
            <a:r>
              <a:rPr lang="en-US" altLang="zh-CN" b="0" i="0" dirty="0">
                <a:effectLst/>
                <a:latin typeface="Roboto" panose="02000000000000000000" pitchFamily="2" charset="0"/>
              </a:rPr>
              <a:t>Verilog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硬件描述语言，为接下来的实验打好基础。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1413BBE-968A-475A-8474-00C8A5FCBDA9}" type="slidenum">
              <a:rPr lang="en-US" sz="1400" b="0" strike="noStrike" spc="-1" smtClean="0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17"/>
          <p:cNvSpPr>
            <a:spLocks noGrp="1"/>
          </p:cNvSpPr>
          <p:nvPr>
            <p:ph sz="quarter" idx="10"/>
          </p:nvPr>
        </p:nvSpPr>
        <p:spPr>
          <a:xfrm>
            <a:off x="386828" y="293998"/>
            <a:ext cx="6136710" cy="503238"/>
          </a:xfrm>
          <a:prstGeom prst="rect">
            <a:avLst/>
          </a:prstGeom>
        </p:spPr>
        <p:txBody>
          <a:bodyPr anchor="ctr"/>
          <a:lstStyle>
            <a:lvl1pPr>
              <a:buClr>
                <a:srgbClr val="C02025"/>
              </a:buClr>
              <a:defRPr sz="3200">
                <a:solidFill>
                  <a:srgbClr val="C02025"/>
                </a:solidFill>
              </a:defRPr>
            </a:lvl1pPr>
            <a:lvl2pPr marL="635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0" name="内容占位符 19"/>
          <p:cNvSpPr>
            <a:spLocks noGrp="1"/>
          </p:cNvSpPr>
          <p:nvPr>
            <p:ph sz="quarter" idx="11"/>
          </p:nvPr>
        </p:nvSpPr>
        <p:spPr>
          <a:xfrm>
            <a:off x="386828" y="865849"/>
            <a:ext cx="5026025" cy="503238"/>
          </a:xfrm>
          <a:prstGeom prst="rect">
            <a:avLst/>
          </a:prstGeom>
        </p:spPr>
        <p:txBody>
          <a:bodyPr anchor="ctr"/>
          <a:lstStyle>
            <a:lvl1pPr>
              <a:defRPr sz="2400" b="1"/>
            </a:lvl1pPr>
            <a:lvl2pPr marL="635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stomShape 1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2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CustomShape 3" hidden="1"/>
          <p:cNvSpPr/>
          <p:nvPr/>
        </p:nvSpPr>
        <p:spPr>
          <a:xfrm>
            <a:off x="1193400" y="1737720"/>
            <a:ext cx="996660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rgbClr val="7F7F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CustomShape 4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5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PlaceHolder 6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r>
              <a:rPr lang="zh-CN" sz="8000" b="0" strike="noStrike" spc="-1">
                <a:solidFill>
                  <a:srgbClr val="000000"/>
                </a:solidFill>
                <a:latin typeface="Arial" panose="020B0604020202020204"/>
              </a:rPr>
              <a:t>点击鼠标编辑标题文字格式</a:t>
            </a:r>
            <a:endParaRPr lang="en-US" sz="8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dt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7" name="PlaceHolder 8"/>
          <p:cNvSpPr>
            <a:spLocks noGrp="1"/>
          </p:cNvSpPr>
          <p:nvPr>
            <p:ph type="ftr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8" name="PlaceHolder 9"/>
          <p:cNvSpPr>
            <a:spLocks noGrp="1"/>
          </p:cNvSpPr>
          <p:nvPr>
            <p:ph type="sldNum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60DB3891-28C7-4298-A152-BD6A13FA5D87}" type="slidenum">
              <a:rPr lang="en-US" sz="1050" b="0" strike="noStrike" spc="-1">
                <a:solidFill>
                  <a:srgbClr val="888888"/>
                </a:solidFill>
                <a:latin typeface="Calibri" panose="020F0502020204030204"/>
                <a:ea typeface="Calibri" panose="020F0502020204030204"/>
              </a:rPr>
            </a:fld>
            <a:endParaRPr lang="en-US" sz="1050" b="0" strike="noStrike" spc="-1">
              <a:latin typeface="Times New Roman" panose="02020603050405020304"/>
            </a:endParaRPr>
          </a:p>
        </p:txBody>
      </p:sp>
      <p:sp>
        <p:nvSpPr>
          <p:cNvPr id="9" name="CustomShape 10"/>
          <p:cNvSpPr/>
          <p:nvPr/>
        </p:nvSpPr>
        <p:spPr>
          <a:xfrm>
            <a:off x="1156680" y="4681620"/>
            <a:ext cx="98751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rgbClr val="7F7F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PlaceHolder 11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400" b="0" strike="noStrike" spc="-1">
                <a:solidFill>
                  <a:srgbClr val="000000"/>
                </a:solidFill>
                <a:latin typeface="Arial" panose="020B0604020202020204"/>
              </a:rPr>
              <a:t>点击鼠标编辑大纲文字格式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sz="1400" b="0" strike="noStrike" spc="-1">
                <a:solidFill>
                  <a:srgbClr val="000000"/>
                </a:solidFill>
                <a:latin typeface="Arial" panose="020B0604020202020204"/>
              </a:rPr>
              <a:t>第二个大纲级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400" b="0" strike="noStrike" spc="-1">
                <a:solidFill>
                  <a:srgbClr val="000000"/>
                </a:solidFill>
                <a:latin typeface="Arial" panose="020B0604020202020204"/>
              </a:rPr>
              <a:t>第三大纲级别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sz="1400" b="0" strike="noStrike" spc="-1">
                <a:solidFill>
                  <a:srgbClr val="000000"/>
                </a:solidFill>
                <a:latin typeface="Arial" panose="020B0604020202020204"/>
              </a:rPr>
              <a:t>第四大纲级别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solidFill>
                  <a:srgbClr val="000000"/>
                </a:solidFill>
                <a:latin typeface="Arial" panose="020B0604020202020204"/>
              </a:rPr>
              <a:t>第五大纲级别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solidFill>
                  <a:srgbClr val="000000"/>
                </a:solidFill>
                <a:latin typeface="Arial" panose="020B0604020202020204"/>
              </a:rPr>
              <a:t>第六大纲级别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solidFill>
                  <a:srgbClr val="000000"/>
                </a:solidFill>
                <a:latin typeface="Arial" panose="020B0604020202020204"/>
              </a:rPr>
              <a:t>第七大纲级别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ustomShape 4"/>
          <p:cNvSpPr/>
          <p:nvPr/>
        </p:nvSpPr>
        <p:spPr>
          <a:xfrm rot="10800000" flipH="1">
            <a:off x="380519" y="805680"/>
            <a:ext cx="11433037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5338" y="108782"/>
            <a:ext cx="2168769" cy="66561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txStyles>
    <p:titleStyle>
      <a:lvl1pPr marL="285750" indent="-285750" algn="l" defTabSz="914400" rtl="0" eaLnBrk="1" latinLnBrk="0" hangingPunct="1">
        <a:lnSpc>
          <a:spcPct val="90000"/>
        </a:lnSpc>
        <a:spcBef>
          <a:spcPct val="0"/>
        </a:spcBef>
        <a:buFont typeface="Wingdings" panose="05000000000000000000" pitchFamily="2" charset="2"/>
        <a:buChar char="Ø"/>
        <a:defRPr sz="1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00000"/>
        </a:lnSpc>
        <a:spcBef>
          <a:spcPts val="1000"/>
        </a:spcBef>
        <a:buClr>
          <a:srgbClr val="000000"/>
        </a:buClr>
        <a:buFont typeface="Noto Sans Symbols"/>
        <a:buChar char="⮚"/>
        <a:defRPr lang="en-US" sz="2800" b="1" kern="1200" spc="-1" dirty="0">
          <a:solidFill>
            <a:srgbClr val="000000"/>
          </a:solidFill>
          <a:latin typeface="楷体" panose="02010609060101010101" charset="-122"/>
          <a:ea typeface="楷体" panose="02010609060101010101" charset="-122"/>
          <a:cs typeface="+mn-cs"/>
        </a:defRPr>
      </a:lvl1pPr>
      <a:lvl2pPr marL="342900" indent="-342900" algn="l" defTabSz="914400" rtl="0" eaLnBrk="1" latinLnBrk="0" hangingPunct="1">
        <a:lnSpc>
          <a:spcPct val="100000"/>
        </a:lnSpc>
        <a:spcBef>
          <a:spcPts val="500"/>
        </a:spcBef>
        <a:buClr>
          <a:srgbClr val="000000"/>
        </a:buClr>
        <a:buFont typeface="Noto Sans Symbols"/>
        <a:buChar char="⮚"/>
        <a:defRPr lang="en-US" sz="2800" b="1" kern="1200" spc="-1" dirty="0">
          <a:solidFill>
            <a:srgbClr val="000000"/>
          </a:solidFill>
          <a:latin typeface="楷体" panose="02010609060101010101" charset="-122"/>
          <a:ea typeface="楷体" panose="02010609060101010101" charset="-122"/>
          <a:cs typeface="+mn-cs"/>
        </a:defRPr>
      </a:lvl2pPr>
      <a:lvl3pPr marL="342900" indent="-342900" algn="l" defTabSz="914400" rtl="0" eaLnBrk="1" latinLnBrk="0" hangingPunct="1">
        <a:lnSpc>
          <a:spcPct val="100000"/>
        </a:lnSpc>
        <a:spcBef>
          <a:spcPts val="500"/>
        </a:spcBef>
        <a:buClr>
          <a:srgbClr val="000000"/>
        </a:buClr>
        <a:buFont typeface="Noto Sans Symbols"/>
        <a:buChar char="⮚"/>
        <a:defRPr lang="en-US" sz="2800" b="1" kern="1200" spc="-1" dirty="0">
          <a:solidFill>
            <a:srgbClr val="000000"/>
          </a:solidFill>
          <a:latin typeface="楷体" panose="02010609060101010101" charset="-122"/>
          <a:ea typeface="楷体" panose="02010609060101010101" charset="-122"/>
          <a:cs typeface="+mn-cs"/>
        </a:defRPr>
      </a:lvl3pPr>
      <a:lvl4pPr marL="342900" indent="-342900" algn="l" defTabSz="914400" rtl="0" eaLnBrk="1" latinLnBrk="0" hangingPunct="1">
        <a:lnSpc>
          <a:spcPct val="100000"/>
        </a:lnSpc>
        <a:spcBef>
          <a:spcPts val="500"/>
        </a:spcBef>
        <a:buClr>
          <a:srgbClr val="000000"/>
        </a:buClr>
        <a:buFont typeface="Noto Sans Symbols"/>
        <a:buChar char="⮚"/>
        <a:defRPr lang="en-US" sz="2800" b="1" kern="1200" spc="-1" dirty="0">
          <a:solidFill>
            <a:srgbClr val="000000"/>
          </a:solidFill>
          <a:latin typeface="楷体" panose="02010609060101010101" charset="-122"/>
          <a:ea typeface="楷体" panose="02010609060101010101" charset="-122"/>
          <a:cs typeface="+mn-cs"/>
        </a:defRPr>
      </a:lvl4pPr>
      <a:lvl5pPr marL="342900" indent="-342900" algn="l" defTabSz="914400" rtl="0" eaLnBrk="1" latinLnBrk="0" hangingPunct="1">
        <a:lnSpc>
          <a:spcPct val="100000"/>
        </a:lnSpc>
        <a:spcBef>
          <a:spcPts val="500"/>
        </a:spcBef>
        <a:buClr>
          <a:srgbClr val="000000"/>
        </a:buClr>
        <a:buFont typeface="Noto Sans Symbols"/>
        <a:buChar char="⮚"/>
        <a:defRPr lang="en-US" sz="2800" b="1" kern="1200" spc="-1" dirty="0">
          <a:solidFill>
            <a:srgbClr val="000000"/>
          </a:solidFill>
          <a:latin typeface="楷体" panose="02010609060101010101" charset="-122"/>
          <a:ea typeface="楷体" panose="02010609060101010101" charset="-122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500"/>
        </a:spcBef>
        <a:buClr>
          <a:srgbClr val="000000"/>
        </a:buClr>
        <a:buFont typeface="Noto Sans Symbols"/>
        <a:buChar char="⮚"/>
        <a:defRPr lang="en-US" sz="2800" b="1" kern="1200" spc="-1" dirty="0">
          <a:solidFill>
            <a:srgbClr val="000000"/>
          </a:solidFill>
          <a:latin typeface="楷体" panose="02010609060101010101" charset="-122"/>
          <a:ea typeface="楷体" panose="02010609060101010101" charset="-122"/>
          <a:cs typeface="+mn-cs"/>
        </a:defRPr>
      </a:lvl6pPr>
      <a:lvl7pPr marL="342900" indent="-342900" algn="l" defTabSz="914400" rtl="0" eaLnBrk="1" latinLnBrk="0" hangingPunct="1">
        <a:lnSpc>
          <a:spcPct val="100000"/>
        </a:lnSpc>
        <a:spcBef>
          <a:spcPts val="500"/>
        </a:spcBef>
        <a:buClr>
          <a:srgbClr val="000000"/>
        </a:buClr>
        <a:buFont typeface="Noto Sans Symbols"/>
        <a:buChar char="⮚"/>
        <a:defRPr lang="en-US" sz="2800" b="1" kern="1200" spc="-1" dirty="0">
          <a:solidFill>
            <a:srgbClr val="000000"/>
          </a:solidFill>
          <a:latin typeface="楷体" panose="02010609060101010101" charset="-122"/>
          <a:ea typeface="楷体" panose="02010609060101010101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Shape 2"/>
          <p:cNvSpPr txBox="1"/>
          <p:nvPr/>
        </p:nvSpPr>
        <p:spPr>
          <a:xfrm>
            <a:off x="1066979" y="4623778"/>
            <a:ext cx="10058040" cy="1800468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zh-CN" altLang="en-US" sz="2400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重庆大学</a:t>
            </a:r>
            <a:r>
              <a:rPr lang="en-US" altLang="zh-CN" sz="2400" b="0" strike="noStrike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400" b="0" strike="noStrike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大数据与软件</a:t>
            </a:r>
            <a:r>
              <a:rPr lang="zh-CN" altLang="zh-CN" sz="2400" b="0" strike="noStrike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学院</a:t>
            </a:r>
            <a:endParaRPr lang="en-US" altLang="zh-CN" sz="2400" b="0" strike="noStrike" spc="-1" dirty="0">
              <a:solidFill>
                <a:srgbClr val="63705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zh-CN" altLang="en-US" sz="2400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任课</a:t>
            </a:r>
            <a:r>
              <a:rPr lang="zh-CN" altLang="en-US" sz="2400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教师：刘铎</a:t>
            </a:r>
            <a:endParaRPr lang="en-US" altLang="zh-CN" sz="2400" spc="-1" dirty="0">
              <a:solidFill>
                <a:srgbClr val="63705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altLang="zh-CN" sz="2400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2026</a:t>
            </a:r>
            <a:r>
              <a:rPr lang="zh-CN" altLang="en-US" sz="2400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2400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月</a:t>
            </a:r>
            <a:r>
              <a:rPr lang="en-US" altLang="zh-CN" sz="2400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</a:t>
            </a:r>
            <a:r>
              <a:rPr lang="zh-CN" altLang="en-US" sz="2400" spc="-1" dirty="0">
                <a:solidFill>
                  <a:srgbClr val="63705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日</a:t>
            </a:r>
            <a:endParaRPr lang="en-US" altLang="zh-CN" sz="2400" spc="-1" dirty="0">
              <a:solidFill>
                <a:srgbClr val="63705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7849" y="2027406"/>
            <a:ext cx="110363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accent2">
                    <a:lumMod val="75000"/>
                  </a:schemeClr>
                </a:solidFill>
              </a:rPr>
              <a:t>计算机组成与结构课程实验</a:t>
            </a:r>
            <a:endParaRPr lang="zh-CN" altLang="en-US" sz="6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5013" y="97371"/>
            <a:ext cx="3179842" cy="9759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实验要求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166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400" b="1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实验报告</a:t>
            </a:r>
            <a:endParaRPr lang="en-US" altLang="zh-CN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400" spc="-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实验报告为大家实验评分重要组成部分</a:t>
            </a: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，实验报告要求各施工整，内容齐全，图片清晰；</a:t>
            </a:r>
            <a:r>
              <a:rPr lang="zh-CN" altLang="en-US" sz="2400" spc="-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切勿抄袭</a:t>
            </a: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。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5725" y="2518643"/>
            <a:ext cx="11440547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400" b="1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实验检查</a:t>
            </a:r>
            <a:endParaRPr lang="en-US" altLang="zh-CN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每次课堂上大家做完实验以后可以找助教检查，检查完成后视为本次实验完成。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75725" y="3632409"/>
            <a:ext cx="11440547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400" b="1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实验出勤</a:t>
            </a:r>
            <a:endParaRPr lang="en-US" altLang="zh-CN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实验课程会随机检查大家的出勤情况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75725" y="4743290"/>
            <a:ext cx="11440547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400" b="1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实验分组</a:t>
            </a:r>
            <a:endParaRPr lang="en-US" altLang="zh-CN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400" spc="-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实验课程分组同课堂汇报分组</a:t>
            </a: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，报告提交，实验检查按小组进行。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实验组成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5142205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400" b="1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实验一</a:t>
            </a:r>
            <a:endParaRPr lang="en-US" altLang="zh-CN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简单流水线与运算器实验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5726" y="3520610"/>
            <a:ext cx="5142205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400" b="1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实验二</a:t>
            </a:r>
            <a:endParaRPr lang="zh-CN" altLang="en-US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存储器与控制器实验</a:t>
            </a:r>
            <a:endParaRPr lang="zh-CN" altLang="en-US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0" y="850879"/>
            <a:ext cx="5142205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400" b="1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实验三</a:t>
            </a:r>
            <a:endParaRPr lang="en-US" altLang="zh-CN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简易单周期实验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5999" y="3520610"/>
            <a:ext cx="5142205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400" b="1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实验四</a:t>
            </a:r>
            <a:endParaRPr lang="en-US" altLang="zh-CN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流水线</a:t>
            </a:r>
            <a:r>
              <a:rPr lang="en-US" altLang="zh-CN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MIPS</a:t>
            </a: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处理器设计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799" y="1910840"/>
            <a:ext cx="4125891" cy="177541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292" y="1964645"/>
            <a:ext cx="2375339" cy="173881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125" y="4580694"/>
            <a:ext cx="2435275" cy="2252629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779" y="4778303"/>
            <a:ext cx="4480363" cy="16109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实验准备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400" b="1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实验软件</a:t>
            </a:r>
            <a:endParaRPr lang="zh-CN" altLang="en-US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2400" spc="-1" dirty="0" err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Vivado </a:t>
            </a:r>
            <a:r>
              <a:rPr lang="en-US" altLang="zh-CN" sz="2400" spc="-1" dirty="0" err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2018.3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下载地址：</a:t>
            </a:r>
            <a:r>
              <a:rPr lang="en-US" altLang="zh-CN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 https://pan.quark.cn/s/7fabb60727e8#/list/share</a:t>
            </a: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 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安装教程：</a:t>
            </a:r>
            <a:r>
              <a:rPr lang="en-US" altLang="zh-CN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https://blog.csdn.net/weixin_42151221/article/details/103225226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5725" y="4540011"/>
            <a:ext cx="11440547" cy="166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400" b="1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注意事项</a:t>
            </a:r>
            <a:endParaRPr lang="zh-CN" altLang="en-US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本学期所有实验</a:t>
            </a:r>
            <a:r>
              <a:rPr lang="zh-CN" altLang="en-US" sz="2400" spc="-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均不要求上板验证</a:t>
            </a: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，只要求完成综合和仿真验证部分。故实验指导书上的上板部分可以忽略不管。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实验准备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Verilog</a:t>
            </a:r>
            <a:endParaRPr lang="zh-CN" altLang="en-US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1130" y="1434679"/>
            <a:ext cx="111751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Verilog HDL </a:t>
            </a: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是一种硬件描述语言，用于</a:t>
            </a:r>
            <a:r>
              <a:rPr lang="en-US" altLang="zh-CN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FPGA </a:t>
            </a: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及数字 </a:t>
            </a:r>
            <a:r>
              <a:rPr lang="en-US" altLang="zh-CN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IC </a:t>
            </a: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设计。可对算法级、门级、开关级等多种抽象设计层次进行建模。</a:t>
            </a:r>
            <a:endParaRPr lang="zh-CN" altLang="en-US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1026" name="Picture 2" descr="Verilog HDL菜鸟学习笔记———三、Verilog常用语法之一- 知乎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27" y="2514458"/>
            <a:ext cx="3857625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4992415" y="2404012"/>
            <a:ext cx="705671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 latinLnBrk="1">
              <a:buFont typeface="Wingdings" panose="05000000000000000000" pitchFamily="2" charset="2"/>
              <a:buChar char="l"/>
            </a:pP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1983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年，由</a:t>
            </a: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GDA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公司的</a:t>
            </a: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Phil </a:t>
            </a:r>
            <a:r>
              <a:rPr lang="en-US" altLang="zh-CN" sz="2000" spc="-1" dirty="0" err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Moorby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创建，主要用于逻辑建模和仿真验证，被广泛使用。</a:t>
            </a:r>
            <a:endParaRPr lang="en-US" altLang="zh-CN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342900" indent="-342900" algn="l" latinLnBrk="1">
              <a:buFont typeface="Wingdings" panose="05000000000000000000" pitchFamily="2" charset="2"/>
              <a:buChar char="l"/>
            </a:pPr>
            <a:endParaRPr lang="zh-CN" altLang="en-US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342900" indent="-342900" algn="l" latinLnBrk="1">
              <a:buFont typeface="Wingdings" panose="05000000000000000000" pitchFamily="2" charset="2"/>
              <a:buChar char="l"/>
            </a:pP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1989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年，</a:t>
            </a: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GDA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公司被</a:t>
            </a: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Cadence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公司收购。</a:t>
            </a:r>
            <a:endParaRPr lang="en-US" altLang="zh-CN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342900" indent="-342900" algn="l" latinLnBrk="1">
              <a:buFont typeface="Wingdings" panose="05000000000000000000" pitchFamily="2" charset="2"/>
              <a:buChar char="l"/>
            </a:pPr>
            <a:endParaRPr lang="zh-CN" altLang="en-US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342900" indent="-342900" algn="l" latinLnBrk="1">
              <a:buFont typeface="Wingdings" panose="05000000000000000000" pitchFamily="2" charset="2"/>
              <a:buChar char="l"/>
            </a:pP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1990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年，</a:t>
            </a: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 Verilog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语言公开，向公众领域发展。</a:t>
            </a:r>
            <a:endParaRPr lang="en-US" altLang="zh-CN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342900" indent="-342900" algn="l" latinLnBrk="1">
              <a:buFont typeface="Wingdings" panose="05000000000000000000" pitchFamily="2" charset="2"/>
              <a:buChar char="l"/>
            </a:pPr>
            <a:endParaRPr lang="en-US" altLang="zh-CN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342900" indent="-342900" algn="l" latinLnBrk="1">
              <a:buFont typeface="Wingdings" panose="05000000000000000000" pitchFamily="2" charset="2"/>
              <a:buChar char="l"/>
            </a:pP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1995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年，</a:t>
            </a: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IEEE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制定了</a:t>
            </a: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Verilog HDL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的第一个国际标准，</a:t>
            </a: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Verilog1.0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。</a:t>
            </a:r>
            <a:endParaRPr lang="en-US" altLang="zh-CN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342900" indent="-342900" algn="l" latinLnBrk="1">
              <a:buFont typeface="Wingdings" panose="05000000000000000000" pitchFamily="2" charset="2"/>
              <a:buChar char="l"/>
            </a:pPr>
            <a:endParaRPr lang="zh-CN" altLang="en-US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342900" indent="-342900" algn="l" latinLnBrk="1">
              <a:buFont typeface="Wingdings" panose="05000000000000000000" pitchFamily="2" charset="2"/>
              <a:buChar char="l"/>
            </a:pP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2001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年，</a:t>
            </a: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IEEE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发布</a:t>
            </a: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Verilog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第二个标准（</a:t>
            </a: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Verilog 2.0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）。</a:t>
            </a:r>
            <a:endParaRPr lang="zh-CN" altLang="en-US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08428" y="5944590"/>
            <a:ext cx="11175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charset="-122"/>
                <a:ea typeface="楷体" panose="02010609060101010101" charset="-122"/>
              </a:rPr>
              <a:t>由于 </a:t>
            </a:r>
            <a:r>
              <a:rPr lang="en-US" altLang="zh-CN" b="1" i="0" dirty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charset="-122"/>
                <a:ea typeface="楷体" panose="02010609060101010101" charset="-122"/>
              </a:rPr>
              <a:t>Cadence </a:t>
            </a:r>
            <a:r>
              <a:rPr lang="zh-CN" altLang="en-US" b="1" i="0" dirty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charset="-122"/>
                <a:ea typeface="楷体" panose="02010609060101010101" charset="-122"/>
              </a:rPr>
              <a:t>在集成电路设计领域的影响力及 </a:t>
            </a:r>
            <a:r>
              <a:rPr lang="en-US" altLang="zh-CN" b="1" i="0" dirty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charset="-122"/>
                <a:ea typeface="楷体" panose="02010609060101010101" charset="-122"/>
              </a:rPr>
              <a:t>Verilog </a:t>
            </a:r>
            <a:r>
              <a:rPr lang="zh-CN" altLang="en-US" b="1" i="0" dirty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charset="-122"/>
                <a:ea typeface="楷体" panose="02010609060101010101" charset="-122"/>
              </a:rPr>
              <a:t>语言的简洁易用性，</a:t>
            </a:r>
            <a:r>
              <a:rPr lang="en-US" altLang="zh-CN" b="1" i="0" dirty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charset="-122"/>
                <a:ea typeface="楷体" panose="02010609060101010101" charset="-122"/>
              </a:rPr>
              <a:t>Verilog </a:t>
            </a:r>
            <a:r>
              <a:rPr lang="zh-CN" altLang="en-US" b="1" i="0" dirty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charset="-122"/>
                <a:ea typeface="楷体" panose="02010609060101010101" charset="-122"/>
              </a:rPr>
              <a:t>成为电路设计中最流行的硬件描述语言。</a:t>
            </a:r>
            <a:endParaRPr lang="zh-CN" altLang="en-US" b="1" dirty="0">
              <a:solidFill>
                <a:schemeClr val="tx2">
                  <a:lumMod val="75000"/>
                </a:scheme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实验准备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Verilog</a:t>
            </a:r>
            <a:r>
              <a:rPr lang="zh-CN" alt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基础语法</a:t>
            </a:r>
            <a:endParaRPr lang="zh-CN" altLang="en-US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1130" y="1434679"/>
            <a:ext cx="11175143" cy="2420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格式：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Verilog 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是区分大小写的。</a:t>
            </a:r>
            <a:endParaRPr lang="zh-CN" altLang="en-US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格式自由，可以在一行内编写，也可跨多行编写。</a:t>
            </a:r>
            <a:endParaRPr lang="zh-CN" altLang="en-US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每个语句必须以分号为结束符。空白符（换行、制表、空格）都没有实际的意义，在编译阶段可忽略。</a:t>
            </a:r>
            <a:endParaRPr lang="en-US" altLang="zh-CN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1130" y="398756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617F10"/>
                </a:solidFill>
                <a:latin typeface="Helvetica Neue"/>
              </a:rPr>
              <a:t>实例：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例如下面两中编程方式都是等效的。</a:t>
            </a:r>
            <a:endParaRPr lang="zh-CN" altLang="en-US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1130" y="4680853"/>
            <a:ext cx="106680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wire [1:0]  results; assign results = (a == 1'b0) ? 2'b01 ： (b==1'b0) ? 2'b10 ： 2'b11 ;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641130" y="5382269"/>
            <a:ext cx="88812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wire [1:0]  results ;</a:t>
            </a:r>
            <a:endParaRPr lang="zh-CN" altLang="en-US" dirty="0"/>
          </a:p>
          <a:p>
            <a:r>
              <a:rPr lang="zh-CN" altLang="en-US" dirty="0"/>
              <a:t>assign      results = (a == 1'b0) ? 2'b01 ：</a:t>
            </a:r>
            <a:endParaRPr lang="zh-CN" altLang="en-US" dirty="0"/>
          </a:p>
          <a:p>
            <a:r>
              <a:rPr lang="zh-CN" altLang="en-US" dirty="0"/>
              <a:t>            (b==1'b0) ? 2'b10 ：</a:t>
            </a:r>
            <a:endParaRPr lang="zh-CN" altLang="en-US" dirty="0"/>
          </a:p>
          <a:p>
            <a:r>
              <a:rPr lang="zh-CN" altLang="en-US" dirty="0"/>
              <a:t>                2'b11 ;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9682674" y="4652691"/>
            <a:ext cx="2133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不换行（不推荐）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9827203" y="5634513"/>
            <a:ext cx="2144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换行（推荐）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实验准备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Verilog</a:t>
            </a:r>
            <a:r>
              <a:rPr lang="zh-CN" alt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基础语法</a:t>
            </a:r>
            <a:endParaRPr lang="zh-CN" altLang="en-US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1130" y="1434679"/>
            <a:ext cx="11175143" cy="1035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注释：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Verilog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中有</a:t>
            </a: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2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种注释方式</a:t>
            </a: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:</a:t>
            </a:r>
            <a:endParaRPr lang="en-US" altLang="zh-CN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14097" y="2826548"/>
            <a:ext cx="3394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617F10"/>
                </a:solidFill>
                <a:latin typeface="Helvetica Neue"/>
              </a:rPr>
              <a:t>用 </a:t>
            </a:r>
            <a:r>
              <a:rPr lang="en-US" altLang="zh-CN" b="1" dirty="0">
                <a:solidFill>
                  <a:srgbClr val="617F10"/>
                </a:solidFill>
                <a:latin typeface="Helvetica Neue"/>
              </a:rPr>
              <a:t>//</a:t>
            </a:r>
            <a:r>
              <a:rPr lang="zh-CN" altLang="en-US" b="1" dirty="0">
                <a:solidFill>
                  <a:srgbClr val="617F10"/>
                </a:solidFill>
                <a:latin typeface="Helvetica Neue"/>
              </a:rPr>
              <a:t> 进行单行注释：</a:t>
            </a:r>
            <a:endParaRPr lang="zh-CN" altLang="en-US" b="1" dirty="0">
              <a:solidFill>
                <a:srgbClr val="617F10"/>
              </a:solidFill>
              <a:latin typeface="Helvetica Neue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114097" y="334418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reg [3:0] counter</a:t>
            </a:r>
            <a:r>
              <a:rPr lang="en-US" altLang="zh-CN" dirty="0"/>
              <a:t>1</a:t>
            </a:r>
            <a:r>
              <a:rPr lang="zh-CN" altLang="en-US" dirty="0"/>
              <a:t> ;  // A definition of counter</a:t>
            </a:r>
            <a:r>
              <a:rPr lang="en-US" altLang="zh-CN" dirty="0"/>
              <a:t>1</a:t>
            </a:r>
            <a:r>
              <a:rPr lang="zh-CN" altLang="en-US" dirty="0"/>
              <a:t> register</a:t>
            </a:r>
            <a:endParaRPr lang="en-US" altLang="zh-CN" dirty="0"/>
          </a:p>
          <a:p>
            <a:r>
              <a:rPr lang="zh-CN" altLang="en-US" dirty="0"/>
              <a:t>reg [3:0] counter</a:t>
            </a:r>
            <a:r>
              <a:rPr lang="en-US" altLang="zh-CN" dirty="0"/>
              <a:t>2</a:t>
            </a:r>
            <a:r>
              <a:rPr lang="zh-CN" altLang="en-US" dirty="0"/>
              <a:t> ;  // A definition of counter</a:t>
            </a:r>
            <a:r>
              <a:rPr lang="en-US" altLang="zh-CN" dirty="0"/>
              <a:t>2</a:t>
            </a:r>
            <a:r>
              <a:rPr lang="zh-CN" altLang="en-US" dirty="0"/>
              <a:t> register</a:t>
            </a:r>
            <a:endParaRPr lang="zh-CN" altLang="en-US" dirty="0"/>
          </a:p>
          <a:p>
            <a:r>
              <a:rPr lang="zh-CN" altLang="en-US" dirty="0"/>
              <a:t>reg [3:0] counter</a:t>
            </a:r>
            <a:r>
              <a:rPr lang="en-US" altLang="zh-CN" dirty="0"/>
              <a:t>3</a:t>
            </a:r>
            <a:r>
              <a:rPr lang="zh-CN" altLang="en-US" dirty="0"/>
              <a:t> ;  // A definition of counter</a:t>
            </a:r>
            <a:r>
              <a:rPr lang="en-US" altLang="zh-CN" dirty="0"/>
              <a:t>3</a:t>
            </a:r>
            <a:r>
              <a:rPr lang="zh-CN" altLang="en-US" dirty="0"/>
              <a:t> register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7052442" y="2823992"/>
            <a:ext cx="3394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617F10"/>
                </a:solidFill>
                <a:latin typeface="Helvetica Neue"/>
              </a:rPr>
              <a:t>用 </a:t>
            </a:r>
            <a:r>
              <a:rPr lang="en-US" altLang="zh-CN" b="1" dirty="0">
                <a:solidFill>
                  <a:srgbClr val="617F10"/>
                </a:solidFill>
                <a:latin typeface="Helvetica Neue"/>
              </a:rPr>
              <a:t>/* </a:t>
            </a:r>
            <a:r>
              <a:rPr lang="zh-CN" altLang="en-US" b="1" dirty="0">
                <a:solidFill>
                  <a:srgbClr val="617F10"/>
                </a:solidFill>
                <a:latin typeface="Helvetica Neue"/>
              </a:rPr>
              <a:t>与 *</a:t>
            </a:r>
            <a:r>
              <a:rPr lang="en-US" altLang="zh-CN" b="1" dirty="0">
                <a:solidFill>
                  <a:srgbClr val="617F10"/>
                </a:solidFill>
                <a:latin typeface="Helvetica Neue"/>
              </a:rPr>
              <a:t>/ </a:t>
            </a:r>
            <a:r>
              <a:rPr lang="zh-CN" altLang="en-US" b="1" dirty="0">
                <a:solidFill>
                  <a:srgbClr val="617F10"/>
                </a:solidFill>
                <a:latin typeface="Helvetica Neue"/>
              </a:rPr>
              <a:t>进行跨行注释</a:t>
            </a:r>
            <a:r>
              <a:rPr lang="en-US" altLang="zh-CN" b="1" dirty="0">
                <a:solidFill>
                  <a:srgbClr val="617F10"/>
                </a:solidFill>
                <a:latin typeface="Helvetica Neue"/>
              </a:rPr>
              <a:t>:</a:t>
            </a:r>
            <a:endParaRPr lang="zh-CN" altLang="en-US" b="1" dirty="0">
              <a:solidFill>
                <a:srgbClr val="617F10"/>
              </a:solidFill>
              <a:latin typeface="Helvetica Neue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052442" y="3344182"/>
            <a:ext cx="46061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wire [11:0]  addr ;</a:t>
            </a:r>
            <a:endParaRPr lang="zh-CN" altLang="en-US" dirty="0"/>
          </a:p>
          <a:p>
            <a:r>
              <a:rPr lang="zh-CN" altLang="en-US" dirty="0"/>
              <a:t>/* </a:t>
            </a:r>
            <a:endParaRPr lang="zh-CN" altLang="en-US" dirty="0"/>
          </a:p>
          <a:p>
            <a:r>
              <a:rPr lang="zh-CN" altLang="en-US" dirty="0"/>
              <a:t>Next are notes with multiple lines.</a:t>
            </a:r>
            <a:endParaRPr lang="zh-CN" altLang="en-US" dirty="0"/>
          </a:p>
          <a:p>
            <a:r>
              <a:rPr lang="zh-CN" altLang="en-US" dirty="0"/>
              <a:t>Codes here cannot be compiled.</a:t>
            </a:r>
            <a:endParaRPr lang="zh-CN" altLang="en-US" dirty="0"/>
          </a:p>
          <a:p>
            <a:r>
              <a:rPr lang="zh-CN" altLang="en-US" dirty="0"/>
              <a:t>*/</a:t>
            </a:r>
            <a:endParaRPr lang="zh-CN" altLang="en-US" dirty="0"/>
          </a:p>
          <a:p>
            <a:r>
              <a:rPr lang="zh-CN" altLang="en-US" dirty="0"/>
              <a:t>assign   addr = 12'b0 ;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实验准备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Verilog</a:t>
            </a:r>
            <a:r>
              <a:rPr lang="zh-CN" alt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基础语法</a:t>
            </a:r>
            <a:endParaRPr lang="zh-CN" altLang="en-US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1130" y="1434679"/>
            <a:ext cx="11175143" cy="2882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标识符与关键字：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标识符（</a:t>
            </a: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identifier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）可以是任意一组字母、数字、</a:t>
            </a: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$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符号和</a:t>
            </a: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_(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下划线</a:t>
            </a: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)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符号的组合，但标识符的第一个字符必须是字母或者下划线，不能以数字或者</a:t>
            </a: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$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符号开始。</a:t>
            </a:r>
            <a:endParaRPr lang="en-US" altLang="zh-CN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另外，标识符是区分大小写的。</a:t>
            </a:r>
            <a:endParaRPr lang="en-US" altLang="zh-CN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关键字是 </a:t>
            </a: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Verilog 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中预留的用于定义语言结构的特殊标识符。</a:t>
            </a:r>
            <a:endParaRPr lang="zh-CN" altLang="en-US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Verilog 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中关键字全部为小写。</a:t>
            </a:r>
            <a:endParaRPr lang="en-US" altLang="zh-CN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51034" y="499971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reg [3:0] counter ; //reg 为关键字， counter 为标识符</a:t>
            </a:r>
            <a:endParaRPr lang="zh-CN" altLang="en-US" dirty="0"/>
          </a:p>
          <a:p>
            <a:r>
              <a:rPr lang="zh-CN" altLang="en-US" dirty="0"/>
              <a:t>input clk; //input 为关键字，clk 为标识符</a:t>
            </a:r>
            <a:endParaRPr lang="zh-CN" altLang="en-US" dirty="0"/>
          </a:p>
          <a:p>
            <a:r>
              <a:rPr lang="zh-CN" altLang="en-US" dirty="0"/>
              <a:t>input CLK; //CLK 与 clk是 2 个不同的标识符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1051034" y="45053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solidFill>
                  <a:srgbClr val="617F10"/>
                </a:solidFill>
                <a:effectLst/>
                <a:latin typeface="Helvetica Neue"/>
              </a:rPr>
              <a:t>实例：</a:t>
            </a:r>
            <a:endParaRPr lang="zh-CN" altLang="en-US" b="1" i="0" dirty="0">
              <a:solidFill>
                <a:srgbClr val="617F10"/>
              </a:solidFill>
              <a:effectLst/>
              <a:latin typeface="Helvetica Neue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51034" y="6305672"/>
            <a:ext cx="87130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更多</a:t>
            </a: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verilog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语法知识可参考</a:t>
            </a:r>
            <a:r>
              <a:rPr lang="zh-CN" altLang="en-US" sz="1600" dirty="0"/>
              <a:t>：</a:t>
            </a:r>
            <a:r>
              <a:rPr lang="en-US" altLang="zh-CN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https://www.runoob.com/w3cnote/verilog-tutorial.html</a:t>
            </a:r>
            <a:endParaRPr lang="zh-CN" altLang="en-US" sz="1600" dirty="0">
              <a:solidFill>
                <a:schemeClr val="accent1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实验准备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Verilog</a:t>
            </a:r>
            <a:r>
              <a:rPr lang="zh-CN" alt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基础语法</a:t>
            </a:r>
            <a:endParaRPr lang="zh-CN" altLang="en-US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1130" y="1434679"/>
            <a:ext cx="11175143" cy="3436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数值系统</a:t>
            </a: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：硬件描述语言的一切都是建立在硬件逻辑之上，因此 </a:t>
            </a:r>
            <a:r>
              <a:rPr lang="en-US" altLang="zh-CN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Verilog </a:t>
            </a: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具有一套独特的、基于</a:t>
            </a:r>
            <a:r>
              <a:rPr lang="zh-CN" altLang="en-US" sz="2400" b="1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电平逻辑</a:t>
            </a: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的数值系统。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0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：表示低电平或 </a:t>
            </a: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False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；</a:t>
            </a:r>
            <a:endParaRPr lang="zh-CN" altLang="en-US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1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：表示高电平或 </a:t>
            </a: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True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；</a:t>
            </a:r>
            <a:endParaRPr lang="zh-CN" altLang="en-US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x 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与 </a:t>
            </a: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X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：表示电平未知。也就是说实际情况可能为高电平，也可能为低电平，甚至二者都不属于；</a:t>
            </a:r>
            <a:endParaRPr lang="zh-CN" altLang="en-US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z 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与 </a:t>
            </a: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Z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：表示高阻态。这种情况常常源于信号没有驱动。</a:t>
            </a:r>
            <a:endParaRPr lang="en-US" altLang="zh-CN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实验准备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Verilog</a:t>
            </a:r>
            <a:r>
              <a:rPr lang="zh-CN" alt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基础语法</a:t>
            </a:r>
            <a:endParaRPr lang="zh-CN" altLang="en-US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1130" y="1434679"/>
            <a:ext cx="11175143" cy="559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整数</a:t>
            </a: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：</a:t>
            </a:r>
            <a:endParaRPr lang="en-US" altLang="zh-CN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955" y="2010927"/>
            <a:ext cx="9302090" cy="38567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实验准备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Verilog</a:t>
            </a:r>
            <a:r>
              <a:rPr lang="zh-CN" alt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基础语法</a:t>
            </a:r>
            <a:endParaRPr lang="zh-CN" altLang="en-US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1130" y="1434679"/>
            <a:ext cx="11175143" cy="2420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数据类型：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wire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：线网型数据。</a:t>
            </a: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wire 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本质上对应着一根没有任何其他逻辑的导线，仅仅将输入自身的信号原封不动地传递到输出端</a:t>
            </a: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,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其默认初始值是 </a:t>
            </a: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z</a:t>
            </a:r>
            <a:endParaRPr lang="zh-CN" altLang="en-US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reg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：</a:t>
            </a: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reg 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型变量对应着一种存储单元，其默认初始值是 </a:t>
            </a: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x</a:t>
            </a:r>
            <a:endParaRPr lang="en-US" altLang="zh-CN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声明变量：</a:t>
            </a:r>
            <a:r>
              <a:rPr lang="de-DE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wire/reg [width-1:0] (&lt;var_name&gt;,...) ,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 </a:t>
            </a: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width 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是信号的位宽</a:t>
            </a:r>
            <a:endParaRPr lang="en-US" altLang="zh-CN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 r="5430"/>
          <a:stretch>
            <a:fillRect/>
          </a:stretch>
        </p:blipFill>
        <p:spPr>
          <a:xfrm>
            <a:off x="1462900" y="3936381"/>
            <a:ext cx="9531601" cy="23815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实验准备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Verilog</a:t>
            </a:r>
            <a:r>
              <a:rPr lang="zh-CN" alt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基础语法</a:t>
            </a:r>
            <a:endParaRPr lang="zh-CN" altLang="en-US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1130" y="1434679"/>
            <a:ext cx="11175143" cy="2443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连续赋值：用于对 </a:t>
            </a:r>
            <a:r>
              <a:rPr lang="en-US" altLang="zh-CN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wire </a:t>
            </a: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型变量进行赋值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assign </a:t>
            </a:r>
            <a:r>
              <a:rPr lang="en-US" altLang="zh-CN" sz="2000" b="0" i="0" dirty="0">
                <a:solidFill>
                  <a:srgbClr val="36464E"/>
                </a:solidFill>
                <a:effectLst/>
                <a:latin typeface="Roboto Mono" panose="020F0502020204030204" pitchFamily="49" charset="0"/>
              </a:rPr>
              <a:t>LHS </a:t>
            </a:r>
            <a:r>
              <a:rPr lang="en-US" altLang="zh-CN" sz="2000" b="0" i="0" dirty="0">
                <a:effectLst/>
                <a:latin typeface="Roboto Mono" panose="020F0502020204030204" pitchFamily="49" charset="0"/>
              </a:rPr>
              <a:t>=</a:t>
            </a:r>
            <a:r>
              <a:rPr lang="en-US" altLang="zh-CN" sz="2000" b="0" i="0" dirty="0">
                <a:solidFill>
                  <a:srgbClr val="36464E"/>
                </a:solidFill>
                <a:effectLst/>
                <a:latin typeface="Roboto Mono" panose="020F0502020204030204" pitchFamily="49" charset="0"/>
              </a:rPr>
              <a:t> RHS</a:t>
            </a:r>
            <a:r>
              <a:rPr lang="zh-CN" altLang="en-US" sz="2000" b="0" i="0" dirty="0">
                <a:solidFill>
                  <a:srgbClr val="36464E"/>
                </a:solidFill>
                <a:effectLst/>
                <a:latin typeface="Roboto Mono" panose="020F0502020204030204" pitchFamily="49" charset="0"/>
              </a:rPr>
              <a:t>，</a:t>
            </a:r>
            <a:r>
              <a:rPr lang="en-US" altLang="zh-CN" sz="2000" b="0" i="0" dirty="0">
                <a:solidFill>
                  <a:srgbClr val="36464E"/>
                </a:solidFill>
                <a:effectLst/>
                <a:latin typeface="Roboto Mono" panose="020F0502020204030204" pitchFamily="49" charset="0"/>
              </a:rPr>
              <a:t>LHS</a:t>
            </a:r>
            <a:r>
              <a:rPr lang="zh-CN" altLang="en-US" sz="2000" b="0" i="0" dirty="0">
                <a:solidFill>
                  <a:srgbClr val="36464E"/>
                </a:solidFill>
                <a:effectLst/>
                <a:latin typeface="Roboto Mono" panose="020F0502020204030204" pitchFamily="49" charset="0"/>
              </a:rPr>
              <a:t>（</a:t>
            </a:r>
            <a:r>
              <a:rPr lang="en-US" altLang="zh-CN" sz="2000" b="0" i="0" dirty="0">
                <a:solidFill>
                  <a:srgbClr val="36464E"/>
                </a:solidFill>
                <a:effectLst/>
                <a:latin typeface="Roboto Mono" panose="020F0502020204030204" pitchFamily="49" charset="0"/>
              </a:rPr>
              <a:t>left hand side</a:t>
            </a:r>
            <a:r>
              <a:rPr lang="zh-CN" altLang="en-US" sz="2000" b="0" i="0" dirty="0">
                <a:solidFill>
                  <a:srgbClr val="36464E"/>
                </a:solidFill>
                <a:effectLst/>
                <a:latin typeface="Roboto Mono" panose="020F0502020204030204" pitchFamily="49" charset="0"/>
              </a:rPr>
              <a:t>）指赋值操作的左侧（左值），</a:t>
            </a:r>
            <a:r>
              <a:rPr lang="en-US" altLang="zh-CN" sz="2000" b="0" i="0" dirty="0">
                <a:solidFill>
                  <a:srgbClr val="36464E"/>
                </a:solidFill>
                <a:effectLst/>
                <a:latin typeface="Roboto Mono" panose="020F0502020204030204" pitchFamily="49" charset="0"/>
              </a:rPr>
              <a:t>RHS</a:t>
            </a:r>
            <a:r>
              <a:rPr lang="zh-CN" altLang="en-US" sz="2000" b="0" i="0" dirty="0">
                <a:solidFill>
                  <a:srgbClr val="36464E"/>
                </a:solidFill>
                <a:effectLst/>
                <a:latin typeface="Roboto Mono" panose="020F0502020204030204" pitchFamily="49" charset="0"/>
              </a:rPr>
              <a:t>（</a:t>
            </a:r>
            <a:r>
              <a:rPr lang="en-US" altLang="zh-CN" sz="2000" b="0" i="0" dirty="0">
                <a:solidFill>
                  <a:srgbClr val="36464E"/>
                </a:solidFill>
                <a:effectLst/>
                <a:latin typeface="Roboto Mono" panose="020F0502020204030204" pitchFamily="49" charset="0"/>
              </a:rPr>
              <a:t>right hand side</a:t>
            </a:r>
            <a:r>
              <a:rPr lang="zh-CN" altLang="en-US" sz="2000" b="0" i="0" dirty="0">
                <a:solidFill>
                  <a:srgbClr val="36464E"/>
                </a:solidFill>
                <a:effectLst/>
                <a:latin typeface="Roboto Mono" panose="020F0502020204030204" pitchFamily="49" charset="0"/>
              </a:rPr>
              <a:t>）指赋值操作的右侧（右值）</a:t>
            </a:r>
            <a:endParaRPr lang="en-US" altLang="zh-CN" sz="2000" b="0" i="0" dirty="0">
              <a:solidFill>
                <a:srgbClr val="36464E"/>
              </a:solidFill>
              <a:effectLst/>
              <a:latin typeface="Roboto Mono" panose="020F0502020204030204" pitchFamily="49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0" i="0" dirty="0">
                <a:solidFill>
                  <a:srgbClr val="36464E"/>
                </a:solidFill>
                <a:effectLst/>
                <a:latin typeface="Roboto Mono" panose="020F0502020204030204" pitchFamily="49" charset="0"/>
              </a:rPr>
              <a:t>只要 </a:t>
            </a:r>
            <a:r>
              <a:rPr lang="en-US" altLang="zh-CN" sz="2000" b="0" i="0" dirty="0">
                <a:solidFill>
                  <a:srgbClr val="36464E"/>
                </a:solidFill>
                <a:effectLst/>
                <a:latin typeface="Roboto Mono" panose="020F0502020204030204" pitchFamily="49" charset="0"/>
              </a:rPr>
              <a:t>RHS </a:t>
            </a:r>
            <a:r>
              <a:rPr lang="zh-CN" altLang="en-US" sz="2000" b="0" i="0" dirty="0">
                <a:solidFill>
                  <a:srgbClr val="36464E"/>
                </a:solidFill>
                <a:effectLst/>
                <a:latin typeface="Roboto Mono" panose="020F0502020204030204" pitchFamily="49" charset="0"/>
              </a:rPr>
              <a:t>表达式的操作数</a:t>
            </a:r>
            <a:r>
              <a:rPr lang="zh-CN" altLang="en-US" sz="2000" b="0" i="0" dirty="0">
                <a:solidFill>
                  <a:srgbClr val="FF0000"/>
                </a:solidFill>
                <a:effectLst/>
                <a:latin typeface="Roboto Mono" panose="020F0502020204030204" pitchFamily="49" charset="0"/>
              </a:rPr>
              <a:t>有事件发生</a:t>
            </a:r>
            <a:r>
              <a:rPr lang="zh-CN" altLang="en-US" sz="2000" b="0" i="0" dirty="0">
                <a:solidFill>
                  <a:srgbClr val="36464E"/>
                </a:solidFill>
                <a:effectLst/>
                <a:latin typeface="Roboto Mono" panose="020F0502020204030204" pitchFamily="49" charset="0"/>
              </a:rPr>
              <a:t>（值的变化）时，</a:t>
            </a:r>
            <a:r>
              <a:rPr lang="en-US" altLang="zh-CN" sz="2000" b="0" i="0" dirty="0">
                <a:solidFill>
                  <a:srgbClr val="36464E"/>
                </a:solidFill>
                <a:effectLst/>
                <a:latin typeface="Roboto Mono" panose="020F0502020204030204" pitchFamily="49" charset="0"/>
              </a:rPr>
              <a:t>RHS </a:t>
            </a:r>
            <a:r>
              <a:rPr lang="zh-CN" altLang="en-US" sz="2000" b="0" i="0" dirty="0">
                <a:solidFill>
                  <a:srgbClr val="36464E"/>
                </a:solidFill>
                <a:effectLst/>
                <a:latin typeface="Roboto Mono" panose="020F0502020204030204" pitchFamily="49" charset="0"/>
              </a:rPr>
              <a:t>就会立刻重新计算，同时赋值给 </a:t>
            </a:r>
            <a:r>
              <a:rPr lang="en-US" altLang="zh-CN" sz="2000" b="0" i="0" dirty="0">
                <a:solidFill>
                  <a:srgbClr val="36464E"/>
                </a:solidFill>
                <a:effectLst/>
                <a:latin typeface="Roboto Mono" panose="020F0502020204030204" pitchFamily="49" charset="0"/>
              </a:rPr>
              <a:t>LHS</a:t>
            </a:r>
            <a:r>
              <a:rPr lang="zh-CN" altLang="en-US" sz="2000" b="0" i="0" dirty="0">
                <a:solidFill>
                  <a:srgbClr val="36464E"/>
                </a:solidFill>
                <a:effectLst/>
                <a:latin typeface="Roboto Mono" panose="020F0502020204030204" pitchFamily="49" charset="0"/>
              </a:rPr>
              <a:t>。</a:t>
            </a:r>
            <a:endParaRPr lang="en-US" altLang="zh-CN" sz="2000" b="0" i="0" dirty="0">
              <a:solidFill>
                <a:srgbClr val="36464E"/>
              </a:solidFill>
              <a:effectLst/>
              <a:latin typeface="Roboto Mono" panose="020F0502020204030204" pitchFamily="49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044" y="4028309"/>
            <a:ext cx="9431066" cy="885949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44" y="5064014"/>
            <a:ext cx="9154803" cy="94310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实验准备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Verilog</a:t>
            </a:r>
            <a:r>
              <a:rPr lang="zh-CN" alt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基础语法</a:t>
            </a:r>
            <a:endParaRPr lang="zh-CN" altLang="en-US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1130" y="1434679"/>
            <a:ext cx="11175143" cy="2445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过程赋值：对 </a:t>
            </a:r>
            <a:r>
              <a:rPr lang="en-US" altLang="zh-CN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reg </a:t>
            </a: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型变量进行赋值</a:t>
            </a:r>
            <a:endParaRPr lang="en-US" altLang="zh-CN" sz="2000" b="0" i="0" dirty="0">
              <a:solidFill>
                <a:srgbClr val="36464E"/>
              </a:solidFill>
              <a:effectLst/>
              <a:latin typeface="Roboto Mono" panose="020F0502020204030204" pitchFamily="49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0" i="0" dirty="0">
                <a:solidFill>
                  <a:srgbClr val="36464E"/>
                </a:solidFill>
                <a:effectLst/>
                <a:latin typeface="Roboto Mono" panose="020F0502020204030204" pitchFamily="49" charset="0"/>
              </a:rPr>
              <a:t>关键字：</a:t>
            </a:r>
            <a:r>
              <a:rPr lang="en-US" altLang="zh-CN" sz="2000" b="0" i="0" dirty="0">
                <a:solidFill>
                  <a:srgbClr val="36464E"/>
                </a:solidFill>
                <a:effectLst/>
                <a:latin typeface="Roboto Mono" panose="020F0502020204030204" pitchFamily="49" charset="0"/>
              </a:rPr>
              <a:t>Initial</a:t>
            </a:r>
            <a:r>
              <a:rPr lang="zh-CN" altLang="en-US" sz="2000" b="0" i="0" dirty="0">
                <a:solidFill>
                  <a:srgbClr val="36464E"/>
                </a:solidFill>
                <a:effectLst/>
                <a:latin typeface="Roboto Mono" panose="020F0502020204030204" pitchFamily="49" charset="0"/>
              </a:rPr>
              <a:t>和</a:t>
            </a:r>
            <a:r>
              <a:rPr lang="en-US" altLang="zh-CN" sz="2000" b="0" i="0" dirty="0">
                <a:solidFill>
                  <a:srgbClr val="36464E"/>
                </a:solidFill>
                <a:effectLst/>
                <a:latin typeface="Roboto Mono" panose="020F0502020204030204" pitchFamily="49" charset="0"/>
              </a:rPr>
              <a:t>always</a:t>
            </a:r>
            <a:endParaRPr lang="en-US" altLang="zh-CN" sz="2000" b="0" i="0" dirty="0">
              <a:solidFill>
                <a:srgbClr val="36464E"/>
              </a:solidFill>
              <a:effectLst/>
              <a:latin typeface="Roboto Mono" panose="020F0502020204030204" pitchFamily="49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36464E"/>
                </a:solidFill>
                <a:latin typeface="Roboto Mono" panose="020F0502020204030204" pitchFamily="49" charset="0"/>
              </a:rPr>
              <a:t>每个 </a:t>
            </a:r>
            <a:r>
              <a:rPr lang="en-US" altLang="zh-CN" sz="2000" dirty="0">
                <a:solidFill>
                  <a:srgbClr val="36464E"/>
                </a:solidFill>
                <a:latin typeface="Roboto Mono" panose="020F0502020204030204" pitchFamily="49" charset="0"/>
              </a:rPr>
              <a:t>initial </a:t>
            </a:r>
            <a:r>
              <a:rPr lang="zh-CN" altLang="en-US" sz="2000" dirty="0">
                <a:solidFill>
                  <a:srgbClr val="36464E"/>
                </a:solidFill>
                <a:latin typeface="Roboto Mono" panose="020F0502020204030204" pitchFamily="49" charset="0"/>
              </a:rPr>
              <a:t>语句或 </a:t>
            </a:r>
            <a:r>
              <a:rPr lang="en-US" altLang="zh-CN" sz="2000" dirty="0">
                <a:solidFill>
                  <a:srgbClr val="36464E"/>
                </a:solidFill>
                <a:latin typeface="Roboto Mono" panose="020F0502020204030204" pitchFamily="49" charset="0"/>
              </a:rPr>
              <a:t>always </a:t>
            </a:r>
            <a:r>
              <a:rPr lang="zh-CN" altLang="en-US" sz="2000" dirty="0">
                <a:solidFill>
                  <a:srgbClr val="36464E"/>
                </a:solidFill>
                <a:latin typeface="Roboto Mono" panose="020F0502020204030204" pitchFamily="49" charset="0"/>
              </a:rPr>
              <a:t>语句都会产生一个独立的控制流</a:t>
            </a:r>
            <a:endParaRPr lang="en-US" altLang="zh-CN" sz="2000" dirty="0">
              <a:solidFill>
                <a:srgbClr val="36464E"/>
              </a:solidFill>
              <a:latin typeface="Roboto Mono" panose="020F0502020204030204" pitchFamily="49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36464E"/>
                </a:solidFill>
                <a:latin typeface="Roboto Mono" panose="020F0502020204030204" pitchFamily="49" charset="0"/>
              </a:rPr>
              <a:t>Initial</a:t>
            </a:r>
            <a:r>
              <a:rPr lang="zh-CN" altLang="en-US" sz="2000" dirty="0">
                <a:solidFill>
                  <a:srgbClr val="36464E"/>
                </a:solidFill>
                <a:latin typeface="Roboto Mono" panose="020F0502020204030204" pitchFamily="49" charset="0"/>
              </a:rPr>
              <a:t>仅执行一次内部的语句，</a:t>
            </a:r>
            <a:r>
              <a:rPr lang="en-US" altLang="zh-CN" sz="2000" dirty="0">
                <a:solidFill>
                  <a:srgbClr val="36464E"/>
                </a:solidFill>
                <a:latin typeface="Roboto Mono" panose="020F0502020204030204" pitchFamily="49" charset="0"/>
              </a:rPr>
              <a:t>always</a:t>
            </a:r>
            <a:r>
              <a:rPr lang="zh-CN" altLang="en-US" sz="2000" dirty="0">
                <a:solidFill>
                  <a:srgbClr val="36464E"/>
                </a:solidFill>
                <a:latin typeface="Roboto Mono" panose="020F0502020204030204" pitchFamily="49" charset="0"/>
              </a:rPr>
              <a:t>循环执行</a:t>
            </a:r>
            <a:endParaRPr lang="en-US" altLang="zh-CN" sz="2000" dirty="0">
              <a:solidFill>
                <a:srgbClr val="36464E"/>
              </a:solidFill>
              <a:latin typeface="Roboto Mono" panose="020F0502020204030204" pitchFamily="49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36464E"/>
              </a:solidFill>
              <a:latin typeface="Roboto Mono" panose="020F0502020204030204" pitchFamily="49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1" y="3633897"/>
            <a:ext cx="6200442" cy="295702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rcRect r="13266"/>
          <a:stretch>
            <a:fillRect/>
          </a:stretch>
        </p:blipFill>
        <p:spPr>
          <a:xfrm>
            <a:off x="7232787" y="4711544"/>
            <a:ext cx="4792300" cy="11812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实验准备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Verilog</a:t>
            </a:r>
            <a:r>
              <a:rPr lang="zh-CN" alt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基础语法</a:t>
            </a:r>
            <a:endParaRPr lang="zh-CN" altLang="en-US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1130" y="1434679"/>
            <a:ext cx="11175143" cy="2905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基本单元：模块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36464E"/>
                </a:solidFill>
                <a:latin typeface="Roboto Mono" panose="020F0502020204030204" pitchFamily="49" charset="0"/>
              </a:rPr>
              <a:t>模块是具有输入和输出端口的逻辑块</a:t>
            </a:r>
            <a:endParaRPr lang="en-US" altLang="zh-CN" sz="2000" dirty="0">
              <a:solidFill>
                <a:srgbClr val="36464E"/>
              </a:solidFill>
              <a:latin typeface="Roboto Mono" panose="020F0502020204030204" pitchFamily="49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36464E"/>
                </a:solidFill>
                <a:latin typeface="Roboto Mono" panose="020F0502020204030204" pitchFamily="49" charset="0"/>
              </a:rPr>
              <a:t>它可以代表一个物理器件，也可以代表一个复杂的逻辑系统，例如基础逻辑门器件（三态门，与或非门等）或通用的逻辑单元（寄存器、计数器等）</a:t>
            </a:r>
            <a:endParaRPr lang="en-US" altLang="zh-CN" sz="2000" dirty="0">
              <a:solidFill>
                <a:srgbClr val="36464E"/>
              </a:solidFill>
              <a:latin typeface="Roboto Mono" panose="020F0502020204030204" pitchFamily="49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36464E"/>
                </a:solidFill>
                <a:latin typeface="Roboto Mono" panose="020F0502020204030204" pitchFamily="49" charset="0"/>
              </a:rPr>
              <a:t>一个数字电路系统一般由一个或多个模块构成，每个模块实现某一部分的逻辑功能，而模块之间又需要按一定方式连接在一起实现所需求的系统功能</a:t>
            </a:r>
            <a:endParaRPr lang="en-US" altLang="zh-CN" sz="2000" dirty="0">
              <a:solidFill>
                <a:srgbClr val="36464E"/>
              </a:solidFill>
              <a:latin typeface="Roboto Mono" panose="020F0502020204030204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实验准备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Verilog</a:t>
            </a:r>
            <a:r>
              <a:rPr lang="zh-CN" alt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基础语法</a:t>
            </a:r>
            <a:endParaRPr lang="zh-CN" altLang="en-US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1130" y="1434679"/>
            <a:ext cx="11175143" cy="559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基本单元：模块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297" y="2300561"/>
            <a:ext cx="4725059" cy="344853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345524" y="1871975"/>
            <a:ext cx="4961383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Wire</a:t>
            </a: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变量可以省略，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端口类型可以与数据一起声明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713" y="3090546"/>
            <a:ext cx="4163006" cy="1514686"/>
          </a:xfrm>
          <a:prstGeom prst="rect">
            <a:avLst/>
          </a:prstGeom>
        </p:spPr>
      </p:pic>
      <p:sp>
        <p:nvSpPr>
          <p:cNvPr id="14" name="箭头: 右 13"/>
          <p:cNvSpPr/>
          <p:nvPr/>
        </p:nvSpPr>
        <p:spPr>
          <a:xfrm>
            <a:off x="5968020" y="3532203"/>
            <a:ext cx="1299029" cy="6313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实验准备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Verilog</a:t>
            </a:r>
            <a:r>
              <a:rPr lang="zh-CN" alt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基础语法</a:t>
            </a:r>
            <a:endParaRPr lang="zh-CN" altLang="en-US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1130" y="1434679"/>
            <a:ext cx="11175143" cy="559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基本单元：模块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168" y="2283454"/>
            <a:ext cx="9136889" cy="324146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实验准备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Verilog</a:t>
            </a:r>
            <a:r>
              <a:rPr lang="zh-CN" alt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基础语法</a:t>
            </a:r>
            <a:endParaRPr lang="zh-CN" altLang="en-US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1130" y="1434679"/>
            <a:ext cx="11175143" cy="559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基本单元：模块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9572" y="1907176"/>
            <a:ext cx="3953427" cy="4582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实验准备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2400" b="1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Vivado</a:t>
            </a:r>
            <a:r>
              <a:rPr lang="zh-CN" alt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基础使用</a:t>
            </a:r>
            <a:endParaRPr lang="zh-CN" altLang="en-US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1130" y="1319065"/>
            <a:ext cx="11175143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Vivado</a:t>
            </a:r>
            <a:r>
              <a:rPr lang="zh-CN" alt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新建工程</a:t>
            </a: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：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1130" y="1895313"/>
            <a:ext cx="100058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通过双击桌面快捷方式或开始菜单的“</a:t>
            </a:r>
            <a:r>
              <a:rPr lang="en-US" altLang="zh-CN" sz="18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Xilinx Design </a:t>
            </a:r>
            <a:r>
              <a:rPr lang="en-US" altLang="zh-CN" sz="1800" spc="-1" dirty="0" err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Tools→Vivado</a:t>
            </a:r>
            <a:r>
              <a:rPr lang="en-US" altLang="zh-CN" sz="18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 2017.1”</a:t>
            </a:r>
            <a:r>
              <a:rPr lang="zh-CN" altLang="en-US" sz="18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打开 </a:t>
            </a:r>
            <a:r>
              <a:rPr lang="en-US" altLang="zh-CN" sz="1800" spc="-1" dirty="0" err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Vivado</a:t>
            </a:r>
            <a:r>
              <a:rPr lang="en-US" altLang="zh-CN" sz="18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 2017.1</a:t>
            </a:r>
            <a:r>
              <a:rPr lang="zh-CN" altLang="en-US" sz="18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，在界面上“</a:t>
            </a:r>
            <a:r>
              <a:rPr lang="en-US" altLang="zh-CN" sz="18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Quick Start”</a:t>
            </a:r>
            <a:r>
              <a:rPr lang="zh-CN" altLang="en-US" sz="18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下选择“</a:t>
            </a:r>
            <a:r>
              <a:rPr lang="en-US" altLang="zh-CN" sz="18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Create Project”</a:t>
            </a:r>
            <a:r>
              <a:rPr lang="zh-CN" altLang="en-US" sz="18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。</a:t>
            </a:r>
            <a:endParaRPr lang="en-US" altLang="zh-CN" sz="18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7813" y="2595093"/>
            <a:ext cx="7632482" cy="39958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实验准备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2400" b="1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Vivado</a:t>
            </a:r>
            <a:r>
              <a:rPr lang="zh-CN" alt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基础使用</a:t>
            </a:r>
            <a:endParaRPr lang="zh-CN" altLang="en-US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1130" y="1319065"/>
            <a:ext cx="11175143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Vivado</a:t>
            </a:r>
            <a:r>
              <a:rPr lang="zh-CN" alt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新建工程</a:t>
            </a: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：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1131" y="2345222"/>
            <a:ext cx="3447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新建工程向导，点击“</a:t>
            </a:r>
            <a:r>
              <a:rPr lang="en-US" altLang="zh-CN" sz="18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Next”</a:t>
            </a:r>
            <a:endParaRPr lang="en-US" altLang="zh-CN" sz="18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4788" y="993952"/>
            <a:ext cx="6810674" cy="559696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实验准备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2400" b="1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Vivado</a:t>
            </a:r>
            <a:r>
              <a:rPr lang="zh-CN" alt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基础使用</a:t>
            </a:r>
            <a:endParaRPr lang="zh-CN" altLang="en-US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1130" y="1319065"/>
            <a:ext cx="11175143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Vivado</a:t>
            </a:r>
            <a:r>
              <a:rPr lang="zh-CN" alt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新建工程</a:t>
            </a: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：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1130" y="2232147"/>
            <a:ext cx="46140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输入工程名称并选择工程的文件位置，并勾选“</a:t>
            </a:r>
            <a:r>
              <a:rPr lang="en-US" altLang="zh-CN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Create project subdirectory”</a:t>
            </a:r>
            <a:r>
              <a:rPr lang="zh-CN" altLang="en-US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选项，为工程在指定存储路径下建立独立的文件夹。设置完成后，点击“</a:t>
            </a:r>
            <a:r>
              <a:rPr lang="en-US" altLang="zh-CN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Next”</a:t>
            </a:r>
            <a:r>
              <a:rPr lang="zh-CN" altLang="en-US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。 </a:t>
            </a:r>
            <a:endParaRPr lang="zh-CN" altLang="en-US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41130" y="5334973"/>
            <a:ext cx="47966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注意：工程名称和存储路径中不能出现中文和空格，建议工程名称以字母、数字、下划线来组成。</a:t>
            </a:r>
            <a:endParaRPr lang="zh-CN" altLang="en-US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492" y="1319065"/>
            <a:ext cx="6178781" cy="52219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实验准备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2400" b="1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Vivado</a:t>
            </a:r>
            <a:r>
              <a:rPr lang="zh-CN" alt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基础使用</a:t>
            </a:r>
            <a:endParaRPr lang="zh-CN" altLang="en-US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1130" y="1319065"/>
            <a:ext cx="11175143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Vivado</a:t>
            </a:r>
            <a:r>
              <a:rPr lang="zh-CN" alt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新建工程</a:t>
            </a: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：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1130" y="2232147"/>
            <a:ext cx="466659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选择“</a:t>
            </a:r>
            <a:r>
              <a:rPr lang="en-US" altLang="zh-CN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RTL Project”</a:t>
            </a:r>
            <a:r>
              <a:rPr lang="zh-CN" altLang="en-US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一项，并勾选“</a:t>
            </a:r>
            <a:r>
              <a:rPr lang="en-US" altLang="zh-CN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Do not specify sources at this time”</a:t>
            </a:r>
            <a:r>
              <a:rPr lang="zh-CN" altLang="en-US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，勾选该选项是为了跳过在新建工程的过程中添加设计源文件，如果要在新建工程时添加源文件则不勾选。点击“</a:t>
            </a:r>
            <a:r>
              <a:rPr lang="en-US" altLang="zh-CN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Next”</a:t>
            </a:r>
            <a:r>
              <a:rPr lang="zh-CN" altLang="en-US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。</a:t>
            </a:r>
            <a:endParaRPr lang="zh-CN" altLang="en-US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5310" y="1266762"/>
            <a:ext cx="6310964" cy="532415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实验准备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2400" b="1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Vivado</a:t>
            </a:r>
            <a:r>
              <a:rPr lang="zh-CN" alt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基础使用</a:t>
            </a:r>
            <a:endParaRPr lang="zh-CN" altLang="en-US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1130" y="1319065"/>
            <a:ext cx="11175143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Vivado</a:t>
            </a:r>
            <a:r>
              <a:rPr lang="zh-CN" alt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新建工程</a:t>
            </a: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：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1130" y="2232147"/>
            <a:ext cx="433026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根据使用的</a:t>
            </a:r>
            <a:r>
              <a:rPr lang="en-US" altLang="zh-CN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FPGA </a:t>
            </a:r>
            <a:r>
              <a:rPr lang="zh-CN" altLang="en-US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开发平台，选择对应的</a:t>
            </a:r>
            <a:r>
              <a:rPr lang="en-US" altLang="zh-CN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FPGA</a:t>
            </a:r>
            <a:r>
              <a:rPr lang="zh-CN" altLang="en-US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目标器件。根据实验平台搭载的</a:t>
            </a:r>
            <a:r>
              <a:rPr lang="en-US" altLang="zh-CN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FPGA</a:t>
            </a:r>
            <a:r>
              <a:rPr lang="zh-CN" altLang="en-US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，</a:t>
            </a:r>
            <a:endParaRPr lang="en-US" altLang="zh-CN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在筛选器的“</a:t>
            </a:r>
            <a:r>
              <a:rPr lang="en-US" altLang="zh-CN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Family”</a:t>
            </a:r>
            <a:r>
              <a:rPr lang="zh-CN" altLang="en-US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选择“</a:t>
            </a:r>
            <a:r>
              <a:rPr lang="en-US" altLang="zh-CN" spc="-1" dirty="0" err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Artix</a:t>
            </a:r>
            <a:r>
              <a:rPr lang="en-US" altLang="zh-CN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 7”</a:t>
            </a:r>
            <a:r>
              <a:rPr lang="zh-CN" altLang="en-US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“</a:t>
            </a:r>
            <a:r>
              <a:rPr lang="en-US" altLang="zh-CN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Package”</a:t>
            </a:r>
            <a:r>
              <a:rPr lang="zh-CN" altLang="en-US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选择“</a:t>
            </a:r>
            <a:r>
              <a:rPr lang="en-US" altLang="zh-CN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csg324”</a:t>
            </a:r>
            <a:r>
              <a:rPr lang="zh-CN" altLang="en-US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，在筛选得到的型号里面选择“</a:t>
            </a:r>
            <a:r>
              <a:rPr lang="en-US" altLang="zh-CN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xc7a100tcsg324-1”</a:t>
            </a:r>
            <a:r>
              <a:rPr lang="zh-CN" altLang="en-US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。点击“</a:t>
            </a:r>
            <a:r>
              <a:rPr lang="en-US" altLang="zh-CN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Next”</a:t>
            </a:r>
            <a:r>
              <a:rPr lang="zh-CN" altLang="en-US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。</a:t>
            </a:r>
            <a:endParaRPr lang="zh-CN" altLang="en-US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6786" y="1248190"/>
            <a:ext cx="6499487" cy="547656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实验准备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2400" b="1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Vivado</a:t>
            </a:r>
            <a:r>
              <a:rPr lang="zh-CN" alt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基础使用</a:t>
            </a:r>
            <a:endParaRPr lang="zh-CN" altLang="en-US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1130" y="1319065"/>
            <a:ext cx="11175143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Vivado</a:t>
            </a:r>
            <a:r>
              <a:rPr lang="zh-CN" alt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新建工程</a:t>
            </a: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：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1130" y="2232147"/>
            <a:ext cx="43302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确认工程设置信息是否正确。正确点击“</a:t>
            </a:r>
            <a:r>
              <a:rPr lang="en-US" altLang="zh-CN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Finish”</a:t>
            </a:r>
            <a:r>
              <a:rPr lang="zh-CN" altLang="en-US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，不正确则点击“上一步”返回相应步骤修改。</a:t>
            </a:r>
            <a:endParaRPr lang="zh-CN" altLang="en-US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5590" y="1246070"/>
            <a:ext cx="6500684" cy="548080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实验准备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2400" b="1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Vivado</a:t>
            </a:r>
            <a:r>
              <a:rPr lang="zh-CN" alt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基础使用</a:t>
            </a:r>
            <a:endParaRPr lang="zh-CN" altLang="en-US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1130" y="1319065"/>
            <a:ext cx="11175143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Vivado</a:t>
            </a:r>
            <a:r>
              <a:rPr lang="zh-CN" alt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新建工程</a:t>
            </a: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：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1131" y="2975976"/>
            <a:ext cx="1961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完成工程新建</a:t>
            </a:r>
            <a:endParaRPr lang="zh-CN" altLang="en-US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2988" y="1893411"/>
            <a:ext cx="8947882" cy="477992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实验一：</a:t>
            </a:r>
            <a:r>
              <a:rPr lang="en-US" altLang="zh-CN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ALU</a:t>
            </a:r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设计实验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1497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ALU</a:t>
            </a:r>
            <a:endParaRPr lang="en-US" altLang="zh-CN" sz="2400" b="1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在计算机系统中，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ALU</a:t>
            </a: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（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Arithmetic Logic Unit</a:t>
            </a: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）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是中央处理器的主要组成部分，它代表算术逻辑单元，执行算术运算、逻辑运算和各种移位操作等。</a:t>
            </a:r>
            <a:endParaRPr lang="en-US" altLang="zh-CN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2141646" y="2537589"/>
            <a:ext cx="7594926" cy="3409622"/>
            <a:chOff x="1353371" y="2514600"/>
            <a:chExt cx="7594926" cy="3409622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53371" y="2548102"/>
              <a:ext cx="3775371" cy="3376120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00817" y="3090042"/>
              <a:ext cx="3847480" cy="2834180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 rotWithShape="1">
            <a:blip r:embed="rId3"/>
            <a:srcRect l="2939"/>
            <a:stretch>
              <a:fillRect/>
            </a:stretch>
          </p:blipFill>
          <p:spPr>
            <a:xfrm>
              <a:off x="5128742" y="2514600"/>
              <a:ext cx="3819555" cy="575442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712718" y="6169897"/>
            <a:ext cx="107665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算术运算包括定点加减乘除运算；逻辑运算主要有逻辑与、逻辑或、逻辑异或和逻辑非等操作。</a:t>
            </a:r>
            <a:endParaRPr lang="zh-CN" altLang="en-US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实验一：</a:t>
            </a:r>
            <a:r>
              <a:rPr lang="en-US" altLang="zh-CN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ALU</a:t>
            </a:r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设计实验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1497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ALU</a:t>
            </a:r>
            <a:endParaRPr lang="en-US" altLang="zh-CN" sz="2400" b="1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在计算机系统中，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ALU</a:t>
            </a: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（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Arithmetic Logic Unit</a:t>
            </a: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）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是中央处理器的主要组成部分，它代表算术逻辑单元，执行算术运算、逻辑运算和各种移位操作等。</a:t>
            </a:r>
            <a:endParaRPr lang="en-US" altLang="zh-CN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2742" y="2348405"/>
            <a:ext cx="3925651" cy="368568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770210" y="3429000"/>
            <a:ext cx="5129048" cy="1418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ALU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通常有两个数据输入端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和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B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输入操作数</a:t>
            </a:r>
            <a:endParaRPr lang="en-US" altLang="zh-CN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一个数据输出端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Y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以及标志位输出结果，</a:t>
            </a:r>
            <a:endParaRPr lang="en-US" altLang="zh-CN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通过输入操作码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op</a:t>
            </a: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来确定所要进行的操作。</a:t>
            </a:r>
            <a:endParaRPr lang="zh-CN" altLang="en-US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实验一：</a:t>
            </a:r>
            <a:r>
              <a:rPr lang="en-US" altLang="zh-CN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ALU</a:t>
            </a:r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设计实验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1035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实验要求</a:t>
            </a:r>
            <a:endParaRPr lang="en-US" altLang="zh-CN" sz="2400" b="1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0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本次实验要求实现以下算术运算功能，其对应的控制码及功能如下：</a:t>
            </a:r>
            <a:endParaRPr lang="en-US" altLang="zh-CN" sz="20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3599" y="2027675"/>
            <a:ext cx="7924800" cy="38957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346026" y="6007121"/>
            <a:ext cx="34999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表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1</a:t>
            </a: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：算数运算控制码及功能</a:t>
            </a:r>
            <a:endParaRPr lang="zh-CN" alt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实验一：</a:t>
            </a:r>
            <a:r>
              <a:rPr lang="en-US" altLang="zh-CN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ALU</a:t>
            </a:r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设计实验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5207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实验要求</a:t>
            </a:r>
            <a:endParaRPr lang="en-US" altLang="zh-CN" sz="2400" b="1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000" b="1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必做部分</a:t>
            </a:r>
            <a:r>
              <a:rPr lang="en-US" altLang="zh-CN" sz="2000" b="1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:</a:t>
            </a:r>
            <a:endParaRPr lang="en-US" altLang="zh-CN" sz="20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1257935" lvl="2" indent="-342900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Char char="l"/>
            </a:pP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根据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ALU</a:t>
            </a: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原理图，使用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Verilog</a:t>
            </a: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语言定义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ALU</a:t>
            </a: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模块，其中输入输出端口参考实验原理，运算指令码长度为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[2:0]</a:t>
            </a:r>
            <a:endParaRPr lang="en-US" altLang="zh-CN" sz="2000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1257935" lvl="2" indent="-342900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Char char="l"/>
            </a:pP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自行编写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Testbench</a:t>
            </a: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仿真文件，时钟周期设为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10ms</a:t>
            </a: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，每个时钟周期输入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、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B</a:t>
            </a: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、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OP</a:t>
            </a: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，捕获输出并打印在控制台</a:t>
            </a:r>
            <a:endParaRPr lang="en-US" altLang="zh-CN" sz="2000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1257935" lvl="2" indent="-342900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Char char="l"/>
            </a:pP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实现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SLT</a:t>
            </a: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功能</a:t>
            </a:r>
            <a:endParaRPr lang="en-US" altLang="zh-CN" sz="2000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1715135" lvl="3" indent="-342900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Char char="l"/>
            </a:pP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内置一个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32</a:t>
            </a: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位（值为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32’h01</a:t>
            </a: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）作为输入到运算器端口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；</a:t>
            </a:r>
            <a:endParaRPr lang="en-US" altLang="zh-CN" sz="2000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1715135" lvl="3" indent="-342900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Char char="l"/>
            </a:pP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将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sw0-sw7</a:t>
            </a: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 输入到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num1</a:t>
            </a: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，经过无符号扩展至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32</a:t>
            </a: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位后，输入到运算器的端口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B</a:t>
            </a:r>
            <a:endParaRPr lang="en-US" altLang="zh-CN" sz="2000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1257935" lvl="2" indent="-342900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Char char="l"/>
            </a:pPr>
            <a:r>
              <a:rPr lang="zh-CN" altLang="en-US" sz="2000" spc="-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给出</a:t>
            </a:r>
            <a:r>
              <a:rPr lang="en-US" altLang="zh-CN" sz="2000" spc="-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RTL</a:t>
            </a:r>
            <a:r>
              <a:rPr lang="zh-CN" altLang="en-US" sz="2000" spc="-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源程序</a:t>
            </a: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（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.v</a:t>
            </a: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文件） </a:t>
            </a:r>
            <a:endParaRPr lang="en-US" altLang="zh-CN" sz="2000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1257935" lvl="2" indent="-342900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Char char="l"/>
            </a:pPr>
            <a:r>
              <a:rPr lang="zh-CN" altLang="en-US" sz="2000" spc="-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仿真窗口界面</a:t>
            </a:r>
            <a:endParaRPr lang="en-US" altLang="zh-CN" sz="2000" spc="-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实验一：</a:t>
            </a:r>
            <a:r>
              <a:rPr lang="en-US" altLang="zh-CN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ALU</a:t>
            </a:r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设计实验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43259"/>
            <a:ext cx="11440547" cy="2899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实验要求</a:t>
            </a:r>
            <a:endParaRPr lang="en-US" altLang="zh-CN" sz="2400" b="1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000" b="1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选做部分</a:t>
            </a:r>
            <a:r>
              <a:rPr lang="en-US" altLang="zh-CN" sz="2000" b="1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:</a:t>
            </a:r>
            <a:endParaRPr lang="en-US" altLang="zh-CN" sz="20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1257935" lvl="2" indent="-342900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Char char="l"/>
            </a:pP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运算器支持“加、减、与、或、非”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5</a:t>
            </a: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种运算，需要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3</a:t>
            </a: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位（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8</a:t>
            </a: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个操作）。将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sw15-sw14</a:t>
            </a: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输入到</a:t>
            </a:r>
            <a:r>
              <a:rPr lang="en-US" altLang="zh-C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op</a:t>
            </a: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作为运算器的控制信号</a:t>
            </a:r>
            <a:endParaRPr lang="en-US" altLang="zh-CN" sz="2000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1257935" lvl="2" indent="-342900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Char char="l"/>
            </a:pPr>
            <a:r>
              <a:rPr lang="zh-C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思考硬件编程和软件编程的不同点。</a:t>
            </a:r>
            <a:endParaRPr lang="en-US" altLang="zh-CN" sz="2000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915035" lvl="2">
              <a:lnSpc>
                <a:spcPct val="150000"/>
              </a:lnSpc>
              <a:buClr>
                <a:srgbClr val="000000"/>
              </a:buClr>
            </a:pPr>
            <a:endParaRPr lang="en-US" altLang="zh-CN" sz="2000" spc="-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0"/>
          <p:cNvSpPr>
            <a:spLocks noGrp="1"/>
          </p:cNvSpPr>
          <p:nvPr>
            <p:ph type="title" idx="4294967295"/>
          </p:nvPr>
        </p:nvSpPr>
        <p:spPr>
          <a:xfrm>
            <a:off x="375727" y="267079"/>
            <a:ext cx="10523531" cy="5838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实验准备</a:t>
            </a:r>
            <a:endParaRPr lang="en-US" altLang="en-US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26" y="850879"/>
            <a:ext cx="11440547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400" b="1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实验软件</a:t>
            </a:r>
            <a:endParaRPr lang="zh-CN" altLang="en-US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en-US" altLang="zh-CN" sz="2400" spc="-1" dirty="0" err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Vivado 2018.3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下载地址：</a:t>
            </a:r>
            <a:r>
              <a:rPr lang="en-US" altLang="zh-CN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https://pan.quark.cn/s/7fabb60727e8#/list/share</a:t>
            </a: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安装教程：</a:t>
            </a:r>
            <a:r>
              <a:rPr lang="en-US" altLang="zh-CN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https://blog.csdn.net/weixin_42151221/article/details/103225226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5725" y="4180637"/>
            <a:ext cx="11440547" cy="2221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400" b="1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注意事项</a:t>
            </a:r>
            <a:endParaRPr lang="zh-CN" altLang="en-US" sz="2400" b="1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本学期所有实验</a:t>
            </a:r>
            <a:r>
              <a:rPr lang="zh-CN" altLang="en-US" sz="2400" spc="-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均不要求上板验证</a:t>
            </a: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，只要求完成综合和仿真验证部分。故实验指导书上的上板部分可以忽略不管。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r>
              <a:rPr lang="zh-CN" altLang="en-US" sz="2400" spc="-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可以参考网上资料，但尽量不要完全依赖于大模型技术。</a:t>
            </a:r>
            <a:endParaRPr lang="en-US" altLang="zh-CN" sz="2400" spc="-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蓝色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4309</Words>
  <Application>WPS 演示</Application>
  <PresentationFormat>宽屏</PresentationFormat>
  <Paragraphs>310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56" baseType="lpstr">
      <vt:lpstr>Arial</vt:lpstr>
      <vt:lpstr>宋体</vt:lpstr>
      <vt:lpstr>Wingdings</vt:lpstr>
      <vt:lpstr>Arial</vt:lpstr>
      <vt:lpstr>Times New Roman</vt:lpstr>
      <vt:lpstr>Calibri</vt:lpstr>
      <vt:lpstr>Symbol</vt:lpstr>
      <vt:lpstr>Noto Sans Symbols</vt:lpstr>
      <vt:lpstr>楷体</vt:lpstr>
      <vt:lpstr>黑体</vt:lpstr>
      <vt:lpstr>Times New Roman</vt:lpstr>
      <vt:lpstr>Helvetica Neue</vt:lpstr>
      <vt:lpstr>Roboto</vt:lpstr>
      <vt:lpstr>DejaVu Sans</vt:lpstr>
      <vt:lpstr>Calibri</vt:lpstr>
      <vt:lpstr>微软雅黑</vt:lpstr>
      <vt:lpstr>Arial Unicode MS</vt:lpstr>
      <vt:lpstr>Helvetica Neue</vt:lpstr>
      <vt:lpstr>Noto Sans Symbols</vt:lpstr>
      <vt:lpstr>Symbol</vt:lpstr>
      <vt:lpstr>Wingdings</vt:lpstr>
      <vt:lpstr>Roboto Mono</vt:lpstr>
      <vt:lpstr>Saturday Sans Regular</vt:lpstr>
      <vt:lpstr>Helvetica LT Pro</vt:lpstr>
      <vt:lpstr>Office Theme</vt:lpstr>
      <vt:lpstr>Office Theme</vt:lpstr>
      <vt:lpstr>PowerPoint 演示文稿</vt:lpstr>
      <vt:lpstr>实验要求</vt:lpstr>
      <vt:lpstr>实验组成</vt:lpstr>
      <vt:lpstr>实验准备</vt:lpstr>
      <vt:lpstr>实验准备</vt:lpstr>
      <vt:lpstr>实验准备</vt:lpstr>
      <vt:lpstr>实验准备</vt:lpstr>
      <vt:lpstr>实验准备</vt:lpstr>
      <vt:lpstr>实验准备</vt:lpstr>
      <vt:lpstr>实验准备</vt:lpstr>
      <vt:lpstr>实验准备</vt:lpstr>
      <vt:lpstr>实验准备</vt:lpstr>
      <vt:lpstr>实验准备</vt:lpstr>
      <vt:lpstr>实验准备</vt:lpstr>
      <vt:lpstr>实验准备</vt:lpstr>
      <vt:lpstr>实验准备</vt:lpstr>
      <vt:lpstr>实验准备</vt:lpstr>
      <vt:lpstr>实验准备</vt:lpstr>
      <vt:lpstr>实验准备</vt:lpstr>
      <vt:lpstr>实验准备</vt:lpstr>
      <vt:lpstr>实验准备</vt:lpstr>
      <vt:lpstr>实验准备</vt:lpstr>
      <vt:lpstr>实验准备</vt:lpstr>
      <vt:lpstr>实验准备</vt:lpstr>
      <vt:lpstr>实验一：ALU设计实验</vt:lpstr>
      <vt:lpstr>实验一：ALU设计实验</vt:lpstr>
      <vt:lpstr>实验一：ALU设计实验</vt:lpstr>
      <vt:lpstr>实验一：ALU设计实验</vt:lpstr>
      <vt:lpstr>实验一：ALU设计实验</vt:lpstr>
      <vt:lpstr>实验准备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项目设计Ⅲ</dc:title>
  <dc:creator>YX M</dc:creator>
  <cp:lastModifiedBy>唐绎雄</cp:lastModifiedBy>
  <cp:revision>998</cp:revision>
  <dcterms:created xsi:type="dcterms:W3CDTF">2026-03-31T10:52:00Z</dcterms:created>
  <dcterms:modified xsi:type="dcterms:W3CDTF">2026-04-07T10:00:11Z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1</vt:i4>
  </property>
  <property fmtid="{D5CDD505-2E9C-101B-9397-08002B2CF9AE}" pid="7" name="Notes">
    <vt:i4>4</vt:i4>
  </property>
  <property fmtid="{D5CDD505-2E9C-101B-9397-08002B2CF9AE}" pid="8" name="PresentationFormat">
    <vt:lpwstr>宽屏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4</vt:i4>
  </property>
  <property fmtid="{D5CDD505-2E9C-101B-9397-08002B2CF9AE}" pid="12" name="KSOProductBuildVer">
    <vt:lpwstr>2052-12.1.0.25222</vt:lpwstr>
  </property>
  <property fmtid="{D5CDD505-2E9C-101B-9397-08002B2CF9AE}" pid="13" name="ICV">
    <vt:lpwstr>7C80F0BC78E14801BF19A559D13DD31B_12</vt:lpwstr>
  </property>
</Properties>
</file>